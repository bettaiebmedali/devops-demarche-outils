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77" r:id="rId121"/>
    <p:sldId id="378" r:id="rId122"/>
    <p:sldId id="379" r:id="rId123"/>
    <p:sldId id="380" r:id="rId124"/>
    <p:sldId id="381" r:id="rId125"/>
    <p:sldId id="382" r:id="rId126"/>
    <p:sldId id="383" r:id="rId127"/>
  </p:sldIdLst>
  <p:sldSz cx="10680700" cy="7556500"/>
  <p:notesSz cx="106807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4660"/>
  </p:normalViewPr>
  <p:slideViewPr>
    <p:cSldViewPr>
      <p:cViewPr varScale="1">
        <p:scale>
          <a:sx n="95" d="100"/>
          <a:sy n="95" d="100"/>
        </p:scale>
        <p:origin x="185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1603" y="56769"/>
            <a:ext cx="646810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64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52D3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365"/>
              </a:lnSpc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64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52D3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365"/>
              </a:lnSpc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64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1225" y="1462337"/>
            <a:ext cx="4556760" cy="4804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776721" y="1557458"/>
            <a:ext cx="4292600" cy="5187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365"/>
              </a:lnSpc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64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365"/>
              </a:lnSpc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70999" y="7084238"/>
            <a:ext cx="236854" cy="432434"/>
          </a:xfrm>
          <a:custGeom>
            <a:avLst/>
            <a:gdLst/>
            <a:ahLst/>
            <a:cxnLst/>
            <a:rect l="l" t="t" r="r" b="b"/>
            <a:pathLst>
              <a:path w="236854" h="432434">
                <a:moveTo>
                  <a:pt x="236727" y="0"/>
                </a:moveTo>
                <a:lnTo>
                  <a:pt x="0" y="432000"/>
                </a:lnTo>
              </a:path>
            </a:pathLst>
          </a:custGeom>
          <a:ln w="9523">
            <a:solidFill>
              <a:srgbClr val="8283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893427" y="7155472"/>
            <a:ext cx="727710" cy="260350"/>
          </a:xfrm>
          <a:custGeom>
            <a:avLst/>
            <a:gdLst/>
            <a:ahLst/>
            <a:cxnLst/>
            <a:rect l="l" t="t" r="r" b="b"/>
            <a:pathLst>
              <a:path w="727709" h="260350">
                <a:moveTo>
                  <a:pt x="727455" y="0"/>
                </a:moveTo>
                <a:lnTo>
                  <a:pt x="140334" y="0"/>
                </a:lnTo>
                <a:lnTo>
                  <a:pt x="0" y="260337"/>
                </a:lnTo>
                <a:lnTo>
                  <a:pt x="587882" y="260337"/>
                </a:lnTo>
                <a:lnTo>
                  <a:pt x="727455" y="0"/>
                </a:lnTo>
                <a:close/>
              </a:path>
            </a:pathLst>
          </a:custGeom>
          <a:solidFill>
            <a:srgbClr val="1640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365"/>
              </a:lnSpc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70999" y="7084238"/>
            <a:ext cx="236854" cy="432434"/>
          </a:xfrm>
          <a:custGeom>
            <a:avLst/>
            <a:gdLst/>
            <a:ahLst/>
            <a:cxnLst/>
            <a:rect l="l" t="t" r="r" b="b"/>
            <a:pathLst>
              <a:path w="236854" h="432434">
                <a:moveTo>
                  <a:pt x="236727" y="0"/>
                </a:moveTo>
                <a:lnTo>
                  <a:pt x="0" y="432000"/>
                </a:lnTo>
              </a:path>
            </a:pathLst>
          </a:custGeom>
          <a:ln w="9523">
            <a:solidFill>
              <a:srgbClr val="8283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893427" y="7155472"/>
            <a:ext cx="727710" cy="260350"/>
          </a:xfrm>
          <a:custGeom>
            <a:avLst/>
            <a:gdLst/>
            <a:ahLst/>
            <a:cxnLst/>
            <a:rect l="l" t="t" r="r" b="b"/>
            <a:pathLst>
              <a:path w="727709" h="260350">
                <a:moveTo>
                  <a:pt x="727455" y="0"/>
                </a:moveTo>
                <a:lnTo>
                  <a:pt x="140334" y="0"/>
                </a:lnTo>
                <a:lnTo>
                  <a:pt x="0" y="260337"/>
                </a:lnTo>
                <a:lnTo>
                  <a:pt x="587882" y="260337"/>
                </a:lnTo>
                <a:lnTo>
                  <a:pt x="727455" y="0"/>
                </a:lnTo>
                <a:close/>
              </a:path>
            </a:pathLst>
          </a:custGeom>
          <a:solidFill>
            <a:srgbClr val="1640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59029" y="911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87" y="255397"/>
                </a:lnTo>
                <a:lnTo>
                  <a:pt x="15544" y="208533"/>
                </a:lnTo>
                <a:lnTo>
                  <a:pt x="34023" y="164719"/>
                </a:lnTo>
                <a:lnTo>
                  <a:pt x="58813" y="124840"/>
                </a:lnTo>
                <a:lnTo>
                  <a:pt x="89268" y="89280"/>
                </a:lnTo>
                <a:lnTo>
                  <a:pt x="124790" y="58800"/>
                </a:lnTo>
                <a:lnTo>
                  <a:pt x="164731" y="34035"/>
                </a:lnTo>
                <a:lnTo>
                  <a:pt x="208457" y="15494"/>
                </a:lnTo>
                <a:lnTo>
                  <a:pt x="255358" y="4063"/>
                </a:lnTo>
                <a:lnTo>
                  <a:pt x="304800" y="0"/>
                </a:lnTo>
                <a:lnTo>
                  <a:pt x="352767" y="3809"/>
                </a:lnTo>
                <a:lnTo>
                  <a:pt x="399122" y="14985"/>
                </a:lnTo>
                <a:lnTo>
                  <a:pt x="443052" y="33147"/>
                </a:lnTo>
                <a:lnTo>
                  <a:pt x="483717" y="58038"/>
                </a:lnTo>
                <a:lnTo>
                  <a:pt x="520331" y="89280"/>
                </a:lnTo>
                <a:lnTo>
                  <a:pt x="551561" y="125856"/>
                </a:lnTo>
                <a:lnTo>
                  <a:pt x="576440" y="166624"/>
                </a:lnTo>
                <a:lnTo>
                  <a:pt x="594639" y="210438"/>
                </a:lnTo>
                <a:lnTo>
                  <a:pt x="605802" y="256794"/>
                </a:lnTo>
                <a:lnTo>
                  <a:pt x="609600" y="304800"/>
                </a:lnTo>
                <a:lnTo>
                  <a:pt x="605612" y="354202"/>
                </a:lnTo>
                <a:lnTo>
                  <a:pt x="594067" y="401192"/>
                </a:lnTo>
                <a:lnTo>
                  <a:pt x="575576" y="444880"/>
                </a:lnTo>
                <a:lnTo>
                  <a:pt x="550786" y="484758"/>
                </a:lnTo>
                <a:lnTo>
                  <a:pt x="520331" y="520319"/>
                </a:lnTo>
                <a:lnTo>
                  <a:pt x="484809" y="550799"/>
                </a:lnTo>
                <a:lnTo>
                  <a:pt x="444868" y="575563"/>
                </a:lnTo>
                <a:lnTo>
                  <a:pt x="401142" y="594105"/>
                </a:lnTo>
                <a:lnTo>
                  <a:pt x="354241" y="605662"/>
                </a:lnTo>
                <a:lnTo>
                  <a:pt x="304800" y="609600"/>
                </a:lnTo>
                <a:lnTo>
                  <a:pt x="255358" y="605662"/>
                </a:lnTo>
                <a:lnTo>
                  <a:pt x="208457" y="594105"/>
                </a:lnTo>
                <a:lnTo>
                  <a:pt x="164731" y="575563"/>
                </a:lnTo>
                <a:lnTo>
                  <a:pt x="124790" y="550799"/>
                </a:lnTo>
                <a:lnTo>
                  <a:pt x="89268" y="520319"/>
                </a:lnTo>
                <a:lnTo>
                  <a:pt x="58813" y="484758"/>
                </a:lnTo>
                <a:lnTo>
                  <a:pt x="34023" y="444880"/>
                </a:lnTo>
                <a:lnTo>
                  <a:pt x="15544" y="401192"/>
                </a:lnTo>
                <a:lnTo>
                  <a:pt x="3987" y="354202"/>
                </a:lnTo>
                <a:lnTo>
                  <a:pt x="0" y="304800"/>
                </a:lnTo>
                <a:close/>
              </a:path>
            </a:pathLst>
          </a:custGeom>
          <a:ln w="28573">
            <a:solidFill>
              <a:srgbClr val="1640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1603" y="56769"/>
            <a:ext cx="838835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640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5200" y="1556080"/>
            <a:ext cx="9125585" cy="4948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52D3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1438" y="7027545"/>
            <a:ext cx="341782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035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41635" y="7145680"/>
            <a:ext cx="457708" cy="2883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365"/>
              </a:lnSpc>
            </a:pPr>
            <a:fld id="{81D60167-4931-47E6-BA6A-407CBD079E47}" type="slidenum">
              <a:rPr spc="-50" dirty="0"/>
              <a:t>‹N°›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://www.youtube.com/watch?v=o7-IuYS0iSE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hyperlink" Target="https://youtu.be/o7-IuYS0iSE?si=Ve4Ycv0zJfyZtIm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23.png"/><Relationship Id="rId4" Type="http://schemas.openxmlformats.org/officeDocument/2006/relationships/image" Target="../media/image1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jp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7" Type="http://schemas.openxmlformats.org/officeDocument/2006/relationships/image" Target="../media/image75.jp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jpg"/><Relationship Id="rId5" Type="http://schemas.openxmlformats.org/officeDocument/2006/relationships/image" Target="../media/image73.jpg"/><Relationship Id="rId4" Type="http://schemas.openxmlformats.org/officeDocument/2006/relationships/image" Target="../media/image7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7" Type="http://schemas.openxmlformats.org/officeDocument/2006/relationships/image" Target="../media/image81.jp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image" Target="../media/image76.jp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jpg"/><Relationship Id="rId11" Type="http://schemas.openxmlformats.org/officeDocument/2006/relationships/image" Target="../media/image85.png"/><Relationship Id="rId5" Type="http://schemas.openxmlformats.org/officeDocument/2006/relationships/image" Target="../media/image79.jp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19" Type="http://schemas.openxmlformats.org/officeDocument/2006/relationships/image" Target="../media/image93.jpg"/><Relationship Id="rId4" Type="http://schemas.openxmlformats.org/officeDocument/2006/relationships/image" Target="../media/image78.jp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g"/><Relationship Id="rId3" Type="http://schemas.openxmlformats.org/officeDocument/2006/relationships/image" Target="../media/image98.jpg"/><Relationship Id="rId7" Type="http://schemas.openxmlformats.org/officeDocument/2006/relationships/image" Target="../media/image102.jp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jpg"/><Relationship Id="rId5" Type="http://schemas.openxmlformats.org/officeDocument/2006/relationships/image" Target="../media/image100.jpg"/><Relationship Id="rId4" Type="http://schemas.openxmlformats.org/officeDocument/2006/relationships/image" Target="../media/image99.jp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jp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g"/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7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jpg"/><Relationship Id="rId15" Type="http://schemas.openxmlformats.org/officeDocument/2006/relationships/image" Target="../media/image14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3" Type="http://schemas.openxmlformats.org/officeDocument/2006/relationships/image" Target="../media/image138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2" Type="http://schemas.openxmlformats.org/officeDocument/2006/relationships/image" Target="../media/image143.png"/><Relationship Id="rId16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cker/awesome-compose/tree/master/elasticsearch-logstash-kibana" TargetMode="External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jp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jpg"/><Relationship Id="rId7" Type="http://schemas.openxmlformats.org/officeDocument/2006/relationships/image" Target="../media/image170.jpg"/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jpg"/><Relationship Id="rId5" Type="http://schemas.openxmlformats.org/officeDocument/2006/relationships/image" Target="../media/image168.png"/><Relationship Id="rId4" Type="http://schemas.openxmlformats.org/officeDocument/2006/relationships/image" Target="../media/image167.jp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jp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10" Type="http://schemas.openxmlformats.org/officeDocument/2006/relationships/image" Target="../media/image180.jpg"/><Relationship Id="rId4" Type="http://schemas.openxmlformats.org/officeDocument/2006/relationships/image" Target="../media/image174.png"/><Relationship Id="rId9" Type="http://schemas.openxmlformats.org/officeDocument/2006/relationships/image" Target="../media/image179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nops.org/introduction/what-is-finops" TargetMode="Externa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jpg"/><Relationship Id="rId2" Type="http://schemas.openxmlformats.org/officeDocument/2006/relationships/image" Target="../media/image186.jp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0" Type="http://schemas.openxmlformats.org/officeDocument/2006/relationships/image" Target="../media/image196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950" y="1042035"/>
            <a:ext cx="2352040" cy="746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105" dirty="0">
                <a:solidFill>
                  <a:srgbClr val="2D536C"/>
                </a:solidFill>
                <a:latin typeface="Bahnschrift"/>
                <a:cs typeface="Bahnschrift"/>
              </a:rPr>
              <a:t>DEVOPS</a:t>
            </a:r>
            <a:endParaRPr sz="4700" dirty="0">
              <a:latin typeface="Bahnschrift"/>
              <a:cs typeface="Bahnschrif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750" y="3576320"/>
            <a:ext cx="4961865" cy="9829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95220" algn="l"/>
                <a:tab pos="3010535" algn="l"/>
              </a:tabLst>
            </a:pPr>
            <a:r>
              <a:rPr lang="fr-FR" sz="3150" spc="114" dirty="0">
                <a:solidFill>
                  <a:srgbClr val="2D536C"/>
                </a:solidFill>
                <a:latin typeface="Bahnschrift"/>
                <a:cs typeface="Bahnschrift"/>
              </a:rPr>
              <a:t>DevOps - démarche et outils</a:t>
            </a:r>
            <a:endParaRPr lang="fr-FR" sz="3150" dirty="0">
              <a:latin typeface="Bahnschrift"/>
              <a:cs typeface="Bahnschrif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3414" y="7271564"/>
            <a:ext cx="3458537" cy="282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1750" spc="140" dirty="0">
                <a:solidFill>
                  <a:srgbClr val="617171"/>
                </a:solidFill>
                <a:latin typeface="Segoe UI Light"/>
                <a:cs typeface="Segoe UI Light"/>
              </a:rPr>
              <a:t>BETTAIEB Mohamed Ali</a:t>
            </a:r>
            <a:endParaRPr sz="1750" dirty="0">
              <a:latin typeface="Segoe UI Light"/>
              <a:cs typeface="Segoe UI Ligh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83150" y="0"/>
            <a:ext cx="5797550" cy="7556500"/>
            <a:chOff x="4883150" y="0"/>
            <a:chExt cx="5797550" cy="7556500"/>
          </a:xfrm>
        </p:grpSpPr>
        <p:sp>
          <p:nvSpPr>
            <p:cNvPr id="6" name="object 6"/>
            <p:cNvSpPr/>
            <p:nvPr/>
          </p:nvSpPr>
          <p:spPr>
            <a:xfrm>
              <a:off x="4883150" y="0"/>
              <a:ext cx="4267200" cy="7556500"/>
            </a:xfrm>
            <a:custGeom>
              <a:avLst/>
              <a:gdLst/>
              <a:ahLst/>
              <a:cxnLst/>
              <a:rect l="l" t="t" r="r" b="b"/>
              <a:pathLst>
                <a:path w="4267200" h="7556500">
                  <a:moveTo>
                    <a:pt x="4267200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4267200" y="7556500"/>
                  </a:lnTo>
                  <a:lnTo>
                    <a:pt x="4267200" y="0"/>
                  </a:lnTo>
                  <a:close/>
                </a:path>
              </a:pathLst>
            </a:custGeom>
            <a:solidFill>
              <a:srgbClr val="BDD5DA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3150" y="2065782"/>
              <a:ext cx="5797042" cy="37518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218" y="-4762"/>
            <a:ext cx="3517900" cy="7566025"/>
            <a:chOff x="-6218" y="-4762"/>
            <a:chExt cx="3517900" cy="7566025"/>
          </a:xfrm>
        </p:grpSpPr>
        <p:sp>
          <p:nvSpPr>
            <p:cNvPr id="3" name="object 3"/>
            <p:cNvSpPr/>
            <p:nvPr/>
          </p:nvSpPr>
          <p:spPr>
            <a:xfrm>
              <a:off x="-1447" y="0"/>
              <a:ext cx="3390265" cy="7556500"/>
            </a:xfrm>
            <a:custGeom>
              <a:avLst/>
              <a:gdLst/>
              <a:ahLst/>
              <a:cxnLst/>
              <a:rect l="l" t="t" r="r" b="b"/>
              <a:pathLst>
                <a:path w="3390265" h="7556500">
                  <a:moveTo>
                    <a:pt x="3390188" y="0"/>
                  </a:moveTo>
                  <a:lnTo>
                    <a:pt x="3351263" y="0"/>
                  </a:lnTo>
                  <a:lnTo>
                    <a:pt x="0" y="0"/>
                  </a:lnTo>
                  <a:lnTo>
                    <a:pt x="0" y="7556487"/>
                  </a:lnTo>
                  <a:lnTo>
                    <a:pt x="3351263" y="7556487"/>
                  </a:lnTo>
                  <a:lnTo>
                    <a:pt x="3351263" y="7469733"/>
                  </a:lnTo>
                  <a:lnTo>
                    <a:pt x="3390188" y="7556487"/>
                  </a:lnTo>
                  <a:lnTo>
                    <a:pt x="3390188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1456" y="0"/>
              <a:ext cx="3390265" cy="7556500"/>
            </a:xfrm>
            <a:custGeom>
              <a:avLst/>
              <a:gdLst/>
              <a:ahLst/>
              <a:cxnLst/>
              <a:rect l="l" t="t" r="r" b="b"/>
              <a:pathLst>
                <a:path w="3390265" h="7556500">
                  <a:moveTo>
                    <a:pt x="0" y="0"/>
                  </a:moveTo>
                  <a:lnTo>
                    <a:pt x="3390197" y="0"/>
                  </a:lnTo>
                  <a:lnTo>
                    <a:pt x="3390197" y="7556498"/>
                  </a:lnTo>
                </a:path>
                <a:path w="339026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164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49878" y="-1"/>
              <a:ext cx="161925" cy="7556500"/>
            </a:xfrm>
            <a:custGeom>
              <a:avLst/>
              <a:gdLst/>
              <a:ahLst/>
              <a:cxnLst/>
              <a:rect l="l" t="t" r="r" b="b"/>
              <a:pathLst>
                <a:path w="161925" h="7556500">
                  <a:moveTo>
                    <a:pt x="161505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161505" y="7556500"/>
                  </a:lnTo>
                  <a:lnTo>
                    <a:pt x="161505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3663" y="2613736"/>
            <a:ext cx="22250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60" dirty="0">
                <a:solidFill>
                  <a:srgbClr val="FFFFFF"/>
                </a:solidFill>
                <a:latin typeface="Calibri"/>
                <a:cs typeface="Calibri"/>
              </a:rPr>
              <a:t>Calendrier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1620" y="235356"/>
            <a:ext cx="4848225" cy="1042035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200" b="1" spc="75" dirty="0">
                <a:solidFill>
                  <a:srgbClr val="164052"/>
                </a:solidFill>
                <a:latin typeface="Calibri"/>
                <a:cs typeface="Calibri"/>
              </a:rPr>
              <a:t>Introduction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200" b="1" spc="75" dirty="0">
                <a:solidFill>
                  <a:srgbClr val="164052"/>
                </a:solidFill>
                <a:latin typeface="Calibri"/>
                <a:cs typeface="Calibri"/>
              </a:rPr>
              <a:t>Module</a:t>
            </a:r>
            <a:r>
              <a:rPr sz="2200" b="1" spc="31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50" dirty="0">
                <a:solidFill>
                  <a:srgbClr val="164052"/>
                </a:solidFill>
                <a:latin typeface="Calibri"/>
                <a:cs typeface="Calibri"/>
              </a:rPr>
              <a:t>1:</a:t>
            </a:r>
            <a:r>
              <a:rPr sz="2200" b="1" spc="15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65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200" b="1" spc="32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130" dirty="0">
                <a:solidFill>
                  <a:srgbClr val="164052"/>
                </a:solidFill>
                <a:latin typeface="Calibri"/>
                <a:cs typeface="Calibri"/>
              </a:rPr>
              <a:t>problématique</a:t>
            </a:r>
            <a:r>
              <a:rPr sz="2200" b="1" spc="3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105" dirty="0">
                <a:solidFill>
                  <a:srgbClr val="164052"/>
                </a:solidFill>
                <a:latin typeface="Calibri"/>
                <a:cs typeface="Calibri"/>
              </a:rPr>
              <a:t>DevOps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7950" y="501649"/>
            <a:ext cx="1989455" cy="375285"/>
          </a:xfrm>
          <a:custGeom>
            <a:avLst/>
            <a:gdLst/>
            <a:ahLst/>
            <a:cxnLst/>
            <a:rect l="l" t="t" r="r" b="b"/>
            <a:pathLst>
              <a:path w="1989454" h="375284">
                <a:moveTo>
                  <a:pt x="1286256" y="187325"/>
                </a:moveTo>
                <a:lnTo>
                  <a:pt x="1272032" y="115697"/>
                </a:lnTo>
                <a:lnTo>
                  <a:pt x="1231392" y="54864"/>
                </a:lnTo>
                <a:lnTo>
                  <a:pt x="1170686" y="14224"/>
                </a:lnTo>
                <a:lnTo>
                  <a:pt x="1098931" y="0"/>
                </a:lnTo>
                <a:lnTo>
                  <a:pt x="187325" y="0"/>
                </a:lnTo>
                <a:lnTo>
                  <a:pt x="137541" y="6731"/>
                </a:lnTo>
                <a:lnTo>
                  <a:pt x="92837" y="25527"/>
                </a:lnTo>
                <a:lnTo>
                  <a:pt x="54864" y="54864"/>
                </a:lnTo>
                <a:lnTo>
                  <a:pt x="25527" y="92837"/>
                </a:lnTo>
                <a:lnTo>
                  <a:pt x="6731" y="137541"/>
                </a:lnTo>
                <a:lnTo>
                  <a:pt x="0" y="187325"/>
                </a:lnTo>
                <a:lnTo>
                  <a:pt x="6731" y="237109"/>
                </a:lnTo>
                <a:lnTo>
                  <a:pt x="25527" y="281940"/>
                </a:lnTo>
                <a:lnTo>
                  <a:pt x="54864" y="319786"/>
                </a:lnTo>
                <a:lnTo>
                  <a:pt x="92837" y="349123"/>
                </a:lnTo>
                <a:lnTo>
                  <a:pt x="137541" y="368046"/>
                </a:lnTo>
                <a:lnTo>
                  <a:pt x="187325" y="374777"/>
                </a:lnTo>
                <a:lnTo>
                  <a:pt x="1098931" y="374777"/>
                </a:lnTo>
                <a:lnTo>
                  <a:pt x="1148715" y="368046"/>
                </a:lnTo>
                <a:lnTo>
                  <a:pt x="1193546" y="349123"/>
                </a:lnTo>
                <a:lnTo>
                  <a:pt x="1231392" y="319786"/>
                </a:lnTo>
                <a:lnTo>
                  <a:pt x="1260729" y="281940"/>
                </a:lnTo>
                <a:lnTo>
                  <a:pt x="1279652" y="237109"/>
                </a:lnTo>
                <a:lnTo>
                  <a:pt x="1286256" y="187325"/>
                </a:lnTo>
                <a:close/>
              </a:path>
              <a:path w="1989454" h="375284">
                <a:moveTo>
                  <a:pt x="1989201" y="56896"/>
                </a:moveTo>
                <a:lnTo>
                  <a:pt x="1293622" y="191516"/>
                </a:lnTo>
                <a:lnTo>
                  <a:pt x="1989201" y="326136"/>
                </a:lnTo>
                <a:lnTo>
                  <a:pt x="1989201" y="56896"/>
                </a:lnTo>
                <a:close/>
              </a:path>
            </a:pathLst>
          </a:custGeom>
          <a:solidFill>
            <a:srgbClr val="7792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86611" y="487756"/>
            <a:ext cx="848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150" dirty="0">
                <a:solidFill>
                  <a:srgbClr val="FFFFFF"/>
                </a:solidFill>
                <a:latin typeface="Calibri"/>
                <a:cs typeface="Calibri"/>
              </a:rPr>
              <a:t>Jour</a:t>
            </a:r>
            <a:r>
              <a:rPr sz="2200" b="1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92970" y="882586"/>
            <a:ext cx="462915" cy="462915"/>
            <a:chOff x="3192970" y="882586"/>
            <a:chExt cx="462915" cy="462915"/>
          </a:xfrm>
        </p:grpSpPr>
        <p:sp>
          <p:nvSpPr>
            <p:cNvPr id="11" name="object 11"/>
            <p:cNvSpPr/>
            <p:nvPr/>
          </p:nvSpPr>
          <p:spPr>
            <a:xfrm>
              <a:off x="3207257" y="89687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043" y="0"/>
                  </a:moveTo>
                  <a:lnTo>
                    <a:pt x="167258" y="5842"/>
                  </a:lnTo>
                  <a:lnTo>
                    <a:pt x="121539" y="22098"/>
                  </a:lnTo>
                  <a:lnTo>
                    <a:pt x="81280" y="47751"/>
                  </a:lnTo>
                  <a:lnTo>
                    <a:pt x="47625" y="81407"/>
                  </a:lnTo>
                  <a:lnTo>
                    <a:pt x="22098" y="121666"/>
                  </a:lnTo>
                  <a:lnTo>
                    <a:pt x="5715" y="167386"/>
                  </a:lnTo>
                  <a:lnTo>
                    <a:pt x="0" y="217170"/>
                  </a:lnTo>
                  <a:lnTo>
                    <a:pt x="5715" y="266954"/>
                  </a:lnTo>
                  <a:lnTo>
                    <a:pt x="22098" y="312547"/>
                  </a:lnTo>
                  <a:lnTo>
                    <a:pt x="47625" y="352933"/>
                  </a:lnTo>
                  <a:lnTo>
                    <a:pt x="81280" y="386461"/>
                  </a:lnTo>
                  <a:lnTo>
                    <a:pt x="121539" y="412115"/>
                  </a:lnTo>
                  <a:lnTo>
                    <a:pt x="167258" y="428498"/>
                  </a:lnTo>
                  <a:lnTo>
                    <a:pt x="217043" y="434213"/>
                  </a:lnTo>
                  <a:lnTo>
                    <a:pt x="266827" y="428498"/>
                  </a:lnTo>
                  <a:lnTo>
                    <a:pt x="312546" y="412115"/>
                  </a:lnTo>
                  <a:lnTo>
                    <a:pt x="352806" y="386461"/>
                  </a:lnTo>
                  <a:lnTo>
                    <a:pt x="386461" y="352933"/>
                  </a:lnTo>
                  <a:lnTo>
                    <a:pt x="411988" y="312547"/>
                  </a:lnTo>
                  <a:lnTo>
                    <a:pt x="428370" y="266954"/>
                  </a:lnTo>
                  <a:lnTo>
                    <a:pt x="434086" y="217170"/>
                  </a:lnTo>
                  <a:lnTo>
                    <a:pt x="429894" y="174625"/>
                  </a:lnTo>
                  <a:lnTo>
                    <a:pt x="417576" y="134112"/>
                  </a:lnTo>
                  <a:lnTo>
                    <a:pt x="397637" y="96647"/>
                  </a:lnTo>
                  <a:lnTo>
                    <a:pt x="370586" y="63626"/>
                  </a:lnTo>
                  <a:lnTo>
                    <a:pt x="337439" y="36575"/>
                  </a:lnTo>
                  <a:lnTo>
                    <a:pt x="300101" y="16637"/>
                  </a:lnTo>
                  <a:lnTo>
                    <a:pt x="259588" y="4318"/>
                  </a:lnTo>
                  <a:lnTo>
                    <a:pt x="217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7257" y="89687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70"/>
                  </a:moveTo>
                  <a:lnTo>
                    <a:pt x="5715" y="167386"/>
                  </a:lnTo>
                  <a:lnTo>
                    <a:pt x="22098" y="121666"/>
                  </a:lnTo>
                  <a:lnTo>
                    <a:pt x="47625" y="81407"/>
                  </a:lnTo>
                  <a:lnTo>
                    <a:pt x="81280" y="47751"/>
                  </a:lnTo>
                  <a:lnTo>
                    <a:pt x="121539" y="22098"/>
                  </a:lnTo>
                  <a:lnTo>
                    <a:pt x="167258" y="5842"/>
                  </a:lnTo>
                  <a:lnTo>
                    <a:pt x="217043" y="0"/>
                  </a:lnTo>
                  <a:lnTo>
                    <a:pt x="259588" y="4318"/>
                  </a:lnTo>
                  <a:lnTo>
                    <a:pt x="300101" y="16637"/>
                  </a:lnTo>
                  <a:lnTo>
                    <a:pt x="337439" y="36575"/>
                  </a:lnTo>
                  <a:lnTo>
                    <a:pt x="370586" y="63626"/>
                  </a:lnTo>
                  <a:lnTo>
                    <a:pt x="397637" y="96647"/>
                  </a:lnTo>
                  <a:lnTo>
                    <a:pt x="417576" y="134112"/>
                  </a:lnTo>
                  <a:lnTo>
                    <a:pt x="429894" y="174625"/>
                  </a:lnTo>
                  <a:lnTo>
                    <a:pt x="434086" y="217170"/>
                  </a:lnTo>
                  <a:lnTo>
                    <a:pt x="428370" y="266954"/>
                  </a:lnTo>
                  <a:lnTo>
                    <a:pt x="411988" y="312547"/>
                  </a:lnTo>
                  <a:lnTo>
                    <a:pt x="386461" y="352933"/>
                  </a:lnTo>
                  <a:lnTo>
                    <a:pt x="352806" y="386461"/>
                  </a:lnTo>
                  <a:lnTo>
                    <a:pt x="312546" y="412115"/>
                  </a:lnTo>
                  <a:lnTo>
                    <a:pt x="266827" y="428498"/>
                  </a:lnTo>
                  <a:lnTo>
                    <a:pt x="217043" y="434213"/>
                  </a:lnTo>
                  <a:lnTo>
                    <a:pt x="167258" y="428498"/>
                  </a:lnTo>
                  <a:lnTo>
                    <a:pt x="121539" y="412115"/>
                  </a:lnTo>
                  <a:lnTo>
                    <a:pt x="81280" y="386461"/>
                  </a:lnTo>
                  <a:lnTo>
                    <a:pt x="47625" y="352933"/>
                  </a:lnTo>
                  <a:lnTo>
                    <a:pt x="22098" y="312547"/>
                  </a:lnTo>
                  <a:lnTo>
                    <a:pt x="5715" y="266954"/>
                  </a:lnTo>
                  <a:lnTo>
                    <a:pt x="0" y="217170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25114" y="926719"/>
            <a:ext cx="17653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A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0525" y="1309853"/>
            <a:ext cx="5388610" cy="2312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Définir</a:t>
            </a:r>
            <a:r>
              <a:rPr sz="2000" b="1" spc="42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Dev</a:t>
            </a:r>
            <a:r>
              <a:rPr sz="2000" b="1" spc="-254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Ops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Pourquoi</a:t>
            </a:r>
            <a:r>
              <a:rPr sz="20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Dev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Ops</a:t>
            </a:r>
            <a:r>
              <a:rPr sz="2000" b="1" spc="41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est-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64052"/>
                </a:solidFill>
                <a:latin typeface="Calibri"/>
                <a:cs typeface="Calibri"/>
              </a:rPr>
              <a:t>i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64052"/>
                </a:solidFill>
                <a:latin typeface="Calibri"/>
                <a:cs typeface="Calibri"/>
              </a:rPr>
              <a:t>l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important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164052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64052"/>
                </a:solidFill>
                <a:latin typeface="Calibri"/>
                <a:cs typeface="Calibri"/>
              </a:rPr>
              <a:t>l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64052"/>
                </a:solidFill>
                <a:latin typeface="Calibri"/>
                <a:cs typeface="Calibri"/>
              </a:rPr>
              <a:t>’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Agilité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0" dirty="0">
                <a:solidFill>
                  <a:srgbClr val="164052"/>
                </a:solidFill>
                <a:latin typeface="Calibri"/>
                <a:cs typeface="Calibri"/>
              </a:rPr>
              <a:t>vers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le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Dev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Ops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164052"/>
                </a:solidFill>
                <a:latin typeface="Calibri"/>
                <a:cs typeface="Calibri"/>
              </a:rPr>
              <a:t>…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objectifs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Dev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Ops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Principes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70" dirty="0">
                <a:solidFill>
                  <a:srgbClr val="164052"/>
                </a:solidFill>
                <a:latin typeface="Calibri"/>
                <a:cs typeface="Calibri"/>
              </a:rPr>
              <a:t>fondamentaux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Dev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Ops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00972" y="4083114"/>
            <a:ext cx="462915" cy="462915"/>
            <a:chOff x="3200972" y="4083114"/>
            <a:chExt cx="462915" cy="462915"/>
          </a:xfrm>
        </p:grpSpPr>
        <p:sp>
          <p:nvSpPr>
            <p:cNvPr id="16" name="object 16"/>
            <p:cNvSpPr/>
            <p:nvPr/>
          </p:nvSpPr>
          <p:spPr>
            <a:xfrm>
              <a:off x="3215258" y="409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169" y="0"/>
                  </a:moveTo>
                  <a:lnTo>
                    <a:pt x="167386" y="5714"/>
                  </a:lnTo>
                  <a:lnTo>
                    <a:pt x="121666" y="21970"/>
                  </a:lnTo>
                  <a:lnTo>
                    <a:pt x="81406" y="47625"/>
                  </a:lnTo>
                  <a:lnTo>
                    <a:pt x="47752" y="81279"/>
                  </a:lnTo>
                  <a:lnTo>
                    <a:pt x="22098" y="121538"/>
                  </a:lnTo>
                  <a:lnTo>
                    <a:pt x="5842" y="167258"/>
                  </a:lnTo>
                  <a:lnTo>
                    <a:pt x="0" y="217042"/>
                  </a:lnTo>
                  <a:lnTo>
                    <a:pt x="5842" y="266826"/>
                  </a:lnTo>
                  <a:lnTo>
                    <a:pt x="22098" y="312419"/>
                  </a:lnTo>
                  <a:lnTo>
                    <a:pt x="47752" y="352805"/>
                  </a:lnTo>
                  <a:lnTo>
                    <a:pt x="81406" y="386333"/>
                  </a:lnTo>
                  <a:lnTo>
                    <a:pt x="121666" y="411988"/>
                  </a:lnTo>
                  <a:lnTo>
                    <a:pt x="167386" y="428370"/>
                  </a:lnTo>
                  <a:lnTo>
                    <a:pt x="217169" y="434085"/>
                  </a:lnTo>
                  <a:lnTo>
                    <a:pt x="266954" y="428370"/>
                  </a:lnTo>
                  <a:lnTo>
                    <a:pt x="312546" y="411988"/>
                  </a:lnTo>
                  <a:lnTo>
                    <a:pt x="352932" y="386333"/>
                  </a:lnTo>
                  <a:lnTo>
                    <a:pt x="386461" y="352805"/>
                  </a:lnTo>
                  <a:lnTo>
                    <a:pt x="412115" y="312419"/>
                  </a:lnTo>
                  <a:lnTo>
                    <a:pt x="428498" y="266826"/>
                  </a:lnTo>
                  <a:lnTo>
                    <a:pt x="434213" y="217042"/>
                  </a:lnTo>
                  <a:lnTo>
                    <a:pt x="430021" y="174498"/>
                  </a:lnTo>
                  <a:lnTo>
                    <a:pt x="417703" y="133985"/>
                  </a:lnTo>
                  <a:lnTo>
                    <a:pt x="397764" y="96519"/>
                  </a:lnTo>
                  <a:lnTo>
                    <a:pt x="370586" y="63500"/>
                  </a:lnTo>
                  <a:lnTo>
                    <a:pt x="337566" y="36449"/>
                  </a:lnTo>
                  <a:lnTo>
                    <a:pt x="300228" y="16510"/>
                  </a:lnTo>
                  <a:lnTo>
                    <a:pt x="259715" y="4190"/>
                  </a:lnTo>
                  <a:lnTo>
                    <a:pt x="21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15258" y="409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842" y="167258"/>
                  </a:lnTo>
                  <a:lnTo>
                    <a:pt x="22098" y="121538"/>
                  </a:lnTo>
                  <a:lnTo>
                    <a:pt x="47752" y="81279"/>
                  </a:lnTo>
                  <a:lnTo>
                    <a:pt x="81406" y="47625"/>
                  </a:lnTo>
                  <a:lnTo>
                    <a:pt x="121666" y="21970"/>
                  </a:lnTo>
                  <a:lnTo>
                    <a:pt x="167386" y="5714"/>
                  </a:lnTo>
                  <a:lnTo>
                    <a:pt x="217169" y="0"/>
                  </a:lnTo>
                  <a:lnTo>
                    <a:pt x="259715" y="4190"/>
                  </a:lnTo>
                  <a:lnTo>
                    <a:pt x="300228" y="16510"/>
                  </a:lnTo>
                  <a:lnTo>
                    <a:pt x="337566" y="36449"/>
                  </a:lnTo>
                  <a:lnTo>
                    <a:pt x="370586" y="63500"/>
                  </a:lnTo>
                  <a:lnTo>
                    <a:pt x="397764" y="96519"/>
                  </a:lnTo>
                  <a:lnTo>
                    <a:pt x="417703" y="133985"/>
                  </a:lnTo>
                  <a:lnTo>
                    <a:pt x="430021" y="174498"/>
                  </a:lnTo>
                  <a:lnTo>
                    <a:pt x="434213" y="217042"/>
                  </a:lnTo>
                  <a:lnTo>
                    <a:pt x="428498" y="266826"/>
                  </a:lnTo>
                  <a:lnTo>
                    <a:pt x="412115" y="312419"/>
                  </a:lnTo>
                  <a:lnTo>
                    <a:pt x="386461" y="352805"/>
                  </a:lnTo>
                  <a:lnTo>
                    <a:pt x="352932" y="386333"/>
                  </a:lnTo>
                  <a:lnTo>
                    <a:pt x="312546" y="411988"/>
                  </a:lnTo>
                  <a:lnTo>
                    <a:pt x="266954" y="428370"/>
                  </a:lnTo>
                  <a:lnTo>
                    <a:pt x="217169" y="434085"/>
                  </a:lnTo>
                  <a:lnTo>
                    <a:pt x="167386" y="428370"/>
                  </a:lnTo>
                  <a:lnTo>
                    <a:pt x="121666" y="411988"/>
                  </a:lnTo>
                  <a:lnTo>
                    <a:pt x="81406" y="386333"/>
                  </a:lnTo>
                  <a:lnTo>
                    <a:pt x="47752" y="352805"/>
                  </a:lnTo>
                  <a:lnTo>
                    <a:pt x="22098" y="312419"/>
                  </a:lnTo>
                  <a:lnTo>
                    <a:pt x="5842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32734" y="4130167"/>
            <a:ext cx="16510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B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75557" y="4178249"/>
            <a:ext cx="6140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75" dirty="0">
                <a:solidFill>
                  <a:srgbClr val="164052"/>
                </a:solidFill>
                <a:latin typeface="Calibri"/>
                <a:cs typeface="Calibri"/>
              </a:rPr>
              <a:t>Module</a:t>
            </a:r>
            <a:r>
              <a:rPr sz="2200" b="1" spc="3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r>
              <a:rPr sz="2200" b="1" spc="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64052"/>
                </a:solidFill>
                <a:latin typeface="Calibri"/>
                <a:cs typeface="Calibri"/>
              </a:rPr>
              <a:t>:</a:t>
            </a:r>
            <a:r>
              <a:rPr sz="2200" b="1" spc="14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135" dirty="0">
                <a:solidFill>
                  <a:srgbClr val="164052"/>
                </a:solidFill>
                <a:latin typeface="Calibri"/>
                <a:cs typeface="Calibri"/>
              </a:rPr>
              <a:t>Industrialisation</a:t>
            </a:r>
            <a:r>
              <a:rPr sz="2200" b="1" spc="33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95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200" b="1" spc="31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120" dirty="0">
                <a:solidFill>
                  <a:srgbClr val="164052"/>
                </a:solidFill>
                <a:latin typeface="Calibri"/>
                <a:cs typeface="Calibri"/>
              </a:rPr>
              <a:t>déploiements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00525" y="4591786"/>
            <a:ext cx="5822950" cy="18554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75" dirty="0">
                <a:solidFill>
                  <a:srgbClr val="164052"/>
                </a:solidFill>
                <a:latin typeface="Calibri"/>
                <a:cs typeface="Calibri"/>
              </a:rPr>
              <a:t>Standardisation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64052"/>
                </a:solidFill>
                <a:latin typeface="Calibri"/>
                <a:cs typeface="Calibri"/>
              </a:rPr>
              <a:t>l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ivrables</a:t>
            </a:r>
            <a:endParaRPr sz="20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d’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une</a:t>
            </a:r>
            <a:r>
              <a:rPr sz="2000" b="1" spc="3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usine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logicielle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et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65" dirty="0">
                <a:solidFill>
                  <a:srgbClr val="164052"/>
                </a:solidFill>
                <a:latin typeface="Calibri"/>
                <a:cs typeface="Calibri"/>
              </a:rPr>
              <a:t>de </a:t>
            </a:r>
            <a:r>
              <a:rPr sz="2000" b="1" dirty="0">
                <a:solidFill>
                  <a:srgbClr val="164052"/>
                </a:solidFill>
                <a:latin typeface="Calibri"/>
                <a:cs typeface="Calibri"/>
              </a:rPr>
              <a:t>l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64052"/>
                </a:solidFill>
                <a:latin typeface="Calibri"/>
                <a:cs typeface="Calibri"/>
              </a:rPr>
              <a:t>’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70" dirty="0">
                <a:solidFill>
                  <a:srgbClr val="164052"/>
                </a:solidFill>
                <a:latin typeface="Calibri"/>
                <a:cs typeface="Calibri"/>
              </a:rPr>
              <a:t>intégration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continue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75" dirty="0">
                <a:solidFill>
                  <a:srgbClr val="164052"/>
                </a:solidFill>
                <a:latin typeface="Calibri"/>
                <a:cs typeface="Calibri"/>
              </a:rPr>
              <a:t>Standardisation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du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provisioning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218" y="-4762"/>
            <a:ext cx="3517900" cy="7566025"/>
            <a:chOff x="-6218" y="-4762"/>
            <a:chExt cx="3517900" cy="7566025"/>
          </a:xfrm>
        </p:grpSpPr>
        <p:sp>
          <p:nvSpPr>
            <p:cNvPr id="3" name="object 3"/>
            <p:cNvSpPr/>
            <p:nvPr/>
          </p:nvSpPr>
          <p:spPr>
            <a:xfrm>
              <a:off x="-1447" y="0"/>
              <a:ext cx="3390265" cy="7556500"/>
            </a:xfrm>
            <a:custGeom>
              <a:avLst/>
              <a:gdLst/>
              <a:ahLst/>
              <a:cxnLst/>
              <a:rect l="l" t="t" r="r" b="b"/>
              <a:pathLst>
                <a:path w="3390265" h="7556500">
                  <a:moveTo>
                    <a:pt x="3390188" y="0"/>
                  </a:moveTo>
                  <a:lnTo>
                    <a:pt x="3351263" y="0"/>
                  </a:lnTo>
                  <a:lnTo>
                    <a:pt x="0" y="0"/>
                  </a:lnTo>
                  <a:lnTo>
                    <a:pt x="0" y="7556487"/>
                  </a:lnTo>
                  <a:lnTo>
                    <a:pt x="3351263" y="7556487"/>
                  </a:lnTo>
                  <a:lnTo>
                    <a:pt x="3351263" y="7469733"/>
                  </a:lnTo>
                  <a:lnTo>
                    <a:pt x="3390188" y="7556487"/>
                  </a:lnTo>
                  <a:lnTo>
                    <a:pt x="3390188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1456" y="0"/>
              <a:ext cx="3390265" cy="7556500"/>
            </a:xfrm>
            <a:custGeom>
              <a:avLst/>
              <a:gdLst/>
              <a:ahLst/>
              <a:cxnLst/>
              <a:rect l="l" t="t" r="r" b="b"/>
              <a:pathLst>
                <a:path w="3390265" h="7556500">
                  <a:moveTo>
                    <a:pt x="0" y="0"/>
                  </a:moveTo>
                  <a:lnTo>
                    <a:pt x="3390197" y="0"/>
                  </a:lnTo>
                  <a:lnTo>
                    <a:pt x="3390197" y="7556498"/>
                  </a:lnTo>
                </a:path>
                <a:path w="339026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164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49878" y="-1"/>
              <a:ext cx="161925" cy="7556500"/>
            </a:xfrm>
            <a:custGeom>
              <a:avLst/>
              <a:gdLst/>
              <a:ahLst/>
              <a:cxnLst/>
              <a:rect l="l" t="t" r="r" b="b"/>
              <a:pathLst>
                <a:path w="161925" h="7556500">
                  <a:moveTo>
                    <a:pt x="161505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161505" y="7556500"/>
                  </a:lnTo>
                  <a:lnTo>
                    <a:pt x="161505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3663" y="2613736"/>
            <a:ext cx="22250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60" dirty="0">
                <a:solidFill>
                  <a:srgbClr val="FFFFFF"/>
                </a:solidFill>
                <a:latin typeface="Calibri"/>
                <a:cs typeface="Calibri"/>
              </a:rPr>
              <a:t>Calendrier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1620" y="688340"/>
            <a:ext cx="50355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75" dirty="0">
                <a:solidFill>
                  <a:srgbClr val="164052"/>
                </a:solidFill>
                <a:latin typeface="Calibri"/>
                <a:cs typeface="Calibri"/>
              </a:rPr>
              <a:t>Module</a:t>
            </a:r>
            <a:r>
              <a:rPr sz="2200" b="1" spc="31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60" dirty="0">
                <a:solidFill>
                  <a:srgbClr val="164052"/>
                </a:solidFill>
                <a:latin typeface="Calibri"/>
                <a:cs typeface="Calibri"/>
              </a:rPr>
              <a:t>3:</a:t>
            </a:r>
            <a:r>
              <a:rPr sz="2200" b="1" spc="1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55" dirty="0">
                <a:solidFill>
                  <a:srgbClr val="164052"/>
                </a:solidFill>
                <a:latin typeface="Calibri"/>
                <a:cs typeface="Calibri"/>
              </a:rPr>
              <a:t>Le</a:t>
            </a:r>
            <a:r>
              <a:rPr sz="2200" b="1" spc="2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95" dirty="0">
                <a:solidFill>
                  <a:srgbClr val="164052"/>
                </a:solidFill>
                <a:latin typeface="Calibri"/>
                <a:cs typeface="Calibri"/>
              </a:rPr>
              <a:t>Cloud</a:t>
            </a:r>
            <a:r>
              <a:rPr sz="22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50" dirty="0">
                <a:solidFill>
                  <a:srgbClr val="164052"/>
                </a:solidFill>
                <a:latin typeface="Calibri"/>
                <a:cs typeface="Calibri"/>
              </a:rPr>
              <a:t>et</a:t>
            </a:r>
            <a:r>
              <a:rPr sz="2200" b="1" spc="2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55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200" b="1" spc="2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100" dirty="0">
                <a:solidFill>
                  <a:srgbClr val="164052"/>
                </a:solidFill>
                <a:latin typeface="Calibri"/>
                <a:cs typeface="Calibri"/>
              </a:rPr>
              <a:t>virtualisation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7950" y="501649"/>
            <a:ext cx="1989455" cy="375285"/>
          </a:xfrm>
          <a:custGeom>
            <a:avLst/>
            <a:gdLst/>
            <a:ahLst/>
            <a:cxnLst/>
            <a:rect l="l" t="t" r="r" b="b"/>
            <a:pathLst>
              <a:path w="1989454" h="375284">
                <a:moveTo>
                  <a:pt x="1286256" y="187325"/>
                </a:moveTo>
                <a:lnTo>
                  <a:pt x="1272032" y="115697"/>
                </a:lnTo>
                <a:lnTo>
                  <a:pt x="1231392" y="54864"/>
                </a:lnTo>
                <a:lnTo>
                  <a:pt x="1170686" y="14224"/>
                </a:lnTo>
                <a:lnTo>
                  <a:pt x="1098931" y="0"/>
                </a:lnTo>
                <a:lnTo>
                  <a:pt x="187325" y="0"/>
                </a:lnTo>
                <a:lnTo>
                  <a:pt x="137541" y="6731"/>
                </a:lnTo>
                <a:lnTo>
                  <a:pt x="92837" y="25527"/>
                </a:lnTo>
                <a:lnTo>
                  <a:pt x="54864" y="54864"/>
                </a:lnTo>
                <a:lnTo>
                  <a:pt x="25527" y="92837"/>
                </a:lnTo>
                <a:lnTo>
                  <a:pt x="6731" y="137541"/>
                </a:lnTo>
                <a:lnTo>
                  <a:pt x="0" y="187325"/>
                </a:lnTo>
                <a:lnTo>
                  <a:pt x="6731" y="237109"/>
                </a:lnTo>
                <a:lnTo>
                  <a:pt x="25527" y="281940"/>
                </a:lnTo>
                <a:lnTo>
                  <a:pt x="54864" y="319786"/>
                </a:lnTo>
                <a:lnTo>
                  <a:pt x="92837" y="349123"/>
                </a:lnTo>
                <a:lnTo>
                  <a:pt x="137541" y="368046"/>
                </a:lnTo>
                <a:lnTo>
                  <a:pt x="187325" y="374777"/>
                </a:lnTo>
                <a:lnTo>
                  <a:pt x="1098931" y="374777"/>
                </a:lnTo>
                <a:lnTo>
                  <a:pt x="1148715" y="368046"/>
                </a:lnTo>
                <a:lnTo>
                  <a:pt x="1193546" y="349123"/>
                </a:lnTo>
                <a:lnTo>
                  <a:pt x="1231392" y="319786"/>
                </a:lnTo>
                <a:lnTo>
                  <a:pt x="1260729" y="281940"/>
                </a:lnTo>
                <a:lnTo>
                  <a:pt x="1279652" y="237109"/>
                </a:lnTo>
                <a:lnTo>
                  <a:pt x="1286256" y="187325"/>
                </a:lnTo>
                <a:close/>
              </a:path>
              <a:path w="1989454" h="375284">
                <a:moveTo>
                  <a:pt x="1989201" y="56896"/>
                </a:moveTo>
                <a:lnTo>
                  <a:pt x="1293622" y="191516"/>
                </a:lnTo>
                <a:lnTo>
                  <a:pt x="1989201" y="326136"/>
                </a:lnTo>
                <a:lnTo>
                  <a:pt x="1989201" y="56896"/>
                </a:lnTo>
                <a:close/>
              </a:path>
            </a:pathLst>
          </a:custGeom>
          <a:solidFill>
            <a:srgbClr val="7792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86611" y="487756"/>
            <a:ext cx="848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150" dirty="0">
                <a:solidFill>
                  <a:srgbClr val="FFFFFF"/>
                </a:solidFill>
                <a:latin typeface="Calibri"/>
                <a:cs typeface="Calibri"/>
              </a:rPr>
              <a:t>Jour</a:t>
            </a:r>
            <a:r>
              <a:rPr sz="2200" b="1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92970" y="653986"/>
            <a:ext cx="462915" cy="462915"/>
            <a:chOff x="3192970" y="653986"/>
            <a:chExt cx="462915" cy="462915"/>
          </a:xfrm>
        </p:grpSpPr>
        <p:sp>
          <p:nvSpPr>
            <p:cNvPr id="11" name="object 11"/>
            <p:cNvSpPr/>
            <p:nvPr/>
          </p:nvSpPr>
          <p:spPr>
            <a:xfrm>
              <a:off x="3207257" y="66827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043" y="0"/>
                  </a:moveTo>
                  <a:lnTo>
                    <a:pt x="167258" y="5842"/>
                  </a:lnTo>
                  <a:lnTo>
                    <a:pt x="121539" y="22098"/>
                  </a:lnTo>
                  <a:lnTo>
                    <a:pt x="81280" y="47751"/>
                  </a:lnTo>
                  <a:lnTo>
                    <a:pt x="47625" y="81407"/>
                  </a:lnTo>
                  <a:lnTo>
                    <a:pt x="22098" y="121666"/>
                  </a:lnTo>
                  <a:lnTo>
                    <a:pt x="5715" y="167386"/>
                  </a:lnTo>
                  <a:lnTo>
                    <a:pt x="0" y="217170"/>
                  </a:lnTo>
                  <a:lnTo>
                    <a:pt x="5715" y="266953"/>
                  </a:lnTo>
                  <a:lnTo>
                    <a:pt x="22098" y="312547"/>
                  </a:lnTo>
                  <a:lnTo>
                    <a:pt x="47625" y="352933"/>
                  </a:lnTo>
                  <a:lnTo>
                    <a:pt x="81280" y="386461"/>
                  </a:lnTo>
                  <a:lnTo>
                    <a:pt x="121539" y="412115"/>
                  </a:lnTo>
                  <a:lnTo>
                    <a:pt x="167258" y="428498"/>
                  </a:lnTo>
                  <a:lnTo>
                    <a:pt x="217043" y="434213"/>
                  </a:lnTo>
                  <a:lnTo>
                    <a:pt x="266827" y="428498"/>
                  </a:lnTo>
                  <a:lnTo>
                    <a:pt x="312546" y="412115"/>
                  </a:lnTo>
                  <a:lnTo>
                    <a:pt x="352806" y="386461"/>
                  </a:lnTo>
                  <a:lnTo>
                    <a:pt x="386461" y="352933"/>
                  </a:lnTo>
                  <a:lnTo>
                    <a:pt x="411988" y="312547"/>
                  </a:lnTo>
                  <a:lnTo>
                    <a:pt x="428370" y="266953"/>
                  </a:lnTo>
                  <a:lnTo>
                    <a:pt x="434086" y="217170"/>
                  </a:lnTo>
                  <a:lnTo>
                    <a:pt x="429894" y="174625"/>
                  </a:lnTo>
                  <a:lnTo>
                    <a:pt x="417576" y="134112"/>
                  </a:lnTo>
                  <a:lnTo>
                    <a:pt x="397637" y="96647"/>
                  </a:lnTo>
                  <a:lnTo>
                    <a:pt x="370586" y="63626"/>
                  </a:lnTo>
                  <a:lnTo>
                    <a:pt x="337439" y="36575"/>
                  </a:lnTo>
                  <a:lnTo>
                    <a:pt x="300101" y="16637"/>
                  </a:lnTo>
                  <a:lnTo>
                    <a:pt x="259588" y="4318"/>
                  </a:lnTo>
                  <a:lnTo>
                    <a:pt x="217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7257" y="66827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70"/>
                  </a:moveTo>
                  <a:lnTo>
                    <a:pt x="5715" y="167386"/>
                  </a:lnTo>
                  <a:lnTo>
                    <a:pt x="22098" y="121666"/>
                  </a:lnTo>
                  <a:lnTo>
                    <a:pt x="47625" y="81407"/>
                  </a:lnTo>
                  <a:lnTo>
                    <a:pt x="81280" y="47751"/>
                  </a:lnTo>
                  <a:lnTo>
                    <a:pt x="121539" y="22098"/>
                  </a:lnTo>
                  <a:lnTo>
                    <a:pt x="167258" y="5842"/>
                  </a:lnTo>
                  <a:lnTo>
                    <a:pt x="217043" y="0"/>
                  </a:lnTo>
                  <a:lnTo>
                    <a:pt x="259588" y="4318"/>
                  </a:lnTo>
                  <a:lnTo>
                    <a:pt x="300101" y="16637"/>
                  </a:lnTo>
                  <a:lnTo>
                    <a:pt x="337439" y="36575"/>
                  </a:lnTo>
                  <a:lnTo>
                    <a:pt x="370586" y="63626"/>
                  </a:lnTo>
                  <a:lnTo>
                    <a:pt x="397637" y="96647"/>
                  </a:lnTo>
                  <a:lnTo>
                    <a:pt x="417576" y="134112"/>
                  </a:lnTo>
                  <a:lnTo>
                    <a:pt x="429894" y="174625"/>
                  </a:lnTo>
                  <a:lnTo>
                    <a:pt x="434086" y="217170"/>
                  </a:lnTo>
                  <a:lnTo>
                    <a:pt x="428370" y="266953"/>
                  </a:lnTo>
                  <a:lnTo>
                    <a:pt x="411988" y="312547"/>
                  </a:lnTo>
                  <a:lnTo>
                    <a:pt x="386461" y="352933"/>
                  </a:lnTo>
                  <a:lnTo>
                    <a:pt x="352806" y="386461"/>
                  </a:lnTo>
                  <a:lnTo>
                    <a:pt x="312546" y="412115"/>
                  </a:lnTo>
                  <a:lnTo>
                    <a:pt x="266827" y="428498"/>
                  </a:lnTo>
                  <a:lnTo>
                    <a:pt x="217043" y="434213"/>
                  </a:lnTo>
                  <a:lnTo>
                    <a:pt x="167258" y="428498"/>
                  </a:lnTo>
                  <a:lnTo>
                    <a:pt x="121539" y="412115"/>
                  </a:lnTo>
                  <a:lnTo>
                    <a:pt x="81280" y="386461"/>
                  </a:lnTo>
                  <a:lnTo>
                    <a:pt x="47625" y="352933"/>
                  </a:lnTo>
                  <a:lnTo>
                    <a:pt x="22098" y="312547"/>
                  </a:lnTo>
                  <a:lnTo>
                    <a:pt x="5715" y="266953"/>
                  </a:lnTo>
                  <a:lnTo>
                    <a:pt x="0" y="217170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25114" y="698119"/>
            <a:ext cx="15748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C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0525" y="1081253"/>
            <a:ext cx="5960110" cy="1854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Le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Cloud</a:t>
            </a:r>
            <a:r>
              <a:rPr sz="2000" b="1" spc="409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Computing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apports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70" dirty="0">
                <a:solidFill>
                  <a:srgbClr val="164052"/>
                </a:solidFill>
                <a:latin typeface="Calibri"/>
                <a:cs typeface="Calibri"/>
              </a:rPr>
              <a:t>infrastructures</a:t>
            </a:r>
            <a:r>
              <a:rPr sz="2000" b="1" spc="42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avantages</a:t>
            </a:r>
            <a:r>
              <a:rPr sz="2000" b="1" spc="44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70" dirty="0">
                <a:solidFill>
                  <a:srgbClr val="164052"/>
                </a:solidFill>
                <a:latin typeface="Calibri"/>
                <a:cs typeface="Calibri"/>
              </a:rPr>
              <a:t>virtualisation</a:t>
            </a:r>
            <a:r>
              <a:rPr sz="2000" b="1" spc="409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0" dirty="0">
                <a:solidFill>
                  <a:srgbClr val="164052"/>
                </a:solidFill>
                <a:latin typeface="Calibri"/>
                <a:cs typeface="Calibri"/>
              </a:rPr>
              <a:t>hardware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nouveaux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outils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virtualisation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00972" y="3016314"/>
            <a:ext cx="462915" cy="462915"/>
            <a:chOff x="3200972" y="3016314"/>
            <a:chExt cx="462915" cy="462915"/>
          </a:xfrm>
        </p:grpSpPr>
        <p:sp>
          <p:nvSpPr>
            <p:cNvPr id="16" name="object 16"/>
            <p:cNvSpPr/>
            <p:nvPr/>
          </p:nvSpPr>
          <p:spPr>
            <a:xfrm>
              <a:off x="3215258" y="30306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169" y="0"/>
                  </a:moveTo>
                  <a:lnTo>
                    <a:pt x="167386" y="5714"/>
                  </a:lnTo>
                  <a:lnTo>
                    <a:pt x="121666" y="21970"/>
                  </a:lnTo>
                  <a:lnTo>
                    <a:pt x="81406" y="47625"/>
                  </a:lnTo>
                  <a:lnTo>
                    <a:pt x="47752" y="81279"/>
                  </a:lnTo>
                  <a:lnTo>
                    <a:pt x="22098" y="121538"/>
                  </a:lnTo>
                  <a:lnTo>
                    <a:pt x="5842" y="167258"/>
                  </a:lnTo>
                  <a:lnTo>
                    <a:pt x="0" y="217042"/>
                  </a:lnTo>
                  <a:lnTo>
                    <a:pt x="5842" y="266826"/>
                  </a:lnTo>
                  <a:lnTo>
                    <a:pt x="22098" y="312419"/>
                  </a:lnTo>
                  <a:lnTo>
                    <a:pt x="47752" y="352805"/>
                  </a:lnTo>
                  <a:lnTo>
                    <a:pt x="81406" y="386333"/>
                  </a:lnTo>
                  <a:lnTo>
                    <a:pt x="121666" y="411988"/>
                  </a:lnTo>
                  <a:lnTo>
                    <a:pt x="167386" y="428370"/>
                  </a:lnTo>
                  <a:lnTo>
                    <a:pt x="217169" y="434086"/>
                  </a:lnTo>
                  <a:lnTo>
                    <a:pt x="266954" y="428370"/>
                  </a:lnTo>
                  <a:lnTo>
                    <a:pt x="312546" y="411988"/>
                  </a:lnTo>
                  <a:lnTo>
                    <a:pt x="352932" y="386333"/>
                  </a:lnTo>
                  <a:lnTo>
                    <a:pt x="386461" y="352805"/>
                  </a:lnTo>
                  <a:lnTo>
                    <a:pt x="412115" y="312419"/>
                  </a:lnTo>
                  <a:lnTo>
                    <a:pt x="428498" y="266826"/>
                  </a:lnTo>
                  <a:lnTo>
                    <a:pt x="434213" y="217042"/>
                  </a:lnTo>
                  <a:lnTo>
                    <a:pt x="430021" y="174498"/>
                  </a:lnTo>
                  <a:lnTo>
                    <a:pt x="417703" y="133985"/>
                  </a:lnTo>
                  <a:lnTo>
                    <a:pt x="397764" y="96519"/>
                  </a:lnTo>
                  <a:lnTo>
                    <a:pt x="370586" y="63500"/>
                  </a:lnTo>
                  <a:lnTo>
                    <a:pt x="337566" y="36449"/>
                  </a:lnTo>
                  <a:lnTo>
                    <a:pt x="300228" y="16510"/>
                  </a:lnTo>
                  <a:lnTo>
                    <a:pt x="259715" y="4190"/>
                  </a:lnTo>
                  <a:lnTo>
                    <a:pt x="21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15258" y="30306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842" y="167258"/>
                  </a:lnTo>
                  <a:lnTo>
                    <a:pt x="22098" y="121538"/>
                  </a:lnTo>
                  <a:lnTo>
                    <a:pt x="47752" y="81279"/>
                  </a:lnTo>
                  <a:lnTo>
                    <a:pt x="81406" y="47625"/>
                  </a:lnTo>
                  <a:lnTo>
                    <a:pt x="121666" y="21970"/>
                  </a:lnTo>
                  <a:lnTo>
                    <a:pt x="167386" y="5714"/>
                  </a:lnTo>
                  <a:lnTo>
                    <a:pt x="217169" y="0"/>
                  </a:lnTo>
                  <a:lnTo>
                    <a:pt x="259715" y="4190"/>
                  </a:lnTo>
                  <a:lnTo>
                    <a:pt x="300228" y="16510"/>
                  </a:lnTo>
                  <a:lnTo>
                    <a:pt x="337566" y="36449"/>
                  </a:lnTo>
                  <a:lnTo>
                    <a:pt x="370586" y="63500"/>
                  </a:lnTo>
                  <a:lnTo>
                    <a:pt x="397764" y="96519"/>
                  </a:lnTo>
                  <a:lnTo>
                    <a:pt x="417703" y="133985"/>
                  </a:lnTo>
                  <a:lnTo>
                    <a:pt x="430021" y="174498"/>
                  </a:lnTo>
                  <a:lnTo>
                    <a:pt x="434213" y="217042"/>
                  </a:lnTo>
                  <a:lnTo>
                    <a:pt x="428498" y="266826"/>
                  </a:lnTo>
                  <a:lnTo>
                    <a:pt x="412115" y="312419"/>
                  </a:lnTo>
                  <a:lnTo>
                    <a:pt x="386461" y="352805"/>
                  </a:lnTo>
                  <a:lnTo>
                    <a:pt x="352932" y="386333"/>
                  </a:lnTo>
                  <a:lnTo>
                    <a:pt x="312546" y="411988"/>
                  </a:lnTo>
                  <a:lnTo>
                    <a:pt x="266954" y="428370"/>
                  </a:lnTo>
                  <a:lnTo>
                    <a:pt x="217169" y="434086"/>
                  </a:lnTo>
                  <a:lnTo>
                    <a:pt x="167386" y="428370"/>
                  </a:lnTo>
                  <a:lnTo>
                    <a:pt x="121666" y="411988"/>
                  </a:lnTo>
                  <a:lnTo>
                    <a:pt x="81406" y="386333"/>
                  </a:lnTo>
                  <a:lnTo>
                    <a:pt x="47752" y="352805"/>
                  </a:lnTo>
                  <a:lnTo>
                    <a:pt x="22098" y="312419"/>
                  </a:lnTo>
                  <a:lnTo>
                    <a:pt x="5842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32734" y="3062986"/>
            <a:ext cx="18224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D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75557" y="3111754"/>
            <a:ext cx="64592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75" dirty="0">
                <a:solidFill>
                  <a:srgbClr val="164052"/>
                </a:solidFill>
                <a:latin typeface="Calibri"/>
                <a:cs typeface="Calibri"/>
              </a:rPr>
              <a:t>Module</a:t>
            </a:r>
            <a:r>
              <a:rPr sz="2200" b="1" spc="31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64052"/>
                </a:solidFill>
                <a:latin typeface="Calibri"/>
                <a:cs typeface="Calibri"/>
              </a:rPr>
              <a:t>4</a:t>
            </a:r>
            <a:r>
              <a:rPr sz="2200" b="1" spc="2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64052"/>
                </a:solidFill>
                <a:latin typeface="Calibri"/>
                <a:cs typeface="Calibri"/>
              </a:rPr>
              <a:t>:</a:t>
            </a:r>
            <a:r>
              <a:rPr sz="2200" b="1" spc="1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65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200" b="1" spc="32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130" dirty="0">
                <a:solidFill>
                  <a:srgbClr val="164052"/>
                </a:solidFill>
                <a:latin typeface="Calibri"/>
                <a:cs typeface="Calibri"/>
              </a:rPr>
              <a:t>virtualisation</a:t>
            </a:r>
            <a:r>
              <a:rPr sz="2200" b="1" spc="33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95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200" b="1" spc="33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200" b="1" spc="120" dirty="0">
                <a:solidFill>
                  <a:srgbClr val="164052"/>
                </a:solidFill>
                <a:latin typeface="Calibri"/>
                <a:cs typeface="Calibri"/>
              </a:rPr>
              <a:t>environnements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00525" y="3525367"/>
            <a:ext cx="6110605" cy="36842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0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virtualisation</a:t>
            </a:r>
            <a:endParaRPr sz="2000">
              <a:latin typeface="Calibri"/>
              <a:cs typeface="Calibri"/>
            </a:endParaRPr>
          </a:p>
          <a:p>
            <a:pPr marL="355600" marR="106426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spc="170" dirty="0">
                <a:solidFill>
                  <a:srgbClr val="164052"/>
                </a:solidFill>
                <a:latin typeface="Calibri"/>
                <a:cs typeface="Calibri"/>
              </a:rPr>
              <a:t>Présentation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différents</a:t>
            </a:r>
            <a:r>
              <a:rPr sz="2000" b="1" spc="41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types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65" dirty="0">
                <a:solidFill>
                  <a:srgbClr val="164052"/>
                </a:solidFill>
                <a:latin typeface="Calibri"/>
                <a:cs typeface="Calibri"/>
              </a:rPr>
              <a:t>de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virtualisation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0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000" b="1" spc="409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0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r>
              <a:rPr sz="2000" b="1" spc="4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Vagrant</a:t>
            </a:r>
            <a:r>
              <a:rPr sz="2000" b="1" spc="42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pour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faciliter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65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endParaRPr sz="2000">
              <a:latin typeface="Calibri"/>
              <a:cs typeface="Calibri"/>
            </a:endParaRPr>
          </a:p>
          <a:p>
            <a:pPr marL="355600" marR="1746250">
              <a:lnSpc>
                <a:spcPct val="150000"/>
              </a:lnSpc>
            </a:pP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gestion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70" dirty="0">
                <a:solidFill>
                  <a:srgbClr val="164052"/>
                </a:solidFill>
                <a:latin typeface="Calibri"/>
                <a:cs typeface="Calibri"/>
              </a:rPr>
              <a:t>environnements</a:t>
            </a:r>
            <a:r>
              <a:rPr sz="2000" b="1" spc="42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65" dirty="0">
                <a:solidFill>
                  <a:srgbClr val="164052"/>
                </a:solidFill>
                <a:latin typeface="Calibri"/>
                <a:cs typeface="Calibri"/>
              </a:rPr>
              <a:t>de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développement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0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000" b="1" spc="41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0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0" dirty="0">
                <a:solidFill>
                  <a:srgbClr val="164052"/>
                </a:solidFill>
                <a:latin typeface="Calibri"/>
                <a:cs typeface="Calibri"/>
              </a:rPr>
              <a:t>Docker</a:t>
            </a:r>
            <a:r>
              <a:rPr sz="2000" b="1" spc="409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pour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faciliter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65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gestion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socles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243" y="-4762"/>
            <a:ext cx="3497579" cy="7566025"/>
            <a:chOff x="-6243" y="-4762"/>
            <a:chExt cx="3497579" cy="7566025"/>
          </a:xfrm>
        </p:grpSpPr>
        <p:sp>
          <p:nvSpPr>
            <p:cNvPr id="3" name="object 3"/>
            <p:cNvSpPr/>
            <p:nvPr/>
          </p:nvSpPr>
          <p:spPr>
            <a:xfrm>
              <a:off x="-1473" y="0"/>
              <a:ext cx="3364229" cy="7556500"/>
            </a:xfrm>
            <a:custGeom>
              <a:avLst/>
              <a:gdLst/>
              <a:ahLst/>
              <a:cxnLst/>
              <a:rect l="l" t="t" r="r" b="b"/>
              <a:pathLst>
                <a:path w="3364229" h="7556500">
                  <a:moveTo>
                    <a:pt x="3363798" y="0"/>
                  </a:moveTo>
                  <a:lnTo>
                    <a:pt x="3336277" y="0"/>
                  </a:lnTo>
                  <a:lnTo>
                    <a:pt x="0" y="0"/>
                  </a:lnTo>
                  <a:lnTo>
                    <a:pt x="0" y="7556487"/>
                  </a:lnTo>
                  <a:lnTo>
                    <a:pt x="3336277" y="7556487"/>
                  </a:lnTo>
                  <a:lnTo>
                    <a:pt x="3336277" y="7494676"/>
                  </a:lnTo>
                  <a:lnTo>
                    <a:pt x="3363798" y="7556487"/>
                  </a:lnTo>
                  <a:lnTo>
                    <a:pt x="3363798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1480" y="0"/>
              <a:ext cx="3364229" cy="7556500"/>
            </a:xfrm>
            <a:custGeom>
              <a:avLst/>
              <a:gdLst/>
              <a:ahLst/>
              <a:cxnLst/>
              <a:rect l="l" t="t" r="r" b="b"/>
              <a:pathLst>
                <a:path w="3364229" h="7556500">
                  <a:moveTo>
                    <a:pt x="0" y="0"/>
                  </a:moveTo>
                  <a:lnTo>
                    <a:pt x="3363805" y="0"/>
                  </a:lnTo>
                  <a:lnTo>
                    <a:pt x="3363805" y="7556498"/>
                  </a:lnTo>
                </a:path>
                <a:path w="3364229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164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81502" y="0"/>
              <a:ext cx="609600" cy="7556500"/>
            </a:xfrm>
            <a:custGeom>
              <a:avLst/>
              <a:gdLst/>
              <a:ahLst/>
              <a:cxnLst/>
              <a:rect l="l" t="t" r="r" b="b"/>
              <a:pathLst>
                <a:path w="609600" h="7556500">
                  <a:moveTo>
                    <a:pt x="609219" y="0"/>
                  </a:moveTo>
                  <a:lnTo>
                    <a:pt x="453389" y="0"/>
                  </a:lnTo>
                  <a:lnTo>
                    <a:pt x="453389" y="945007"/>
                  </a:lnTo>
                  <a:lnTo>
                    <a:pt x="0" y="1072388"/>
                  </a:lnTo>
                  <a:lnTo>
                    <a:pt x="453389" y="1199769"/>
                  </a:lnTo>
                  <a:lnTo>
                    <a:pt x="453389" y="7556497"/>
                  </a:lnTo>
                  <a:lnTo>
                    <a:pt x="609219" y="7556497"/>
                  </a:lnTo>
                  <a:lnTo>
                    <a:pt x="609219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9292" y="2613736"/>
            <a:ext cx="22250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60" dirty="0">
                <a:solidFill>
                  <a:srgbClr val="FFFFFF"/>
                </a:solidFill>
                <a:latin typeface="Calibri"/>
                <a:cs typeface="Calibri"/>
              </a:rPr>
              <a:t>Calendrier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6550" y="890651"/>
            <a:ext cx="1286510" cy="375285"/>
          </a:xfrm>
          <a:custGeom>
            <a:avLst/>
            <a:gdLst/>
            <a:ahLst/>
            <a:cxnLst/>
            <a:rect l="l" t="t" r="r" b="b"/>
            <a:pathLst>
              <a:path w="1286510" h="375284">
                <a:moveTo>
                  <a:pt x="1098931" y="0"/>
                </a:moveTo>
                <a:lnTo>
                  <a:pt x="187325" y="0"/>
                </a:lnTo>
                <a:lnTo>
                  <a:pt x="137541" y="6731"/>
                </a:lnTo>
                <a:lnTo>
                  <a:pt x="92837" y="25526"/>
                </a:lnTo>
                <a:lnTo>
                  <a:pt x="54863" y="54864"/>
                </a:lnTo>
                <a:lnTo>
                  <a:pt x="25526" y="92837"/>
                </a:lnTo>
                <a:lnTo>
                  <a:pt x="6731" y="137541"/>
                </a:lnTo>
                <a:lnTo>
                  <a:pt x="0" y="187325"/>
                </a:lnTo>
                <a:lnTo>
                  <a:pt x="6731" y="237236"/>
                </a:lnTo>
                <a:lnTo>
                  <a:pt x="25526" y="281940"/>
                </a:lnTo>
                <a:lnTo>
                  <a:pt x="54863" y="319913"/>
                </a:lnTo>
                <a:lnTo>
                  <a:pt x="92837" y="349123"/>
                </a:lnTo>
                <a:lnTo>
                  <a:pt x="137541" y="368046"/>
                </a:lnTo>
                <a:lnTo>
                  <a:pt x="187325" y="374777"/>
                </a:lnTo>
                <a:lnTo>
                  <a:pt x="1098931" y="374777"/>
                </a:lnTo>
                <a:lnTo>
                  <a:pt x="1148714" y="368046"/>
                </a:lnTo>
                <a:lnTo>
                  <a:pt x="1193545" y="349123"/>
                </a:lnTo>
                <a:lnTo>
                  <a:pt x="1231392" y="319913"/>
                </a:lnTo>
                <a:lnTo>
                  <a:pt x="1260729" y="281940"/>
                </a:lnTo>
                <a:lnTo>
                  <a:pt x="1279652" y="237236"/>
                </a:lnTo>
                <a:lnTo>
                  <a:pt x="1286256" y="187325"/>
                </a:lnTo>
                <a:lnTo>
                  <a:pt x="1272032" y="115697"/>
                </a:lnTo>
                <a:lnTo>
                  <a:pt x="1231392" y="54864"/>
                </a:lnTo>
                <a:lnTo>
                  <a:pt x="1170558" y="14224"/>
                </a:lnTo>
                <a:lnTo>
                  <a:pt x="1098931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21611" y="868756"/>
            <a:ext cx="848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150" dirty="0">
                <a:solidFill>
                  <a:srgbClr val="FFFFFF"/>
                </a:solidFill>
                <a:latin typeface="Calibri"/>
                <a:cs typeface="Calibri"/>
              </a:rPr>
              <a:t>Jour</a:t>
            </a:r>
            <a:r>
              <a:rPr sz="2200" b="1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045077" y="270764"/>
            <a:ext cx="486854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80" dirty="0">
                <a:latin typeface="Calibri"/>
                <a:cs typeface="Calibri"/>
              </a:rPr>
              <a:t>Module</a:t>
            </a:r>
            <a:r>
              <a:rPr sz="2500" b="1" spc="29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5</a:t>
            </a:r>
            <a:r>
              <a:rPr sz="2500" b="1" spc="254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:</a:t>
            </a:r>
            <a:r>
              <a:rPr sz="2500" b="1" spc="130" dirty="0">
                <a:latin typeface="Calibri"/>
                <a:cs typeface="Calibri"/>
              </a:rPr>
              <a:t> </a:t>
            </a:r>
            <a:r>
              <a:rPr sz="2500" b="1" spc="100" dirty="0">
                <a:latin typeface="Calibri"/>
                <a:cs typeface="Calibri"/>
              </a:rPr>
              <a:t>Automatisation</a:t>
            </a:r>
            <a:r>
              <a:rPr sz="2500" b="1" spc="260" dirty="0">
                <a:latin typeface="Calibri"/>
                <a:cs typeface="Calibri"/>
              </a:rPr>
              <a:t> </a:t>
            </a:r>
            <a:r>
              <a:rPr sz="2500" b="1" spc="35" dirty="0">
                <a:latin typeface="Calibri"/>
                <a:cs typeface="Calibri"/>
              </a:rPr>
              <a:t>du </a:t>
            </a:r>
            <a:r>
              <a:rPr sz="2500" b="1" spc="100" dirty="0">
                <a:latin typeface="Calibri"/>
                <a:cs typeface="Calibri"/>
              </a:rPr>
              <a:t>provisioning</a:t>
            </a:r>
            <a:r>
              <a:rPr sz="2500" b="1" spc="260" dirty="0">
                <a:latin typeface="Calibri"/>
                <a:cs typeface="Calibri"/>
              </a:rPr>
              <a:t> </a:t>
            </a:r>
            <a:r>
              <a:rPr sz="2500" b="1" spc="70" dirty="0">
                <a:latin typeface="Calibri"/>
                <a:cs typeface="Calibri"/>
              </a:rPr>
              <a:t>des</a:t>
            </a:r>
            <a:r>
              <a:rPr sz="2500" b="1" spc="229" dirty="0">
                <a:latin typeface="Calibri"/>
                <a:cs typeface="Calibri"/>
              </a:rPr>
              <a:t> </a:t>
            </a:r>
            <a:r>
              <a:rPr sz="2500" b="1" spc="90" dirty="0">
                <a:latin typeface="Calibri"/>
                <a:cs typeface="Calibri"/>
              </a:rPr>
              <a:t>environnements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78238" y="273113"/>
            <a:ext cx="462915" cy="462915"/>
            <a:chOff x="3178238" y="273113"/>
            <a:chExt cx="462915" cy="462915"/>
          </a:xfrm>
        </p:grpSpPr>
        <p:sp>
          <p:nvSpPr>
            <p:cNvPr id="11" name="object 11"/>
            <p:cNvSpPr/>
            <p:nvPr/>
          </p:nvSpPr>
          <p:spPr>
            <a:xfrm>
              <a:off x="3192526" y="28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043" y="0"/>
                  </a:moveTo>
                  <a:lnTo>
                    <a:pt x="167259" y="5715"/>
                  </a:lnTo>
                  <a:lnTo>
                    <a:pt x="121538" y="21971"/>
                  </a:lnTo>
                  <a:lnTo>
                    <a:pt x="81279" y="47625"/>
                  </a:lnTo>
                  <a:lnTo>
                    <a:pt x="47625" y="81280"/>
                  </a:lnTo>
                  <a:lnTo>
                    <a:pt x="21971" y="121539"/>
                  </a:lnTo>
                  <a:lnTo>
                    <a:pt x="5715" y="167259"/>
                  </a:lnTo>
                  <a:lnTo>
                    <a:pt x="0" y="217043"/>
                  </a:lnTo>
                  <a:lnTo>
                    <a:pt x="5715" y="266826"/>
                  </a:lnTo>
                  <a:lnTo>
                    <a:pt x="21971" y="312420"/>
                  </a:lnTo>
                  <a:lnTo>
                    <a:pt x="47625" y="352806"/>
                  </a:lnTo>
                  <a:lnTo>
                    <a:pt x="81279" y="386334"/>
                  </a:lnTo>
                  <a:lnTo>
                    <a:pt x="121538" y="411988"/>
                  </a:lnTo>
                  <a:lnTo>
                    <a:pt x="167259" y="428371"/>
                  </a:lnTo>
                  <a:lnTo>
                    <a:pt x="217043" y="434086"/>
                  </a:lnTo>
                  <a:lnTo>
                    <a:pt x="266826" y="428371"/>
                  </a:lnTo>
                  <a:lnTo>
                    <a:pt x="312420" y="411988"/>
                  </a:lnTo>
                  <a:lnTo>
                    <a:pt x="352806" y="386334"/>
                  </a:lnTo>
                  <a:lnTo>
                    <a:pt x="386461" y="352806"/>
                  </a:lnTo>
                  <a:lnTo>
                    <a:pt x="411988" y="312420"/>
                  </a:lnTo>
                  <a:lnTo>
                    <a:pt x="428371" y="266826"/>
                  </a:lnTo>
                  <a:lnTo>
                    <a:pt x="434086" y="217043"/>
                  </a:lnTo>
                  <a:lnTo>
                    <a:pt x="429895" y="174498"/>
                  </a:lnTo>
                  <a:lnTo>
                    <a:pt x="417575" y="133985"/>
                  </a:lnTo>
                  <a:lnTo>
                    <a:pt x="397637" y="96520"/>
                  </a:lnTo>
                  <a:lnTo>
                    <a:pt x="370459" y="63500"/>
                  </a:lnTo>
                  <a:lnTo>
                    <a:pt x="337438" y="36449"/>
                  </a:lnTo>
                  <a:lnTo>
                    <a:pt x="300100" y="16510"/>
                  </a:lnTo>
                  <a:lnTo>
                    <a:pt x="259587" y="4191"/>
                  </a:lnTo>
                  <a:lnTo>
                    <a:pt x="217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2526" y="28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043" y="434086"/>
                  </a:moveTo>
                  <a:lnTo>
                    <a:pt x="167259" y="428371"/>
                  </a:lnTo>
                  <a:lnTo>
                    <a:pt x="121538" y="411988"/>
                  </a:lnTo>
                  <a:lnTo>
                    <a:pt x="81279" y="386334"/>
                  </a:lnTo>
                  <a:lnTo>
                    <a:pt x="47625" y="352806"/>
                  </a:lnTo>
                  <a:lnTo>
                    <a:pt x="21971" y="312420"/>
                  </a:lnTo>
                  <a:lnTo>
                    <a:pt x="5715" y="266826"/>
                  </a:lnTo>
                  <a:lnTo>
                    <a:pt x="0" y="217043"/>
                  </a:lnTo>
                  <a:lnTo>
                    <a:pt x="5715" y="167259"/>
                  </a:lnTo>
                  <a:lnTo>
                    <a:pt x="21971" y="121539"/>
                  </a:lnTo>
                  <a:lnTo>
                    <a:pt x="47625" y="81280"/>
                  </a:lnTo>
                  <a:lnTo>
                    <a:pt x="81279" y="47625"/>
                  </a:lnTo>
                  <a:lnTo>
                    <a:pt x="121538" y="21971"/>
                  </a:lnTo>
                  <a:lnTo>
                    <a:pt x="167259" y="5715"/>
                  </a:lnTo>
                  <a:lnTo>
                    <a:pt x="217043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438" y="36449"/>
                  </a:lnTo>
                  <a:lnTo>
                    <a:pt x="370459" y="63500"/>
                  </a:lnTo>
                  <a:lnTo>
                    <a:pt x="397637" y="96520"/>
                  </a:lnTo>
                  <a:lnTo>
                    <a:pt x="417575" y="133985"/>
                  </a:lnTo>
                  <a:lnTo>
                    <a:pt x="429895" y="174498"/>
                  </a:lnTo>
                  <a:lnTo>
                    <a:pt x="434086" y="217043"/>
                  </a:lnTo>
                  <a:lnTo>
                    <a:pt x="428371" y="266826"/>
                  </a:lnTo>
                  <a:lnTo>
                    <a:pt x="411988" y="312420"/>
                  </a:lnTo>
                  <a:lnTo>
                    <a:pt x="386461" y="352806"/>
                  </a:lnTo>
                  <a:lnTo>
                    <a:pt x="352806" y="386334"/>
                  </a:lnTo>
                  <a:lnTo>
                    <a:pt x="312420" y="411988"/>
                  </a:lnTo>
                  <a:lnTo>
                    <a:pt x="266826" y="428371"/>
                  </a:lnTo>
                  <a:lnTo>
                    <a:pt x="217043" y="434086"/>
                  </a:lnTo>
                  <a:close/>
                </a:path>
              </a:pathLst>
            </a:custGeom>
            <a:ln w="9524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92526" y="28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043"/>
                  </a:moveTo>
                  <a:lnTo>
                    <a:pt x="5715" y="167259"/>
                  </a:lnTo>
                  <a:lnTo>
                    <a:pt x="21971" y="121539"/>
                  </a:lnTo>
                  <a:lnTo>
                    <a:pt x="47625" y="81280"/>
                  </a:lnTo>
                  <a:lnTo>
                    <a:pt x="81279" y="47625"/>
                  </a:lnTo>
                  <a:lnTo>
                    <a:pt x="121538" y="21971"/>
                  </a:lnTo>
                  <a:lnTo>
                    <a:pt x="167259" y="5715"/>
                  </a:lnTo>
                  <a:lnTo>
                    <a:pt x="217043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438" y="36449"/>
                  </a:lnTo>
                  <a:lnTo>
                    <a:pt x="370459" y="63500"/>
                  </a:lnTo>
                  <a:lnTo>
                    <a:pt x="397637" y="96520"/>
                  </a:lnTo>
                  <a:lnTo>
                    <a:pt x="417575" y="133985"/>
                  </a:lnTo>
                  <a:lnTo>
                    <a:pt x="429895" y="174498"/>
                  </a:lnTo>
                  <a:lnTo>
                    <a:pt x="434086" y="217043"/>
                  </a:lnTo>
                  <a:lnTo>
                    <a:pt x="428371" y="266826"/>
                  </a:lnTo>
                  <a:lnTo>
                    <a:pt x="411988" y="312420"/>
                  </a:lnTo>
                  <a:lnTo>
                    <a:pt x="386461" y="352806"/>
                  </a:lnTo>
                  <a:lnTo>
                    <a:pt x="352806" y="386334"/>
                  </a:lnTo>
                  <a:lnTo>
                    <a:pt x="312420" y="411988"/>
                  </a:lnTo>
                  <a:lnTo>
                    <a:pt x="266826" y="428371"/>
                  </a:lnTo>
                  <a:lnTo>
                    <a:pt x="217043" y="434086"/>
                  </a:lnTo>
                  <a:lnTo>
                    <a:pt x="167259" y="428371"/>
                  </a:lnTo>
                  <a:lnTo>
                    <a:pt x="121538" y="411988"/>
                  </a:lnTo>
                  <a:lnTo>
                    <a:pt x="81279" y="386334"/>
                  </a:lnTo>
                  <a:lnTo>
                    <a:pt x="47625" y="352806"/>
                  </a:lnTo>
                  <a:lnTo>
                    <a:pt x="21971" y="312420"/>
                  </a:lnTo>
                  <a:lnTo>
                    <a:pt x="5715" y="266826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15080" y="317119"/>
            <a:ext cx="14668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4AACC5"/>
                </a:solidFill>
                <a:latin typeface="Calibri"/>
                <a:cs typeface="Calibri"/>
              </a:rPr>
              <a:t>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45077" y="3036570"/>
            <a:ext cx="457263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80" dirty="0">
                <a:solidFill>
                  <a:srgbClr val="164052"/>
                </a:solidFill>
                <a:latin typeface="Calibri"/>
                <a:cs typeface="Calibri"/>
              </a:rPr>
              <a:t>Module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164052"/>
                </a:solidFill>
                <a:latin typeface="Calibri"/>
                <a:cs typeface="Calibri"/>
              </a:rPr>
              <a:t>6</a:t>
            </a:r>
            <a:r>
              <a:rPr sz="2500" b="1" spc="254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164052"/>
                </a:solidFill>
                <a:latin typeface="Calibri"/>
                <a:cs typeface="Calibri"/>
              </a:rPr>
              <a:t>:</a:t>
            </a:r>
            <a:r>
              <a:rPr sz="2500" b="1" spc="13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25" dirty="0">
                <a:solidFill>
                  <a:srgbClr val="164052"/>
                </a:solidFill>
                <a:latin typeface="Calibri"/>
                <a:cs typeface="Calibri"/>
              </a:rPr>
              <a:t>Automatisation</a:t>
            </a:r>
            <a:r>
              <a:rPr sz="2500" b="1" spc="3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des </a:t>
            </a:r>
            <a:r>
              <a:rPr sz="2500" b="1" spc="120" dirty="0">
                <a:solidFill>
                  <a:srgbClr val="164052"/>
                </a:solidFill>
                <a:latin typeface="Calibri"/>
                <a:cs typeface="Calibri"/>
              </a:rPr>
              <a:t>déploiements</a:t>
            </a:r>
            <a:r>
              <a:rPr sz="25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14" dirty="0">
                <a:solidFill>
                  <a:srgbClr val="164052"/>
                </a:solidFill>
                <a:latin typeface="Calibri"/>
                <a:cs typeface="Calibri"/>
              </a:rPr>
              <a:t>applicatifs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95130" y="2903792"/>
            <a:ext cx="462915" cy="462915"/>
            <a:chOff x="3195130" y="2903792"/>
            <a:chExt cx="462915" cy="462915"/>
          </a:xfrm>
        </p:grpSpPr>
        <p:sp>
          <p:nvSpPr>
            <p:cNvPr id="17" name="object 17"/>
            <p:cNvSpPr/>
            <p:nvPr/>
          </p:nvSpPr>
          <p:spPr>
            <a:xfrm>
              <a:off x="3209417" y="291807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3" y="0"/>
                  </a:moveTo>
                  <a:lnTo>
                    <a:pt x="167385" y="5714"/>
                  </a:lnTo>
                  <a:lnTo>
                    <a:pt x="121666" y="21971"/>
                  </a:lnTo>
                  <a:lnTo>
                    <a:pt x="81280" y="47625"/>
                  </a:lnTo>
                  <a:lnTo>
                    <a:pt x="47752" y="81279"/>
                  </a:lnTo>
                  <a:lnTo>
                    <a:pt x="22097" y="121538"/>
                  </a:lnTo>
                  <a:lnTo>
                    <a:pt x="5714" y="167259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7" y="312420"/>
                  </a:lnTo>
                  <a:lnTo>
                    <a:pt x="47752" y="352805"/>
                  </a:lnTo>
                  <a:lnTo>
                    <a:pt x="81280" y="386334"/>
                  </a:lnTo>
                  <a:lnTo>
                    <a:pt x="121666" y="411988"/>
                  </a:lnTo>
                  <a:lnTo>
                    <a:pt x="167385" y="428371"/>
                  </a:lnTo>
                  <a:lnTo>
                    <a:pt x="217043" y="434086"/>
                  </a:lnTo>
                  <a:lnTo>
                    <a:pt x="266827" y="428371"/>
                  </a:lnTo>
                  <a:lnTo>
                    <a:pt x="312546" y="411988"/>
                  </a:lnTo>
                  <a:lnTo>
                    <a:pt x="352806" y="386334"/>
                  </a:lnTo>
                  <a:lnTo>
                    <a:pt x="386460" y="352805"/>
                  </a:lnTo>
                  <a:lnTo>
                    <a:pt x="412115" y="312420"/>
                  </a:lnTo>
                  <a:lnTo>
                    <a:pt x="428497" y="266826"/>
                  </a:lnTo>
                  <a:lnTo>
                    <a:pt x="434212" y="217042"/>
                  </a:lnTo>
                  <a:lnTo>
                    <a:pt x="429894" y="174498"/>
                  </a:lnTo>
                  <a:lnTo>
                    <a:pt x="417703" y="133985"/>
                  </a:lnTo>
                  <a:lnTo>
                    <a:pt x="397636" y="96520"/>
                  </a:lnTo>
                  <a:lnTo>
                    <a:pt x="370585" y="63500"/>
                  </a:lnTo>
                  <a:lnTo>
                    <a:pt x="337566" y="36449"/>
                  </a:lnTo>
                  <a:lnTo>
                    <a:pt x="300228" y="16510"/>
                  </a:lnTo>
                  <a:lnTo>
                    <a:pt x="259587" y="4190"/>
                  </a:lnTo>
                  <a:lnTo>
                    <a:pt x="217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9417" y="291807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3" y="434086"/>
                  </a:moveTo>
                  <a:lnTo>
                    <a:pt x="167385" y="428371"/>
                  </a:lnTo>
                  <a:lnTo>
                    <a:pt x="121666" y="411988"/>
                  </a:lnTo>
                  <a:lnTo>
                    <a:pt x="81280" y="386334"/>
                  </a:lnTo>
                  <a:lnTo>
                    <a:pt x="47752" y="352805"/>
                  </a:lnTo>
                  <a:lnTo>
                    <a:pt x="22097" y="312420"/>
                  </a:lnTo>
                  <a:lnTo>
                    <a:pt x="5714" y="266826"/>
                  </a:lnTo>
                  <a:lnTo>
                    <a:pt x="0" y="217042"/>
                  </a:lnTo>
                  <a:lnTo>
                    <a:pt x="5714" y="167259"/>
                  </a:lnTo>
                  <a:lnTo>
                    <a:pt x="22097" y="121538"/>
                  </a:lnTo>
                  <a:lnTo>
                    <a:pt x="47752" y="81279"/>
                  </a:lnTo>
                  <a:lnTo>
                    <a:pt x="81280" y="47625"/>
                  </a:lnTo>
                  <a:lnTo>
                    <a:pt x="121666" y="21971"/>
                  </a:lnTo>
                  <a:lnTo>
                    <a:pt x="167385" y="5714"/>
                  </a:lnTo>
                  <a:lnTo>
                    <a:pt x="217043" y="0"/>
                  </a:lnTo>
                  <a:lnTo>
                    <a:pt x="259587" y="4190"/>
                  </a:lnTo>
                  <a:lnTo>
                    <a:pt x="300228" y="16510"/>
                  </a:lnTo>
                  <a:lnTo>
                    <a:pt x="337566" y="36449"/>
                  </a:lnTo>
                  <a:lnTo>
                    <a:pt x="370585" y="63500"/>
                  </a:lnTo>
                  <a:lnTo>
                    <a:pt x="397636" y="96520"/>
                  </a:lnTo>
                  <a:lnTo>
                    <a:pt x="417703" y="133985"/>
                  </a:lnTo>
                  <a:lnTo>
                    <a:pt x="429894" y="174498"/>
                  </a:lnTo>
                  <a:lnTo>
                    <a:pt x="434212" y="217042"/>
                  </a:lnTo>
                  <a:lnTo>
                    <a:pt x="428497" y="266826"/>
                  </a:lnTo>
                  <a:lnTo>
                    <a:pt x="412115" y="312420"/>
                  </a:lnTo>
                  <a:lnTo>
                    <a:pt x="386460" y="352805"/>
                  </a:lnTo>
                  <a:lnTo>
                    <a:pt x="352806" y="386334"/>
                  </a:lnTo>
                  <a:lnTo>
                    <a:pt x="312546" y="411988"/>
                  </a:lnTo>
                  <a:lnTo>
                    <a:pt x="266827" y="428371"/>
                  </a:lnTo>
                  <a:lnTo>
                    <a:pt x="217043" y="434086"/>
                  </a:lnTo>
                  <a:close/>
                </a:path>
              </a:pathLst>
            </a:custGeom>
            <a:ln w="9525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9417" y="291807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9"/>
                  </a:lnTo>
                  <a:lnTo>
                    <a:pt x="22097" y="121538"/>
                  </a:lnTo>
                  <a:lnTo>
                    <a:pt x="47752" y="81279"/>
                  </a:lnTo>
                  <a:lnTo>
                    <a:pt x="81280" y="47625"/>
                  </a:lnTo>
                  <a:lnTo>
                    <a:pt x="121666" y="21971"/>
                  </a:lnTo>
                  <a:lnTo>
                    <a:pt x="167385" y="5714"/>
                  </a:lnTo>
                  <a:lnTo>
                    <a:pt x="217043" y="0"/>
                  </a:lnTo>
                  <a:lnTo>
                    <a:pt x="259587" y="4190"/>
                  </a:lnTo>
                  <a:lnTo>
                    <a:pt x="300228" y="16510"/>
                  </a:lnTo>
                  <a:lnTo>
                    <a:pt x="337566" y="36449"/>
                  </a:lnTo>
                  <a:lnTo>
                    <a:pt x="370585" y="63500"/>
                  </a:lnTo>
                  <a:lnTo>
                    <a:pt x="397636" y="96520"/>
                  </a:lnTo>
                  <a:lnTo>
                    <a:pt x="417703" y="133985"/>
                  </a:lnTo>
                  <a:lnTo>
                    <a:pt x="429894" y="174498"/>
                  </a:lnTo>
                  <a:lnTo>
                    <a:pt x="434212" y="217042"/>
                  </a:lnTo>
                  <a:lnTo>
                    <a:pt x="428497" y="266826"/>
                  </a:lnTo>
                  <a:lnTo>
                    <a:pt x="412115" y="312420"/>
                  </a:lnTo>
                  <a:lnTo>
                    <a:pt x="386460" y="352805"/>
                  </a:lnTo>
                  <a:lnTo>
                    <a:pt x="352806" y="386334"/>
                  </a:lnTo>
                  <a:lnTo>
                    <a:pt x="312546" y="411988"/>
                  </a:lnTo>
                  <a:lnTo>
                    <a:pt x="266827" y="428371"/>
                  </a:lnTo>
                  <a:lnTo>
                    <a:pt x="217043" y="434086"/>
                  </a:lnTo>
                  <a:lnTo>
                    <a:pt x="167385" y="428371"/>
                  </a:lnTo>
                  <a:lnTo>
                    <a:pt x="121666" y="411988"/>
                  </a:lnTo>
                  <a:lnTo>
                    <a:pt x="81280" y="386334"/>
                  </a:lnTo>
                  <a:lnTo>
                    <a:pt x="47752" y="352805"/>
                  </a:lnTo>
                  <a:lnTo>
                    <a:pt x="22097" y="312420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27019" y="2948178"/>
            <a:ext cx="139700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4AACC5"/>
                </a:solidFill>
                <a:latin typeface="Calibri"/>
                <a:cs typeface="Calibri"/>
              </a:rPr>
              <a:t>F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4325" y="1122610"/>
            <a:ext cx="5810250" cy="13982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Définir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un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processus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commun</a:t>
            </a:r>
            <a:r>
              <a:rPr sz="20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et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0" dirty="0">
                <a:solidFill>
                  <a:srgbClr val="164052"/>
                </a:solidFill>
                <a:latin typeface="Calibri"/>
                <a:cs typeface="Calibri"/>
              </a:rPr>
              <a:t>répétable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TP:</a:t>
            </a:r>
            <a:r>
              <a:rPr sz="2000" b="1" spc="3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Docker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TP:</a:t>
            </a:r>
            <a:r>
              <a:rPr sz="2000" b="1" spc="3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Ansible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50029" y="4020667"/>
            <a:ext cx="5888355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88720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spc="175" dirty="0">
                <a:solidFill>
                  <a:srgbClr val="164052"/>
                </a:solidFill>
                <a:latin typeface="Calibri"/>
                <a:cs typeface="Calibri"/>
              </a:rPr>
              <a:t>Automatisation</a:t>
            </a:r>
            <a:r>
              <a:rPr sz="2000" b="1" spc="3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Déploiements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Applicatifs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via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Ansible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Gérer</a:t>
            </a:r>
            <a:r>
              <a:rPr sz="2000" b="1" spc="42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évolutions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base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données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Liquibase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243" y="-4762"/>
            <a:ext cx="3497579" cy="7566025"/>
            <a:chOff x="-6243" y="-4762"/>
            <a:chExt cx="3497579" cy="7566025"/>
          </a:xfrm>
        </p:grpSpPr>
        <p:sp>
          <p:nvSpPr>
            <p:cNvPr id="3" name="object 3"/>
            <p:cNvSpPr/>
            <p:nvPr/>
          </p:nvSpPr>
          <p:spPr>
            <a:xfrm>
              <a:off x="-1473" y="0"/>
              <a:ext cx="3364229" cy="7556500"/>
            </a:xfrm>
            <a:custGeom>
              <a:avLst/>
              <a:gdLst/>
              <a:ahLst/>
              <a:cxnLst/>
              <a:rect l="l" t="t" r="r" b="b"/>
              <a:pathLst>
                <a:path w="3364229" h="7556500">
                  <a:moveTo>
                    <a:pt x="3363798" y="0"/>
                  </a:moveTo>
                  <a:lnTo>
                    <a:pt x="3336277" y="0"/>
                  </a:lnTo>
                  <a:lnTo>
                    <a:pt x="0" y="0"/>
                  </a:lnTo>
                  <a:lnTo>
                    <a:pt x="0" y="7556487"/>
                  </a:lnTo>
                  <a:lnTo>
                    <a:pt x="3336277" y="7556487"/>
                  </a:lnTo>
                  <a:lnTo>
                    <a:pt x="3336277" y="7494676"/>
                  </a:lnTo>
                  <a:lnTo>
                    <a:pt x="3363798" y="7556487"/>
                  </a:lnTo>
                  <a:lnTo>
                    <a:pt x="3363798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1480" y="0"/>
              <a:ext cx="3364229" cy="7556500"/>
            </a:xfrm>
            <a:custGeom>
              <a:avLst/>
              <a:gdLst/>
              <a:ahLst/>
              <a:cxnLst/>
              <a:rect l="l" t="t" r="r" b="b"/>
              <a:pathLst>
                <a:path w="3364229" h="7556500">
                  <a:moveTo>
                    <a:pt x="0" y="0"/>
                  </a:moveTo>
                  <a:lnTo>
                    <a:pt x="3363805" y="0"/>
                  </a:lnTo>
                  <a:lnTo>
                    <a:pt x="3363805" y="7556498"/>
                  </a:lnTo>
                </a:path>
                <a:path w="3364229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164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81502" y="0"/>
              <a:ext cx="609600" cy="7556500"/>
            </a:xfrm>
            <a:custGeom>
              <a:avLst/>
              <a:gdLst/>
              <a:ahLst/>
              <a:cxnLst/>
              <a:rect l="l" t="t" r="r" b="b"/>
              <a:pathLst>
                <a:path w="609600" h="7556500">
                  <a:moveTo>
                    <a:pt x="609219" y="0"/>
                  </a:moveTo>
                  <a:lnTo>
                    <a:pt x="453389" y="0"/>
                  </a:lnTo>
                  <a:lnTo>
                    <a:pt x="453389" y="945007"/>
                  </a:lnTo>
                  <a:lnTo>
                    <a:pt x="0" y="1072388"/>
                  </a:lnTo>
                  <a:lnTo>
                    <a:pt x="453389" y="1199769"/>
                  </a:lnTo>
                  <a:lnTo>
                    <a:pt x="453389" y="7556497"/>
                  </a:lnTo>
                  <a:lnTo>
                    <a:pt x="609219" y="7556497"/>
                  </a:lnTo>
                  <a:lnTo>
                    <a:pt x="609219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9292" y="2613736"/>
            <a:ext cx="22250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60" dirty="0">
                <a:solidFill>
                  <a:srgbClr val="FFFFFF"/>
                </a:solidFill>
                <a:latin typeface="Calibri"/>
                <a:cs typeface="Calibri"/>
              </a:rPr>
              <a:t>Calendrier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6550" y="890651"/>
            <a:ext cx="1286510" cy="375285"/>
          </a:xfrm>
          <a:custGeom>
            <a:avLst/>
            <a:gdLst/>
            <a:ahLst/>
            <a:cxnLst/>
            <a:rect l="l" t="t" r="r" b="b"/>
            <a:pathLst>
              <a:path w="1286510" h="375284">
                <a:moveTo>
                  <a:pt x="1098931" y="0"/>
                </a:moveTo>
                <a:lnTo>
                  <a:pt x="187325" y="0"/>
                </a:lnTo>
                <a:lnTo>
                  <a:pt x="137541" y="6731"/>
                </a:lnTo>
                <a:lnTo>
                  <a:pt x="92837" y="25526"/>
                </a:lnTo>
                <a:lnTo>
                  <a:pt x="54863" y="54864"/>
                </a:lnTo>
                <a:lnTo>
                  <a:pt x="25526" y="92837"/>
                </a:lnTo>
                <a:lnTo>
                  <a:pt x="6731" y="137541"/>
                </a:lnTo>
                <a:lnTo>
                  <a:pt x="0" y="187325"/>
                </a:lnTo>
                <a:lnTo>
                  <a:pt x="6731" y="237236"/>
                </a:lnTo>
                <a:lnTo>
                  <a:pt x="25526" y="281940"/>
                </a:lnTo>
                <a:lnTo>
                  <a:pt x="54863" y="319913"/>
                </a:lnTo>
                <a:lnTo>
                  <a:pt x="92837" y="349123"/>
                </a:lnTo>
                <a:lnTo>
                  <a:pt x="137541" y="368046"/>
                </a:lnTo>
                <a:lnTo>
                  <a:pt x="187325" y="374777"/>
                </a:lnTo>
                <a:lnTo>
                  <a:pt x="1098931" y="374777"/>
                </a:lnTo>
                <a:lnTo>
                  <a:pt x="1148714" y="368046"/>
                </a:lnTo>
                <a:lnTo>
                  <a:pt x="1193545" y="349123"/>
                </a:lnTo>
                <a:lnTo>
                  <a:pt x="1231392" y="319913"/>
                </a:lnTo>
                <a:lnTo>
                  <a:pt x="1260729" y="281940"/>
                </a:lnTo>
                <a:lnTo>
                  <a:pt x="1279652" y="237236"/>
                </a:lnTo>
                <a:lnTo>
                  <a:pt x="1286256" y="187325"/>
                </a:lnTo>
                <a:lnTo>
                  <a:pt x="1272032" y="115697"/>
                </a:lnTo>
                <a:lnTo>
                  <a:pt x="1231392" y="54864"/>
                </a:lnTo>
                <a:lnTo>
                  <a:pt x="1170558" y="14224"/>
                </a:lnTo>
                <a:lnTo>
                  <a:pt x="1098931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21611" y="868756"/>
            <a:ext cx="848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150" dirty="0">
                <a:solidFill>
                  <a:srgbClr val="FFFFFF"/>
                </a:solidFill>
                <a:latin typeface="Calibri"/>
                <a:cs typeface="Calibri"/>
              </a:rPr>
              <a:t>Jour</a:t>
            </a:r>
            <a:r>
              <a:rPr sz="2200" b="1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5077" y="270764"/>
            <a:ext cx="47574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80" dirty="0">
                <a:solidFill>
                  <a:srgbClr val="164052"/>
                </a:solidFill>
                <a:latin typeface="Calibri"/>
                <a:cs typeface="Calibri"/>
              </a:rPr>
              <a:t>Module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164052"/>
                </a:solidFill>
                <a:latin typeface="Calibri"/>
                <a:cs typeface="Calibri"/>
              </a:rPr>
              <a:t>7</a:t>
            </a:r>
            <a:r>
              <a:rPr sz="2500" b="1" spc="254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164052"/>
                </a:solidFill>
                <a:latin typeface="Calibri"/>
                <a:cs typeface="Calibri"/>
              </a:rPr>
              <a:t>:</a:t>
            </a:r>
            <a:r>
              <a:rPr sz="2500" b="1" spc="13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Monitoring</a:t>
            </a:r>
            <a:r>
              <a:rPr sz="2500" b="1" spc="24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applicatif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78238" y="273113"/>
            <a:ext cx="462915" cy="462915"/>
            <a:chOff x="3178238" y="273113"/>
            <a:chExt cx="462915" cy="462915"/>
          </a:xfrm>
        </p:grpSpPr>
        <p:sp>
          <p:nvSpPr>
            <p:cNvPr id="11" name="object 11"/>
            <p:cNvSpPr/>
            <p:nvPr/>
          </p:nvSpPr>
          <p:spPr>
            <a:xfrm>
              <a:off x="3192526" y="28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043" y="0"/>
                  </a:moveTo>
                  <a:lnTo>
                    <a:pt x="167259" y="5715"/>
                  </a:lnTo>
                  <a:lnTo>
                    <a:pt x="121538" y="21971"/>
                  </a:lnTo>
                  <a:lnTo>
                    <a:pt x="81279" y="47625"/>
                  </a:lnTo>
                  <a:lnTo>
                    <a:pt x="47625" y="81280"/>
                  </a:lnTo>
                  <a:lnTo>
                    <a:pt x="21971" y="121539"/>
                  </a:lnTo>
                  <a:lnTo>
                    <a:pt x="5715" y="167259"/>
                  </a:lnTo>
                  <a:lnTo>
                    <a:pt x="0" y="217043"/>
                  </a:lnTo>
                  <a:lnTo>
                    <a:pt x="5715" y="266826"/>
                  </a:lnTo>
                  <a:lnTo>
                    <a:pt x="21971" y="312420"/>
                  </a:lnTo>
                  <a:lnTo>
                    <a:pt x="47625" y="352806"/>
                  </a:lnTo>
                  <a:lnTo>
                    <a:pt x="81279" y="386334"/>
                  </a:lnTo>
                  <a:lnTo>
                    <a:pt x="121538" y="411988"/>
                  </a:lnTo>
                  <a:lnTo>
                    <a:pt x="167259" y="428371"/>
                  </a:lnTo>
                  <a:lnTo>
                    <a:pt x="217043" y="434086"/>
                  </a:lnTo>
                  <a:lnTo>
                    <a:pt x="266826" y="428371"/>
                  </a:lnTo>
                  <a:lnTo>
                    <a:pt x="312420" y="411988"/>
                  </a:lnTo>
                  <a:lnTo>
                    <a:pt x="352806" y="386334"/>
                  </a:lnTo>
                  <a:lnTo>
                    <a:pt x="386461" y="352806"/>
                  </a:lnTo>
                  <a:lnTo>
                    <a:pt x="411988" y="312420"/>
                  </a:lnTo>
                  <a:lnTo>
                    <a:pt x="428371" y="266826"/>
                  </a:lnTo>
                  <a:lnTo>
                    <a:pt x="434086" y="217043"/>
                  </a:lnTo>
                  <a:lnTo>
                    <a:pt x="429895" y="174498"/>
                  </a:lnTo>
                  <a:lnTo>
                    <a:pt x="417575" y="133985"/>
                  </a:lnTo>
                  <a:lnTo>
                    <a:pt x="397637" y="96520"/>
                  </a:lnTo>
                  <a:lnTo>
                    <a:pt x="370459" y="63500"/>
                  </a:lnTo>
                  <a:lnTo>
                    <a:pt x="337438" y="36449"/>
                  </a:lnTo>
                  <a:lnTo>
                    <a:pt x="300100" y="16510"/>
                  </a:lnTo>
                  <a:lnTo>
                    <a:pt x="259587" y="4191"/>
                  </a:lnTo>
                  <a:lnTo>
                    <a:pt x="217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2526" y="28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043" y="434086"/>
                  </a:moveTo>
                  <a:lnTo>
                    <a:pt x="167259" y="428371"/>
                  </a:lnTo>
                  <a:lnTo>
                    <a:pt x="121538" y="411988"/>
                  </a:lnTo>
                  <a:lnTo>
                    <a:pt x="81279" y="386334"/>
                  </a:lnTo>
                  <a:lnTo>
                    <a:pt x="47625" y="352806"/>
                  </a:lnTo>
                  <a:lnTo>
                    <a:pt x="21971" y="312420"/>
                  </a:lnTo>
                  <a:lnTo>
                    <a:pt x="5715" y="266826"/>
                  </a:lnTo>
                  <a:lnTo>
                    <a:pt x="0" y="217043"/>
                  </a:lnTo>
                  <a:lnTo>
                    <a:pt x="5715" y="167259"/>
                  </a:lnTo>
                  <a:lnTo>
                    <a:pt x="21971" y="121539"/>
                  </a:lnTo>
                  <a:lnTo>
                    <a:pt x="47625" y="81280"/>
                  </a:lnTo>
                  <a:lnTo>
                    <a:pt x="81279" y="47625"/>
                  </a:lnTo>
                  <a:lnTo>
                    <a:pt x="121538" y="21971"/>
                  </a:lnTo>
                  <a:lnTo>
                    <a:pt x="167259" y="5715"/>
                  </a:lnTo>
                  <a:lnTo>
                    <a:pt x="217043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438" y="36449"/>
                  </a:lnTo>
                  <a:lnTo>
                    <a:pt x="370459" y="63500"/>
                  </a:lnTo>
                  <a:lnTo>
                    <a:pt x="397637" y="96520"/>
                  </a:lnTo>
                  <a:lnTo>
                    <a:pt x="417575" y="133985"/>
                  </a:lnTo>
                  <a:lnTo>
                    <a:pt x="429895" y="174498"/>
                  </a:lnTo>
                  <a:lnTo>
                    <a:pt x="434086" y="217043"/>
                  </a:lnTo>
                  <a:lnTo>
                    <a:pt x="428371" y="266826"/>
                  </a:lnTo>
                  <a:lnTo>
                    <a:pt x="411988" y="312420"/>
                  </a:lnTo>
                  <a:lnTo>
                    <a:pt x="386461" y="352806"/>
                  </a:lnTo>
                  <a:lnTo>
                    <a:pt x="352806" y="386334"/>
                  </a:lnTo>
                  <a:lnTo>
                    <a:pt x="312420" y="411988"/>
                  </a:lnTo>
                  <a:lnTo>
                    <a:pt x="266826" y="428371"/>
                  </a:lnTo>
                  <a:lnTo>
                    <a:pt x="217043" y="434086"/>
                  </a:lnTo>
                  <a:close/>
                </a:path>
              </a:pathLst>
            </a:custGeom>
            <a:ln w="9524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92526" y="28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043"/>
                  </a:moveTo>
                  <a:lnTo>
                    <a:pt x="5715" y="167259"/>
                  </a:lnTo>
                  <a:lnTo>
                    <a:pt x="21971" y="121539"/>
                  </a:lnTo>
                  <a:lnTo>
                    <a:pt x="47625" y="81280"/>
                  </a:lnTo>
                  <a:lnTo>
                    <a:pt x="81279" y="47625"/>
                  </a:lnTo>
                  <a:lnTo>
                    <a:pt x="121538" y="21971"/>
                  </a:lnTo>
                  <a:lnTo>
                    <a:pt x="167259" y="5715"/>
                  </a:lnTo>
                  <a:lnTo>
                    <a:pt x="217043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438" y="36449"/>
                  </a:lnTo>
                  <a:lnTo>
                    <a:pt x="370459" y="63500"/>
                  </a:lnTo>
                  <a:lnTo>
                    <a:pt x="397637" y="96520"/>
                  </a:lnTo>
                  <a:lnTo>
                    <a:pt x="417575" y="133985"/>
                  </a:lnTo>
                  <a:lnTo>
                    <a:pt x="429895" y="174498"/>
                  </a:lnTo>
                  <a:lnTo>
                    <a:pt x="434086" y="217043"/>
                  </a:lnTo>
                  <a:lnTo>
                    <a:pt x="428371" y="266826"/>
                  </a:lnTo>
                  <a:lnTo>
                    <a:pt x="411988" y="312420"/>
                  </a:lnTo>
                  <a:lnTo>
                    <a:pt x="386461" y="352806"/>
                  </a:lnTo>
                  <a:lnTo>
                    <a:pt x="352806" y="386334"/>
                  </a:lnTo>
                  <a:lnTo>
                    <a:pt x="312420" y="411988"/>
                  </a:lnTo>
                  <a:lnTo>
                    <a:pt x="266826" y="428371"/>
                  </a:lnTo>
                  <a:lnTo>
                    <a:pt x="217043" y="434086"/>
                  </a:lnTo>
                  <a:lnTo>
                    <a:pt x="167259" y="428371"/>
                  </a:lnTo>
                  <a:lnTo>
                    <a:pt x="121538" y="411988"/>
                  </a:lnTo>
                  <a:lnTo>
                    <a:pt x="81279" y="386334"/>
                  </a:lnTo>
                  <a:lnTo>
                    <a:pt x="47625" y="352806"/>
                  </a:lnTo>
                  <a:lnTo>
                    <a:pt x="21971" y="312420"/>
                  </a:lnTo>
                  <a:lnTo>
                    <a:pt x="5715" y="266826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22446" y="317119"/>
            <a:ext cx="18224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50" dirty="0">
                <a:solidFill>
                  <a:srgbClr val="4AACC5"/>
                </a:solidFill>
                <a:latin typeface="Calibri"/>
                <a:cs typeface="Calibri"/>
              </a:rPr>
              <a:t>G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45077" y="2678633"/>
            <a:ext cx="63468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75" dirty="0">
                <a:solidFill>
                  <a:srgbClr val="164052"/>
                </a:solidFill>
                <a:latin typeface="Calibri"/>
                <a:cs typeface="Calibri"/>
              </a:rPr>
              <a:t>Module</a:t>
            </a:r>
            <a:r>
              <a:rPr sz="2500" b="1" spc="2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164052"/>
                </a:solidFill>
                <a:latin typeface="Calibri"/>
                <a:cs typeface="Calibri"/>
              </a:rPr>
              <a:t>8</a:t>
            </a:r>
            <a:r>
              <a:rPr sz="2500" b="1" spc="24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164052"/>
                </a:solidFill>
                <a:latin typeface="Calibri"/>
                <a:cs typeface="Calibri"/>
              </a:rPr>
              <a:t>:</a:t>
            </a:r>
            <a:r>
              <a:rPr sz="2500" b="1" spc="13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25" dirty="0">
                <a:solidFill>
                  <a:srgbClr val="164052"/>
                </a:solidFill>
                <a:latin typeface="Calibri"/>
                <a:cs typeface="Calibri"/>
              </a:rPr>
              <a:t>Collaboration</a:t>
            </a:r>
            <a:r>
              <a:rPr sz="2500" b="1" spc="34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5" dirty="0">
                <a:solidFill>
                  <a:srgbClr val="164052"/>
                </a:solidFill>
                <a:latin typeface="Calibri"/>
                <a:cs typeface="Calibri"/>
              </a:rPr>
              <a:t>entre</a:t>
            </a:r>
            <a:r>
              <a:rPr sz="2500" b="1" spc="32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500" b="1" spc="3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5" dirty="0">
                <a:solidFill>
                  <a:srgbClr val="164052"/>
                </a:solidFill>
                <a:latin typeface="Calibri"/>
                <a:cs typeface="Calibri"/>
              </a:rPr>
              <a:t>équipes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95130" y="2546414"/>
            <a:ext cx="462915" cy="462915"/>
            <a:chOff x="3195130" y="2546414"/>
            <a:chExt cx="462915" cy="462915"/>
          </a:xfrm>
        </p:grpSpPr>
        <p:sp>
          <p:nvSpPr>
            <p:cNvPr id="17" name="object 17"/>
            <p:cNvSpPr/>
            <p:nvPr/>
          </p:nvSpPr>
          <p:spPr>
            <a:xfrm>
              <a:off x="3209417" y="25607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3" y="0"/>
                  </a:moveTo>
                  <a:lnTo>
                    <a:pt x="167385" y="5714"/>
                  </a:lnTo>
                  <a:lnTo>
                    <a:pt x="121666" y="22098"/>
                  </a:lnTo>
                  <a:lnTo>
                    <a:pt x="81280" y="47751"/>
                  </a:lnTo>
                  <a:lnTo>
                    <a:pt x="47752" y="81279"/>
                  </a:lnTo>
                  <a:lnTo>
                    <a:pt x="22097" y="121665"/>
                  </a:lnTo>
                  <a:lnTo>
                    <a:pt x="5714" y="167258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7" y="312546"/>
                  </a:lnTo>
                  <a:lnTo>
                    <a:pt x="47752" y="352805"/>
                  </a:lnTo>
                  <a:lnTo>
                    <a:pt x="81280" y="386461"/>
                  </a:lnTo>
                  <a:lnTo>
                    <a:pt x="121666" y="412114"/>
                  </a:lnTo>
                  <a:lnTo>
                    <a:pt x="167385" y="428370"/>
                  </a:lnTo>
                  <a:lnTo>
                    <a:pt x="217043" y="434213"/>
                  </a:lnTo>
                  <a:lnTo>
                    <a:pt x="266827" y="428370"/>
                  </a:lnTo>
                  <a:lnTo>
                    <a:pt x="312546" y="412114"/>
                  </a:lnTo>
                  <a:lnTo>
                    <a:pt x="352806" y="386461"/>
                  </a:lnTo>
                  <a:lnTo>
                    <a:pt x="386460" y="352805"/>
                  </a:lnTo>
                  <a:lnTo>
                    <a:pt x="412115" y="312546"/>
                  </a:lnTo>
                  <a:lnTo>
                    <a:pt x="428497" y="266826"/>
                  </a:lnTo>
                  <a:lnTo>
                    <a:pt x="434212" y="217042"/>
                  </a:lnTo>
                  <a:lnTo>
                    <a:pt x="429894" y="174498"/>
                  </a:lnTo>
                  <a:lnTo>
                    <a:pt x="417703" y="133985"/>
                  </a:lnTo>
                  <a:lnTo>
                    <a:pt x="397636" y="96646"/>
                  </a:lnTo>
                  <a:lnTo>
                    <a:pt x="370585" y="63626"/>
                  </a:lnTo>
                  <a:lnTo>
                    <a:pt x="337566" y="36449"/>
                  </a:lnTo>
                  <a:lnTo>
                    <a:pt x="300228" y="16510"/>
                  </a:lnTo>
                  <a:lnTo>
                    <a:pt x="259587" y="4190"/>
                  </a:lnTo>
                  <a:lnTo>
                    <a:pt x="217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9417" y="25607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3" y="434213"/>
                  </a:moveTo>
                  <a:lnTo>
                    <a:pt x="167385" y="428370"/>
                  </a:lnTo>
                  <a:lnTo>
                    <a:pt x="121666" y="412114"/>
                  </a:lnTo>
                  <a:lnTo>
                    <a:pt x="81280" y="386461"/>
                  </a:lnTo>
                  <a:lnTo>
                    <a:pt x="47752" y="352805"/>
                  </a:lnTo>
                  <a:lnTo>
                    <a:pt x="22097" y="312546"/>
                  </a:lnTo>
                  <a:lnTo>
                    <a:pt x="5714" y="266826"/>
                  </a:lnTo>
                  <a:lnTo>
                    <a:pt x="0" y="217042"/>
                  </a:lnTo>
                  <a:lnTo>
                    <a:pt x="5714" y="167258"/>
                  </a:lnTo>
                  <a:lnTo>
                    <a:pt x="22097" y="121665"/>
                  </a:lnTo>
                  <a:lnTo>
                    <a:pt x="47752" y="81279"/>
                  </a:lnTo>
                  <a:lnTo>
                    <a:pt x="81280" y="47751"/>
                  </a:lnTo>
                  <a:lnTo>
                    <a:pt x="121666" y="22098"/>
                  </a:lnTo>
                  <a:lnTo>
                    <a:pt x="167385" y="5714"/>
                  </a:lnTo>
                  <a:lnTo>
                    <a:pt x="217043" y="0"/>
                  </a:lnTo>
                  <a:lnTo>
                    <a:pt x="259587" y="4190"/>
                  </a:lnTo>
                  <a:lnTo>
                    <a:pt x="300228" y="16510"/>
                  </a:lnTo>
                  <a:lnTo>
                    <a:pt x="337566" y="36449"/>
                  </a:lnTo>
                  <a:lnTo>
                    <a:pt x="370585" y="63626"/>
                  </a:lnTo>
                  <a:lnTo>
                    <a:pt x="397636" y="96646"/>
                  </a:lnTo>
                  <a:lnTo>
                    <a:pt x="417703" y="133985"/>
                  </a:lnTo>
                  <a:lnTo>
                    <a:pt x="429894" y="174498"/>
                  </a:lnTo>
                  <a:lnTo>
                    <a:pt x="434212" y="217042"/>
                  </a:lnTo>
                  <a:lnTo>
                    <a:pt x="428497" y="266826"/>
                  </a:lnTo>
                  <a:lnTo>
                    <a:pt x="412115" y="312546"/>
                  </a:lnTo>
                  <a:lnTo>
                    <a:pt x="386460" y="352805"/>
                  </a:lnTo>
                  <a:lnTo>
                    <a:pt x="352806" y="386461"/>
                  </a:lnTo>
                  <a:lnTo>
                    <a:pt x="312546" y="412114"/>
                  </a:lnTo>
                  <a:lnTo>
                    <a:pt x="266827" y="428370"/>
                  </a:lnTo>
                  <a:lnTo>
                    <a:pt x="217043" y="434213"/>
                  </a:lnTo>
                  <a:close/>
                </a:path>
              </a:pathLst>
            </a:custGeom>
            <a:ln w="9525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9417" y="25607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8"/>
                  </a:lnTo>
                  <a:lnTo>
                    <a:pt x="22097" y="121665"/>
                  </a:lnTo>
                  <a:lnTo>
                    <a:pt x="47752" y="81279"/>
                  </a:lnTo>
                  <a:lnTo>
                    <a:pt x="81280" y="47751"/>
                  </a:lnTo>
                  <a:lnTo>
                    <a:pt x="121666" y="22098"/>
                  </a:lnTo>
                  <a:lnTo>
                    <a:pt x="167385" y="5714"/>
                  </a:lnTo>
                  <a:lnTo>
                    <a:pt x="217043" y="0"/>
                  </a:lnTo>
                  <a:lnTo>
                    <a:pt x="259587" y="4190"/>
                  </a:lnTo>
                  <a:lnTo>
                    <a:pt x="300228" y="16510"/>
                  </a:lnTo>
                  <a:lnTo>
                    <a:pt x="337566" y="36449"/>
                  </a:lnTo>
                  <a:lnTo>
                    <a:pt x="370585" y="63626"/>
                  </a:lnTo>
                  <a:lnTo>
                    <a:pt x="397636" y="96646"/>
                  </a:lnTo>
                  <a:lnTo>
                    <a:pt x="417703" y="133985"/>
                  </a:lnTo>
                  <a:lnTo>
                    <a:pt x="429894" y="174498"/>
                  </a:lnTo>
                  <a:lnTo>
                    <a:pt x="434212" y="217042"/>
                  </a:lnTo>
                  <a:lnTo>
                    <a:pt x="428497" y="266826"/>
                  </a:lnTo>
                  <a:lnTo>
                    <a:pt x="412115" y="312546"/>
                  </a:lnTo>
                  <a:lnTo>
                    <a:pt x="386460" y="352805"/>
                  </a:lnTo>
                  <a:lnTo>
                    <a:pt x="352806" y="386461"/>
                  </a:lnTo>
                  <a:lnTo>
                    <a:pt x="312546" y="412114"/>
                  </a:lnTo>
                  <a:lnTo>
                    <a:pt x="266827" y="428370"/>
                  </a:lnTo>
                  <a:lnTo>
                    <a:pt x="217043" y="434213"/>
                  </a:lnTo>
                  <a:lnTo>
                    <a:pt x="167385" y="428370"/>
                  </a:lnTo>
                  <a:lnTo>
                    <a:pt x="121666" y="412114"/>
                  </a:lnTo>
                  <a:lnTo>
                    <a:pt x="81280" y="386461"/>
                  </a:lnTo>
                  <a:lnTo>
                    <a:pt x="47752" y="352805"/>
                  </a:lnTo>
                  <a:lnTo>
                    <a:pt x="22097" y="312546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27019" y="2590927"/>
            <a:ext cx="18224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4AACC5"/>
                </a:solidFill>
                <a:latin typeface="Calibri"/>
                <a:cs typeface="Calibri"/>
              </a:rPr>
              <a:t>H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24325" y="657453"/>
            <a:ext cx="4598035" cy="18554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ELK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c’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est</a:t>
            </a:r>
            <a:r>
              <a:rPr sz="20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quoi?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Options</a:t>
            </a:r>
            <a:r>
              <a:rPr sz="2000" b="1" spc="3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déploiement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Définition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du</a:t>
            </a:r>
            <a:r>
              <a:rPr sz="20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Plan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Monitoring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Démo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70045" y="2991459"/>
            <a:ext cx="4973320" cy="27692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types</a:t>
            </a:r>
            <a:r>
              <a:rPr sz="20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d'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70" dirty="0">
                <a:solidFill>
                  <a:srgbClr val="164052"/>
                </a:solidFill>
                <a:latin typeface="Calibri"/>
                <a:cs typeface="Calibri"/>
              </a:rPr>
              <a:t>organisations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0" dirty="0">
                <a:solidFill>
                  <a:srgbClr val="164052"/>
                </a:solidFill>
                <a:latin typeface="Calibri"/>
                <a:cs typeface="Calibri"/>
              </a:rPr>
              <a:t>possibles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Prise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compte</a:t>
            </a:r>
            <a:r>
              <a:rPr sz="2000" b="1" spc="3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5" dirty="0">
                <a:solidFill>
                  <a:srgbClr val="164052"/>
                </a:solidFill>
                <a:latin typeface="Calibri"/>
                <a:cs typeface="Calibri"/>
              </a:rPr>
              <a:t>user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stories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6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production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70" dirty="0">
                <a:solidFill>
                  <a:srgbClr val="164052"/>
                </a:solidFill>
                <a:latin typeface="Calibri"/>
                <a:cs typeface="Calibri"/>
              </a:rPr>
              <a:t>Collaboration</a:t>
            </a:r>
            <a:r>
              <a:rPr sz="2000" b="1" spc="42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30" dirty="0">
                <a:solidFill>
                  <a:srgbClr val="164052"/>
                </a:solidFill>
                <a:latin typeface="Calibri"/>
                <a:cs typeface="Calibri"/>
              </a:rPr>
              <a:t>Dev/</a:t>
            </a:r>
            <a:r>
              <a:rPr sz="2000" b="1" spc="-2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Ops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Outils</a:t>
            </a:r>
            <a:r>
              <a:rPr sz="20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75" dirty="0">
                <a:solidFill>
                  <a:srgbClr val="164052"/>
                </a:solidFill>
                <a:latin typeface="Calibri"/>
                <a:cs typeface="Calibri"/>
              </a:rPr>
              <a:t>communication</a:t>
            </a:r>
            <a:r>
              <a:rPr sz="2000" b="1" spc="3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5" dirty="0">
                <a:solidFill>
                  <a:srgbClr val="164052"/>
                </a:solidFill>
                <a:latin typeface="Calibri"/>
                <a:cs typeface="Calibri"/>
              </a:rPr>
              <a:t>issus</a:t>
            </a:r>
            <a:r>
              <a:rPr sz="20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65" dirty="0">
                <a:solidFill>
                  <a:srgbClr val="164052"/>
                </a:solidFill>
                <a:latin typeface="Calibri"/>
                <a:cs typeface="Calibri"/>
              </a:rPr>
              <a:t>la </a:t>
            </a:r>
            <a:r>
              <a:rPr sz="2000" b="1" spc="160" dirty="0">
                <a:solidFill>
                  <a:srgbClr val="164052"/>
                </a:solidFill>
                <a:latin typeface="Calibri"/>
                <a:cs typeface="Calibri"/>
              </a:rPr>
              <a:t>démarche</a:t>
            </a:r>
            <a:r>
              <a:rPr sz="2000" b="1" spc="434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Chat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Ops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243" y="-4762"/>
            <a:ext cx="3497579" cy="7566025"/>
            <a:chOff x="-6243" y="-4762"/>
            <a:chExt cx="3497579" cy="7566025"/>
          </a:xfrm>
        </p:grpSpPr>
        <p:sp>
          <p:nvSpPr>
            <p:cNvPr id="3" name="object 3"/>
            <p:cNvSpPr/>
            <p:nvPr/>
          </p:nvSpPr>
          <p:spPr>
            <a:xfrm>
              <a:off x="-1473" y="0"/>
              <a:ext cx="3364229" cy="7556500"/>
            </a:xfrm>
            <a:custGeom>
              <a:avLst/>
              <a:gdLst/>
              <a:ahLst/>
              <a:cxnLst/>
              <a:rect l="l" t="t" r="r" b="b"/>
              <a:pathLst>
                <a:path w="3364229" h="7556500">
                  <a:moveTo>
                    <a:pt x="3363798" y="0"/>
                  </a:moveTo>
                  <a:lnTo>
                    <a:pt x="3336277" y="0"/>
                  </a:lnTo>
                  <a:lnTo>
                    <a:pt x="0" y="0"/>
                  </a:lnTo>
                  <a:lnTo>
                    <a:pt x="0" y="7556487"/>
                  </a:lnTo>
                  <a:lnTo>
                    <a:pt x="3336277" y="7556487"/>
                  </a:lnTo>
                  <a:lnTo>
                    <a:pt x="3336277" y="7494676"/>
                  </a:lnTo>
                  <a:lnTo>
                    <a:pt x="3363798" y="7556487"/>
                  </a:lnTo>
                  <a:lnTo>
                    <a:pt x="3363798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1480" y="0"/>
              <a:ext cx="3364229" cy="7556500"/>
            </a:xfrm>
            <a:custGeom>
              <a:avLst/>
              <a:gdLst/>
              <a:ahLst/>
              <a:cxnLst/>
              <a:rect l="l" t="t" r="r" b="b"/>
              <a:pathLst>
                <a:path w="3364229" h="7556500">
                  <a:moveTo>
                    <a:pt x="0" y="0"/>
                  </a:moveTo>
                  <a:lnTo>
                    <a:pt x="3363805" y="0"/>
                  </a:lnTo>
                  <a:lnTo>
                    <a:pt x="3363805" y="7556498"/>
                  </a:lnTo>
                </a:path>
                <a:path w="3364229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164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81502" y="0"/>
              <a:ext cx="609600" cy="7556500"/>
            </a:xfrm>
            <a:custGeom>
              <a:avLst/>
              <a:gdLst/>
              <a:ahLst/>
              <a:cxnLst/>
              <a:rect l="l" t="t" r="r" b="b"/>
              <a:pathLst>
                <a:path w="609600" h="7556500">
                  <a:moveTo>
                    <a:pt x="609219" y="0"/>
                  </a:moveTo>
                  <a:lnTo>
                    <a:pt x="453389" y="0"/>
                  </a:lnTo>
                  <a:lnTo>
                    <a:pt x="453389" y="945007"/>
                  </a:lnTo>
                  <a:lnTo>
                    <a:pt x="0" y="1072388"/>
                  </a:lnTo>
                  <a:lnTo>
                    <a:pt x="453389" y="1199769"/>
                  </a:lnTo>
                  <a:lnTo>
                    <a:pt x="453389" y="7556497"/>
                  </a:lnTo>
                  <a:lnTo>
                    <a:pt x="609219" y="7556497"/>
                  </a:lnTo>
                  <a:lnTo>
                    <a:pt x="609219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9292" y="2613736"/>
            <a:ext cx="22250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60" dirty="0">
                <a:solidFill>
                  <a:srgbClr val="FFFFFF"/>
                </a:solidFill>
                <a:latin typeface="Calibri"/>
                <a:cs typeface="Calibri"/>
              </a:rPr>
              <a:t>Calendrier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6550" y="890651"/>
            <a:ext cx="1286510" cy="375285"/>
          </a:xfrm>
          <a:custGeom>
            <a:avLst/>
            <a:gdLst/>
            <a:ahLst/>
            <a:cxnLst/>
            <a:rect l="l" t="t" r="r" b="b"/>
            <a:pathLst>
              <a:path w="1286510" h="375284">
                <a:moveTo>
                  <a:pt x="1098931" y="0"/>
                </a:moveTo>
                <a:lnTo>
                  <a:pt x="187325" y="0"/>
                </a:lnTo>
                <a:lnTo>
                  <a:pt x="137541" y="6731"/>
                </a:lnTo>
                <a:lnTo>
                  <a:pt x="92837" y="25526"/>
                </a:lnTo>
                <a:lnTo>
                  <a:pt x="54863" y="54864"/>
                </a:lnTo>
                <a:lnTo>
                  <a:pt x="25526" y="92837"/>
                </a:lnTo>
                <a:lnTo>
                  <a:pt x="6731" y="137541"/>
                </a:lnTo>
                <a:lnTo>
                  <a:pt x="0" y="187325"/>
                </a:lnTo>
                <a:lnTo>
                  <a:pt x="6731" y="237236"/>
                </a:lnTo>
                <a:lnTo>
                  <a:pt x="25526" y="281940"/>
                </a:lnTo>
                <a:lnTo>
                  <a:pt x="54863" y="319913"/>
                </a:lnTo>
                <a:lnTo>
                  <a:pt x="92837" y="349123"/>
                </a:lnTo>
                <a:lnTo>
                  <a:pt x="137541" y="368046"/>
                </a:lnTo>
                <a:lnTo>
                  <a:pt x="187325" y="374777"/>
                </a:lnTo>
                <a:lnTo>
                  <a:pt x="1098931" y="374777"/>
                </a:lnTo>
                <a:lnTo>
                  <a:pt x="1148714" y="368046"/>
                </a:lnTo>
                <a:lnTo>
                  <a:pt x="1193545" y="349123"/>
                </a:lnTo>
                <a:lnTo>
                  <a:pt x="1231392" y="319913"/>
                </a:lnTo>
                <a:lnTo>
                  <a:pt x="1260729" y="281940"/>
                </a:lnTo>
                <a:lnTo>
                  <a:pt x="1279652" y="237236"/>
                </a:lnTo>
                <a:lnTo>
                  <a:pt x="1286256" y="187325"/>
                </a:lnTo>
                <a:lnTo>
                  <a:pt x="1272032" y="115697"/>
                </a:lnTo>
                <a:lnTo>
                  <a:pt x="1231392" y="54864"/>
                </a:lnTo>
                <a:lnTo>
                  <a:pt x="1170558" y="14224"/>
                </a:lnTo>
                <a:lnTo>
                  <a:pt x="1098931" y="0"/>
                </a:lnTo>
                <a:close/>
              </a:path>
            </a:pathLst>
          </a:custGeom>
          <a:solidFill>
            <a:srgbClr val="4A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21611" y="868756"/>
            <a:ext cx="848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150" dirty="0">
                <a:solidFill>
                  <a:srgbClr val="FFFFFF"/>
                </a:solidFill>
                <a:latin typeface="Calibri"/>
                <a:cs typeface="Calibri"/>
              </a:rPr>
              <a:t>Jour</a:t>
            </a:r>
            <a:r>
              <a:rPr sz="2200" b="1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045077" y="270764"/>
            <a:ext cx="44100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80" dirty="0">
                <a:latin typeface="Calibri"/>
                <a:cs typeface="Calibri"/>
              </a:rPr>
              <a:t>Module</a:t>
            </a:r>
            <a:r>
              <a:rPr sz="2500" b="1" spc="29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9</a:t>
            </a:r>
            <a:r>
              <a:rPr sz="2500" b="1" spc="2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:</a:t>
            </a:r>
            <a:r>
              <a:rPr sz="2500" b="1" spc="130" dirty="0">
                <a:latin typeface="Calibri"/>
                <a:cs typeface="Calibri"/>
              </a:rPr>
              <a:t> </a:t>
            </a:r>
            <a:r>
              <a:rPr sz="2500" b="1" spc="85" dirty="0">
                <a:latin typeface="Calibri"/>
                <a:cs typeface="Calibri"/>
              </a:rPr>
              <a:t>Bilan</a:t>
            </a:r>
            <a:r>
              <a:rPr sz="2500" b="1" spc="240" dirty="0">
                <a:latin typeface="Calibri"/>
                <a:cs typeface="Calibri"/>
              </a:rPr>
              <a:t> </a:t>
            </a:r>
            <a:r>
              <a:rPr sz="2500" b="1" spc="50" dirty="0">
                <a:latin typeface="Calibri"/>
                <a:cs typeface="Calibri"/>
              </a:rPr>
              <a:t>et</a:t>
            </a:r>
            <a:r>
              <a:rPr sz="2500" b="1" spc="235" dirty="0">
                <a:latin typeface="Calibri"/>
                <a:cs typeface="Calibri"/>
              </a:rPr>
              <a:t> </a:t>
            </a:r>
            <a:r>
              <a:rPr sz="2500" b="1" spc="85" dirty="0">
                <a:latin typeface="Calibri"/>
                <a:cs typeface="Calibri"/>
              </a:rPr>
              <a:t>conclusion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78239" y="273114"/>
            <a:ext cx="462915" cy="462915"/>
            <a:chOff x="3178239" y="273114"/>
            <a:chExt cx="462915" cy="462915"/>
          </a:xfrm>
        </p:grpSpPr>
        <p:sp>
          <p:nvSpPr>
            <p:cNvPr id="11" name="object 11"/>
            <p:cNvSpPr/>
            <p:nvPr/>
          </p:nvSpPr>
          <p:spPr>
            <a:xfrm>
              <a:off x="3192526" y="28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043" y="0"/>
                  </a:moveTo>
                  <a:lnTo>
                    <a:pt x="167259" y="5715"/>
                  </a:lnTo>
                  <a:lnTo>
                    <a:pt x="121538" y="21971"/>
                  </a:lnTo>
                  <a:lnTo>
                    <a:pt x="81279" y="47625"/>
                  </a:lnTo>
                  <a:lnTo>
                    <a:pt x="47625" y="81280"/>
                  </a:lnTo>
                  <a:lnTo>
                    <a:pt x="21971" y="121539"/>
                  </a:lnTo>
                  <a:lnTo>
                    <a:pt x="5715" y="167259"/>
                  </a:lnTo>
                  <a:lnTo>
                    <a:pt x="0" y="217043"/>
                  </a:lnTo>
                  <a:lnTo>
                    <a:pt x="5715" y="266826"/>
                  </a:lnTo>
                  <a:lnTo>
                    <a:pt x="21971" y="312420"/>
                  </a:lnTo>
                  <a:lnTo>
                    <a:pt x="47625" y="352806"/>
                  </a:lnTo>
                  <a:lnTo>
                    <a:pt x="81279" y="386334"/>
                  </a:lnTo>
                  <a:lnTo>
                    <a:pt x="121538" y="411988"/>
                  </a:lnTo>
                  <a:lnTo>
                    <a:pt x="167259" y="428371"/>
                  </a:lnTo>
                  <a:lnTo>
                    <a:pt x="217043" y="434086"/>
                  </a:lnTo>
                  <a:lnTo>
                    <a:pt x="266826" y="428371"/>
                  </a:lnTo>
                  <a:lnTo>
                    <a:pt x="312420" y="411988"/>
                  </a:lnTo>
                  <a:lnTo>
                    <a:pt x="352806" y="386334"/>
                  </a:lnTo>
                  <a:lnTo>
                    <a:pt x="386461" y="352806"/>
                  </a:lnTo>
                  <a:lnTo>
                    <a:pt x="411988" y="312420"/>
                  </a:lnTo>
                  <a:lnTo>
                    <a:pt x="428371" y="266826"/>
                  </a:lnTo>
                  <a:lnTo>
                    <a:pt x="434086" y="217043"/>
                  </a:lnTo>
                  <a:lnTo>
                    <a:pt x="429895" y="174498"/>
                  </a:lnTo>
                  <a:lnTo>
                    <a:pt x="417575" y="133985"/>
                  </a:lnTo>
                  <a:lnTo>
                    <a:pt x="397637" y="96520"/>
                  </a:lnTo>
                  <a:lnTo>
                    <a:pt x="370459" y="63500"/>
                  </a:lnTo>
                  <a:lnTo>
                    <a:pt x="337438" y="36449"/>
                  </a:lnTo>
                  <a:lnTo>
                    <a:pt x="300100" y="16510"/>
                  </a:lnTo>
                  <a:lnTo>
                    <a:pt x="259587" y="4191"/>
                  </a:lnTo>
                  <a:lnTo>
                    <a:pt x="217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2526" y="28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043" y="434086"/>
                  </a:moveTo>
                  <a:lnTo>
                    <a:pt x="167259" y="428371"/>
                  </a:lnTo>
                  <a:lnTo>
                    <a:pt x="121538" y="411988"/>
                  </a:lnTo>
                  <a:lnTo>
                    <a:pt x="81279" y="386334"/>
                  </a:lnTo>
                  <a:lnTo>
                    <a:pt x="47625" y="352806"/>
                  </a:lnTo>
                  <a:lnTo>
                    <a:pt x="21971" y="312420"/>
                  </a:lnTo>
                  <a:lnTo>
                    <a:pt x="5715" y="266826"/>
                  </a:lnTo>
                  <a:lnTo>
                    <a:pt x="0" y="217043"/>
                  </a:lnTo>
                  <a:lnTo>
                    <a:pt x="5715" y="167259"/>
                  </a:lnTo>
                  <a:lnTo>
                    <a:pt x="21971" y="121539"/>
                  </a:lnTo>
                  <a:lnTo>
                    <a:pt x="47625" y="81280"/>
                  </a:lnTo>
                  <a:lnTo>
                    <a:pt x="81279" y="47625"/>
                  </a:lnTo>
                  <a:lnTo>
                    <a:pt x="121538" y="21971"/>
                  </a:lnTo>
                  <a:lnTo>
                    <a:pt x="167259" y="5715"/>
                  </a:lnTo>
                  <a:lnTo>
                    <a:pt x="217043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438" y="36449"/>
                  </a:lnTo>
                  <a:lnTo>
                    <a:pt x="370459" y="63500"/>
                  </a:lnTo>
                  <a:lnTo>
                    <a:pt x="397637" y="96520"/>
                  </a:lnTo>
                  <a:lnTo>
                    <a:pt x="417575" y="133985"/>
                  </a:lnTo>
                  <a:lnTo>
                    <a:pt x="429895" y="174498"/>
                  </a:lnTo>
                  <a:lnTo>
                    <a:pt x="434086" y="217043"/>
                  </a:lnTo>
                  <a:lnTo>
                    <a:pt x="428371" y="266826"/>
                  </a:lnTo>
                  <a:lnTo>
                    <a:pt x="411988" y="312420"/>
                  </a:lnTo>
                  <a:lnTo>
                    <a:pt x="386461" y="352806"/>
                  </a:lnTo>
                  <a:lnTo>
                    <a:pt x="352806" y="386334"/>
                  </a:lnTo>
                  <a:lnTo>
                    <a:pt x="312420" y="411988"/>
                  </a:lnTo>
                  <a:lnTo>
                    <a:pt x="266826" y="428371"/>
                  </a:lnTo>
                  <a:lnTo>
                    <a:pt x="217043" y="434086"/>
                  </a:lnTo>
                  <a:close/>
                </a:path>
              </a:pathLst>
            </a:custGeom>
            <a:ln w="9524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92526" y="2874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043"/>
                  </a:moveTo>
                  <a:lnTo>
                    <a:pt x="5715" y="167259"/>
                  </a:lnTo>
                  <a:lnTo>
                    <a:pt x="21971" y="121539"/>
                  </a:lnTo>
                  <a:lnTo>
                    <a:pt x="47625" y="81280"/>
                  </a:lnTo>
                  <a:lnTo>
                    <a:pt x="81279" y="47625"/>
                  </a:lnTo>
                  <a:lnTo>
                    <a:pt x="121538" y="21971"/>
                  </a:lnTo>
                  <a:lnTo>
                    <a:pt x="167259" y="5715"/>
                  </a:lnTo>
                  <a:lnTo>
                    <a:pt x="217043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438" y="36449"/>
                  </a:lnTo>
                  <a:lnTo>
                    <a:pt x="370459" y="63500"/>
                  </a:lnTo>
                  <a:lnTo>
                    <a:pt x="397637" y="96520"/>
                  </a:lnTo>
                  <a:lnTo>
                    <a:pt x="417575" y="133985"/>
                  </a:lnTo>
                  <a:lnTo>
                    <a:pt x="429895" y="174498"/>
                  </a:lnTo>
                  <a:lnTo>
                    <a:pt x="434086" y="217043"/>
                  </a:lnTo>
                  <a:lnTo>
                    <a:pt x="428371" y="266826"/>
                  </a:lnTo>
                  <a:lnTo>
                    <a:pt x="411988" y="312420"/>
                  </a:lnTo>
                  <a:lnTo>
                    <a:pt x="386461" y="352806"/>
                  </a:lnTo>
                  <a:lnTo>
                    <a:pt x="352806" y="386334"/>
                  </a:lnTo>
                  <a:lnTo>
                    <a:pt x="312420" y="411988"/>
                  </a:lnTo>
                  <a:lnTo>
                    <a:pt x="266826" y="428371"/>
                  </a:lnTo>
                  <a:lnTo>
                    <a:pt x="217043" y="434086"/>
                  </a:lnTo>
                  <a:lnTo>
                    <a:pt x="167259" y="428371"/>
                  </a:lnTo>
                  <a:lnTo>
                    <a:pt x="121538" y="411988"/>
                  </a:lnTo>
                  <a:lnTo>
                    <a:pt x="81279" y="386334"/>
                  </a:lnTo>
                  <a:lnTo>
                    <a:pt x="47625" y="352806"/>
                  </a:lnTo>
                  <a:lnTo>
                    <a:pt x="21971" y="312420"/>
                  </a:lnTo>
                  <a:lnTo>
                    <a:pt x="5715" y="266826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4AAC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22446" y="317119"/>
            <a:ext cx="882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50" dirty="0">
                <a:solidFill>
                  <a:srgbClr val="4AACC5"/>
                </a:solidFill>
                <a:latin typeface="Calibri"/>
                <a:cs typeface="Calibri"/>
              </a:rPr>
              <a:t>I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24325" y="657453"/>
            <a:ext cx="5716270" cy="13982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Qu’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est-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ce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que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le</a:t>
            </a:r>
            <a:r>
              <a:rPr sz="2000" b="1" spc="42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Dev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Sec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Ops?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Qu'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40" dirty="0">
                <a:solidFill>
                  <a:srgbClr val="164052"/>
                </a:solidFill>
                <a:latin typeface="Calibri"/>
                <a:cs typeface="Calibri"/>
              </a:rPr>
              <a:t>est-</a:t>
            </a:r>
            <a:r>
              <a:rPr sz="2000" b="1" spc="-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85" dirty="0">
                <a:solidFill>
                  <a:srgbClr val="164052"/>
                </a:solidFill>
                <a:latin typeface="Calibri"/>
                <a:cs typeface="Calibri"/>
              </a:rPr>
              <a:t>ce</a:t>
            </a:r>
            <a:r>
              <a:rPr sz="20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que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5" dirty="0">
                <a:solidFill>
                  <a:srgbClr val="164052"/>
                </a:solidFill>
                <a:latin typeface="Calibri"/>
                <a:cs typeface="Calibri"/>
              </a:rPr>
              <a:t>Fin</a:t>
            </a:r>
            <a:r>
              <a:rPr sz="2000" b="1" spc="-2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20" dirty="0">
                <a:solidFill>
                  <a:srgbClr val="164052"/>
                </a:solidFill>
                <a:latin typeface="Calibri"/>
                <a:cs typeface="Calibri"/>
              </a:rPr>
              <a:t>Ops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164052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170" dirty="0">
                <a:solidFill>
                  <a:srgbClr val="164052"/>
                </a:solidFill>
                <a:latin typeface="Calibri"/>
                <a:cs typeface="Calibri"/>
              </a:rPr>
              <a:t>Amélioration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164052"/>
                </a:solidFill>
                <a:latin typeface="Calibri"/>
                <a:cs typeface="Calibri"/>
              </a:rPr>
              <a:t>continue:</a:t>
            </a:r>
            <a:r>
              <a:rPr sz="20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0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55" dirty="0">
                <a:solidFill>
                  <a:srgbClr val="164052"/>
                </a:solidFill>
                <a:latin typeface="Calibri"/>
                <a:cs typeface="Calibri"/>
              </a:rPr>
              <a:t>outils</a:t>
            </a:r>
            <a:r>
              <a:rPr sz="20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95" dirty="0">
                <a:solidFill>
                  <a:srgbClr val="164052"/>
                </a:solidFill>
                <a:latin typeface="Calibri"/>
                <a:cs typeface="Calibri"/>
              </a:rPr>
              <a:t>du</a:t>
            </a:r>
            <a:r>
              <a:rPr sz="20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000" b="1" spc="114" dirty="0">
                <a:solidFill>
                  <a:srgbClr val="164052"/>
                </a:solidFill>
                <a:latin typeface="Calibri"/>
                <a:cs typeface="Calibri"/>
              </a:rPr>
              <a:t>Lean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0014">
              <a:lnSpc>
                <a:spcPts val="136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Objectifs</a:t>
            </a:r>
            <a:r>
              <a:rPr spc="-170" dirty="0"/>
              <a:t> </a:t>
            </a:r>
            <a:r>
              <a:rPr spc="-10" dirty="0"/>
              <a:t>pédagogiques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0155" y="1309853"/>
            <a:ext cx="8818245" cy="3226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Comprendre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principes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bénéfices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mouvement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Appréhender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enjeux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DevOps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organisation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Connaître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éléments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constitutifs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d’une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logicielle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Identifier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principaux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outils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gestion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configuration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Identifier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étapes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oeuvre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démarche,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incluant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l’anticipation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Calibri"/>
                <a:cs typeface="Calibri"/>
              </a:rPr>
              <a:t>risques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Comprendre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standardiser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livrables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accord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avec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équipes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3" name="object 3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103" y="-4764"/>
            <a:ext cx="3519170" cy="7566025"/>
            <a:chOff x="-6103" y="-4764"/>
            <a:chExt cx="3519170" cy="7566025"/>
          </a:xfrm>
        </p:grpSpPr>
        <p:sp>
          <p:nvSpPr>
            <p:cNvPr id="6" name="object 6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391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3509391" y="7556500"/>
                  </a:lnTo>
                  <a:lnTo>
                    <a:pt x="350939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7556500"/>
                  </a:moveTo>
                  <a:lnTo>
                    <a:pt x="3509391" y="7556500"/>
                  </a:lnTo>
                  <a:lnTo>
                    <a:pt x="3509391" y="0"/>
                  </a:lnTo>
                  <a:lnTo>
                    <a:pt x="0" y="0"/>
                  </a:lnTo>
                  <a:lnTo>
                    <a:pt x="0" y="7556500"/>
                  </a:lnTo>
                  <a:close/>
                </a:path>
              </a:pathLst>
            </a:custGeom>
            <a:ln w="9525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461" y="0"/>
                  </a:moveTo>
                  <a:lnTo>
                    <a:pt x="0" y="0"/>
                  </a:lnTo>
                  <a:lnTo>
                    <a:pt x="3509461" y="7556498"/>
                  </a:lnTo>
                  <a:lnTo>
                    <a:pt x="350946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0"/>
                  </a:moveTo>
                  <a:lnTo>
                    <a:pt x="3509461" y="0"/>
                  </a:lnTo>
                  <a:lnTo>
                    <a:pt x="3509461" y="7556498"/>
                  </a:lnTo>
                </a:path>
                <a:path w="350964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18896" y="1091565"/>
            <a:ext cx="1364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4510" algn="l"/>
                <a:tab pos="1002665" algn="l"/>
              </a:tabLst>
            </a:pPr>
            <a:r>
              <a:rPr spc="-25" dirty="0">
                <a:solidFill>
                  <a:srgbClr val="FFFFFF"/>
                </a:solidFill>
              </a:rPr>
              <a:t>//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sz="5400" b="1" spc="-75" baseline="154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5400" b="1" baseline="154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600" spc="-25" dirty="0">
                <a:solidFill>
                  <a:srgbClr val="FFFFFF"/>
                </a:solidFill>
              </a:rPr>
              <a:t>//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492" y="1888617"/>
            <a:ext cx="2161540" cy="1372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60"/>
              </a:lnSpc>
              <a:spcBef>
                <a:spcPts val="95"/>
              </a:spcBef>
              <a:tabLst>
                <a:tab pos="1733550" algn="l"/>
              </a:tabLst>
            </a:pP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8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00" b="1" spc="-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00" b="1" spc="-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1</a:t>
            </a:r>
            <a:r>
              <a:rPr sz="2800" b="1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</a:pPr>
            <a:r>
              <a:rPr sz="2000" b="1" spc="75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180" dirty="0">
                <a:solidFill>
                  <a:srgbClr val="FFFFFF"/>
                </a:solidFill>
                <a:latin typeface="Calibri"/>
                <a:cs typeface="Calibri"/>
              </a:rPr>
              <a:t>problématique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130" dirty="0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r>
              <a:rPr sz="20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110" dirty="0">
                <a:solidFill>
                  <a:srgbClr val="FFFFFF"/>
                </a:solidFill>
                <a:latin typeface="Calibri"/>
                <a:cs typeface="Calibri"/>
              </a:rPr>
              <a:t>Ops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4020" y="1844167"/>
            <a:ext cx="347345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110" dirty="0">
                <a:solidFill>
                  <a:srgbClr val="164052"/>
                </a:solidFill>
                <a:latin typeface="Calibri"/>
                <a:cs typeface="Calibri"/>
              </a:rPr>
              <a:t>Pourquoi</a:t>
            </a:r>
            <a:r>
              <a:rPr sz="2500" b="1" spc="2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0" dirty="0">
                <a:solidFill>
                  <a:srgbClr val="164052"/>
                </a:solidFill>
                <a:latin typeface="Calibri"/>
                <a:cs typeface="Calibri"/>
              </a:rPr>
              <a:t>DevOps</a:t>
            </a:r>
            <a:r>
              <a:rPr sz="2500" b="1" spc="41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35" dirty="0">
                <a:solidFill>
                  <a:srgbClr val="164052"/>
                </a:solidFill>
                <a:latin typeface="Calibri"/>
                <a:cs typeface="Calibri"/>
              </a:rPr>
              <a:t>est-</a:t>
            </a:r>
            <a:r>
              <a:rPr sz="2500" b="1" spc="30" dirty="0">
                <a:solidFill>
                  <a:srgbClr val="164052"/>
                </a:solidFill>
                <a:latin typeface="Calibri"/>
                <a:cs typeface="Calibri"/>
              </a:rPr>
              <a:t>il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important</a:t>
            </a:r>
            <a:r>
              <a:rPr sz="2500" b="1" spc="2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-50" dirty="0">
                <a:solidFill>
                  <a:srgbClr val="164052"/>
                </a:solidFill>
                <a:latin typeface="Calibri"/>
                <a:cs typeface="Calibri"/>
              </a:rPr>
              <a:t>?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74631" y="2004250"/>
            <a:ext cx="462915" cy="462915"/>
            <a:chOff x="3274631" y="2004250"/>
            <a:chExt cx="462915" cy="462915"/>
          </a:xfrm>
        </p:grpSpPr>
        <p:sp>
          <p:nvSpPr>
            <p:cNvPr id="14" name="object 14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79"/>
                  </a:lnTo>
                  <a:lnTo>
                    <a:pt x="22097" y="121538"/>
                  </a:lnTo>
                  <a:lnTo>
                    <a:pt x="5714" y="167258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7" y="312546"/>
                  </a:lnTo>
                  <a:lnTo>
                    <a:pt x="47751" y="352805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370"/>
                  </a:lnTo>
                  <a:lnTo>
                    <a:pt x="217042" y="434086"/>
                  </a:lnTo>
                  <a:lnTo>
                    <a:pt x="266826" y="428370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805"/>
                  </a:lnTo>
                  <a:lnTo>
                    <a:pt x="412114" y="312546"/>
                  </a:lnTo>
                  <a:lnTo>
                    <a:pt x="428370" y="266826"/>
                  </a:lnTo>
                  <a:lnTo>
                    <a:pt x="434213" y="217042"/>
                  </a:lnTo>
                  <a:lnTo>
                    <a:pt x="429894" y="174498"/>
                  </a:lnTo>
                  <a:lnTo>
                    <a:pt x="417575" y="133984"/>
                  </a:lnTo>
                  <a:lnTo>
                    <a:pt x="397636" y="96646"/>
                  </a:lnTo>
                  <a:lnTo>
                    <a:pt x="370585" y="63626"/>
                  </a:lnTo>
                  <a:lnTo>
                    <a:pt x="337565" y="36449"/>
                  </a:lnTo>
                  <a:lnTo>
                    <a:pt x="300100" y="16509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8"/>
                  </a:lnTo>
                  <a:lnTo>
                    <a:pt x="22097" y="121538"/>
                  </a:lnTo>
                  <a:lnTo>
                    <a:pt x="47751" y="81279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09"/>
                  </a:lnTo>
                  <a:lnTo>
                    <a:pt x="337565" y="36449"/>
                  </a:lnTo>
                  <a:lnTo>
                    <a:pt x="370585" y="63626"/>
                  </a:lnTo>
                  <a:lnTo>
                    <a:pt x="397636" y="96646"/>
                  </a:lnTo>
                  <a:lnTo>
                    <a:pt x="417575" y="133984"/>
                  </a:lnTo>
                  <a:lnTo>
                    <a:pt x="429894" y="174498"/>
                  </a:lnTo>
                  <a:lnTo>
                    <a:pt x="434213" y="217042"/>
                  </a:lnTo>
                  <a:lnTo>
                    <a:pt x="428370" y="266826"/>
                  </a:lnTo>
                  <a:lnTo>
                    <a:pt x="412114" y="312546"/>
                  </a:lnTo>
                  <a:lnTo>
                    <a:pt x="386460" y="352805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370"/>
                  </a:lnTo>
                  <a:lnTo>
                    <a:pt x="217042" y="434086"/>
                  </a:lnTo>
                  <a:lnTo>
                    <a:pt x="167258" y="428370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805"/>
                  </a:lnTo>
                  <a:lnTo>
                    <a:pt x="22097" y="312546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23030" y="2048637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74631" y="3123247"/>
            <a:ext cx="462915" cy="462915"/>
            <a:chOff x="3274631" y="3123247"/>
            <a:chExt cx="462915" cy="462915"/>
          </a:xfrm>
        </p:grpSpPr>
        <p:sp>
          <p:nvSpPr>
            <p:cNvPr id="18" name="object 18"/>
            <p:cNvSpPr/>
            <p:nvPr/>
          </p:nvSpPr>
          <p:spPr>
            <a:xfrm>
              <a:off x="3288919" y="313753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842"/>
                  </a:lnTo>
                  <a:lnTo>
                    <a:pt x="121665" y="22098"/>
                  </a:lnTo>
                  <a:lnTo>
                    <a:pt x="81279" y="47752"/>
                  </a:lnTo>
                  <a:lnTo>
                    <a:pt x="47751" y="81407"/>
                  </a:lnTo>
                  <a:lnTo>
                    <a:pt x="22097" y="121666"/>
                  </a:lnTo>
                  <a:lnTo>
                    <a:pt x="5714" y="167386"/>
                  </a:lnTo>
                  <a:lnTo>
                    <a:pt x="0" y="217170"/>
                  </a:lnTo>
                  <a:lnTo>
                    <a:pt x="5714" y="266954"/>
                  </a:lnTo>
                  <a:lnTo>
                    <a:pt x="22097" y="312547"/>
                  </a:lnTo>
                  <a:lnTo>
                    <a:pt x="47751" y="352933"/>
                  </a:lnTo>
                  <a:lnTo>
                    <a:pt x="81279" y="386461"/>
                  </a:lnTo>
                  <a:lnTo>
                    <a:pt x="121665" y="412115"/>
                  </a:lnTo>
                  <a:lnTo>
                    <a:pt x="167258" y="428498"/>
                  </a:lnTo>
                  <a:lnTo>
                    <a:pt x="217042" y="434213"/>
                  </a:lnTo>
                  <a:lnTo>
                    <a:pt x="266826" y="428498"/>
                  </a:lnTo>
                  <a:lnTo>
                    <a:pt x="312546" y="412115"/>
                  </a:lnTo>
                  <a:lnTo>
                    <a:pt x="352805" y="386461"/>
                  </a:lnTo>
                  <a:lnTo>
                    <a:pt x="386460" y="352933"/>
                  </a:lnTo>
                  <a:lnTo>
                    <a:pt x="412114" y="312547"/>
                  </a:lnTo>
                  <a:lnTo>
                    <a:pt x="428370" y="266954"/>
                  </a:lnTo>
                  <a:lnTo>
                    <a:pt x="434213" y="217170"/>
                  </a:lnTo>
                  <a:lnTo>
                    <a:pt x="429894" y="174625"/>
                  </a:lnTo>
                  <a:lnTo>
                    <a:pt x="417575" y="134112"/>
                  </a:lnTo>
                  <a:lnTo>
                    <a:pt x="397636" y="96647"/>
                  </a:lnTo>
                  <a:lnTo>
                    <a:pt x="370585" y="63627"/>
                  </a:lnTo>
                  <a:lnTo>
                    <a:pt x="337565" y="36576"/>
                  </a:lnTo>
                  <a:lnTo>
                    <a:pt x="300100" y="16637"/>
                  </a:lnTo>
                  <a:lnTo>
                    <a:pt x="259587" y="4318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88919" y="313753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170"/>
                  </a:moveTo>
                  <a:lnTo>
                    <a:pt x="5714" y="167386"/>
                  </a:lnTo>
                  <a:lnTo>
                    <a:pt x="22097" y="121666"/>
                  </a:lnTo>
                  <a:lnTo>
                    <a:pt x="47751" y="81407"/>
                  </a:lnTo>
                  <a:lnTo>
                    <a:pt x="81279" y="47752"/>
                  </a:lnTo>
                  <a:lnTo>
                    <a:pt x="121665" y="22098"/>
                  </a:lnTo>
                  <a:lnTo>
                    <a:pt x="167258" y="5842"/>
                  </a:lnTo>
                  <a:lnTo>
                    <a:pt x="217042" y="0"/>
                  </a:lnTo>
                  <a:lnTo>
                    <a:pt x="259587" y="4318"/>
                  </a:lnTo>
                  <a:lnTo>
                    <a:pt x="300100" y="16637"/>
                  </a:lnTo>
                  <a:lnTo>
                    <a:pt x="337565" y="36576"/>
                  </a:lnTo>
                  <a:lnTo>
                    <a:pt x="370585" y="63627"/>
                  </a:lnTo>
                  <a:lnTo>
                    <a:pt x="397636" y="96647"/>
                  </a:lnTo>
                  <a:lnTo>
                    <a:pt x="417575" y="134112"/>
                  </a:lnTo>
                  <a:lnTo>
                    <a:pt x="429894" y="174625"/>
                  </a:lnTo>
                  <a:lnTo>
                    <a:pt x="434213" y="217170"/>
                  </a:lnTo>
                  <a:lnTo>
                    <a:pt x="428370" y="266954"/>
                  </a:lnTo>
                  <a:lnTo>
                    <a:pt x="412114" y="312547"/>
                  </a:lnTo>
                  <a:lnTo>
                    <a:pt x="386460" y="352933"/>
                  </a:lnTo>
                  <a:lnTo>
                    <a:pt x="352805" y="386461"/>
                  </a:lnTo>
                  <a:lnTo>
                    <a:pt x="312546" y="412115"/>
                  </a:lnTo>
                  <a:lnTo>
                    <a:pt x="266826" y="428498"/>
                  </a:lnTo>
                  <a:lnTo>
                    <a:pt x="217042" y="434213"/>
                  </a:lnTo>
                  <a:lnTo>
                    <a:pt x="167258" y="428498"/>
                  </a:lnTo>
                  <a:lnTo>
                    <a:pt x="121665" y="412115"/>
                  </a:lnTo>
                  <a:lnTo>
                    <a:pt x="81279" y="386461"/>
                  </a:lnTo>
                  <a:lnTo>
                    <a:pt x="47751" y="352933"/>
                  </a:lnTo>
                  <a:lnTo>
                    <a:pt x="22097" y="312547"/>
                  </a:lnTo>
                  <a:lnTo>
                    <a:pt x="5714" y="266954"/>
                  </a:lnTo>
                  <a:lnTo>
                    <a:pt x="0" y="217170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23030" y="3167888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26814" y="876681"/>
            <a:ext cx="224599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70" dirty="0">
                <a:solidFill>
                  <a:srgbClr val="164052"/>
                </a:solidFill>
                <a:latin typeface="Calibri"/>
                <a:cs typeface="Calibri"/>
              </a:rPr>
              <a:t>Définir</a:t>
            </a:r>
            <a:r>
              <a:rPr sz="2500" b="1" spc="3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35" dirty="0">
                <a:solidFill>
                  <a:srgbClr val="164052"/>
                </a:solidFill>
                <a:latin typeface="Calibri"/>
                <a:cs typeface="Calibri"/>
              </a:rPr>
              <a:t>DevOps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6814" y="3121228"/>
            <a:ext cx="44888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8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5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70" dirty="0">
                <a:solidFill>
                  <a:srgbClr val="164052"/>
                </a:solidFill>
                <a:latin typeface="Calibri"/>
                <a:cs typeface="Calibri"/>
              </a:rPr>
              <a:t>l’Agilité</a:t>
            </a:r>
            <a:r>
              <a:rPr sz="25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35" dirty="0">
                <a:solidFill>
                  <a:srgbClr val="164052"/>
                </a:solidFill>
                <a:latin typeface="Calibri"/>
                <a:cs typeface="Calibri"/>
              </a:rPr>
              <a:t>vers</a:t>
            </a:r>
            <a:r>
              <a:rPr sz="2500" b="1" spc="409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le</a:t>
            </a:r>
            <a:r>
              <a:rPr sz="25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55" dirty="0">
                <a:solidFill>
                  <a:srgbClr val="164052"/>
                </a:solidFill>
                <a:latin typeface="Calibri"/>
                <a:cs typeface="Calibri"/>
              </a:rPr>
              <a:t>DevOps</a:t>
            </a:r>
            <a:r>
              <a:rPr sz="25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-50" dirty="0">
                <a:solidFill>
                  <a:srgbClr val="164052"/>
                </a:solidFill>
                <a:latin typeface="Calibri"/>
                <a:cs typeface="Calibri"/>
              </a:rPr>
              <a:t>…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90125" y="881951"/>
            <a:ext cx="462915" cy="462915"/>
            <a:chOff x="3290125" y="881951"/>
            <a:chExt cx="462915" cy="462915"/>
          </a:xfrm>
        </p:grpSpPr>
        <p:sp>
          <p:nvSpPr>
            <p:cNvPr id="24" name="object 24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170" y="0"/>
                  </a:moveTo>
                  <a:lnTo>
                    <a:pt x="167386" y="5842"/>
                  </a:lnTo>
                  <a:lnTo>
                    <a:pt x="121665" y="22098"/>
                  </a:lnTo>
                  <a:lnTo>
                    <a:pt x="81407" y="47751"/>
                  </a:lnTo>
                  <a:lnTo>
                    <a:pt x="47751" y="81406"/>
                  </a:lnTo>
                  <a:lnTo>
                    <a:pt x="22098" y="121666"/>
                  </a:lnTo>
                  <a:lnTo>
                    <a:pt x="5841" y="167386"/>
                  </a:lnTo>
                  <a:lnTo>
                    <a:pt x="0" y="217169"/>
                  </a:lnTo>
                  <a:lnTo>
                    <a:pt x="5841" y="266826"/>
                  </a:lnTo>
                  <a:lnTo>
                    <a:pt x="22098" y="312547"/>
                  </a:lnTo>
                  <a:lnTo>
                    <a:pt x="47751" y="352932"/>
                  </a:lnTo>
                  <a:lnTo>
                    <a:pt x="81407" y="386461"/>
                  </a:lnTo>
                  <a:lnTo>
                    <a:pt x="121665" y="412114"/>
                  </a:lnTo>
                  <a:lnTo>
                    <a:pt x="167386" y="428498"/>
                  </a:lnTo>
                  <a:lnTo>
                    <a:pt x="217170" y="434213"/>
                  </a:lnTo>
                  <a:lnTo>
                    <a:pt x="266953" y="428498"/>
                  </a:lnTo>
                  <a:lnTo>
                    <a:pt x="312547" y="412114"/>
                  </a:lnTo>
                  <a:lnTo>
                    <a:pt x="352933" y="386461"/>
                  </a:lnTo>
                  <a:lnTo>
                    <a:pt x="386461" y="352932"/>
                  </a:lnTo>
                  <a:lnTo>
                    <a:pt x="412114" y="312547"/>
                  </a:lnTo>
                  <a:lnTo>
                    <a:pt x="428498" y="266826"/>
                  </a:lnTo>
                  <a:lnTo>
                    <a:pt x="434213" y="217169"/>
                  </a:lnTo>
                  <a:lnTo>
                    <a:pt x="430022" y="174625"/>
                  </a:lnTo>
                  <a:lnTo>
                    <a:pt x="417702" y="133984"/>
                  </a:lnTo>
                  <a:lnTo>
                    <a:pt x="397763" y="96647"/>
                  </a:lnTo>
                  <a:lnTo>
                    <a:pt x="370586" y="63626"/>
                  </a:lnTo>
                  <a:lnTo>
                    <a:pt x="337565" y="36575"/>
                  </a:lnTo>
                  <a:lnTo>
                    <a:pt x="300227" y="16509"/>
                  </a:lnTo>
                  <a:lnTo>
                    <a:pt x="259714" y="4318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69"/>
                  </a:moveTo>
                  <a:lnTo>
                    <a:pt x="5841" y="167386"/>
                  </a:lnTo>
                  <a:lnTo>
                    <a:pt x="22098" y="121666"/>
                  </a:lnTo>
                  <a:lnTo>
                    <a:pt x="47751" y="81406"/>
                  </a:lnTo>
                  <a:lnTo>
                    <a:pt x="81407" y="47751"/>
                  </a:lnTo>
                  <a:lnTo>
                    <a:pt x="121665" y="22098"/>
                  </a:lnTo>
                  <a:lnTo>
                    <a:pt x="167386" y="5842"/>
                  </a:lnTo>
                  <a:lnTo>
                    <a:pt x="217170" y="0"/>
                  </a:lnTo>
                  <a:lnTo>
                    <a:pt x="259714" y="4318"/>
                  </a:lnTo>
                  <a:lnTo>
                    <a:pt x="300227" y="16509"/>
                  </a:lnTo>
                  <a:lnTo>
                    <a:pt x="337565" y="36575"/>
                  </a:lnTo>
                  <a:lnTo>
                    <a:pt x="370586" y="63626"/>
                  </a:lnTo>
                  <a:lnTo>
                    <a:pt x="397763" y="96647"/>
                  </a:lnTo>
                  <a:lnTo>
                    <a:pt x="417702" y="133984"/>
                  </a:lnTo>
                  <a:lnTo>
                    <a:pt x="430022" y="174625"/>
                  </a:lnTo>
                  <a:lnTo>
                    <a:pt x="434213" y="217169"/>
                  </a:lnTo>
                  <a:lnTo>
                    <a:pt x="428498" y="266826"/>
                  </a:lnTo>
                  <a:lnTo>
                    <a:pt x="412114" y="312547"/>
                  </a:lnTo>
                  <a:lnTo>
                    <a:pt x="386461" y="352932"/>
                  </a:lnTo>
                  <a:lnTo>
                    <a:pt x="352933" y="386461"/>
                  </a:lnTo>
                  <a:lnTo>
                    <a:pt x="312547" y="412114"/>
                  </a:lnTo>
                  <a:lnTo>
                    <a:pt x="266953" y="428498"/>
                  </a:lnTo>
                  <a:lnTo>
                    <a:pt x="217170" y="434213"/>
                  </a:lnTo>
                  <a:lnTo>
                    <a:pt x="167386" y="428498"/>
                  </a:lnTo>
                  <a:lnTo>
                    <a:pt x="121665" y="412114"/>
                  </a:lnTo>
                  <a:lnTo>
                    <a:pt x="81407" y="386461"/>
                  </a:lnTo>
                  <a:lnTo>
                    <a:pt x="47751" y="352932"/>
                  </a:lnTo>
                  <a:lnTo>
                    <a:pt x="22098" y="312547"/>
                  </a:lnTo>
                  <a:lnTo>
                    <a:pt x="5841" y="266826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38525" y="926084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74631" y="4245546"/>
            <a:ext cx="462915" cy="462915"/>
            <a:chOff x="3274631" y="4245546"/>
            <a:chExt cx="462915" cy="462915"/>
          </a:xfrm>
        </p:grpSpPr>
        <p:sp>
          <p:nvSpPr>
            <p:cNvPr id="28" name="object 28"/>
            <p:cNvSpPr/>
            <p:nvPr/>
          </p:nvSpPr>
          <p:spPr>
            <a:xfrm>
              <a:off x="3288919" y="425983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5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80"/>
                  </a:lnTo>
                  <a:lnTo>
                    <a:pt x="22097" y="121539"/>
                  </a:lnTo>
                  <a:lnTo>
                    <a:pt x="5714" y="167259"/>
                  </a:lnTo>
                  <a:lnTo>
                    <a:pt x="0" y="217043"/>
                  </a:lnTo>
                  <a:lnTo>
                    <a:pt x="5714" y="266827"/>
                  </a:lnTo>
                  <a:lnTo>
                    <a:pt x="22097" y="312547"/>
                  </a:lnTo>
                  <a:lnTo>
                    <a:pt x="47751" y="352806"/>
                  </a:lnTo>
                  <a:lnTo>
                    <a:pt x="81279" y="386461"/>
                  </a:lnTo>
                  <a:lnTo>
                    <a:pt x="121665" y="412115"/>
                  </a:lnTo>
                  <a:lnTo>
                    <a:pt x="167258" y="428371"/>
                  </a:lnTo>
                  <a:lnTo>
                    <a:pt x="217042" y="434086"/>
                  </a:lnTo>
                  <a:lnTo>
                    <a:pt x="266826" y="428371"/>
                  </a:lnTo>
                  <a:lnTo>
                    <a:pt x="312546" y="412115"/>
                  </a:lnTo>
                  <a:lnTo>
                    <a:pt x="352805" y="386461"/>
                  </a:lnTo>
                  <a:lnTo>
                    <a:pt x="386460" y="352806"/>
                  </a:lnTo>
                  <a:lnTo>
                    <a:pt x="412114" y="312547"/>
                  </a:lnTo>
                  <a:lnTo>
                    <a:pt x="428370" y="266827"/>
                  </a:lnTo>
                  <a:lnTo>
                    <a:pt x="434213" y="217043"/>
                  </a:lnTo>
                  <a:lnTo>
                    <a:pt x="429894" y="174498"/>
                  </a:lnTo>
                  <a:lnTo>
                    <a:pt x="417575" y="133985"/>
                  </a:lnTo>
                  <a:lnTo>
                    <a:pt x="397636" y="96647"/>
                  </a:lnTo>
                  <a:lnTo>
                    <a:pt x="370585" y="63627"/>
                  </a:lnTo>
                  <a:lnTo>
                    <a:pt x="337565" y="36449"/>
                  </a:lnTo>
                  <a:lnTo>
                    <a:pt x="300100" y="16510"/>
                  </a:lnTo>
                  <a:lnTo>
                    <a:pt x="259587" y="4191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88919" y="425983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3"/>
                  </a:moveTo>
                  <a:lnTo>
                    <a:pt x="5714" y="167259"/>
                  </a:lnTo>
                  <a:lnTo>
                    <a:pt x="22097" y="121539"/>
                  </a:lnTo>
                  <a:lnTo>
                    <a:pt x="47751" y="81280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5"/>
                  </a:lnTo>
                  <a:lnTo>
                    <a:pt x="217042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565" y="36449"/>
                  </a:lnTo>
                  <a:lnTo>
                    <a:pt x="370585" y="63627"/>
                  </a:lnTo>
                  <a:lnTo>
                    <a:pt x="397636" y="96647"/>
                  </a:lnTo>
                  <a:lnTo>
                    <a:pt x="417575" y="133985"/>
                  </a:lnTo>
                  <a:lnTo>
                    <a:pt x="429894" y="174498"/>
                  </a:lnTo>
                  <a:lnTo>
                    <a:pt x="434213" y="217043"/>
                  </a:lnTo>
                  <a:lnTo>
                    <a:pt x="428370" y="266827"/>
                  </a:lnTo>
                  <a:lnTo>
                    <a:pt x="412114" y="312547"/>
                  </a:lnTo>
                  <a:lnTo>
                    <a:pt x="386460" y="352806"/>
                  </a:lnTo>
                  <a:lnTo>
                    <a:pt x="352805" y="386461"/>
                  </a:lnTo>
                  <a:lnTo>
                    <a:pt x="312546" y="412115"/>
                  </a:lnTo>
                  <a:lnTo>
                    <a:pt x="266826" y="428371"/>
                  </a:lnTo>
                  <a:lnTo>
                    <a:pt x="217042" y="434086"/>
                  </a:lnTo>
                  <a:lnTo>
                    <a:pt x="167258" y="428371"/>
                  </a:lnTo>
                  <a:lnTo>
                    <a:pt x="121665" y="412115"/>
                  </a:lnTo>
                  <a:lnTo>
                    <a:pt x="81279" y="386461"/>
                  </a:lnTo>
                  <a:lnTo>
                    <a:pt x="47751" y="352806"/>
                  </a:lnTo>
                  <a:lnTo>
                    <a:pt x="22097" y="312547"/>
                  </a:lnTo>
                  <a:lnTo>
                    <a:pt x="5714" y="266827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23030" y="4289882"/>
            <a:ext cx="15176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4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08526" y="4244086"/>
            <a:ext cx="36988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120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5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70" dirty="0">
                <a:solidFill>
                  <a:srgbClr val="164052"/>
                </a:solidFill>
                <a:latin typeface="Calibri"/>
                <a:cs typeface="Calibri"/>
              </a:rPr>
              <a:t>objectifs</a:t>
            </a:r>
            <a:r>
              <a:rPr sz="25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5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50" dirty="0">
                <a:solidFill>
                  <a:srgbClr val="164052"/>
                </a:solidFill>
                <a:latin typeface="Calibri"/>
                <a:cs typeface="Calibri"/>
              </a:rPr>
              <a:t>DevOps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297238" y="5367846"/>
            <a:ext cx="462915" cy="462915"/>
            <a:chOff x="3297238" y="5367846"/>
            <a:chExt cx="462915" cy="462915"/>
          </a:xfrm>
        </p:grpSpPr>
        <p:sp>
          <p:nvSpPr>
            <p:cNvPr id="33" name="object 33"/>
            <p:cNvSpPr/>
            <p:nvPr/>
          </p:nvSpPr>
          <p:spPr>
            <a:xfrm>
              <a:off x="3311525" y="5382133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9" y="5714"/>
                  </a:lnTo>
                  <a:lnTo>
                    <a:pt x="121665" y="21970"/>
                  </a:lnTo>
                  <a:lnTo>
                    <a:pt x="81279" y="47624"/>
                  </a:lnTo>
                  <a:lnTo>
                    <a:pt x="47751" y="81279"/>
                  </a:lnTo>
                  <a:lnTo>
                    <a:pt x="22098" y="121538"/>
                  </a:lnTo>
                  <a:lnTo>
                    <a:pt x="5714" y="167258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8" y="312419"/>
                  </a:lnTo>
                  <a:lnTo>
                    <a:pt x="47751" y="352805"/>
                  </a:lnTo>
                  <a:lnTo>
                    <a:pt x="81279" y="386333"/>
                  </a:lnTo>
                  <a:lnTo>
                    <a:pt x="121665" y="411987"/>
                  </a:lnTo>
                  <a:lnTo>
                    <a:pt x="167259" y="428370"/>
                  </a:lnTo>
                  <a:lnTo>
                    <a:pt x="217042" y="434085"/>
                  </a:lnTo>
                  <a:lnTo>
                    <a:pt x="266826" y="428370"/>
                  </a:lnTo>
                  <a:lnTo>
                    <a:pt x="312547" y="411987"/>
                  </a:lnTo>
                  <a:lnTo>
                    <a:pt x="352805" y="386333"/>
                  </a:lnTo>
                  <a:lnTo>
                    <a:pt x="386461" y="352805"/>
                  </a:lnTo>
                  <a:lnTo>
                    <a:pt x="412114" y="312419"/>
                  </a:lnTo>
                  <a:lnTo>
                    <a:pt x="428371" y="266826"/>
                  </a:lnTo>
                  <a:lnTo>
                    <a:pt x="434213" y="217042"/>
                  </a:lnTo>
                  <a:lnTo>
                    <a:pt x="429895" y="174497"/>
                  </a:lnTo>
                  <a:lnTo>
                    <a:pt x="417575" y="133984"/>
                  </a:lnTo>
                  <a:lnTo>
                    <a:pt x="397637" y="96519"/>
                  </a:lnTo>
                  <a:lnTo>
                    <a:pt x="370586" y="63499"/>
                  </a:lnTo>
                  <a:lnTo>
                    <a:pt x="337565" y="36448"/>
                  </a:lnTo>
                  <a:lnTo>
                    <a:pt x="300100" y="16509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11525" y="5382133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8"/>
                  </a:lnTo>
                  <a:lnTo>
                    <a:pt x="22098" y="121538"/>
                  </a:lnTo>
                  <a:lnTo>
                    <a:pt x="47751" y="81279"/>
                  </a:lnTo>
                  <a:lnTo>
                    <a:pt x="81279" y="47624"/>
                  </a:lnTo>
                  <a:lnTo>
                    <a:pt x="121665" y="21970"/>
                  </a:lnTo>
                  <a:lnTo>
                    <a:pt x="167259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09"/>
                  </a:lnTo>
                  <a:lnTo>
                    <a:pt x="337565" y="36448"/>
                  </a:lnTo>
                  <a:lnTo>
                    <a:pt x="370586" y="63499"/>
                  </a:lnTo>
                  <a:lnTo>
                    <a:pt x="397637" y="96519"/>
                  </a:lnTo>
                  <a:lnTo>
                    <a:pt x="417575" y="133984"/>
                  </a:lnTo>
                  <a:lnTo>
                    <a:pt x="429895" y="174497"/>
                  </a:lnTo>
                  <a:lnTo>
                    <a:pt x="434213" y="217042"/>
                  </a:lnTo>
                  <a:lnTo>
                    <a:pt x="428371" y="266826"/>
                  </a:lnTo>
                  <a:lnTo>
                    <a:pt x="412114" y="312419"/>
                  </a:lnTo>
                  <a:lnTo>
                    <a:pt x="386461" y="352805"/>
                  </a:lnTo>
                  <a:lnTo>
                    <a:pt x="352805" y="386333"/>
                  </a:lnTo>
                  <a:lnTo>
                    <a:pt x="312547" y="411987"/>
                  </a:lnTo>
                  <a:lnTo>
                    <a:pt x="266826" y="428370"/>
                  </a:lnTo>
                  <a:lnTo>
                    <a:pt x="217042" y="434085"/>
                  </a:lnTo>
                  <a:lnTo>
                    <a:pt x="167259" y="428370"/>
                  </a:lnTo>
                  <a:lnTo>
                    <a:pt x="121665" y="411987"/>
                  </a:lnTo>
                  <a:lnTo>
                    <a:pt x="81279" y="386333"/>
                  </a:lnTo>
                  <a:lnTo>
                    <a:pt x="47751" y="352805"/>
                  </a:lnTo>
                  <a:lnTo>
                    <a:pt x="22098" y="312419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445890" y="5412740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5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0014">
              <a:lnSpc>
                <a:spcPts val="136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6" name="object 36"/>
          <p:cNvSpPr txBox="1"/>
          <p:nvPr/>
        </p:nvSpPr>
        <p:spPr>
          <a:xfrm>
            <a:off x="4208526" y="5366766"/>
            <a:ext cx="463486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80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500" b="1" spc="3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20" dirty="0">
                <a:solidFill>
                  <a:srgbClr val="164052"/>
                </a:solidFill>
                <a:latin typeface="Calibri"/>
                <a:cs typeface="Calibri"/>
              </a:rPr>
              <a:t>Principes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20" dirty="0">
                <a:solidFill>
                  <a:srgbClr val="164052"/>
                </a:solidFill>
                <a:latin typeface="Calibri"/>
                <a:cs typeface="Calibri"/>
              </a:rPr>
              <a:t>fondamentaux</a:t>
            </a:r>
            <a:r>
              <a:rPr sz="2500" b="1" spc="3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40" dirty="0">
                <a:solidFill>
                  <a:srgbClr val="164052"/>
                </a:solidFill>
                <a:latin typeface="Calibri"/>
                <a:cs typeface="Calibri"/>
              </a:rPr>
              <a:t>de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DevOps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233" y="760552"/>
            <a:ext cx="52990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Le</a:t>
            </a:r>
            <a:r>
              <a:rPr sz="2000" spc="24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corpus</a:t>
            </a:r>
            <a:r>
              <a:rPr sz="2000" spc="22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20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127079"/>
                </a:solidFill>
                <a:latin typeface="Calibri"/>
                <a:cs typeface="Calibri"/>
              </a:rPr>
              <a:t>connaissances</a:t>
            </a:r>
            <a:r>
              <a:rPr sz="2000" spc="2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collectif</a:t>
            </a:r>
            <a:r>
              <a:rPr sz="2000" spc="15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r>
              <a:rPr sz="2000" spc="25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27079"/>
                </a:solidFill>
                <a:latin typeface="Calibri"/>
                <a:cs typeface="Calibri"/>
              </a:rPr>
              <a:t>(2)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726" y="1573784"/>
            <a:ext cx="9898507" cy="480796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0014">
              <a:lnSpc>
                <a:spcPts val="136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3" name="object 3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1086955"/>
            <a:ext cx="10680700" cy="5701030"/>
            <a:chOff x="0" y="1086955"/>
            <a:chExt cx="10680700" cy="57010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86955"/>
              <a:ext cx="10680192" cy="57006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647692"/>
              <a:ext cx="10680192" cy="18911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4664710"/>
              <a:ext cx="10680700" cy="1811655"/>
            </a:xfrm>
            <a:custGeom>
              <a:avLst/>
              <a:gdLst/>
              <a:ahLst/>
              <a:cxnLst/>
              <a:rect l="l" t="t" r="r" b="b"/>
              <a:pathLst>
                <a:path w="10680700" h="1811654">
                  <a:moveTo>
                    <a:pt x="10680700" y="0"/>
                  </a:moveTo>
                  <a:lnTo>
                    <a:pt x="0" y="0"/>
                  </a:lnTo>
                  <a:lnTo>
                    <a:pt x="0" y="1811147"/>
                  </a:lnTo>
                  <a:lnTo>
                    <a:pt x="10680700" y="1811147"/>
                  </a:lnTo>
                  <a:lnTo>
                    <a:pt x="10680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593" y="4933950"/>
              <a:ext cx="2048637" cy="13934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54020" y="5004016"/>
              <a:ext cx="7873746" cy="12676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94026" y="5020945"/>
              <a:ext cx="7793990" cy="1188085"/>
            </a:xfrm>
            <a:custGeom>
              <a:avLst/>
              <a:gdLst/>
              <a:ahLst/>
              <a:cxnLst/>
              <a:rect l="l" t="t" r="r" b="b"/>
              <a:pathLst>
                <a:path w="7793990" h="1188085">
                  <a:moveTo>
                    <a:pt x="7595870" y="0"/>
                  </a:moveTo>
                  <a:lnTo>
                    <a:pt x="197993" y="0"/>
                  </a:lnTo>
                  <a:lnTo>
                    <a:pt x="152526" y="5334"/>
                  </a:lnTo>
                  <a:lnTo>
                    <a:pt x="110871" y="20193"/>
                  </a:lnTo>
                  <a:lnTo>
                    <a:pt x="74168" y="43561"/>
                  </a:lnTo>
                  <a:lnTo>
                    <a:pt x="43434" y="74168"/>
                  </a:lnTo>
                  <a:lnTo>
                    <a:pt x="20066" y="110998"/>
                  </a:lnTo>
                  <a:lnTo>
                    <a:pt x="5206" y="152654"/>
                  </a:lnTo>
                  <a:lnTo>
                    <a:pt x="0" y="197993"/>
                  </a:lnTo>
                  <a:lnTo>
                    <a:pt x="0" y="989711"/>
                  </a:lnTo>
                  <a:lnTo>
                    <a:pt x="5206" y="1035177"/>
                  </a:lnTo>
                  <a:lnTo>
                    <a:pt x="20066" y="1076833"/>
                  </a:lnTo>
                  <a:lnTo>
                    <a:pt x="43434" y="1113536"/>
                  </a:lnTo>
                  <a:lnTo>
                    <a:pt x="74168" y="1144143"/>
                  </a:lnTo>
                  <a:lnTo>
                    <a:pt x="110871" y="1167511"/>
                  </a:lnTo>
                  <a:lnTo>
                    <a:pt x="152526" y="1182497"/>
                  </a:lnTo>
                  <a:lnTo>
                    <a:pt x="197993" y="1187704"/>
                  </a:lnTo>
                  <a:lnTo>
                    <a:pt x="7595870" y="1187704"/>
                  </a:lnTo>
                  <a:lnTo>
                    <a:pt x="7641208" y="1182497"/>
                  </a:lnTo>
                  <a:lnTo>
                    <a:pt x="7682865" y="1167511"/>
                  </a:lnTo>
                  <a:lnTo>
                    <a:pt x="7719695" y="1144143"/>
                  </a:lnTo>
                  <a:lnTo>
                    <a:pt x="7750302" y="1113536"/>
                  </a:lnTo>
                  <a:lnTo>
                    <a:pt x="7773670" y="1076833"/>
                  </a:lnTo>
                  <a:lnTo>
                    <a:pt x="7788529" y="1035177"/>
                  </a:lnTo>
                  <a:lnTo>
                    <a:pt x="7793735" y="989711"/>
                  </a:lnTo>
                  <a:lnTo>
                    <a:pt x="7793735" y="197993"/>
                  </a:lnTo>
                  <a:lnTo>
                    <a:pt x="7789926" y="159258"/>
                  </a:lnTo>
                  <a:lnTo>
                    <a:pt x="7778750" y="122301"/>
                  </a:lnTo>
                  <a:lnTo>
                    <a:pt x="7760589" y="88138"/>
                  </a:lnTo>
                  <a:lnTo>
                    <a:pt x="7735824" y="58039"/>
                  </a:lnTo>
                  <a:lnTo>
                    <a:pt x="7705725" y="33274"/>
                  </a:lnTo>
                  <a:lnTo>
                    <a:pt x="7671562" y="15113"/>
                  </a:lnTo>
                  <a:lnTo>
                    <a:pt x="7634605" y="3937"/>
                  </a:lnTo>
                  <a:lnTo>
                    <a:pt x="7595870" y="0"/>
                  </a:lnTo>
                  <a:close/>
                </a:path>
              </a:pathLst>
            </a:custGeom>
            <a:solidFill>
              <a:srgbClr val="DAED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97704" y="5192649"/>
            <a:ext cx="3790315" cy="802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90"/>
              </a:spcBef>
            </a:pPr>
            <a:r>
              <a:rPr sz="2550" spc="-215" dirty="0">
                <a:latin typeface="Arial MT"/>
                <a:cs typeface="Arial MT"/>
              </a:rPr>
              <a:t>The</a:t>
            </a:r>
            <a:r>
              <a:rPr sz="2550" spc="-280" dirty="0">
                <a:latin typeface="Arial MT"/>
                <a:cs typeface="Arial MT"/>
              </a:rPr>
              <a:t> </a:t>
            </a:r>
            <a:r>
              <a:rPr sz="2550" spc="-145" dirty="0">
                <a:latin typeface="Arial MT"/>
                <a:cs typeface="Arial MT"/>
              </a:rPr>
              <a:t>Short</a:t>
            </a:r>
            <a:r>
              <a:rPr sz="2550" spc="-140" dirty="0">
                <a:latin typeface="Arial MT"/>
                <a:cs typeface="Arial MT"/>
              </a:rPr>
              <a:t> </a:t>
            </a:r>
            <a:r>
              <a:rPr sz="2550" spc="-120" dirty="0">
                <a:latin typeface="Arial MT"/>
                <a:cs typeface="Arial MT"/>
              </a:rPr>
              <a:t>History</a:t>
            </a:r>
            <a:r>
              <a:rPr sz="2550" spc="-114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of</a:t>
            </a:r>
            <a:r>
              <a:rPr sz="2550" spc="95" dirty="0">
                <a:latin typeface="Arial MT"/>
                <a:cs typeface="Arial MT"/>
              </a:rPr>
              <a:t> </a:t>
            </a:r>
            <a:r>
              <a:rPr sz="2550" spc="-95" dirty="0">
                <a:latin typeface="Arial MT"/>
                <a:cs typeface="Arial MT"/>
              </a:rPr>
              <a:t>DevOps </a:t>
            </a:r>
            <a:r>
              <a:rPr sz="2550" spc="-90" dirty="0">
                <a:latin typeface="Arial MT"/>
                <a:cs typeface="Arial MT"/>
              </a:rPr>
              <a:t>with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spc="-204" dirty="0">
                <a:latin typeface="Arial MT"/>
                <a:cs typeface="Arial MT"/>
              </a:rPr>
              <a:t>Damon</a:t>
            </a:r>
            <a:r>
              <a:rPr sz="2550" spc="-200" dirty="0">
                <a:latin typeface="Arial MT"/>
                <a:cs typeface="Arial MT"/>
              </a:rPr>
              <a:t> </a:t>
            </a:r>
            <a:r>
              <a:rPr sz="2550" spc="-185" dirty="0">
                <a:latin typeface="Arial MT"/>
                <a:cs typeface="Arial MT"/>
              </a:rPr>
              <a:t>Edwards</a:t>
            </a:r>
            <a:r>
              <a:rPr sz="2550" spc="-175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(11:47)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68275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400608" y="7215099"/>
            <a:ext cx="25673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</a:t>
            </a:r>
            <a:r>
              <a:rPr sz="1200" spc="10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//</a:t>
            </a:r>
            <a:r>
              <a:rPr sz="1200" spc="9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MODULE</a:t>
            </a:r>
            <a:r>
              <a:rPr sz="1200" spc="21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sz="1200" spc="11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–</a:t>
            </a:r>
            <a:r>
              <a:rPr sz="1200" spc="85" dirty="0">
                <a:solidFill>
                  <a:srgbClr val="878787"/>
                </a:solidFill>
                <a:latin typeface="Calibri"/>
                <a:cs typeface="Calibri"/>
              </a:rPr>
              <a:t> EXPLORER</a:t>
            </a:r>
            <a:r>
              <a:rPr sz="1200" spc="25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878787"/>
                </a:solidFill>
                <a:latin typeface="Calibri"/>
                <a:cs typeface="Calibri"/>
              </a:rPr>
              <a:t>DEVOPS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2164" y="5934837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7943" y="2126107"/>
            <a:ext cx="2746375" cy="398805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22776" y="1933649"/>
            <a:ext cx="6457315" cy="4526280"/>
            <a:chOff x="322776" y="1933649"/>
            <a:chExt cx="6457315" cy="45262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776" y="1933649"/>
              <a:ext cx="6456910" cy="45261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6285" y="1944116"/>
              <a:ext cx="6403340" cy="4459605"/>
            </a:xfrm>
            <a:custGeom>
              <a:avLst/>
              <a:gdLst/>
              <a:ahLst/>
              <a:cxnLst/>
              <a:rect l="l" t="t" r="r" b="b"/>
              <a:pathLst>
                <a:path w="6403340" h="4459605">
                  <a:moveTo>
                    <a:pt x="4970856" y="0"/>
                  </a:moveTo>
                  <a:lnTo>
                    <a:pt x="743191" y="0"/>
                  </a:lnTo>
                  <a:lnTo>
                    <a:pt x="694334" y="1524"/>
                  </a:lnTo>
                  <a:lnTo>
                    <a:pt x="646303" y="6223"/>
                  </a:lnTo>
                  <a:lnTo>
                    <a:pt x="599224" y="13970"/>
                  </a:lnTo>
                  <a:lnTo>
                    <a:pt x="553186" y="24511"/>
                  </a:lnTo>
                  <a:lnTo>
                    <a:pt x="508292" y="37846"/>
                  </a:lnTo>
                  <a:lnTo>
                    <a:pt x="464616" y="53975"/>
                  </a:lnTo>
                  <a:lnTo>
                    <a:pt x="422287" y="72643"/>
                  </a:lnTo>
                  <a:lnTo>
                    <a:pt x="381393" y="93852"/>
                  </a:lnTo>
                  <a:lnTo>
                    <a:pt x="342023" y="117475"/>
                  </a:lnTo>
                  <a:lnTo>
                    <a:pt x="304279" y="143383"/>
                  </a:lnTo>
                  <a:lnTo>
                    <a:pt x="268262" y="171576"/>
                  </a:lnTo>
                  <a:lnTo>
                    <a:pt x="234061" y="201802"/>
                  </a:lnTo>
                  <a:lnTo>
                    <a:pt x="201790" y="234061"/>
                  </a:lnTo>
                  <a:lnTo>
                    <a:pt x="171526" y="268224"/>
                  </a:lnTo>
                  <a:lnTo>
                    <a:pt x="143395" y="304291"/>
                  </a:lnTo>
                  <a:lnTo>
                    <a:pt x="117475" y="342011"/>
                  </a:lnTo>
                  <a:lnTo>
                    <a:pt x="93865" y="381380"/>
                  </a:lnTo>
                  <a:lnTo>
                    <a:pt x="72669" y="422275"/>
                  </a:lnTo>
                  <a:lnTo>
                    <a:pt x="53975" y="464565"/>
                  </a:lnTo>
                  <a:lnTo>
                    <a:pt x="37884" y="508253"/>
                  </a:lnTo>
                  <a:lnTo>
                    <a:pt x="24511" y="553212"/>
                  </a:lnTo>
                  <a:lnTo>
                    <a:pt x="13931" y="599186"/>
                  </a:lnTo>
                  <a:lnTo>
                    <a:pt x="6261" y="646302"/>
                  </a:lnTo>
                  <a:lnTo>
                    <a:pt x="1587" y="694309"/>
                  </a:lnTo>
                  <a:lnTo>
                    <a:pt x="0" y="743203"/>
                  </a:lnTo>
                  <a:lnTo>
                    <a:pt x="0" y="3716020"/>
                  </a:lnTo>
                  <a:lnTo>
                    <a:pt x="1587" y="3764788"/>
                  </a:lnTo>
                  <a:lnTo>
                    <a:pt x="6261" y="3812794"/>
                  </a:lnTo>
                  <a:lnTo>
                    <a:pt x="13931" y="3859911"/>
                  </a:lnTo>
                  <a:lnTo>
                    <a:pt x="24511" y="3906012"/>
                  </a:lnTo>
                  <a:lnTo>
                    <a:pt x="37884" y="3950843"/>
                  </a:lnTo>
                  <a:lnTo>
                    <a:pt x="53975" y="3994530"/>
                  </a:lnTo>
                  <a:lnTo>
                    <a:pt x="72669" y="4036822"/>
                  </a:lnTo>
                  <a:lnTo>
                    <a:pt x="93865" y="4077716"/>
                  </a:lnTo>
                  <a:lnTo>
                    <a:pt x="117475" y="4117086"/>
                  </a:lnTo>
                  <a:lnTo>
                    <a:pt x="143395" y="4154931"/>
                  </a:lnTo>
                  <a:lnTo>
                    <a:pt x="171526" y="4190873"/>
                  </a:lnTo>
                  <a:lnTo>
                    <a:pt x="201790" y="4225163"/>
                  </a:lnTo>
                  <a:lnTo>
                    <a:pt x="234061" y="4257421"/>
                  </a:lnTo>
                  <a:lnTo>
                    <a:pt x="268262" y="4287647"/>
                  </a:lnTo>
                  <a:lnTo>
                    <a:pt x="304279" y="4315714"/>
                  </a:lnTo>
                  <a:lnTo>
                    <a:pt x="342023" y="4341749"/>
                  </a:lnTo>
                  <a:lnTo>
                    <a:pt x="381393" y="4365307"/>
                  </a:lnTo>
                  <a:lnTo>
                    <a:pt x="422287" y="4386503"/>
                  </a:lnTo>
                  <a:lnTo>
                    <a:pt x="464616" y="4405198"/>
                  </a:lnTo>
                  <a:lnTo>
                    <a:pt x="508292" y="4421276"/>
                  </a:lnTo>
                  <a:lnTo>
                    <a:pt x="553186" y="4434649"/>
                  </a:lnTo>
                  <a:lnTo>
                    <a:pt x="599224" y="4445228"/>
                  </a:lnTo>
                  <a:lnTo>
                    <a:pt x="646303" y="4452912"/>
                  </a:lnTo>
                  <a:lnTo>
                    <a:pt x="694334" y="4457585"/>
                  </a:lnTo>
                  <a:lnTo>
                    <a:pt x="743191" y="4459160"/>
                  </a:lnTo>
                  <a:lnTo>
                    <a:pt x="4970856" y="4459160"/>
                  </a:lnTo>
                  <a:lnTo>
                    <a:pt x="5019751" y="4457585"/>
                  </a:lnTo>
                  <a:lnTo>
                    <a:pt x="5067757" y="4452912"/>
                  </a:lnTo>
                  <a:lnTo>
                    <a:pt x="5114874" y="4445228"/>
                  </a:lnTo>
                  <a:lnTo>
                    <a:pt x="5160848" y="4434649"/>
                  </a:lnTo>
                  <a:lnTo>
                    <a:pt x="5205806" y="4421276"/>
                  </a:lnTo>
                  <a:lnTo>
                    <a:pt x="5249494" y="4405198"/>
                  </a:lnTo>
                  <a:lnTo>
                    <a:pt x="5291785" y="4386503"/>
                  </a:lnTo>
                  <a:lnTo>
                    <a:pt x="5332679" y="4365307"/>
                  </a:lnTo>
                  <a:lnTo>
                    <a:pt x="5372049" y="4341749"/>
                  </a:lnTo>
                  <a:lnTo>
                    <a:pt x="5409768" y="4315714"/>
                  </a:lnTo>
                  <a:lnTo>
                    <a:pt x="5445836" y="4287647"/>
                  </a:lnTo>
                  <a:lnTo>
                    <a:pt x="5479999" y="4257421"/>
                  </a:lnTo>
                  <a:lnTo>
                    <a:pt x="5512257" y="4225163"/>
                  </a:lnTo>
                  <a:lnTo>
                    <a:pt x="5542483" y="4190873"/>
                  </a:lnTo>
                  <a:lnTo>
                    <a:pt x="5570677" y="4154931"/>
                  </a:lnTo>
                  <a:lnTo>
                    <a:pt x="5596585" y="4117086"/>
                  </a:lnTo>
                  <a:lnTo>
                    <a:pt x="5620207" y="4077716"/>
                  </a:lnTo>
                  <a:lnTo>
                    <a:pt x="5641416" y="4036822"/>
                  </a:lnTo>
                  <a:lnTo>
                    <a:pt x="5660085" y="3994530"/>
                  </a:lnTo>
                  <a:lnTo>
                    <a:pt x="5676214" y="3950843"/>
                  </a:lnTo>
                  <a:lnTo>
                    <a:pt x="5689549" y="3906012"/>
                  </a:lnTo>
                  <a:lnTo>
                    <a:pt x="5700090" y="3859911"/>
                  </a:lnTo>
                  <a:lnTo>
                    <a:pt x="5707837" y="3812794"/>
                  </a:lnTo>
                  <a:lnTo>
                    <a:pt x="5712409" y="3764788"/>
                  </a:lnTo>
                  <a:lnTo>
                    <a:pt x="5714060" y="3716020"/>
                  </a:lnTo>
                  <a:lnTo>
                    <a:pt x="5714060" y="1858010"/>
                  </a:lnTo>
                  <a:lnTo>
                    <a:pt x="6402908" y="1676653"/>
                  </a:lnTo>
                  <a:lnTo>
                    <a:pt x="5714060" y="743203"/>
                  </a:lnTo>
                  <a:lnTo>
                    <a:pt x="5712409" y="694054"/>
                  </a:lnTo>
                  <a:lnTo>
                    <a:pt x="5707583" y="645540"/>
                  </a:lnTo>
                  <a:lnTo>
                    <a:pt x="5699582" y="597535"/>
                  </a:lnTo>
                  <a:lnTo>
                    <a:pt x="5688533" y="550290"/>
                  </a:lnTo>
                  <a:lnTo>
                    <a:pt x="5674563" y="504063"/>
                  </a:lnTo>
                  <a:lnTo>
                    <a:pt x="5657418" y="458724"/>
                  </a:lnTo>
                  <a:lnTo>
                    <a:pt x="5637479" y="414781"/>
                  </a:lnTo>
                  <a:lnTo>
                    <a:pt x="5614746" y="372110"/>
                  </a:lnTo>
                  <a:lnTo>
                    <a:pt x="5589219" y="330835"/>
                  </a:lnTo>
                  <a:lnTo>
                    <a:pt x="5560898" y="291338"/>
                  </a:lnTo>
                  <a:lnTo>
                    <a:pt x="5529910" y="253491"/>
                  </a:lnTo>
                  <a:lnTo>
                    <a:pt x="5496382" y="217677"/>
                  </a:lnTo>
                  <a:lnTo>
                    <a:pt x="5460568" y="184150"/>
                  </a:lnTo>
                  <a:lnTo>
                    <a:pt x="5422722" y="153162"/>
                  </a:lnTo>
                  <a:lnTo>
                    <a:pt x="5383225" y="124840"/>
                  </a:lnTo>
                  <a:lnTo>
                    <a:pt x="5341950" y="99313"/>
                  </a:lnTo>
                  <a:lnTo>
                    <a:pt x="5299278" y="76453"/>
                  </a:lnTo>
                  <a:lnTo>
                    <a:pt x="5255209" y="56514"/>
                  </a:lnTo>
                  <a:lnTo>
                    <a:pt x="5209997" y="39497"/>
                  </a:lnTo>
                  <a:lnTo>
                    <a:pt x="5163769" y="25400"/>
                  </a:lnTo>
                  <a:lnTo>
                    <a:pt x="5116525" y="14350"/>
                  </a:lnTo>
                  <a:lnTo>
                    <a:pt x="5068519" y="6476"/>
                  </a:lnTo>
                  <a:lnTo>
                    <a:pt x="5020005" y="1650"/>
                  </a:lnTo>
                  <a:lnTo>
                    <a:pt x="4970856" y="0"/>
                  </a:lnTo>
                  <a:close/>
                </a:path>
              </a:pathLst>
            </a:custGeom>
            <a:solidFill>
              <a:srgbClr val="DAED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2503" y="1441831"/>
            <a:ext cx="5097145" cy="4514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5445" indent="-372745">
              <a:lnSpc>
                <a:spcPct val="100000"/>
              </a:lnSpc>
              <a:spcBef>
                <a:spcPts val="10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100" dirty="0">
                <a:solidFill>
                  <a:srgbClr val="252D37"/>
                </a:solidFill>
                <a:latin typeface="Calibri"/>
                <a:cs typeface="Calibri"/>
              </a:rPr>
              <a:t>Qu’est-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ce</a:t>
            </a:r>
            <a:r>
              <a:rPr sz="2300" spc="3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0" dirty="0">
                <a:solidFill>
                  <a:srgbClr val="252D37"/>
                </a:solidFill>
                <a:latin typeface="Calibri"/>
                <a:cs typeface="Calibri"/>
              </a:rPr>
              <a:t>que</a:t>
            </a:r>
            <a:r>
              <a:rPr sz="23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130" dirty="0">
                <a:solidFill>
                  <a:srgbClr val="252D37"/>
                </a:solidFill>
                <a:latin typeface="Calibri"/>
                <a:cs typeface="Calibri"/>
              </a:rPr>
              <a:t>DevOps</a:t>
            </a:r>
            <a:r>
              <a:rPr sz="23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?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300">
              <a:latin typeface="Calibri"/>
              <a:cs typeface="Calibri"/>
            </a:endParaRPr>
          </a:p>
          <a:p>
            <a:pPr marL="104139" marR="5080" indent="-1905" algn="ctr">
              <a:lnSpc>
                <a:spcPct val="98500"/>
              </a:lnSpc>
            </a:pPr>
            <a:r>
              <a:rPr sz="2200" dirty="0">
                <a:latin typeface="Calibri"/>
                <a:cs typeface="Calibri"/>
              </a:rPr>
              <a:t>«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Imaginez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monde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où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Product Owners,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développeurs,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responsables </a:t>
            </a:r>
            <a:r>
              <a:rPr sz="2200" dirty="0">
                <a:latin typeface="Calibri"/>
                <a:cs typeface="Calibri"/>
              </a:rPr>
              <a:t>qualité,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opérationnels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responsables sécurité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travaillent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ensemble, </a:t>
            </a:r>
            <a:r>
              <a:rPr sz="2200" spc="-25" dirty="0">
                <a:latin typeface="Calibri"/>
                <a:cs typeface="Calibri"/>
              </a:rPr>
              <a:t>non </a:t>
            </a:r>
            <a:r>
              <a:rPr sz="2200" spc="-10" dirty="0">
                <a:latin typeface="Calibri"/>
                <a:cs typeface="Calibri"/>
              </a:rPr>
              <a:t>seulement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pour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s'entraider,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également </a:t>
            </a:r>
            <a:r>
              <a:rPr sz="2200" dirty="0">
                <a:latin typeface="Calibri"/>
                <a:cs typeface="Calibri"/>
              </a:rPr>
              <a:t>pour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garantir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succès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l'ensemble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spc="-20" dirty="0">
                <a:latin typeface="Calibri"/>
                <a:cs typeface="Calibri"/>
              </a:rPr>
              <a:t>l'organisation.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travaillant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ensemble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vers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objectif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commun,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ils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permettent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mise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rapide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travail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planifié,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tout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assurant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stabilité,</a:t>
            </a:r>
            <a:r>
              <a:rPr sz="2200" spc="3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fiabilité, </a:t>
            </a:r>
            <a:r>
              <a:rPr sz="2200" dirty="0">
                <a:latin typeface="Calibri"/>
                <a:cs typeface="Calibri"/>
              </a:rPr>
              <a:t>disponibilité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sécurité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premier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ordre.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»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68275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8291"/>
            <a:ext cx="5621781" cy="6092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0" y="775297"/>
            <a:ext cx="9836149" cy="274953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196215" marR="178435" indent="-5715" algn="ctr">
              <a:lnSpc>
                <a:spcPct val="98500"/>
              </a:lnSpc>
            </a:pPr>
            <a:r>
              <a:rPr sz="2200" dirty="0">
                <a:latin typeface="Calibri"/>
                <a:cs typeface="Calibri"/>
              </a:rPr>
              <a:t>«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sens,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DevOps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consiste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mettre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en </a:t>
            </a:r>
            <a:r>
              <a:rPr sz="2200" dirty="0">
                <a:latin typeface="Calibri"/>
                <a:cs typeface="Calibri"/>
              </a:rPr>
              <a:t>place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chaîne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livraison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valeur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un </a:t>
            </a:r>
            <a:r>
              <a:rPr sz="2200" dirty="0">
                <a:latin typeface="Calibri"/>
                <a:cs typeface="Calibri"/>
              </a:rPr>
              <a:t>pipeline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rationalisé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sans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gaspillage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grâce </a:t>
            </a:r>
            <a:r>
              <a:rPr sz="2200" dirty="0">
                <a:latin typeface="Calibri"/>
                <a:cs typeface="Calibri"/>
              </a:rPr>
              <a:t>auquel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valeur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peut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être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livrée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l'entreprise </a:t>
            </a:r>
            <a:r>
              <a:rPr sz="2200" dirty="0">
                <a:latin typeface="Calibri"/>
                <a:cs typeface="Calibri"/>
              </a:rPr>
              <a:t>avec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durée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courte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prévisible.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»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68275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7713" y="1476036"/>
            <a:ext cx="5242478" cy="46898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68275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056233" y="760552"/>
            <a:ext cx="28086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80" dirty="0">
                <a:solidFill>
                  <a:srgbClr val="127079"/>
                </a:solidFill>
                <a:latin typeface="Calibri"/>
                <a:cs typeface="Calibri"/>
              </a:rPr>
              <a:t>Ce</a:t>
            </a:r>
            <a:r>
              <a:rPr sz="2000" spc="3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que</a:t>
            </a:r>
            <a:r>
              <a:rPr sz="2000" spc="1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r>
              <a:rPr sz="2000" spc="2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n’est</a:t>
            </a:r>
            <a:r>
              <a:rPr sz="2000" spc="1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27079"/>
                </a:solidFill>
                <a:latin typeface="Calibri"/>
                <a:cs typeface="Calibri"/>
              </a:rPr>
              <a:t>pas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2503" y="1314861"/>
            <a:ext cx="4373245" cy="371982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85445" indent="-372745">
              <a:lnSpc>
                <a:spcPct val="100000"/>
              </a:lnSpc>
              <a:spcBef>
                <a:spcPts val="1100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3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titre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010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5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3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équipe</a:t>
            </a:r>
            <a:r>
              <a:rPr sz="23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3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part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000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3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outil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994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Seulement</a:t>
            </a:r>
            <a:r>
              <a:rPr sz="23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3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culture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00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Seulement</a:t>
            </a:r>
            <a:r>
              <a:rPr sz="23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3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automatisation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000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3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formule</a:t>
            </a:r>
            <a:r>
              <a:rPr sz="2300" spc="2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magique</a:t>
            </a:r>
            <a:r>
              <a:rPr sz="2300" spc="3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qui</a:t>
            </a:r>
            <a:endParaRPr sz="2300">
              <a:latin typeface="Calibri"/>
              <a:cs typeface="Calibri"/>
            </a:endParaRPr>
          </a:p>
          <a:p>
            <a:pPr marL="386080">
              <a:lnSpc>
                <a:spcPct val="100000"/>
              </a:lnSpc>
            </a:pP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s’active</a:t>
            </a:r>
            <a:r>
              <a:rPr sz="23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3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jour</a:t>
            </a:r>
            <a:r>
              <a:rPr sz="23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au</a:t>
            </a:r>
            <a:r>
              <a:rPr sz="23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35" dirty="0">
                <a:solidFill>
                  <a:srgbClr val="252D37"/>
                </a:solidFill>
                <a:latin typeface="Calibri"/>
                <a:cs typeface="Calibri"/>
              </a:rPr>
              <a:t>lendemain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994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5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300" spc="3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stratégie</a:t>
            </a:r>
            <a:r>
              <a:rPr sz="2300" spc="3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unique</a:t>
            </a:r>
            <a:r>
              <a:rPr sz="2300" spc="3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300" spc="3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tous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25109" y="3364484"/>
            <a:ext cx="4471670" cy="147510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30480" rIns="0" bIns="0" rtlCol="0">
            <a:spAutoFit/>
          </a:bodyPr>
          <a:lstStyle/>
          <a:p>
            <a:pPr marL="337185" marR="320675" indent="-635" algn="ctr">
              <a:lnSpc>
                <a:spcPct val="98500"/>
              </a:lnSpc>
              <a:spcBef>
                <a:spcPts val="240"/>
              </a:spcBef>
            </a:pP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DevOps</a:t>
            </a:r>
            <a:r>
              <a:rPr sz="2200" spc="-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prend</a:t>
            </a:r>
            <a:r>
              <a:rPr sz="2200" spc="-7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vie</a:t>
            </a:r>
            <a:r>
              <a:rPr sz="2200" spc="-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grâce</a:t>
            </a:r>
            <a:r>
              <a:rPr sz="2200" spc="-7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à</a:t>
            </a:r>
            <a:r>
              <a:rPr sz="2200" spc="-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585858"/>
                </a:solidFill>
                <a:latin typeface="Calibri"/>
                <a:cs typeface="Calibri"/>
              </a:rPr>
              <a:t>de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nouvelles</a:t>
            </a:r>
            <a:r>
              <a:rPr sz="2200" spc="-1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alibri"/>
                <a:cs typeface="Calibri"/>
              </a:rPr>
              <a:t>pratiques</a:t>
            </a:r>
            <a:r>
              <a:rPr sz="2200" spc="-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qui</a:t>
            </a:r>
            <a:r>
              <a:rPr sz="2200" spc="-9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alibri"/>
                <a:cs typeface="Calibri"/>
              </a:rPr>
              <a:t>apportent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une</a:t>
            </a:r>
            <a:r>
              <a:rPr sz="22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vraie</a:t>
            </a:r>
            <a:r>
              <a:rPr sz="22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valeur</a:t>
            </a:r>
            <a:r>
              <a:rPr sz="22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à</a:t>
            </a:r>
            <a:r>
              <a:rPr sz="22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22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alibri"/>
                <a:cs typeface="Calibri"/>
              </a:rPr>
              <a:t>vraies organisations.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68275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56233" y="760552"/>
            <a:ext cx="50774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Pourquoi</a:t>
            </a: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r>
              <a:rPr sz="2000" spc="204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27079"/>
                </a:solidFill>
                <a:latin typeface="Calibri"/>
                <a:cs typeface="Calibri"/>
              </a:rPr>
              <a:t>est-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il</a:t>
            </a:r>
            <a:r>
              <a:rPr sz="2000" spc="13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important</a:t>
            </a: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maintenant</a:t>
            </a:r>
            <a:r>
              <a:rPr sz="2000" spc="114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27079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5246" y="1467739"/>
            <a:ext cx="9110980" cy="3050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6080" marR="5080" indent="-373380">
              <a:lnSpc>
                <a:spcPct val="100000"/>
              </a:lnSpc>
              <a:spcBef>
                <a:spcPts val="105"/>
              </a:spcBef>
              <a:buClr>
                <a:srgbClr val="127079"/>
              </a:buClr>
              <a:buFont typeface="Arial MT"/>
              <a:buChar char="●"/>
              <a:tabLst>
                <a:tab pos="386080" algn="l"/>
              </a:tabLst>
            </a:pPr>
            <a:r>
              <a:rPr sz="2300" spc="13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4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entreprises</a:t>
            </a:r>
            <a:r>
              <a:rPr sz="2300" spc="4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se</a:t>
            </a:r>
            <a:r>
              <a:rPr sz="2300" spc="4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retrouvent</a:t>
            </a:r>
            <a:r>
              <a:rPr sz="23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85" dirty="0">
                <a:solidFill>
                  <a:srgbClr val="252D37"/>
                </a:solidFill>
                <a:latin typeface="Calibri"/>
                <a:cs typeface="Calibri"/>
              </a:rPr>
              <a:t>concurrencées</a:t>
            </a:r>
            <a:r>
              <a:rPr sz="2300" spc="3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par</a:t>
            </a:r>
            <a:r>
              <a:rPr sz="2300" spc="3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3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petites</a:t>
            </a:r>
            <a:r>
              <a:rPr sz="2300" spc="3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0" dirty="0">
                <a:solidFill>
                  <a:srgbClr val="252D37"/>
                </a:solidFill>
                <a:latin typeface="Calibri"/>
                <a:cs typeface="Calibri"/>
              </a:rPr>
              <a:t>start-</a:t>
            </a:r>
            <a:r>
              <a:rPr sz="2300" spc="30" dirty="0">
                <a:solidFill>
                  <a:srgbClr val="252D37"/>
                </a:solidFill>
                <a:latin typeface="Calibri"/>
                <a:cs typeface="Calibri"/>
              </a:rPr>
              <a:t>up </a:t>
            </a:r>
            <a:r>
              <a:rPr sz="2300" spc="60" dirty="0">
                <a:solidFill>
                  <a:srgbClr val="252D37"/>
                </a:solidFill>
                <a:latin typeface="Calibri"/>
                <a:cs typeface="Calibri"/>
              </a:rPr>
              <a:t>agiles</a:t>
            </a:r>
            <a:endParaRPr sz="2300">
              <a:latin typeface="Calibri"/>
              <a:cs typeface="Calibri"/>
            </a:endParaRPr>
          </a:p>
          <a:p>
            <a:pPr marL="386080" marR="544830" indent="-373380">
              <a:lnSpc>
                <a:spcPts val="2700"/>
              </a:lnSpc>
              <a:spcBef>
                <a:spcPts val="1385"/>
              </a:spcBef>
              <a:buClr>
                <a:srgbClr val="127079"/>
              </a:buClr>
              <a:buFont typeface="Arial MT"/>
              <a:buChar char="●"/>
              <a:tabLst>
                <a:tab pos="386080" algn="l"/>
              </a:tabLst>
            </a:pPr>
            <a:r>
              <a:rPr sz="2300" spc="85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300" spc="4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développement</a:t>
            </a:r>
            <a:r>
              <a:rPr sz="2300" spc="4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logiciel</a:t>
            </a:r>
            <a:r>
              <a:rPr sz="2300" spc="4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agile</a:t>
            </a:r>
            <a:r>
              <a:rPr sz="2300" spc="3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l'infrastructure</a:t>
            </a:r>
            <a:r>
              <a:rPr sz="23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5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2300" spc="3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0" dirty="0">
                <a:solidFill>
                  <a:srgbClr val="252D37"/>
                </a:solidFill>
                <a:latin typeface="Calibri"/>
                <a:cs typeface="Calibri"/>
              </a:rPr>
              <a:t>sont</a:t>
            </a:r>
            <a:r>
              <a:rPr sz="2300" spc="3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en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progression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01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L’IT</a:t>
            </a:r>
            <a:r>
              <a:rPr sz="2300" spc="3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ne</a:t>
            </a:r>
            <a:r>
              <a:rPr sz="23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peut</a:t>
            </a:r>
            <a:r>
              <a:rPr sz="23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300" spc="3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fonctionner</a:t>
            </a:r>
            <a:r>
              <a:rPr sz="23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95" dirty="0">
                <a:solidFill>
                  <a:srgbClr val="252D37"/>
                </a:solidFill>
                <a:latin typeface="Calibri"/>
                <a:cs typeface="Calibri"/>
              </a:rPr>
              <a:t>dans</a:t>
            </a:r>
            <a:r>
              <a:rPr sz="2300" spc="3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3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culture</a:t>
            </a:r>
            <a:r>
              <a:rPr sz="23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silo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10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3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3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80" dirty="0">
                <a:solidFill>
                  <a:srgbClr val="252D37"/>
                </a:solidFill>
                <a:latin typeface="Calibri"/>
                <a:cs typeface="Calibri"/>
              </a:rPr>
              <a:t>d'organisations</a:t>
            </a:r>
            <a:r>
              <a:rPr sz="2300" spc="3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migrent</a:t>
            </a:r>
            <a:r>
              <a:rPr sz="23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vers</a:t>
            </a:r>
            <a:r>
              <a:rPr sz="23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3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100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125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3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85" dirty="0">
                <a:solidFill>
                  <a:srgbClr val="252D37"/>
                </a:solidFill>
                <a:latin typeface="Calibri"/>
                <a:cs typeface="Calibri"/>
              </a:rPr>
              <a:t>consommateurs</a:t>
            </a:r>
            <a:r>
              <a:rPr sz="23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ont</a:t>
            </a:r>
            <a:r>
              <a:rPr sz="23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9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3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habitudes</a:t>
            </a:r>
            <a:r>
              <a:rPr sz="2300" spc="2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9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attentes</a:t>
            </a:r>
            <a:r>
              <a:rPr sz="23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100" dirty="0">
                <a:solidFill>
                  <a:srgbClr val="252D37"/>
                </a:solidFill>
                <a:latin typeface="Calibri"/>
                <a:cs typeface="Calibri"/>
              </a:rPr>
              <a:t>issues</a:t>
            </a:r>
            <a:r>
              <a:rPr sz="2300" spc="3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46" y="4357426"/>
            <a:ext cx="5099050" cy="22352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1295"/>
              </a:spcBef>
            </a:pPr>
            <a:r>
              <a:rPr sz="2300" spc="114" dirty="0">
                <a:solidFill>
                  <a:srgbClr val="252D37"/>
                </a:solidFill>
                <a:latin typeface="Calibri"/>
                <a:cs typeface="Calibri"/>
              </a:rPr>
              <a:t>apps</a:t>
            </a:r>
            <a:r>
              <a:rPr sz="2300" spc="3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(disponibles</a:t>
            </a:r>
            <a:r>
              <a:rPr sz="23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sur</a:t>
            </a:r>
            <a:r>
              <a:rPr sz="23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3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mobiles)</a:t>
            </a:r>
            <a:endParaRPr sz="2300">
              <a:latin typeface="Calibri"/>
              <a:cs typeface="Calibri"/>
            </a:endParaRPr>
          </a:p>
          <a:p>
            <a:pPr marL="386080" marR="588010" indent="-373380">
              <a:lnSpc>
                <a:spcPct val="100000"/>
              </a:lnSpc>
              <a:spcBef>
                <a:spcPts val="1200"/>
              </a:spcBef>
              <a:buClr>
                <a:srgbClr val="127079"/>
              </a:buClr>
              <a:buFont typeface="Arial MT"/>
              <a:buChar char="●"/>
              <a:tabLst>
                <a:tab pos="386080" algn="l"/>
              </a:tabLst>
            </a:pPr>
            <a:r>
              <a:rPr sz="2300" spc="125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3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85" dirty="0">
                <a:solidFill>
                  <a:srgbClr val="252D37"/>
                </a:solidFill>
                <a:latin typeface="Calibri"/>
                <a:cs typeface="Calibri"/>
              </a:rPr>
              <a:t>données</a:t>
            </a:r>
            <a:r>
              <a:rPr sz="23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85" dirty="0">
                <a:solidFill>
                  <a:srgbClr val="252D37"/>
                </a:solidFill>
                <a:latin typeface="Calibri"/>
                <a:cs typeface="Calibri"/>
              </a:rPr>
              <a:t>disponibles</a:t>
            </a:r>
            <a:r>
              <a:rPr sz="23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pour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l'entreprise</a:t>
            </a:r>
            <a:r>
              <a:rPr sz="23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0" dirty="0">
                <a:solidFill>
                  <a:srgbClr val="252D37"/>
                </a:solidFill>
                <a:latin typeface="Calibri"/>
                <a:cs typeface="Calibri"/>
              </a:rPr>
              <a:t>sont</a:t>
            </a:r>
            <a:r>
              <a:rPr sz="2300" spc="3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3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300" spc="3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30" dirty="0">
                <a:solidFill>
                  <a:srgbClr val="252D37"/>
                </a:solidFill>
                <a:latin typeface="Calibri"/>
                <a:cs typeface="Calibri"/>
              </a:rPr>
              <a:t>plus </a:t>
            </a: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nombreuses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200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85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300" spc="3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time</a:t>
            </a:r>
            <a:r>
              <a:rPr sz="23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to</a:t>
            </a:r>
            <a:r>
              <a:rPr sz="23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value</a:t>
            </a:r>
            <a:r>
              <a:rPr sz="2300" spc="2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doit</a:t>
            </a:r>
            <a:r>
              <a:rPr sz="23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être</a:t>
            </a:r>
            <a:r>
              <a:rPr sz="23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300" spc="2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rapide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4248" y="4669866"/>
            <a:ext cx="2994660" cy="193484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29844" rIns="0" bIns="0" rtlCol="0">
            <a:spAutoFit/>
          </a:bodyPr>
          <a:lstStyle/>
          <a:p>
            <a:pPr marL="138430" marR="123189" indent="1270" algn="ctr">
              <a:lnSpc>
                <a:spcPct val="98500"/>
              </a:lnSpc>
              <a:spcBef>
                <a:spcPts val="234"/>
              </a:spcBef>
            </a:pP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Pour</a:t>
            </a:r>
            <a:r>
              <a:rPr sz="2200" spc="-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faire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face</a:t>
            </a:r>
            <a:r>
              <a:rPr sz="2200" spc="-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à</a:t>
            </a:r>
            <a:r>
              <a:rPr sz="2200" spc="-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ces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conditions</a:t>
            </a:r>
            <a:r>
              <a:rPr sz="2200" spc="-11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changeantes,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l’IT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doit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adapter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sa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culture,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ses</a:t>
            </a:r>
            <a:r>
              <a:rPr sz="2200" spc="-4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pratiques</a:t>
            </a:r>
            <a:r>
              <a:rPr sz="2200" spc="-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et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son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automatisation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87694" y="1503680"/>
            <a:ext cx="3947795" cy="3872865"/>
          </a:xfrm>
          <a:custGeom>
            <a:avLst/>
            <a:gdLst/>
            <a:ahLst/>
            <a:cxnLst/>
            <a:rect l="l" t="t" r="r" b="b"/>
            <a:pathLst>
              <a:path w="3947795" h="3872865">
                <a:moveTo>
                  <a:pt x="1973960" y="0"/>
                </a:moveTo>
                <a:lnTo>
                  <a:pt x="1925287" y="577"/>
                </a:lnTo>
                <a:lnTo>
                  <a:pt x="1876903" y="2299"/>
                </a:lnTo>
                <a:lnTo>
                  <a:pt x="1828822" y="5154"/>
                </a:lnTo>
                <a:lnTo>
                  <a:pt x="1781057" y="9128"/>
                </a:lnTo>
                <a:lnTo>
                  <a:pt x="1733623" y="14207"/>
                </a:lnTo>
                <a:lnTo>
                  <a:pt x="1686531" y="20379"/>
                </a:lnTo>
                <a:lnTo>
                  <a:pt x="1639797" y="27630"/>
                </a:lnTo>
                <a:lnTo>
                  <a:pt x="1593433" y="35947"/>
                </a:lnTo>
                <a:lnTo>
                  <a:pt x="1547453" y="45317"/>
                </a:lnTo>
                <a:lnTo>
                  <a:pt x="1501870" y="55726"/>
                </a:lnTo>
                <a:lnTo>
                  <a:pt x="1456698" y="67161"/>
                </a:lnTo>
                <a:lnTo>
                  <a:pt x="1411951" y="79609"/>
                </a:lnTo>
                <a:lnTo>
                  <a:pt x="1367642" y="93057"/>
                </a:lnTo>
                <a:lnTo>
                  <a:pt x="1323784" y="107491"/>
                </a:lnTo>
                <a:lnTo>
                  <a:pt x="1280392" y="122899"/>
                </a:lnTo>
                <a:lnTo>
                  <a:pt x="1237478" y="139266"/>
                </a:lnTo>
                <a:lnTo>
                  <a:pt x="1195056" y="156580"/>
                </a:lnTo>
                <a:lnTo>
                  <a:pt x="1153139" y="174827"/>
                </a:lnTo>
                <a:lnTo>
                  <a:pt x="1111742" y="193995"/>
                </a:lnTo>
                <a:lnTo>
                  <a:pt x="1070877" y="214069"/>
                </a:lnTo>
                <a:lnTo>
                  <a:pt x="1030559" y="235037"/>
                </a:lnTo>
                <a:lnTo>
                  <a:pt x="990800" y="256886"/>
                </a:lnTo>
                <a:lnTo>
                  <a:pt x="951614" y="279601"/>
                </a:lnTo>
                <a:lnTo>
                  <a:pt x="913015" y="303171"/>
                </a:lnTo>
                <a:lnTo>
                  <a:pt x="875016" y="327581"/>
                </a:lnTo>
                <a:lnTo>
                  <a:pt x="837631" y="352818"/>
                </a:lnTo>
                <a:lnTo>
                  <a:pt x="800873" y="378870"/>
                </a:lnTo>
                <a:lnTo>
                  <a:pt x="764756" y="405722"/>
                </a:lnTo>
                <a:lnTo>
                  <a:pt x="729292" y="433362"/>
                </a:lnTo>
                <a:lnTo>
                  <a:pt x="694497" y="461777"/>
                </a:lnTo>
                <a:lnTo>
                  <a:pt x="660383" y="490952"/>
                </a:lnTo>
                <a:lnTo>
                  <a:pt x="626964" y="520876"/>
                </a:lnTo>
                <a:lnTo>
                  <a:pt x="594253" y="551534"/>
                </a:lnTo>
                <a:lnTo>
                  <a:pt x="562263" y="582913"/>
                </a:lnTo>
                <a:lnTo>
                  <a:pt x="531010" y="615000"/>
                </a:lnTo>
                <a:lnTo>
                  <a:pt x="500504" y="647783"/>
                </a:lnTo>
                <a:lnTo>
                  <a:pt x="470762" y="681247"/>
                </a:lnTo>
                <a:lnTo>
                  <a:pt x="441795" y="715379"/>
                </a:lnTo>
                <a:lnTo>
                  <a:pt x="413617" y="750166"/>
                </a:lnTo>
                <a:lnTo>
                  <a:pt x="386243" y="785595"/>
                </a:lnTo>
                <a:lnTo>
                  <a:pt x="359685" y="821653"/>
                </a:lnTo>
                <a:lnTo>
                  <a:pt x="333956" y="858326"/>
                </a:lnTo>
                <a:lnTo>
                  <a:pt x="309071" y="895601"/>
                </a:lnTo>
                <a:lnTo>
                  <a:pt x="285043" y="933465"/>
                </a:lnTo>
                <a:lnTo>
                  <a:pt x="261886" y="971905"/>
                </a:lnTo>
                <a:lnTo>
                  <a:pt x="239613" y="1010906"/>
                </a:lnTo>
                <a:lnTo>
                  <a:pt x="218236" y="1050457"/>
                </a:lnTo>
                <a:lnTo>
                  <a:pt x="197771" y="1090544"/>
                </a:lnTo>
                <a:lnTo>
                  <a:pt x="178231" y="1131153"/>
                </a:lnTo>
                <a:lnTo>
                  <a:pt x="159629" y="1172272"/>
                </a:lnTo>
                <a:lnTo>
                  <a:pt x="141978" y="1213886"/>
                </a:lnTo>
                <a:lnTo>
                  <a:pt x="125292" y="1255984"/>
                </a:lnTo>
                <a:lnTo>
                  <a:pt x="109584" y="1298551"/>
                </a:lnTo>
                <a:lnTo>
                  <a:pt x="94869" y="1341574"/>
                </a:lnTo>
                <a:lnTo>
                  <a:pt x="81160" y="1385040"/>
                </a:lnTo>
                <a:lnTo>
                  <a:pt x="68469" y="1428936"/>
                </a:lnTo>
                <a:lnTo>
                  <a:pt x="56811" y="1473249"/>
                </a:lnTo>
                <a:lnTo>
                  <a:pt x="46199" y="1517965"/>
                </a:lnTo>
                <a:lnTo>
                  <a:pt x="36647" y="1563071"/>
                </a:lnTo>
                <a:lnTo>
                  <a:pt x="28168" y="1608553"/>
                </a:lnTo>
                <a:lnTo>
                  <a:pt x="20776" y="1654400"/>
                </a:lnTo>
                <a:lnTo>
                  <a:pt x="14484" y="1700596"/>
                </a:lnTo>
                <a:lnTo>
                  <a:pt x="9306" y="1747130"/>
                </a:lnTo>
                <a:lnTo>
                  <a:pt x="5254" y="1793987"/>
                </a:lnTo>
                <a:lnTo>
                  <a:pt x="2344" y="1841155"/>
                </a:lnTo>
                <a:lnTo>
                  <a:pt x="588" y="1888620"/>
                </a:lnTo>
                <a:lnTo>
                  <a:pt x="0" y="1936369"/>
                </a:lnTo>
                <a:lnTo>
                  <a:pt x="588" y="1984112"/>
                </a:lnTo>
                <a:lnTo>
                  <a:pt x="2344" y="2031571"/>
                </a:lnTo>
                <a:lnTo>
                  <a:pt x="5254" y="2078734"/>
                </a:lnTo>
                <a:lnTo>
                  <a:pt x="9306" y="2125586"/>
                </a:lnTo>
                <a:lnTo>
                  <a:pt x="14484" y="2172115"/>
                </a:lnTo>
                <a:lnTo>
                  <a:pt x="20776" y="2218306"/>
                </a:lnTo>
                <a:lnTo>
                  <a:pt x="28168" y="2264148"/>
                </a:lnTo>
                <a:lnTo>
                  <a:pt x="36647" y="2309626"/>
                </a:lnTo>
                <a:lnTo>
                  <a:pt x="46199" y="2354728"/>
                </a:lnTo>
                <a:lnTo>
                  <a:pt x="56811" y="2399439"/>
                </a:lnTo>
                <a:lnTo>
                  <a:pt x="68469" y="2443748"/>
                </a:lnTo>
                <a:lnTo>
                  <a:pt x="81160" y="2487640"/>
                </a:lnTo>
                <a:lnTo>
                  <a:pt x="94869" y="2531102"/>
                </a:lnTo>
                <a:lnTo>
                  <a:pt x="109584" y="2574122"/>
                </a:lnTo>
                <a:lnTo>
                  <a:pt x="125292" y="2616686"/>
                </a:lnTo>
                <a:lnTo>
                  <a:pt x="141978" y="2658780"/>
                </a:lnTo>
                <a:lnTo>
                  <a:pt x="159629" y="2700391"/>
                </a:lnTo>
                <a:lnTo>
                  <a:pt x="178231" y="2741506"/>
                </a:lnTo>
                <a:lnTo>
                  <a:pt x="197771" y="2782113"/>
                </a:lnTo>
                <a:lnTo>
                  <a:pt x="218236" y="2822197"/>
                </a:lnTo>
                <a:lnTo>
                  <a:pt x="239613" y="2861745"/>
                </a:lnTo>
                <a:lnTo>
                  <a:pt x="261886" y="2900744"/>
                </a:lnTo>
                <a:lnTo>
                  <a:pt x="285043" y="2939181"/>
                </a:lnTo>
                <a:lnTo>
                  <a:pt x="309071" y="2977042"/>
                </a:lnTo>
                <a:lnTo>
                  <a:pt x="333956" y="3014315"/>
                </a:lnTo>
                <a:lnTo>
                  <a:pt x="359685" y="3050986"/>
                </a:lnTo>
                <a:lnTo>
                  <a:pt x="386243" y="3087042"/>
                </a:lnTo>
                <a:lnTo>
                  <a:pt x="413617" y="3122469"/>
                </a:lnTo>
                <a:lnTo>
                  <a:pt x="441795" y="3157254"/>
                </a:lnTo>
                <a:lnTo>
                  <a:pt x="470762" y="3191385"/>
                </a:lnTo>
                <a:lnTo>
                  <a:pt x="500504" y="3224847"/>
                </a:lnTo>
                <a:lnTo>
                  <a:pt x="531010" y="3257628"/>
                </a:lnTo>
                <a:lnTo>
                  <a:pt x="562263" y="3289714"/>
                </a:lnTo>
                <a:lnTo>
                  <a:pt x="594253" y="3321092"/>
                </a:lnTo>
                <a:lnTo>
                  <a:pt x="626964" y="3351748"/>
                </a:lnTo>
                <a:lnTo>
                  <a:pt x="660383" y="3381670"/>
                </a:lnTo>
                <a:lnTo>
                  <a:pt x="694497" y="3410845"/>
                </a:lnTo>
                <a:lnTo>
                  <a:pt x="729292" y="3439258"/>
                </a:lnTo>
                <a:lnTo>
                  <a:pt x="764756" y="3466897"/>
                </a:lnTo>
                <a:lnTo>
                  <a:pt x="800873" y="3493749"/>
                </a:lnTo>
                <a:lnTo>
                  <a:pt x="837631" y="3519799"/>
                </a:lnTo>
                <a:lnTo>
                  <a:pt x="875016" y="3545036"/>
                </a:lnTo>
                <a:lnTo>
                  <a:pt x="913015" y="3569445"/>
                </a:lnTo>
                <a:lnTo>
                  <a:pt x="951614" y="3593014"/>
                </a:lnTo>
                <a:lnTo>
                  <a:pt x="990800" y="3615729"/>
                </a:lnTo>
                <a:lnTo>
                  <a:pt x="1030559" y="3637577"/>
                </a:lnTo>
                <a:lnTo>
                  <a:pt x="1070877" y="3658544"/>
                </a:lnTo>
                <a:lnTo>
                  <a:pt x="1111742" y="3678618"/>
                </a:lnTo>
                <a:lnTo>
                  <a:pt x="1153139" y="3697785"/>
                </a:lnTo>
                <a:lnTo>
                  <a:pt x="1195056" y="3716032"/>
                </a:lnTo>
                <a:lnTo>
                  <a:pt x="1237478" y="3733346"/>
                </a:lnTo>
                <a:lnTo>
                  <a:pt x="1280392" y="3749713"/>
                </a:lnTo>
                <a:lnTo>
                  <a:pt x="1323784" y="3765120"/>
                </a:lnTo>
                <a:lnTo>
                  <a:pt x="1367642" y="3779554"/>
                </a:lnTo>
                <a:lnTo>
                  <a:pt x="1411951" y="3793002"/>
                </a:lnTo>
                <a:lnTo>
                  <a:pt x="1456698" y="3805450"/>
                </a:lnTo>
                <a:lnTo>
                  <a:pt x="1501870" y="3816885"/>
                </a:lnTo>
                <a:lnTo>
                  <a:pt x="1547453" y="3827294"/>
                </a:lnTo>
                <a:lnTo>
                  <a:pt x="1593433" y="3836663"/>
                </a:lnTo>
                <a:lnTo>
                  <a:pt x="1639797" y="3844980"/>
                </a:lnTo>
                <a:lnTo>
                  <a:pt x="1686531" y="3852231"/>
                </a:lnTo>
                <a:lnTo>
                  <a:pt x="1733623" y="3858403"/>
                </a:lnTo>
                <a:lnTo>
                  <a:pt x="1781057" y="3863482"/>
                </a:lnTo>
                <a:lnTo>
                  <a:pt x="1828822" y="3867456"/>
                </a:lnTo>
                <a:lnTo>
                  <a:pt x="1876903" y="3870311"/>
                </a:lnTo>
                <a:lnTo>
                  <a:pt x="1925287" y="3872033"/>
                </a:lnTo>
                <a:lnTo>
                  <a:pt x="1973960" y="3872611"/>
                </a:lnTo>
                <a:lnTo>
                  <a:pt x="2022628" y="3872033"/>
                </a:lnTo>
                <a:lnTo>
                  <a:pt x="2071007" y="3870311"/>
                </a:lnTo>
                <a:lnTo>
                  <a:pt x="2119083" y="3867456"/>
                </a:lnTo>
                <a:lnTo>
                  <a:pt x="2166842" y="3863482"/>
                </a:lnTo>
                <a:lnTo>
                  <a:pt x="2214272" y="3858403"/>
                </a:lnTo>
                <a:lnTo>
                  <a:pt x="2261359" y="3852231"/>
                </a:lnTo>
                <a:lnTo>
                  <a:pt x="2308089" y="3844980"/>
                </a:lnTo>
                <a:lnTo>
                  <a:pt x="2354448" y="3836663"/>
                </a:lnTo>
                <a:lnTo>
                  <a:pt x="2400424" y="3827294"/>
                </a:lnTo>
                <a:lnTo>
                  <a:pt x="2446002" y="3816885"/>
                </a:lnTo>
                <a:lnTo>
                  <a:pt x="2491170" y="3805450"/>
                </a:lnTo>
                <a:lnTo>
                  <a:pt x="2535913" y="3793002"/>
                </a:lnTo>
                <a:lnTo>
                  <a:pt x="2580218" y="3779554"/>
                </a:lnTo>
                <a:lnTo>
                  <a:pt x="2624072" y="3765120"/>
                </a:lnTo>
                <a:lnTo>
                  <a:pt x="2667462" y="3749713"/>
                </a:lnTo>
                <a:lnTo>
                  <a:pt x="2710372" y="3733346"/>
                </a:lnTo>
                <a:lnTo>
                  <a:pt x="2752791" y="3716032"/>
                </a:lnTo>
                <a:lnTo>
                  <a:pt x="2794704" y="3697785"/>
                </a:lnTo>
                <a:lnTo>
                  <a:pt x="2836099" y="3678618"/>
                </a:lnTo>
                <a:lnTo>
                  <a:pt x="2876960" y="3658544"/>
                </a:lnTo>
                <a:lnTo>
                  <a:pt x="2917276" y="3637577"/>
                </a:lnTo>
                <a:lnTo>
                  <a:pt x="2957032" y="3615729"/>
                </a:lnTo>
                <a:lnTo>
                  <a:pt x="2996216" y="3593014"/>
                </a:lnTo>
                <a:lnTo>
                  <a:pt x="3034812" y="3569445"/>
                </a:lnTo>
                <a:lnTo>
                  <a:pt x="3072809" y="3545036"/>
                </a:lnTo>
                <a:lnTo>
                  <a:pt x="3110192" y="3519799"/>
                </a:lnTo>
                <a:lnTo>
                  <a:pt x="3146948" y="3493749"/>
                </a:lnTo>
                <a:lnTo>
                  <a:pt x="3183064" y="3466897"/>
                </a:lnTo>
                <a:lnTo>
                  <a:pt x="3218525" y="3439258"/>
                </a:lnTo>
                <a:lnTo>
                  <a:pt x="3253318" y="3410845"/>
                </a:lnTo>
                <a:lnTo>
                  <a:pt x="3287431" y="3381670"/>
                </a:lnTo>
                <a:lnTo>
                  <a:pt x="3320848" y="3351748"/>
                </a:lnTo>
                <a:lnTo>
                  <a:pt x="3353558" y="3321092"/>
                </a:lnTo>
                <a:lnTo>
                  <a:pt x="3385546" y="3289714"/>
                </a:lnTo>
                <a:lnTo>
                  <a:pt x="3416798" y="3257628"/>
                </a:lnTo>
                <a:lnTo>
                  <a:pt x="3447302" y="3224847"/>
                </a:lnTo>
                <a:lnTo>
                  <a:pt x="3477044" y="3191385"/>
                </a:lnTo>
                <a:lnTo>
                  <a:pt x="3506009" y="3157254"/>
                </a:lnTo>
                <a:lnTo>
                  <a:pt x="3534186" y="3122469"/>
                </a:lnTo>
                <a:lnTo>
                  <a:pt x="3561560" y="3087042"/>
                </a:lnTo>
                <a:lnTo>
                  <a:pt x="3588117" y="3050986"/>
                </a:lnTo>
                <a:lnTo>
                  <a:pt x="3613844" y="3014315"/>
                </a:lnTo>
                <a:lnTo>
                  <a:pt x="3638728" y="2977042"/>
                </a:lnTo>
                <a:lnTo>
                  <a:pt x="3662756" y="2939181"/>
                </a:lnTo>
                <a:lnTo>
                  <a:pt x="3685912" y="2900744"/>
                </a:lnTo>
                <a:lnTo>
                  <a:pt x="3708185" y="2861745"/>
                </a:lnTo>
                <a:lnTo>
                  <a:pt x="3729561" y="2822197"/>
                </a:lnTo>
                <a:lnTo>
                  <a:pt x="3750025" y="2782113"/>
                </a:lnTo>
                <a:lnTo>
                  <a:pt x="3769565" y="2741506"/>
                </a:lnTo>
                <a:lnTo>
                  <a:pt x="3788168" y="2700391"/>
                </a:lnTo>
                <a:lnTo>
                  <a:pt x="3805818" y="2658780"/>
                </a:lnTo>
                <a:lnTo>
                  <a:pt x="3822504" y="2616686"/>
                </a:lnTo>
                <a:lnTo>
                  <a:pt x="3838211" y="2574122"/>
                </a:lnTo>
                <a:lnTo>
                  <a:pt x="3852926" y="2531102"/>
                </a:lnTo>
                <a:lnTo>
                  <a:pt x="3866635" y="2487640"/>
                </a:lnTo>
                <a:lnTo>
                  <a:pt x="3879326" y="2443748"/>
                </a:lnTo>
                <a:lnTo>
                  <a:pt x="3890983" y="2399439"/>
                </a:lnTo>
                <a:lnTo>
                  <a:pt x="3901595" y="2354728"/>
                </a:lnTo>
                <a:lnTo>
                  <a:pt x="3911147" y="2309626"/>
                </a:lnTo>
                <a:lnTo>
                  <a:pt x="3919626" y="2264148"/>
                </a:lnTo>
                <a:lnTo>
                  <a:pt x="3927018" y="2218306"/>
                </a:lnTo>
                <a:lnTo>
                  <a:pt x="3933310" y="2172115"/>
                </a:lnTo>
                <a:lnTo>
                  <a:pt x="3938488" y="2125586"/>
                </a:lnTo>
                <a:lnTo>
                  <a:pt x="3942540" y="2078734"/>
                </a:lnTo>
                <a:lnTo>
                  <a:pt x="3945450" y="2031571"/>
                </a:lnTo>
                <a:lnTo>
                  <a:pt x="3947206" y="1984112"/>
                </a:lnTo>
                <a:lnTo>
                  <a:pt x="3947795" y="1936369"/>
                </a:lnTo>
                <a:lnTo>
                  <a:pt x="3947206" y="1888620"/>
                </a:lnTo>
                <a:lnTo>
                  <a:pt x="3945450" y="1841155"/>
                </a:lnTo>
                <a:lnTo>
                  <a:pt x="3942540" y="1793987"/>
                </a:lnTo>
                <a:lnTo>
                  <a:pt x="3938488" y="1747130"/>
                </a:lnTo>
                <a:lnTo>
                  <a:pt x="3933310" y="1700596"/>
                </a:lnTo>
                <a:lnTo>
                  <a:pt x="3927018" y="1654400"/>
                </a:lnTo>
                <a:lnTo>
                  <a:pt x="3919626" y="1608553"/>
                </a:lnTo>
                <a:lnTo>
                  <a:pt x="3911147" y="1563071"/>
                </a:lnTo>
                <a:lnTo>
                  <a:pt x="3901595" y="1517965"/>
                </a:lnTo>
                <a:lnTo>
                  <a:pt x="3890983" y="1473249"/>
                </a:lnTo>
                <a:lnTo>
                  <a:pt x="3879326" y="1428936"/>
                </a:lnTo>
                <a:lnTo>
                  <a:pt x="3866635" y="1385040"/>
                </a:lnTo>
                <a:lnTo>
                  <a:pt x="3852926" y="1341574"/>
                </a:lnTo>
                <a:lnTo>
                  <a:pt x="3838211" y="1298551"/>
                </a:lnTo>
                <a:lnTo>
                  <a:pt x="3822504" y="1255984"/>
                </a:lnTo>
                <a:lnTo>
                  <a:pt x="3805818" y="1213886"/>
                </a:lnTo>
                <a:lnTo>
                  <a:pt x="3788168" y="1172272"/>
                </a:lnTo>
                <a:lnTo>
                  <a:pt x="3769565" y="1131153"/>
                </a:lnTo>
                <a:lnTo>
                  <a:pt x="3750025" y="1090544"/>
                </a:lnTo>
                <a:lnTo>
                  <a:pt x="3729561" y="1050457"/>
                </a:lnTo>
                <a:lnTo>
                  <a:pt x="3708185" y="1010906"/>
                </a:lnTo>
                <a:lnTo>
                  <a:pt x="3685912" y="971905"/>
                </a:lnTo>
                <a:lnTo>
                  <a:pt x="3662756" y="933465"/>
                </a:lnTo>
                <a:lnTo>
                  <a:pt x="3638728" y="895601"/>
                </a:lnTo>
                <a:lnTo>
                  <a:pt x="3613844" y="858326"/>
                </a:lnTo>
                <a:lnTo>
                  <a:pt x="3588117" y="821653"/>
                </a:lnTo>
                <a:lnTo>
                  <a:pt x="3561560" y="785595"/>
                </a:lnTo>
                <a:lnTo>
                  <a:pt x="3534186" y="750166"/>
                </a:lnTo>
                <a:lnTo>
                  <a:pt x="3506009" y="715379"/>
                </a:lnTo>
                <a:lnTo>
                  <a:pt x="3477044" y="681247"/>
                </a:lnTo>
                <a:lnTo>
                  <a:pt x="3447302" y="647783"/>
                </a:lnTo>
                <a:lnTo>
                  <a:pt x="3416798" y="615000"/>
                </a:lnTo>
                <a:lnTo>
                  <a:pt x="3385546" y="582913"/>
                </a:lnTo>
                <a:lnTo>
                  <a:pt x="3353558" y="551534"/>
                </a:lnTo>
                <a:lnTo>
                  <a:pt x="3320848" y="520876"/>
                </a:lnTo>
                <a:lnTo>
                  <a:pt x="3287431" y="490952"/>
                </a:lnTo>
                <a:lnTo>
                  <a:pt x="3253318" y="461777"/>
                </a:lnTo>
                <a:lnTo>
                  <a:pt x="3218525" y="433362"/>
                </a:lnTo>
                <a:lnTo>
                  <a:pt x="3183064" y="405722"/>
                </a:lnTo>
                <a:lnTo>
                  <a:pt x="3146948" y="378870"/>
                </a:lnTo>
                <a:lnTo>
                  <a:pt x="3110192" y="352818"/>
                </a:lnTo>
                <a:lnTo>
                  <a:pt x="3072809" y="327581"/>
                </a:lnTo>
                <a:lnTo>
                  <a:pt x="3034812" y="303171"/>
                </a:lnTo>
                <a:lnTo>
                  <a:pt x="2996216" y="279601"/>
                </a:lnTo>
                <a:lnTo>
                  <a:pt x="2957032" y="256886"/>
                </a:lnTo>
                <a:lnTo>
                  <a:pt x="2917276" y="235037"/>
                </a:lnTo>
                <a:lnTo>
                  <a:pt x="2876960" y="214069"/>
                </a:lnTo>
                <a:lnTo>
                  <a:pt x="2836099" y="193995"/>
                </a:lnTo>
                <a:lnTo>
                  <a:pt x="2794704" y="174827"/>
                </a:lnTo>
                <a:lnTo>
                  <a:pt x="2752791" y="156580"/>
                </a:lnTo>
                <a:lnTo>
                  <a:pt x="2710372" y="139266"/>
                </a:lnTo>
                <a:lnTo>
                  <a:pt x="2667462" y="122899"/>
                </a:lnTo>
                <a:lnTo>
                  <a:pt x="2624072" y="107491"/>
                </a:lnTo>
                <a:lnTo>
                  <a:pt x="2580218" y="93057"/>
                </a:lnTo>
                <a:lnTo>
                  <a:pt x="2535913" y="79609"/>
                </a:lnTo>
                <a:lnTo>
                  <a:pt x="2491170" y="67161"/>
                </a:lnTo>
                <a:lnTo>
                  <a:pt x="2446002" y="55726"/>
                </a:lnTo>
                <a:lnTo>
                  <a:pt x="2400424" y="45317"/>
                </a:lnTo>
                <a:lnTo>
                  <a:pt x="2354448" y="35947"/>
                </a:lnTo>
                <a:lnTo>
                  <a:pt x="2308089" y="27630"/>
                </a:lnTo>
                <a:lnTo>
                  <a:pt x="2261359" y="20379"/>
                </a:lnTo>
                <a:lnTo>
                  <a:pt x="2214272" y="14207"/>
                </a:lnTo>
                <a:lnTo>
                  <a:pt x="2166842" y="9128"/>
                </a:lnTo>
                <a:lnTo>
                  <a:pt x="2119083" y="5154"/>
                </a:lnTo>
                <a:lnTo>
                  <a:pt x="2071007" y="2299"/>
                </a:lnTo>
                <a:lnTo>
                  <a:pt x="2022628" y="577"/>
                </a:lnTo>
                <a:lnTo>
                  <a:pt x="1973960" y="0"/>
                </a:lnTo>
                <a:close/>
              </a:path>
            </a:pathLst>
          </a:custGeom>
          <a:solidFill>
            <a:srgbClr val="EBF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70650" y="2675382"/>
            <a:ext cx="3430904" cy="202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10" algn="ctr">
              <a:lnSpc>
                <a:spcPct val="101099"/>
              </a:lnSpc>
              <a:spcBef>
                <a:spcPts val="95"/>
              </a:spcBef>
            </a:pPr>
            <a:r>
              <a:rPr sz="1850" dirty="0">
                <a:latin typeface="Arial MT"/>
                <a:cs typeface="Arial MT"/>
              </a:rPr>
              <a:t>L’objectif est</a:t>
            </a:r>
            <a:r>
              <a:rPr sz="1850" spc="5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de</a:t>
            </a:r>
            <a:r>
              <a:rPr sz="1850" spc="50" dirty="0">
                <a:latin typeface="Arial MT"/>
                <a:cs typeface="Arial MT"/>
              </a:rPr>
              <a:t> </a:t>
            </a:r>
            <a:r>
              <a:rPr sz="1850" b="1" spc="-10" dirty="0">
                <a:latin typeface="Arial"/>
                <a:cs typeface="Arial"/>
              </a:rPr>
              <a:t>délivrer </a:t>
            </a:r>
            <a:r>
              <a:rPr sz="1850" b="1" dirty="0">
                <a:latin typeface="Arial"/>
                <a:cs typeface="Arial"/>
              </a:rPr>
              <a:t>rapidement</a:t>
            </a:r>
            <a:r>
              <a:rPr sz="1850" b="1" spc="5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le</a:t>
            </a:r>
            <a:r>
              <a:rPr sz="1850" b="1" spc="7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logiciel</a:t>
            </a:r>
            <a:r>
              <a:rPr sz="1850" b="1" spc="85" dirty="0">
                <a:latin typeface="Arial"/>
                <a:cs typeface="Arial"/>
              </a:rPr>
              <a:t> </a:t>
            </a:r>
            <a:r>
              <a:rPr sz="1850" b="1" spc="-10" dirty="0">
                <a:latin typeface="Arial"/>
                <a:cs typeface="Arial"/>
              </a:rPr>
              <a:t>attendu </a:t>
            </a:r>
            <a:r>
              <a:rPr sz="1850" dirty="0">
                <a:latin typeface="Arial MT"/>
                <a:cs typeface="Arial MT"/>
              </a:rPr>
              <a:t>par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les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clients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en</a:t>
            </a:r>
            <a:r>
              <a:rPr sz="1850" spc="4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garantissant</a:t>
            </a:r>
            <a:r>
              <a:rPr sz="1850" spc="5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la </a:t>
            </a:r>
            <a:r>
              <a:rPr sz="1850" b="1" dirty="0">
                <a:latin typeface="Arial"/>
                <a:cs typeface="Arial"/>
              </a:rPr>
              <a:t>meilleure</a:t>
            </a:r>
            <a:r>
              <a:rPr sz="1850" b="1" spc="7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qualité</a:t>
            </a:r>
            <a:r>
              <a:rPr sz="1850" b="1" spc="7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de</a:t>
            </a:r>
            <a:r>
              <a:rPr sz="1850" b="1" spc="70" dirty="0">
                <a:latin typeface="Arial"/>
                <a:cs typeface="Arial"/>
              </a:rPr>
              <a:t> </a:t>
            </a:r>
            <a:r>
              <a:rPr sz="1850" b="1" spc="-10" dirty="0">
                <a:latin typeface="Arial"/>
                <a:cs typeface="Arial"/>
              </a:rPr>
              <a:t>service </a:t>
            </a:r>
            <a:r>
              <a:rPr sz="1850" dirty="0">
                <a:latin typeface="Arial MT"/>
                <a:cs typeface="Arial MT"/>
              </a:rPr>
              <a:t>grâce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une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synergie</a:t>
            </a:r>
            <a:r>
              <a:rPr sz="1850" spc="4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bienveillante </a:t>
            </a:r>
            <a:r>
              <a:rPr sz="1850" dirty="0">
                <a:latin typeface="Arial MT"/>
                <a:cs typeface="Arial MT"/>
              </a:rPr>
              <a:t>entre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les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équipes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de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«</a:t>
            </a:r>
            <a:r>
              <a:rPr sz="1850" spc="30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Dev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»</a:t>
            </a:r>
            <a:r>
              <a:rPr sz="1850" spc="25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et </a:t>
            </a:r>
            <a:r>
              <a:rPr sz="1850" dirty="0">
                <a:latin typeface="Arial MT"/>
                <a:cs typeface="Arial MT"/>
              </a:rPr>
              <a:t>d’«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Ops</a:t>
            </a:r>
            <a:r>
              <a:rPr sz="1850" spc="30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».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019" y="947369"/>
            <a:ext cx="3543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4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l’Agilité</a:t>
            </a:r>
            <a:r>
              <a:rPr sz="24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vers</a:t>
            </a:r>
            <a:r>
              <a:rPr sz="24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le</a:t>
            </a:r>
            <a:r>
              <a:rPr sz="24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DevOps</a:t>
            </a:r>
            <a:r>
              <a:rPr sz="24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9379" y="2445639"/>
            <a:ext cx="6010275" cy="3789045"/>
            <a:chOff x="419379" y="2445639"/>
            <a:chExt cx="6010275" cy="3789045"/>
          </a:xfrm>
        </p:grpSpPr>
        <p:sp>
          <p:nvSpPr>
            <p:cNvPr id="6" name="object 6"/>
            <p:cNvSpPr/>
            <p:nvPr/>
          </p:nvSpPr>
          <p:spPr>
            <a:xfrm>
              <a:off x="878268" y="4490593"/>
              <a:ext cx="5551170" cy="1744345"/>
            </a:xfrm>
            <a:custGeom>
              <a:avLst/>
              <a:gdLst/>
              <a:ahLst/>
              <a:cxnLst/>
              <a:rect l="l" t="t" r="r" b="b"/>
              <a:pathLst>
                <a:path w="5551170" h="1744345">
                  <a:moveTo>
                    <a:pt x="5551170" y="0"/>
                  </a:moveTo>
                  <a:lnTo>
                    <a:pt x="0" y="0"/>
                  </a:lnTo>
                  <a:lnTo>
                    <a:pt x="0" y="1743964"/>
                  </a:lnTo>
                  <a:lnTo>
                    <a:pt x="5551170" y="1743964"/>
                  </a:lnTo>
                  <a:lnTo>
                    <a:pt x="5551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9379" y="2445639"/>
              <a:ext cx="5551170" cy="2607945"/>
            </a:xfrm>
            <a:custGeom>
              <a:avLst/>
              <a:gdLst/>
              <a:ahLst/>
              <a:cxnLst/>
              <a:rect l="l" t="t" r="r" b="b"/>
              <a:pathLst>
                <a:path w="5551170" h="2607945">
                  <a:moveTo>
                    <a:pt x="5551170" y="0"/>
                  </a:moveTo>
                  <a:lnTo>
                    <a:pt x="0" y="0"/>
                  </a:lnTo>
                  <a:lnTo>
                    <a:pt x="0" y="2607436"/>
                  </a:lnTo>
                  <a:lnTo>
                    <a:pt x="5551170" y="2607436"/>
                  </a:lnTo>
                  <a:lnTo>
                    <a:pt x="5551170" y="0"/>
                  </a:lnTo>
                  <a:close/>
                </a:path>
              </a:pathLst>
            </a:custGeom>
            <a:solidFill>
              <a:srgbClr val="C5D9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78928" y="2917634"/>
              <a:ext cx="549910" cy="250825"/>
            </a:xfrm>
            <a:custGeom>
              <a:avLst/>
              <a:gdLst/>
              <a:ahLst/>
              <a:cxnLst/>
              <a:rect l="l" t="t" r="r" b="b"/>
              <a:pathLst>
                <a:path w="549910" h="250825">
                  <a:moveTo>
                    <a:pt x="549490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549490" y="250507"/>
                  </a:lnTo>
                  <a:lnTo>
                    <a:pt x="54949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8093" y="2917634"/>
              <a:ext cx="2058035" cy="250825"/>
            </a:xfrm>
            <a:custGeom>
              <a:avLst/>
              <a:gdLst/>
              <a:ahLst/>
              <a:cxnLst/>
              <a:rect l="l" t="t" r="r" b="b"/>
              <a:pathLst>
                <a:path w="2058035" h="250825">
                  <a:moveTo>
                    <a:pt x="2057527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2057527" y="250507"/>
                  </a:lnTo>
                  <a:lnTo>
                    <a:pt x="2057527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10455" y="2917634"/>
              <a:ext cx="889635" cy="250825"/>
            </a:xfrm>
            <a:custGeom>
              <a:avLst/>
              <a:gdLst/>
              <a:ahLst/>
              <a:cxnLst/>
              <a:rect l="l" t="t" r="r" b="b"/>
              <a:pathLst>
                <a:path w="889635" h="250825">
                  <a:moveTo>
                    <a:pt x="889368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889368" y="250507"/>
                  </a:lnTo>
                  <a:lnTo>
                    <a:pt x="889368" y="0"/>
                  </a:lnTo>
                  <a:close/>
                </a:path>
              </a:pathLst>
            </a:custGeom>
            <a:solidFill>
              <a:srgbClr val="0F24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63490" y="2965450"/>
            <a:ext cx="59626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Déploiement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68039" y="2917634"/>
            <a:ext cx="499745" cy="250825"/>
          </a:xfrm>
          <a:custGeom>
            <a:avLst/>
            <a:gdLst/>
            <a:ahLst/>
            <a:cxnLst/>
            <a:rect l="l" t="t" r="r" b="b"/>
            <a:pathLst>
              <a:path w="499745" h="250825">
                <a:moveTo>
                  <a:pt x="499490" y="0"/>
                </a:moveTo>
                <a:lnTo>
                  <a:pt x="0" y="0"/>
                </a:lnTo>
                <a:lnTo>
                  <a:pt x="0" y="250507"/>
                </a:lnTo>
                <a:lnTo>
                  <a:pt x="499490" y="250507"/>
                </a:lnTo>
                <a:lnTo>
                  <a:pt x="49949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15104" y="2965450"/>
            <a:ext cx="21653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20" dirty="0">
                <a:latin typeface="Arial MT"/>
                <a:cs typeface="Arial MT"/>
              </a:rPr>
              <a:t>Test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1592" y="2631186"/>
            <a:ext cx="1861820" cy="48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Cycle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classique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(en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V)</a:t>
            </a:r>
            <a:endParaRPr sz="1400">
              <a:latin typeface="Arial"/>
              <a:cs typeface="Arial"/>
            </a:endParaRPr>
          </a:p>
          <a:p>
            <a:pPr marL="28575" algn="ctr">
              <a:lnSpc>
                <a:spcPct val="100000"/>
              </a:lnSpc>
              <a:spcBef>
                <a:spcPts val="960"/>
              </a:spcBef>
              <a:tabLst>
                <a:tab pos="1408430" algn="l"/>
              </a:tabLst>
            </a:pPr>
            <a:r>
              <a:rPr sz="800" spc="-10" dirty="0">
                <a:latin typeface="Arial MT"/>
                <a:cs typeface="Arial MT"/>
              </a:rPr>
              <a:t>Design</a:t>
            </a:r>
            <a:r>
              <a:rPr sz="800" dirty="0">
                <a:latin typeface="Arial MT"/>
                <a:cs typeface="Arial MT"/>
              </a:rPr>
              <a:t>	</a:t>
            </a:r>
            <a:r>
              <a:rPr sz="800" spc="-20" dirty="0">
                <a:latin typeface="Arial MT"/>
                <a:cs typeface="Arial MT"/>
              </a:rPr>
              <a:t>Code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74635" y="3678745"/>
            <a:ext cx="4125595" cy="255904"/>
            <a:chOff x="1174635" y="3678745"/>
            <a:chExt cx="4125595" cy="255904"/>
          </a:xfrm>
        </p:grpSpPr>
        <p:sp>
          <p:nvSpPr>
            <p:cNvPr id="16" name="object 16"/>
            <p:cNvSpPr/>
            <p:nvPr/>
          </p:nvSpPr>
          <p:spPr>
            <a:xfrm>
              <a:off x="1174635" y="3683952"/>
              <a:ext cx="549910" cy="250825"/>
            </a:xfrm>
            <a:custGeom>
              <a:avLst/>
              <a:gdLst/>
              <a:ahLst/>
              <a:cxnLst/>
              <a:rect l="l" t="t" r="r" b="b"/>
              <a:pathLst>
                <a:path w="549910" h="250825">
                  <a:moveTo>
                    <a:pt x="549490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549490" y="250507"/>
                  </a:lnTo>
                  <a:lnTo>
                    <a:pt x="54949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68093" y="3683952"/>
              <a:ext cx="359410" cy="250825"/>
            </a:xfrm>
            <a:custGeom>
              <a:avLst/>
              <a:gdLst/>
              <a:ahLst/>
              <a:cxnLst/>
              <a:rect l="l" t="t" r="r" b="b"/>
              <a:pathLst>
                <a:path w="359410" h="250825">
                  <a:moveTo>
                    <a:pt x="358851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358851" y="250507"/>
                  </a:lnTo>
                  <a:lnTo>
                    <a:pt x="35885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00955" y="3678745"/>
              <a:ext cx="699135" cy="250825"/>
            </a:xfrm>
            <a:custGeom>
              <a:avLst/>
              <a:gdLst/>
              <a:ahLst/>
              <a:cxnLst/>
              <a:rect l="l" t="t" r="r" b="b"/>
              <a:pathLst>
                <a:path w="699135" h="250825">
                  <a:moveTo>
                    <a:pt x="698880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698880" y="250507"/>
                  </a:lnTo>
                  <a:lnTo>
                    <a:pt x="698880" y="0"/>
                  </a:lnTo>
                  <a:close/>
                </a:path>
              </a:pathLst>
            </a:custGeom>
            <a:solidFill>
              <a:srgbClr val="0F24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65603" y="3683952"/>
              <a:ext cx="359410" cy="250825"/>
            </a:xfrm>
            <a:custGeom>
              <a:avLst/>
              <a:gdLst/>
              <a:ahLst/>
              <a:cxnLst/>
              <a:rect l="l" t="t" r="r" b="b"/>
              <a:pathLst>
                <a:path w="359410" h="250825">
                  <a:moveTo>
                    <a:pt x="358851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358851" y="250507"/>
                  </a:lnTo>
                  <a:lnTo>
                    <a:pt x="35885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11450" y="3683952"/>
              <a:ext cx="359410" cy="250825"/>
            </a:xfrm>
            <a:custGeom>
              <a:avLst/>
              <a:gdLst/>
              <a:ahLst/>
              <a:cxnLst/>
              <a:rect l="l" t="t" r="r" b="b"/>
              <a:pathLst>
                <a:path w="359410" h="250825">
                  <a:moveTo>
                    <a:pt x="358851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358851" y="250507"/>
                  </a:lnTo>
                  <a:lnTo>
                    <a:pt x="35885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9086" y="3683952"/>
              <a:ext cx="359410" cy="250825"/>
            </a:xfrm>
            <a:custGeom>
              <a:avLst/>
              <a:gdLst/>
              <a:ahLst/>
              <a:cxnLst/>
              <a:rect l="l" t="t" r="r" b="b"/>
              <a:pathLst>
                <a:path w="359410" h="250825">
                  <a:moveTo>
                    <a:pt x="358851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358851" y="250507"/>
                  </a:lnTo>
                  <a:lnTo>
                    <a:pt x="35885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51250" y="3678745"/>
              <a:ext cx="359410" cy="250825"/>
            </a:xfrm>
            <a:custGeom>
              <a:avLst/>
              <a:gdLst/>
              <a:ahLst/>
              <a:cxnLst/>
              <a:rect l="l" t="t" r="r" b="b"/>
              <a:pathLst>
                <a:path w="359410" h="250825">
                  <a:moveTo>
                    <a:pt x="358851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358851" y="250507"/>
                  </a:lnTo>
                  <a:lnTo>
                    <a:pt x="35885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48886" y="3678745"/>
              <a:ext cx="359410" cy="250825"/>
            </a:xfrm>
            <a:custGeom>
              <a:avLst/>
              <a:gdLst/>
              <a:ahLst/>
              <a:cxnLst/>
              <a:rect l="l" t="t" r="r" b="b"/>
              <a:pathLst>
                <a:path w="359410" h="250825">
                  <a:moveTo>
                    <a:pt x="358851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358851" y="250507"/>
                  </a:lnTo>
                  <a:lnTo>
                    <a:pt x="35885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74699" y="3412617"/>
            <a:ext cx="4368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Agile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91171" y="4434522"/>
            <a:ext cx="4125595" cy="254635"/>
            <a:chOff x="1191171" y="4434522"/>
            <a:chExt cx="4125595" cy="254635"/>
          </a:xfrm>
        </p:grpSpPr>
        <p:sp>
          <p:nvSpPr>
            <p:cNvPr id="26" name="object 26"/>
            <p:cNvSpPr/>
            <p:nvPr/>
          </p:nvSpPr>
          <p:spPr>
            <a:xfrm>
              <a:off x="1191171" y="4435411"/>
              <a:ext cx="549910" cy="250825"/>
            </a:xfrm>
            <a:custGeom>
              <a:avLst/>
              <a:gdLst/>
              <a:ahLst/>
              <a:cxnLst/>
              <a:rect l="l" t="t" r="r" b="b"/>
              <a:pathLst>
                <a:path w="549910" h="250825">
                  <a:moveTo>
                    <a:pt x="549490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549490" y="250507"/>
                  </a:lnTo>
                  <a:lnTo>
                    <a:pt x="54949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72793" y="4435411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31161" y="4435411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81656" y="4435411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70074" y="4434522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5997" y="4437570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66238" y="4435411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13303" y="4434522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FF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63291" y="4438459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11245" y="4434522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60089" y="4438459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15664" y="4437570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FF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66032" y="4437570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00245" y="4434522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FF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150741" y="4434522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707257" y="4438459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57625" y="4438459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96663" y="4435411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47159" y="4435411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95240" y="4438459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FF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45609" y="4438459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92928" y="4438459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43423" y="4438459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92776" y="4438459"/>
              <a:ext cx="123825" cy="250825"/>
            </a:xfrm>
            <a:custGeom>
              <a:avLst/>
              <a:gdLst/>
              <a:ahLst/>
              <a:cxnLst/>
              <a:rect l="l" t="t" r="r" b="b"/>
              <a:pathLst>
                <a:path w="123825" h="250825">
                  <a:moveTo>
                    <a:pt x="123559" y="0"/>
                  </a:moveTo>
                  <a:lnTo>
                    <a:pt x="0" y="0"/>
                  </a:lnTo>
                  <a:lnTo>
                    <a:pt x="0" y="250507"/>
                  </a:lnTo>
                  <a:lnTo>
                    <a:pt x="123559" y="250507"/>
                  </a:lnTo>
                  <a:lnTo>
                    <a:pt x="123559" y="0"/>
                  </a:lnTo>
                  <a:close/>
                </a:path>
              </a:pathLst>
            </a:custGeom>
            <a:solidFill>
              <a:srgbClr val="FF7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74699" y="4173093"/>
            <a:ext cx="17754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Déploiement</a:t>
            </a:r>
            <a:r>
              <a:rPr sz="1400" b="1" spc="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continu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243951" y="4696460"/>
            <a:ext cx="2117725" cy="2014220"/>
          </a:xfrm>
          <a:custGeom>
            <a:avLst/>
            <a:gdLst/>
            <a:ahLst/>
            <a:cxnLst/>
            <a:rect l="l" t="t" r="r" b="b"/>
            <a:pathLst>
              <a:path w="2117725" h="2014220">
                <a:moveTo>
                  <a:pt x="2117471" y="1006856"/>
                </a:moveTo>
                <a:lnTo>
                  <a:pt x="2116315" y="958088"/>
                </a:lnTo>
                <a:lnTo>
                  <a:pt x="2112924" y="909904"/>
                </a:lnTo>
                <a:lnTo>
                  <a:pt x="2107323" y="862380"/>
                </a:lnTo>
                <a:lnTo>
                  <a:pt x="2099564" y="815555"/>
                </a:lnTo>
                <a:lnTo>
                  <a:pt x="2089721" y="769493"/>
                </a:lnTo>
                <a:lnTo>
                  <a:pt x="2077821" y="724230"/>
                </a:lnTo>
                <a:lnTo>
                  <a:pt x="2063927" y="679831"/>
                </a:lnTo>
                <a:lnTo>
                  <a:pt x="2048090" y="636358"/>
                </a:lnTo>
                <a:lnTo>
                  <a:pt x="2030374" y="593839"/>
                </a:lnTo>
                <a:lnTo>
                  <a:pt x="2010803" y="552348"/>
                </a:lnTo>
                <a:lnTo>
                  <a:pt x="1989455" y="511937"/>
                </a:lnTo>
                <a:lnTo>
                  <a:pt x="1966379" y="472643"/>
                </a:lnTo>
                <a:lnTo>
                  <a:pt x="1941614" y="434530"/>
                </a:lnTo>
                <a:lnTo>
                  <a:pt x="1915210" y="397649"/>
                </a:lnTo>
                <a:lnTo>
                  <a:pt x="1887232" y="362064"/>
                </a:lnTo>
                <a:lnTo>
                  <a:pt x="1857743" y="327799"/>
                </a:lnTo>
                <a:lnTo>
                  <a:pt x="1826768" y="294932"/>
                </a:lnTo>
                <a:lnTo>
                  <a:pt x="1794357" y="263512"/>
                </a:lnTo>
                <a:lnTo>
                  <a:pt x="1760588" y="233578"/>
                </a:lnTo>
                <a:lnTo>
                  <a:pt x="1725510" y="205193"/>
                </a:lnTo>
                <a:lnTo>
                  <a:pt x="1689150" y="178422"/>
                </a:lnTo>
                <a:lnTo>
                  <a:pt x="1651584" y="153289"/>
                </a:lnTo>
                <a:lnTo>
                  <a:pt x="1612849" y="129870"/>
                </a:lnTo>
                <a:lnTo>
                  <a:pt x="1573009" y="108216"/>
                </a:lnTo>
                <a:lnTo>
                  <a:pt x="1532115" y="88366"/>
                </a:lnTo>
                <a:lnTo>
                  <a:pt x="1490205" y="70383"/>
                </a:lnTo>
                <a:lnTo>
                  <a:pt x="1447342" y="54317"/>
                </a:lnTo>
                <a:lnTo>
                  <a:pt x="1403578" y="40233"/>
                </a:lnTo>
                <a:lnTo>
                  <a:pt x="1358963" y="28155"/>
                </a:lnTo>
                <a:lnTo>
                  <a:pt x="1313561" y="18161"/>
                </a:lnTo>
                <a:lnTo>
                  <a:pt x="1267396" y="10299"/>
                </a:lnTo>
                <a:lnTo>
                  <a:pt x="1220546" y="4610"/>
                </a:lnTo>
                <a:lnTo>
                  <a:pt x="1173048" y="1168"/>
                </a:lnTo>
                <a:lnTo>
                  <a:pt x="1124966" y="0"/>
                </a:lnTo>
                <a:lnTo>
                  <a:pt x="1076871" y="1168"/>
                </a:lnTo>
                <a:lnTo>
                  <a:pt x="1029373" y="4610"/>
                </a:lnTo>
                <a:lnTo>
                  <a:pt x="982522" y="10299"/>
                </a:lnTo>
                <a:lnTo>
                  <a:pt x="936358" y="18161"/>
                </a:lnTo>
                <a:lnTo>
                  <a:pt x="890955" y="28155"/>
                </a:lnTo>
                <a:lnTo>
                  <a:pt x="846340" y="40233"/>
                </a:lnTo>
                <a:lnTo>
                  <a:pt x="802576" y="54317"/>
                </a:lnTo>
                <a:lnTo>
                  <a:pt x="759714" y="70383"/>
                </a:lnTo>
                <a:lnTo>
                  <a:pt x="717804" y="88366"/>
                </a:lnTo>
                <a:lnTo>
                  <a:pt x="676910" y="108216"/>
                </a:lnTo>
                <a:lnTo>
                  <a:pt x="637070" y="129870"/>
                </a:lnTo>
                <a:lnTo>
                  <a:pt x="598335" y="153289"/>
                </a:lnTo>
                <a:lnTo>
                  <a:pt x="560768" y="178422"/>
                </a:lnTo>
                <a:lnTo>
                  <a:pt x="524408" y="205193"/>
                </a:lnTo>
                <a:lnTo>
                  <a:pt x="489331" y="233578"/>
                </a:lnTo>
                <a:lnTo>
                  <a:pt x="455561" y="263512"/>
                </a:lnTo>
                <a:lnTo>
                  <a:pt x="427558" y="290664"/>
                </a:lnTo>
                <a:lnTo>
                  <a:pt x="0" y="59309"/>
                </a:lnTo>
                <a:lnTo>
                  <a:pt x="234022" y="563130"/>
                </a:lnTo>
                <a:lnTo>
                  <a:pt x="219544" y="593839"/>
                </a:lnTo>
                <a:lnTo>
                  <a:pt x="201828" y="636358"/>
                </a:lnTo>
                <a:lnTo>
                  <a:pt x="185991" y="679831"/>
                </a:lnTo>
                <a:lnTo>
                  <a:pt x="172097" y="724230"/>
                </a:lnTo>
                <a:lnTo>
                  <a:pt x="160197" y="769493"/>
                </a:lnTo>
                <a:lnTo>
                  <a:pt x="150355" y="815555"/>
                </a:lnTo>
                <a:lnTo>
                  <a:pt x="142595" y="862380"/>
                </a:lnTo>
                <a:lnTo>
                  <a:pt x="136994" y="909904"/>
                </a:lnTo>
                <a:lnTo>
                  <a:pt x="133604" y="958088"/>
                </a:lnTo>
                <a:lnTo>
                  <a:pt x="132461" y="1006856"/>
                </a:lnTo>
                <a:lnTo>
                  <a:pt x="133604" y="1055649"/>
                </a:lnTo>
                <a:lnTo>
                  <a:pt x="136994" y="1103833"/>
                </a:lnTo>
                <a:lnTo>
                  <a:pt x="142595" y="1151369"/>
                </a:lnTo>
                <a:lnTo>
                  <a:pt x="150355" y="1198206"/>
                </a:lnTo>
                <a:lnTo>
                  <a:pt x="160197" y="1244282"/>
                </a:lnTo>
                <a:lnTo>
                  <a:pt x="172097" y="1289545"/>
                </a:lnTo>
                <a:lnTo>
                  <a:pt x="185991" y="1333944"/>
                </a:lnTo>
                <a:lnTo>
                  <a:pt x="201828" y="1377416"/>
                </a:lnTo>
                <a:lnTo>
                  <a:pt x="219544" y="1419936"/>
                </a:lnTo>
                <a:lnTo>
                  <a:pt x="239115" y="1461427"/>
                </a:lnTo>
                <a:lnTo>
                  <a:pt x="260464" y="1501838"/>
                </a:lnTo>
                <a:lnTo>
                  <a:pt x="283540" y="1541132"/>
                </a:lnTo>
                <a:lnTo>
                  <a:pt x="308305" y="1579245"/>
                </a:lnTo>
                <a:lnTo>
                  <a:pt x="334708" y="1616125"/>
                </a:lnTo>
                <a:lnTo>
                  <a:pt x="362686" y="1651723"/>
                </a:lnTo>
                <a:lnTo>
                  <a:pt x="392176" y="1685975"/>
                </a:lnTo>
                <a:lnTo>
                  <a:pt x="423151" y="1718843"/>
                </a:lnTo>
                <a:lnTo>
                  <a:pt x="455561" y="1750263"/>
                </a:lnTo>
                <a:lnTo>
                  <a:pt x="489331" y="1780184"/>
                </a:lnTo>
                <a:lnTo>
                  <a:pt x="524408" y="1808568"/>
                </a:lnTo>
                <a:lnTo>
                  <a:pt x="560768" y="1835340"/>
                </a:lnTo>
                <a:lnTo>
                  <a:pt x="598335" y="1860461"/>
                </a:lnTo>
                <a:lnTo>
                  <a:pt x="637070" y="1883879"/>
                </a:lnTo>
                <a:lnTo>
                  <a:pt x="676910" y="1905533"/>
                </a:lnTo>
                <a:lnTo>
                  <a:pt x="717804" y="1925383"/>
                </a:lnTo>
                <a:lnTo>
                  <a:pt x="759714" y="1943354"/>
                </a:lnTo>
                <a:lnTo>
                  <a:pt x="802576" y="1959419"/>
                </a:lnTo>
                <a:lnTo>
                  <a:pt x="846340" y="1973503"/>
                </a:lnTo>
                <a:lnTo>
                  <a:pt x="890955" y="1985568"/>
                </a:lnTo>
                <a:lnTo>
                  <a:pt x="936358" y="1995563"/>
                </a:lnTo>
                <a:lnTo>
                  <a:pt x="982522" y="2003425"/>
                </a:lnTo>
                <a:lnTo>
                  <a:pt x="1029373" y="2009114"/>
                </a:lnTo>
                <a:lnTo>
                  <a:pt x="1076871" y="2012556"/>
                </a:lnTo>
                <a:lnTo>
                  <a:pt x="1124966" y="2013712"/>
                </a:lnTo>
                <a:lnTo>
                  <a:pt x="1173048" y="2012556"/>
                </a:lnTo>
                <a:lnTo>
                  <a:pt x="1220546" y="2009114"/>
                </a:lnTo>
                <a:lnTo>
                  <a:pt x="1267396" y="2003425"/>
                </a:lnTo>
                <a:lnTo>
                  <a:pt x="1313561" y="1995563"/>
                </a:lnTo>
                <a:lnTo>
                  <a:pt x="1358963" y="1985568"/>
                </a:lnTo>
                <a:lnTo>
                  <a:pt x="1403578" y="1973503"/>
                </a:lnTo>
                <a:lnTo>
                  <a:pt x="1447342" y="1959419"/>
                </a:lnTo>
                <a:lnTo>
                  <a:pt x="1490205" y="1943354"/>
                </a:lnTo>
                <a:lnTo>
                  <a:pt x="1532115" y="1925383"/>
                </a:lnTo>
                <a:lnTo>
                  <a:pt x="1573009" y="1905533"/>
                </a:lnTo>
                <a:lnTo>
                  <a:pt x="1612849" y="1883879"/>
                </a:lnTo>
                <a:lnTo>
                  <a:pt x="1651584" y="1860461"/>
                </a:lnTo>
                <a:lnTo>
                  <a:pt x="1689150" y="1835340"/>
                </a:lnTo>
                <a:lnTo>
                  <a:pt x="1725510" y="1808568"/>
                </a:lnTo>
                <a:lnTo>
                  <a:pt x="1760588" y="1780184"/>
                </a:lnTo>
                <a:lnTo>
                  <a:pt x="1794357" y="1750263"/>
                </a:lnTo>
                <a:lnTo>
                  <a:pt x="1826768" y="1718843"/>
                </a:lnTo>
                <a:lnTo>
                  <a:pt x="1857743" y="1685975"/>
                </a:lnTo>
                <a:lnTo>
                  <a:pt x="1887232" y="1651723"/>
                </a:lnTo>
                <a:lnTo>
                  <a:pt x="1915210" y="1616125"/>
                </a:lnTo>
                <a:lnTo>
                  <a:pt x="1941614" y="1579245"/>
                </a:lnTo>
                <a:lnTo>
                  <a:pt x="1966379" y="1541132"/>
                </a:lnTo>
                <a:lnTo>
                  <a:pt x="1989455" y="1501838"/>
                </a:lnTo>
                <a:lnTo>
                  <a:pt x="2010803" y="1461427"/>
                </a:lnTo>
                <a:lnTo>
                  <a:pt x="2030374" y="1419936"/>
                </a:lnTo>
                <a:lnTo>
                  <a:pt x="2048090" y="1377416"/>
                </a:lnTo>
                <a:lnTo>
                  <a:pt x="2063927" y="1333944"/>
                </a:lnTo>
                <a:lnTo>
                  <a:pt x="2077821" y="1289545"/>
                </a:lnTo>
                <a:lnTo>
                  <a:pt x="2089721" y="1244282"/>
                </a:lnTo>
                <a:lnTo>
                  <a:pt x="2099564" y="1198206"/>
                </a:lnTo>
                <a:lnTo>
                  <a:pt x="2107323" y="1151369"/>
                </a:lnTo>
                <a:lnTo>
                  <a:pt x="2112924" y="1103833"/>
                </a:lnTo>
                <a:lnTo>
                  <a:pt x="2116315" y="1055649"/>
                </a:lnTo>
                <a:lnTo>
                  <a:pt x="2117471" y="1006856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8465946" y="5262118"/>
            <a:ext cx="1809750" cy="1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99800"/>
              </a:lnSpc>
              <a:spcBef>
                <a:spcPts val="105"/>
              </a:spcBef>
            </a:pPr>
            <a:r>
              <a:rPr sz="1750" dirty="0">
                <a:latin typeface="Arial MT"/>
                <a:cs typeface="Arial MT"/>
              </a:rPr>
              <a:t>La</a:t>
            </a:r>
            <a:r>
              <a:rPr sz="1750" spc="-70" dirty="0">
                <a:latin typeface="Arial MT"/>
                <a:cs typeface="Arial MT"/>
              </a:rPr>
              <a:t> </a:t>
            </a:r>
            <a:r>
              <a:rPr sz="1750" b="1" dirty="0">
                <a:latin typeface="Arial"/>
                <a:cs typeface="Arial"/>
              </a:rPr>
              <a:t>valeur</a:t>
            </a:r>
            <a:r>
              <a:rPr sz="1750" b="1" spc="-75" dirty="0">
                <a:latin typeface="Arial"/>
                <a:cs typeface="Arial"/>
              </a:rPr>
              <a:t> </a:t>
            </a:r>
            <a:r>
              <a:rPr sz="1750" spc="-10" dirty="0">
                <a:latin typeface="Arial MT"/>
                <a:cs typeface="Arial MT"/>
              </a:rPr>
              <a:t>n'existe </a:t>
            </a:r>
            <a:r>
              <a:rPr sz="1750" dirty="0">
                <a:latin typeface="Arial MT"/>
                <a:cs typeface="Arial MT"/>
              </a:rPr>
              <a:t>que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si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elle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est </a:t>
            </a:r>
            <a:r>
              <a:rPr sz="1750" dirty="0">
                <a:latin typeface="Arial MT"/>
                <a:cs typeface="Arial MT"/>
              </a:rPr>
              <a:t>disponible</a:t>
            </a:r>
            <a:r>
              <a:rPr sz="1750" spc="114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en </a:t>
            </a:r>
            <a:r>
              <a:rPr sz="1750" dirty="0">
                <a:latin typeface="Arial MT"/>
                <a:cs typeface="Arial MT"/>
              </a:rPr>
              <a:t>production</a:t>
            </a:r>
            <a:r>
              <a:rPr sz="1750" spc="245" dirty="0">
                <a:latin typeface="Arial MT"/>
                <a:cs typeface="Arial MT"/>
              </a:rPr>
              <a:t> </a:t>
            </a:r>
            <a:r>
              <a:rPr sz="2100" spc="-50" dirty="0">
                <a:latin typeface="Arial MT"/>
                <a:cs typeface="Arial MT"/>
              </a:rPr>
              <a:t>!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224278" y="3683190"/>
            <a:ext cx="2331085" cy="1005205"/>
          </a:xfrm>
          <a:custGeom>
            <a:avLst/>
            <a:gdLst/>
            <a:ahLst/>
            <a:cxnLst/>
            <a:rect l="l" t="t" r="r" b="b"/>
            <a:pathLst>
              <a:path w="2331085" h="1005204">
                <a:moveTo>
                  <a:pt x="123558" y="754507"/>
                </a:moveTo>
                <a:lnTo>
                  <a:pt x="0" y="754507"/>
                </a:lnTo>
                <a:lnTo>
                  <a:pt x="0" y="1005014"/>
                </a:lnTo>
                <a:lnTo>
                  <a:pt x="123558" y="1005014"/>
                </a:lnTo>
                <a:lnTo>
                  <a:pt x="123558" y="754507"/>
                </a:lnTo>
                <a:close/>
              </a:path>
              <a:path w="2331085" h="1005204">
                <a:moveTo>
                  <a:pt x="450202" y="762"/>
                </a:moveTo>
                <a:lnTo>
                  <a:pt x="326644" y="762"/>
                </a:lnTo>
                <a:lnTo>
                  <a:pt x="326644" y="251269"/>
                </a:lnTo>
                <a:lnTo>
                  <a:pt x="450202" y="251269"/>
                </a:lnTo>
                <a:lnTo>
                  <a:pt x="450202" y="762"/>
                </a:lnTo>
                <a:close/>
              </a:path>
              <a:path w="2331085" h="1005204">
                <a:moveTo>
                  <a:pt x="1390383" y="0"/>
                </a:moveTo>
                <a:lnTo>
                  <a:pt x="1266825" y="0"/>
                </a:lnTo>
                <a:lnTo>
                  <a:pt x="1266825" y="250507"/>
                </a:lnTo>
                <a:lnTo>
                  <a:pt x="1390383" y="250507"/>
                </a:lnTo>
                <a:lnTo>
                  <a:pt x="1390383" y="0"/>
                </a:lnTo>
                <a:close/>
              </a:path>
              <a:path w="2331085" h="1005204">
                <a:moveTo>
                  <a:pt x="2331072" y="0"/>
                </a:moveTo>
                <a:lnTo>
                  <a:pt x="2207514" y="0"/>
                </a:lnTo>
                <a:lnTo>
                  <a:pt x="2207514" y="250507"/>
                </a:lnTo>
                <a:lnTo>
                  <a:pt x="2331072" y="250507"/>
                </a:lnTo>
                <a:lnTo>
                  <a:pt x="2331072" y="0"/>
                </a:lnTo>
                <a:close/>
              </a:path>
            </a:pathLst>
          </a:custGeom>
          <a:solidFill>
            <a:srgbClr val="FF7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164318" y="7179971"/>
            <a:ext cx="1752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22503" y="760552"/>
            <a:ext cx="4204970" cy="5090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6405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Les</a:t>
            </a:r>
            <a:r>
              <a:rPr sz="2000" spc="254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objectifs</a:t>
            </a:r>
            <a:r>
              <a:rPr sz="2000" spc="1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18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2000">
              <a:latin typeface="Calibri"/>
              <a:cs typeface="Calibri"/>
            </a:endParaRPr>
          </a:p>
          <a:p>
            <a:pPr marL="386080" marR="245110" indent="-373380">
              <a:lnSpc>
                <a:spcPct val="100000"/>
              </a:lnSpc>
              <a:buClr>
                <a:srgbClr val="127079"/>
              </a:buClr>
              <a:buFont typeface="Arial MT"/>
              <a:buChar char="●"/>
              <a:tabLst>
                <a:tab pos="386080" algn="l"/>
              </a:tabLst>
            </a:pPr>
            <a:r>
              <a:rPr sz="2300" spc="10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3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5" dirty="0">
                <a:solidFill>
                  <a:srgbClr val="252D37"/>
                </a:solidFill>
                <a:latin typeface="Calibri"/>
                <a:cs typeface="Calibri"/>
              </a:rPr>
              <a:t>versions</a:t>
            </a:r>
            <a:r>
              <a:rPr sz="2300" spc="2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3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petites</a:t>
            </a:r>
            <a:r>
              <a:rPr sz="23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et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fréquentes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05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75" dirty="0">
                <a:solidFill>
                  <a:srgbClr val="252D37"/>
                </a:solidFill>
                <a:latin typeface="Calibri"/>
                <a:cs typeface="Calibri"/>
              </a:rPr>
              <a:t>Réduction</a:t>
            </a:r>
            <a:r>
              <a:rPr sz="2300" spc="3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9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3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efforts</a:t>
            </a:r>
            <a:r>
              <a:rPr sz="2300" spc="2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endParaRPr sz="2300">
              <a:latin typeface="Calibri"/>
              <a:cs typeface="Calibri"/>
            </a:endParaRPr>
          </a:p>
          <a:p>
            <a:pPr marL="386080">
              <a:lnSpc>
                <a:spcPct val="100000"/>
              </a:lnSpc>
              <a:spcBef>
                <a:spcPts val="40"/>
              </a:spcBef>
            </a:pP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risques</a:t>
            </a:r>
            <a:endParaRPr sz="2300">
              <a:latin typeface="Calibri"/>
              <a:cs typeface="Calibri"/>
            </a:endParaRPr>
          </a:p>
          <a:p>
            <a:pPr marL="386080" marR="781685" indent="-373380">
              <a:lnSpc>
                <a:spcPct val="101299"/>
              </a:lnSpc>
              <a:spcBef>
                <a:spcPts val="1010"/>
              </a:spcBef>
              <a:buClr>
                <a:srgbClr val="127079"/>
              </a:buClr>
              <a:buFont typeface="Arial MT"/>
              <a:buChar char="●"/>
              <a:tabLst>
                <a:tab pos="386080" algn="l"/>
              </a:tabLst>
            </a:pPr>
            <a:r>
              <a:rPr sz="2300" spc="75" dirty="0">
                <a:solidFill>
                  <a:srgbClr val="252D37"/>
                </a:solidFill>
                <a:latin typeface="Calibri"/>
                <a:cs typeface="Calibri"/>
              </a:rPr>
              <a:t>Réduction</a:t>
            </a:r>
            <a:r>
              <a:rPr sz="2300" spc="2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300" spc="2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60" dirty="0">
                <a:solidFill>
                  <a:srgbClr val="252D37"/>
                </a:solidFill>
                <a:latin typeface="Calibri"/>
                <a:cs typeface="Calibri"/>
              </a:rPr>
              <a:t>coût</a:t>
            </a:r>
            <a:r>
              <a:rPr sz="23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des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itérations</a:t>
            </a:r>
            <a:r>
              <a:rPr sz="23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2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9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3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retards</a:t>
            </a:r>
            <a:endParaRPr sz="2300">
              <a:latin typeface="Calibri"/>
              <a:cs typeface="Calibri"/>
            </a:endParaRPr>
          </a:p>
          <a:p>
            <a:pPr marL="386080" marR="1097280" indent="-373380">
              <a:lnSpc>
                <a:spcPct val="100000"/>
              </a:lnSpc>
              <a:spcBef>
                <a:spcPts val="994"/>
              </a:spcBef>
              <a:buClr>
                <a:srgbClr val="127079"/>
              </a:buClr>
              <a:buFont typeface="Arial MT"/>
              <a:buChar char="●"/>
              <a:tabLst>
                <a:tab pos="386080" algn="l"/>
              </a:tabLst>
            </a:pPr>
            <a:r>
              <a:rPr sz="2300" spc="5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300" spc="3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culture</a:t>
            </a:r>
            <a:r>
              <a:rPr sz="2300" spc="2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de </a:t>
            </a: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communication</a:t>
            </a:r>
            <a:r>
              <a:rPr sz="23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de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collaboration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1000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95" dirty="0">
                <a:solidFill>
                  <a:srgbClr val="252D37"/>
                </a:solidFill>
                <a:latin typeface="Calibri"/>
                <a:cs typeface="Calibri"/>
              </a:rPr>
              <a:t>Cohérence</a:t>
            </a:r>
            <a:r>
              <a:rPr sz="23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rapidité</a:t>
            </a:r>
            <a:r>
              <a:rPr sz="23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80" dirty="0">
                <a:solidFill>
                  <a:srgbClr val="252D37"/>
                </a:solidFill>
                <a:latin typeface="Calibri"/>
                <a:cs typeface="Calibri"/>
              </a:rPr>
              <a:t>grâce</a:t>
            </a:r>
            <a:r>
              <a:rPr sz="2300" spc="3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endParaRPr sz="2300">
              <a:latin typeface="Calibri"/>
              <a:cs typeface="Calibri"/>
            </a:endParaRPr>
          </a:p>
          <a:p>
            <a:pPr marL="386080">
              <a:lnSpc>
                <a:spcPct val="100000"/>
              </a:lnSpc>
            </a:pP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l'automatisation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17971" y="1441386"/>
            <a:ext cx="4669155" cy="5300980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1968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55"/>
              </a:spcBef>
            </a:pP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Gains</a:t>
            </a:r>
            <a:r>
              <a:rPr sz="22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dans</a:t>
            </a:r>
            <a:r>
              <a:rPr sz="22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  <a:spcBef>
                <a:spcPts val="985"/>
              </a:spcBef>
              <a:tabLst>
                <a:tab pos="970280" algn="l"/>
              </a:tabLst>
            </a:pPr>
            <a:r>
              <a:rPr sz="22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	Time</a:t>
            </a:r>
            <a:r>
              <a:rPr sz="2200" spc="-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to</a:t>
            </a:r>
            <a:r>
              <a:rPr sz="2200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D37"/>
                </a:solidFill>
                <a:latin typeface="Calibri"/>
                <a:cs typeface="Calibri"/>
              </a:rPr>
              <a:t>market/value</a:t>
            </a:r>
            <a:endParaRPr sz="2200">
              <a:latin typeface="Calibri"/>
              <a:cs typeface="Calibri"/>
            </a:endParaRPr>
          </a:p>
          <a:p>
            <a:pPr marL="970280" marR="817880" indent="-388620">
              <a:lnSpc>
                <a:spcPct val="100899"/>
              </a:lnSpc>
              <a:spcBef>
                <a:spcPts val="910"/>
              </a:spcBef>
              <a:tabLst>
                <a:tab pos="970280" algn="l"/>
              </a:tabLst>
            </a:pPr>
            <a:r>
              <a:rPr sz="22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200" spc="-20" dirty="0">
                <a:solidFill>
                  <a:srgbClr val="252D37"/>
                </a:solidFill>
                <a:latin typeface="Calibri"/>
                <a:cs typeface="Calibri"/>
              </a:rPr>
              <a:t>Intégration</a:t>
            </a:r>
            <a:r>
              <a:rPr sz="22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aux</a:t>
            </a:r>
            <a:r>
              <a:rPr sz="22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D37"/>
                </a:solidFill>
                <a:latin typeface="Calibri"/>
                <a:cs typeface="Calibri"/>
              </a:rPr>
              <a:t>processus business</a:t>
            </a:r>
            <a:endParaRPr sz="22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  <a:spcBef>
                <a:spcPts val="1095"/>
              </a:spcBef>
              <a:tabLst>
                <a:tab pos="970280" algn="l"/>
              </a:tabLst>
            </a:pPr>
            <a:r>
              <a:rPr sz="22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252D37"/>
                </a:solidFill>
                <a:latin typeface="Calibri"/>
                <a:cs typeface="Calibri"/>
              </a:rPr>
              <a:t>Réactivité</a:t>
            </a:r>
            <a:endParaRPr sz="2200">
              <a:latin typeface="Calibri"/>
              <a:cs typeface="Calibri"/>
            </a:endParaRPr>
          </a:p>
          <a:p>
            <a:pPr marL="970280" marR="1270000" indent="-388620">
              <a:lnSpc>
                <a:spcPct val="100899"/>
              </a:lnSpc>
              <a:spcBef>
                <a:spcPts val="915"/>
              </a:spcBef>
              <a:tabLst>
                <a:tab pos="970280" algn="l"/>
              </a:tabLst>
            </a:pPr>
            <a:r>
              <a:rPr sz="22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	Qualité</a:t>
            </a:r>
            <a:r>
              <a:rPr sz="2200" spc="-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200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code</a:t>
            </a:r>
            <a:r>
              <a:rPr sz="2200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2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52D37"/>
                </a:solidFill>
                <a:latin typeface="Calibri"/>
                <a:cs typeface="Calibri"/>
              </a:rPr>
              <a:t>du </a:t>
            </a:r>
            <a:r>
              <a:rPr sz="2200" spc="-10" dirty="0">
                <a:solidFill>
                  <a:srgbClr val="252D37"/>
                </a:solidFill>
                <a:latin typeface="Calibri"/>
                <a:cs typeface="Calibri"/>
              </a:rPr>
              <a:t>déploiement</a:t>
            </a:r>
            <a:endParaRPr sz="22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  <a:spcBef>
                <a:spcPts val="1090"/>
              </a:spcBef>
              <a:tabLst>
                <a:tab pos="970280" algn="l"/>
              </a:tabLst>
            </a:pPr>
            <a:r>
              <a:rPr sz="22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252D37"/>
                </a:solidFill>
                <a:latin typeface="Calibri"/>
                <a:cs typeface="Calibri"/>
              </a:rPr>
              <a:t>Productivité</a:t>
            </a:r>
            <a:endParaRPr sz="22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  <a:spcBef>
                <a:spcPts val="1000"/>
              </a:spcBef>
              <a:tabLst>
                <a:tab pos="970280" algn="l"/>
              </a:tabLst>
            </a:pPr>
            <a:r>
              <a:rPr sz="22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252D37"/>
                </a:solidFill>
                <a:latin typeface="Calibri"/>
                <a:cs typeface="Calibri"/>
              </a:rPr>
              <a:t>Visibilité</a:t>
            </a:r>
            <a:endParaRPr sz="2200">
              <a:latin typeface="Calibri"/>
              <a:cs typeface="Calibri"/>
            </a:endParaRPr>
          </a:p>
          <a:p>
            <a:pPr marL="581660">
              <a:lnSpc>
                <a:spcPct val="100000"/>
              </a:lnSpc>
              <a:spcBef>
                <a:spcPts val="994"/>
              </a:spcBef>
              <a:tabLst>
                <a:tab pos="970280" algn="l"/>
              </a:tabLst>
            </a:pPr>
            <a:r>
              <a:rPr sz="22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2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252D37"/>
                </a:solidFill>
                <a:latin typeface="Calibri"/>
                <a:cs typeface="Calibri"/>
              </a:rPr>
              <a:t>Agilité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6843" y="756361"/>
            <a:ext cx="20351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Les</a:t>
            </a:r>
            <a:r>
              <a:rPr sz="2000" spc="2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piliers</a:t>
            </a:r>
            <a:r>
              <a:rPr sz="2000" spc="1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330" y="1308024"/>
            <a:ext cx="9629521" cy="577621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5627" y="4174744"/>
            <a:ext cx="1693672" cy="18557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736" y="1666367"/>
            <a:ext cx="1766570" cy="17665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9617" y="760552"/>
            <a:ext cx="9196070" cy="5506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Parties</a:t>
            </a:r>
            <a:r>
              <a:rPr sz="2000" spc="21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prenantes</a:t>
            </a:r>
            <a:r>
              <a:rPr sz="2000" spc="19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000">
              <a:latin typeface="Calibri"/>
              <a:cs typeface="Calibri"/>
            </a:endParaRPr>
          </a:p>
          <a:p>
            <a:pPr marL="2091689" marR="536575" indent="-370840">
              <a:lnSpc>
                <a:spcPts val="2460"/>
              </a:lnSpc>
              <a:buClr>
                <a:srgbClr val="127079"/>
              </a:buClr>
              <a:buSzPct val="86956"/>
              <a:buFont typeface="Arial MT"/>
              <a:buChar char="●"/>
              <a:tabLst>
                <a:tab pos="2091689" algn="l"/>
              </a:tabLst>
            </a:pPr>
            <a:r>
              <a:rPr sz="2300" spc="80" dirty="0">
                <a:solidFill>
                  <a:srgbClr val="252D37"/>
                </a:solidFill>
                <a:latin typeface="Calibri"/>
                <a:cs typeface="Calibri"/>
              </a:rPr>
              <a:t>Dev</a:t>
            </a:r>
            <a:r>
              <a:rPr sz="23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inclut</a:t>
            </a:r>
            <a:r>
              <a:rPr sz="23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toutes</a:t>
            </a:r>
            <a:r>
              <a:rPr sz="2300" spc="2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3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85" dirty="0">
                <a:solidFill>
                  <a:srgbClr val="252D37"/>
                </a:solidFill>
                <a:latin typeface="Calibri"/>
                <a:cs typeface="Calibri"/>
              </a:rPr>
              <a:t>personnes</a:t>
            </a:r>
            <a:r>
              <a:rPr sz="2300" spc="3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impliquées</a:t>
            </a:r>
            <a:r>
              <a:rPr sz="23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95" dirty="0">
                <a:solidFill>
                  <a:srgbClr val="252D37"/>
                </a:solidFill>
                <a:latin typeface="Calibri"/>
                <a:cs typeface="Calibri"/>
              </a:rPr>
              <a:t>dans</a:t>
            </a:r>
            <a:r>
              <a:rPr sz="2300" spc="3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le </a:t>
            </a: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développement</a:t>
            </a:r>
            <a:r>
              <a:rPr sz="2300" spc="3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3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produits</a:t>
            </a:r>
            <a:r>
              <a:rPr sz="23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95" dirty="0">
                <a:solidFill>
                  <a:srgbClr val="252D37"/>
                </a:solidFill>
                <a:latin typeface="Calibri"/>
                <a:cs typeface="Calibri"/>
              </a:rPr>
              <a:t>services</a:t>
            </a:r>
            <a:r>
              <a:rPr sz="2300" spc="3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logiciels,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notamment</a:t>
            </a:r>
            <a:r>
              <a:rPr sz="2300" spc="5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2612390" marR="5080" indent="-376555">
              <a:lnSpc>
                <a:spcPts val="2270"/>
              </a:lnSpc>
              <a:spcBef>
                <a:spcPts val="2015"/>
              </a:spcBef>
              <a:tabLst>
                <a:tab pos="2612390" algn="l"/>
                <a:tab pos="4140200" algn="l"/>
              </a:tabLst>
            </a:pP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Architectes,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représentants</a:t>
            </a:r>
            <a:r>
              <a:rPr sz="21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métiers,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clients,</a:t>
            </a:r>
            <a:r>
              <a:rPr sz="21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chefs</a:t>
            </a:r>
            <a:r>
              <a:rPr sz="2100" spc="3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de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produits,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chefs</a:t>
            </a:r>
            <a:r>
              <a:rPr sz="2100" spc="3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3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projets,</a:t>
            </a:r>
            <a:r>
              <a:rPr sz="21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responsables</a:t>
            </a:r>
            <a:r>
              <a:rPr sz="2100" spc="2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qualité,</a:t>
            </a:r>
            <a:r>
              <a:rPr sz="2100" spc="2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analystes, fournisseurs,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spc="-20" dirty="0">
                <a:solidFill>
                  <a:srgbClr val="252D37"/>
                </a:solidFill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Calibri"/>
              <a:cs typeface="Calibri"/>
            </a:endParaRPr>
          </a:p>
          <a:p>
            <a:pPr marL="381000" marR="1716405" indent="-368935">
              <a:lnSpc>
                <a:spcPts val="2460"/>
              </a:lnSpc>
              <a:buClr>
                <a:srgbClr val="127079"/>
              </a:buClr>
              <a:buSzPct val="86956"/>
              <a:buFont typeface="Arial MT"/>
              <a:buChar char="●"/>
              <a:tabLst>
                <a:tab pos="381000" algn="l"/>
              </a:tabLst>
            </a:pPr>
            <a:r>
              <a:rPr sz="2300" spc="120" dirty="0">
                <a:solidFill>
                  <a:srgbClr val="252D37"/>
                </a:solidFill>
                <a:latin typeface="Calibri"/>
                <a:cs typeface="Calibri"/>
              </a:rPr>
              <a:t>Ops</a:t>
            </a:r>
            <a:r>
              <a:rPr sz="2300" spc="3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inclut</a:t>
            </a:r>
            <a:r>
              <a:rPr sz="23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toutes</a:t>
            </a:r>
            <a:r>
              <a:rPr sz="23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3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85" dirty="0">
                <a:solidFill>
                  <a:srgbClr val="252D37"/>
                </a:solidFill>
                <a:latin typeface="Calibri"/>
                <a:cs typeface="Calibri"/>
              </a:rPr>
              <a:t>personnes</a:t>
            </a:r>
            <a:r>
              <a:rPr sz="2300" spc="2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60" dirty="0">
                <a:solidFill>
                  <a:srgbClr val="252D37"/>
                </a:solidFill>
                <a:latin typeface="Calibri"/>
                <a:cs typeface="Calibri"/>
              </a:rPr>
              <a:t>impliquées</a:t>
            </a:r>
            <a:r>
              <a:rPr sz="23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95" dirty="0">
                <a:solidFill>
                  <a:srgbClr val="252D37"/>
                </a:solidFill>
                <a:latin typeface="Calibri"/>
                <a:cs typeface="Calibri"/>
              </a:rPr>
              <a:t>dans</a:t>
            </a:r>
            <a:r>
              <a:rPr sz="2300" spc="3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la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fourniture</a:t>
            </a:r>
            <a:r>
              <a:rPr sz="23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3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60" dirty="0">
                <a:solidFill>
                  <a:srgbClr val="252D37"/>
                </a:solidFill>
                <a:latin typeface="Calibri"/>
                <a:cs typeface="Calibri"/>
              </a:rPr>
              <a:t>gestion</a:t>
            </a:r>
            <a:r>
              <a:rPr sz="23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produits</a:t>
            </a:r>
            <a:r>
              <a:rPr sz="2300" spc="3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95" dirty="0">
                <a:solidFill>
                  <a:srgbClr val="252D37"/>
                </a:solidFill>
                <a:latin typeface="Calibri"/>
                <a:cs typeface="Calibri"/>
              </a:rPr>
              <a:t>services</a:t>
            </a:r>
            <a:r>
              <a:rPr sz="2300" spc="2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logiciels,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notamment</a:t>
            </a:r>
            <a:r>
              <a:rPr sz="2300" spc="5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904240" marR="1454150" indent="-387985">
              <a:lnSpc>
                <a:spcPct val="92100"/>
              </a:lnSpc>
              <a:spcBef>
                <a:spcPts val="1975"/>
              </a:spcBef>
              <a:tabLst>
                <a:tab pos="904240" algn="l"/>
                <a:tab pos="3822700" algn="l"/>
                <a:tab pos="5348605" algn="l"/>
              </a:tabLst>
            </a:pP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	Professionnels</a:t>
            </a:r>
            <a:r>
              <a:rPr sz="2100" spc="3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sécurité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l'information,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ingénieurs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système,</a:t>
            </a:r>
            <a:r>
              <a:rPr sz="2100" spc="5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administrateurs</a:t>
            </a:r>
            <a:r>
              <a:rPr sz="2100" spc="3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système,</a:t>
            </a:r>
            <a:r>
              <a:rPr sz="2100" spc="5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ingénieurs</a:t>
            </a:r>
            <a:r>
              <a:rPr sz="2100" spc="3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d'exploitation,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administrateurs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base</a:t>
            </a:r>
            <a:r>
              <a:rPr sz="21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50" dirty="0">
                <a:solidFill>
                  <a:srgbClr val="252D37"/>
                </a:solidFill>
                <a:latin typeface="Calibri"/>
                <a:cs typeface="Calibri"/>
              </a:rPr>
              <a:t>données,</a:t>
            </a:r>
            <a:r>
              <a:rPr sz="2100" spc="3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ingénieurs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réseau,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professionnels</a:t>
            </a:r>
            <a:r>
              <a:rPr sz="2100" spc="3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supports,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fournisseurs,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spc="-20" dirty="0">
                <a:solidFill>
                  <a:srgbClr val="252D37"/>
                </a:solidFill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22350" y="6380645"/>
            <a:ext cx="8844280" cy="447040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10795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85"/>
              </a:spcBef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DevOps</a:t>
            </a:r>
            <a:r>
              <a:rPr sz="2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s'étend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au-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delà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développeurs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logiciels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l’exploitation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6211"/>
            <a:ext cx="10674730" cy="603910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140" dirty="0"/>
              <a:t> </a:t>
            </a:r>
            <a:r>
              <a:rPr spc="120" dirty="0"/>
              <a:t>DevOps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61157" y="2489454"/>
            <a:ext cx="7014845" cy="1041311"/>
          </a:xfrm>
          <a:prstGeom prst="rect">
            <a:avLst/>
          </a:prstGeom>
          <a:solidFill>
            <a:srgbClr val="DAEDF3">
              <a:alpha val="89802"/>
            </a:srgbClr>
          </a:solidFill>
        </p:spPr>
        <p:txBody>
          <a:bodyPr vert="horz" wrap="square" lIns="0" tIns="40640" rIns="0" bIns="0" rtlCol="0">
            <a:spAutoFit/>
          </a:bodyPr>
          <a:lstStyle/>
          <a:p>
            <a:pPr marL="514350" marR="497205" indent="-3175" algn="ctr">
              <a:lnSpc>
                <a:spcPts val="2600"/>
              </a:lnSpc>
              <a:spcBef>
                <a:spcPts val="320"/>
              </a:spcBef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«</a:t>
            </a:r>
            <a:r>
              <a:rPr sz="22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Vous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ne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changerez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rien</a:t>
            </a:r>
            <a:r>
              <a:rPr sz="22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2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luttant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contre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réalité.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Pour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changer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quelque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chose,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construisez</a:t>
            </a:r>
            <a:r>
              <a:rPr sz="2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2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nouveau modèle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qui</a:t>
            </a:r>
            <a:r>
              <a:rPr sz="22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rend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le</a:t>
            </a:r>
            <a:r>
              <a:rPr sz="22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modèle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existant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obsolète.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»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5873" y="2226310"/>
            <a:ext cx="4677410" cy="484822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30480" rIns="0" bIns="0" rtlCol="0">
            <a:spAutoFit/>
          </a:bodyPr>
          <a:lstStyle/>
          <a:p>
            <a:pPr marL="159385" marR="145415" indent="635" algn="ctr">
              <a:lnSpc>
                <a:spcPct val="98500"/>
              </a:lnSpc>
              <a:spcBef>
                <a:spcPts val="240"/>
              </a:spcBef>
            </a:pPr>
            <a:r>
              <a:rPr sz="2200" dirty="0">
                <a:latin typeface="Calibri"/>
                <a:cs typeface="Calibri"/>
              </a:rPr>
              <a:t>«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rapport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Accelerate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DevOps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représente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six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années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recherche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données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provenant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plus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31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000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professionnels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du </a:t>
            </a:r>
            <a:r>
              <a:rPr sz="2200" dirty="0">
                <a:latin typeface="Calibri"/>
                <a:cs typeface="Calibri"/>
              </a:rPr>
              <a:t>monde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entier.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s’agit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recherche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plus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vaste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plus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ancienne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ce </a:t>
            </a:r>
            <a:r>
              <a:rPr sz="2200" dirty="0">
                <a:latin typeface="Calibri"/>
                <a:cs typeface="Calibri"/>
              </a:rPr>
              <a:t>type,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offre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point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vue </a:t>
            </a:r>
            <a:r>
              <a:rPr sz="2200" dirty="0">
                <a:latin typeface="Calibri"/>
                <a:cs typeface="Calibri"/>
              </a:rPr>
              <a:t>indépendant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sur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pratiques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les </a:t>
            </a:r>
            <a:r>
              <a:rPr sz="2200" dirty="0">
                <a:latin typeface="Calibri"/>
                <a:cs typeface="Calibri"/>
              </a:rPr>
              <a:t>capacités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favorisent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hautes performances.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résultats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nous </a:t>
            </a:r>
            <a:r>
              <a:rPr sz="2200" spc="-10" dirty="0">
                <a:latin typeface="Calibri"/>
                <a:cs typeface="Calibri"/>
              </a:rPr>
              <a:t>permettent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comprendre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les </a:t>
            </a:r>
            <a:r>
              <a:rPr sz="2200" dirty="0">
                <a:latin typeface="Calibri"/>
                <a:cs typeface="Calibri"/>
              </a:rPr>
              <a:t>pratiques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conduisent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l'excellence </a:t>
            </a:r>
            <a:r>
              <a:rPr sz="2200" dirty="0">
                <a:latin typeface="Calibri"/>
                <a:cs typeface="Calibri"/>
              </a:rPr>
              <a:t>dans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fourniture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technologies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à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résultats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commerciaux.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»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609" y="760552"/>
            <a:ext cx="4810125" cy="4893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5"/>
              </a:spcBef>
            </a:pP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améliore</a:t>
            </a:r>
            <a:r>
              <a:rPr sz="2000" spc="3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la</a:t>
            </a:r>
            <a:r>
              <a:rPr sz="2000" spc="2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rapidité</a:t>
            </a:r>
            <a:r>
              <a:rPr sz="2000" spc="1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et</a:t>
            </a:r>
            <a:r>
              <a:rPr sz="2000" spc="1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la</a:t>
            </a:r>
            <a:r>
              <a:rPr sz="2000" spc="2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stabilité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2000" dirty="0">
              <a:latin typeface="Calibri"/>
              <a:cs typeface="Calibri"/>
            </a:endParaRPr>
          </a:p>
          <a:p>
            <a:pPr marL="376555" marR="508634" indent="-364490" algn="just">
              <a:lnSpc>
                <a:spcPct val="100000"/>
              </a:lnSpc>
              <a:buClr>
                <a:srgbClr val="127079"/>
              </a:buClr>
              <a:buSzPct val="86956"/>
              <a:buFont typeface="Arial MT"/>
              <a:buChar char="●"/>
              <a:tabLst>
                <a:tab pos="382905" algn="l"/>
              </a:tabLst>
            </a:pPr>
            <a:r>
              <a:rPr sz="2300" spc="90" dirty="0">
                <a:solidFill>
                  <a:srgbClr val="252D37"/>
                </a:solidFill>
                <a:latin typeface="Calibri"/>
                <a:cs typeface="Calibri"/>
              </a:rPr>
              <a:t>Selon</a:t>
            </a:r>
            <a:r>
              <a:rPr sz="2300" spc="3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300" spc="2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rapport</a:t>
            </a:r>
            <a:r>
              <a:rPr sz="2300" spc="3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State</a:t>
            </a:r>
            <a:r>
              <a:rPr sz="2300" spc="3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of 	</a:t>
            </a:r>
            <a:r>
              <a:rPr sz="2300" spc="110" dirty="0">
                <a:solidFill>
                  <a:srgbClr val="252D37"/>
                </a:solidFill>
                <a:latin typeface="Calibri"/>
                <a:cs typeface="Calibri"/>
              </a:rPr>
              <a:t>DevOps,</a:t>
            </a:r>
            <a:r>
              <a:rPr sz="2300" spc="50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45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5" dirty="0">
                <a:solidFill>
                  <a:srgbClr val="252D37"/>
                </a:solidFill>
                <a:latin typeface="Calibri"/>
                <a:cs typeface="Calibri"/>
              </a:rPr>
              <a:t>organisations</a:t>
            </a:r>
            <a:r>
              <a:rPr sz="2300" spc="4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les 	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3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performantes</a:t>
            </a:r>
            <a:r>
              <a:rPr sz="23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ont</a:t>
            </a:r>
            <a:r>
              <a:rPr sz="23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 dirty="0">
              <a:latin typeface="Calibri"/>
              <a:cs typeface="Calibri"/>
            </a:endParaRPr>
          </a:p>
          <a:p>
            <a:pPr marL="904240" marR="339725" indent="-386080">
              <a:lnSpc>
                <a:spcPct val="79000"/>
              </a:lnSpc>
              <a:spcBef>
                <a:spcPts val="1680"/>
              </a:spcBef>
              <a:tabLst>
                <a:tab pos="903605" algn="l"/>
              </a:tabLst>
            </a:pP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déploiements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code</a:t>
            </a:r>
            <a:r>
              <a:rPr sz="21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35" dirty="0">
                <a:solidFill>
                  <a:srgbClr val="252D37"/>
                </a:solidFill>
                <a:latin typeface="Calibri"/>
                <a:cs typeface="Calibri"/>
              </a:rPr>
              <a:t>208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fois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fréquents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 dirty="0">
              <a:latin typeface="Calibri"/>
              <a:cs typeface="Calibri"/>
            </a:endParaRPr>
          </a:p>
          <a:p>
            <a:pPr marL="904240" marR="461645" indent="-386080">
              <a:lnSpc>
                <a:spcPct val="79300"/>
              </a:lnSpc>
              <a:spcBef>
                <a:spcPts val="1305"/>
              </a:spcBef>
              <a:tabLst>
                <a:tab pos="903605" algn="l"/>
              </a:tabLst>
            </a:pP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délais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106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fois</a:t>
            </a:r>
            <a:r>
              <a:rPr sz="21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courts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entre</a:t>
            </a:r>
            <a:r>
              <a:rPr sz="2100" spc="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«</a:t>
            </a:r>
            <a:r>
              <a:rPr sz="2100" spc="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commit</a:t>
            </a:r>
            <a:r>
              <a:rPr sz="2100" spc="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»</a:t>
            </a:r>
            <a:r>
              <a:rPr sz="2100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le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déploiement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 dirty="0">
              <a:latin typeface="Calibri"/>
              <a:cs typeface="Calibri"/>
            </a:endParaRPr>
          </a:p>
          <a:p>
            <a:pPr marL="904240" marR="64135" indent="-386080">
              <a:lnSpc>
                <a:spcPct val="79500"/>
              </a:lnSpc>
              <a:spcBef>
                <a:spcPts val="1395"/>
              </a:spcBef>
              <a:tabLst>
                <a:tab pos="903605" algn="l"/>
              </a:tabLst>
            </a:pP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100" spc="11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délai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rétablissement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suite</a:t>
            </a:r>
            <a:r>
              <a:rPr sz="21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à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incident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2604</a:t>
            </a:r>
            <a:r>
              <a:rPr sz="21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fois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1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rapide</a:t>
            </a:r>
            <a:r>
              <a:rPr sz="21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 dirty="0">
              <a:latin typeface="Calibri"/>
              <a:cs typeface="Calibri"/>
            </a:endParaRPr>
          </a:p>
          <a:p>
            <a:pPr marL="518159">
              <a:lnSpc>
                <a:spcPts val="2260"/>
              </a:lnSpc>
              <a:spcBef>
                <a:spcPts val="875"/>
              </a:spcBef>
              <a:tabLst>
                <a:tab pos="903605" algn="l"/>
              </a:tabLst>
            </a:pP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1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taux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d'échec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changement</a:t>
            </a:r>
            <a:endParaRPr sz="2100" dirty="0">
              <a:latin typeface="Calibri"/>
              <a:cs typeface="Calibri"/>
            </a:endParaRPr>
          </a:p>
          <a:p>
            <a:pPr marL="904240">
              <a:lnSpc>
                <a:spcPts val="2260"/>
              </a:lnSpc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7</a:t>
            </a:r>
            <a:r>
              <a:rPr sz="21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fois</a:t>
            </a:r>
            <a:r>
              <a:rPr sz="21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faible.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3795" y="69596"/>
            <a:ext cx="6846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3620" algn="l"/>
              </a:tabLst>
            </a:pPr>
            <a:r>
              <a:rPr dirty="0"/>
              <a:t>Pourquoi</a:t>
            </a:r>
            <a:r>
              <a:rPr spc="235" dirty="0"/>
              <a:t> </a:t>
            </a:r>
            <a:r>
              <a:rPr spc="130" dirty="0"/>
              <a:t>DevOps</a:t>
            </a:r>
            <a:r>
              <a:rPr dirty="0"/>
              <a:t>	</a:t>
            </a:r>
            <a:r>
              <a:rPr spc="-10" dirty="0"/>
              <a:t>est-</a:t>
            </a:r>
            <a:r>
              <a:rPr dirty="0"/>
              <a:t>il</a:t>
            </a:r>
            <a:r>
              <a:rPr spc="280" dirty="0"/>
              <a:t> </a:t>
            </a:r>
            <a:r>
              <a:rPr dirty="0"/>
              <a:t>important</a:t>
            </a:r>
            <a:r>
              <a:rPr spc="254" dirty="0"/>
              <a:t> </a:t>
            </a:r>
            <a:r>
              <a:rPr spc="-50" dirty="0"/>
              <a:t>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9836" y="5943498"/>
            <a:ext cx="5005070" cy="1041952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41275" rIns="0" bIns="0" rtlCol="0">
            <a:spAutoFit/>
          </a:bodyPr>
          <a:lstStyle/>
          <a:p>
            <a:pPr marL="229235" marR="213995" indent="1270" algn="ctr">
              <a:lnSpc>
                <a:spcPts val="2600"/>
              </a:lnSpc>
              <a:spcBef>
                <a:spcPts val="325"/>
              </a:spcBef>
            </a:pPr>
            <a:r>
              <a:rPr sz="2200" dirty="0">
                <a:latin typeface="Calibri"/>
                <a:cs typeface="Calibri"/>
              </a:rPr>
              <a:t>Les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équipes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ayant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responsables </a:t>
            </a:r>
            <a:r>
              <a:rPr sz="2200" spc="-20" dirty="0">
                <a:latin typeface="Calibri"/>
                <a:cs typeface="Calibri"/>
              </a:rPr>
              <a:t>conservateurs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étaient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deux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fois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moins susceptibles</a:t>
            </a:r>
            <a:r>
              <a:rPr sz="2200" spc="-35" dirty="0">
                <a:latin typeface="Calibri"/>
                <a:cs typeface="Calibri"/>
              </a:rPr>
              <a:t> d’être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performantes. 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233" y="593380"/>
            <a:ext cx="2275840" cy="9937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Adoption</a:t>
            </a:r>
            <a:r>
              <a:rPr sz="2000" spc="1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25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 dirty="0">
              <a:latin typeface="Calibri"/>
              <a:cs typeface="Calibri"/>
            </a:endParaRPr>
          </a:p>
          <a:p>
            <a:pPr marL="846455">
              <a:lnSpc>
                <a:spcPct val="100000"/>
              </a:lnSpc>
              <a:spcBef>
                <a:spcPts val="1380"/>
              </a:spcBef>
            </a:pPr>
            <a:r>
              <a:rPr sz="2100" spc="-70" dirty="0">
                <a:latin typeface="Arial MT"/>
                <a:cs typeface="Arial MT"/>
              </a:rPr>
              <a:t>GitLab</a:t>
            </a:r>
            <a:r>
              <a:rPr sz="2100" spc="-105" dirty="0">
                <a:latin typeface="Arial MT"/>
                <a:cs typeface="Arial MT"/>
              </a:rPr>
              <a:t> </a:t>
            </a:r>
            <a:endParaRPr sz="21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429" y="2325713"/>
            <a:ext cx="3387090" cy="4201795"/>
          </a:xfrm>
          <a:custGeom>
            <a:avLst/>
            <a:gdLst/>
            <a:ahLst/>
            <a:cxnLst/>
            <a:rect l="l" t="t" r="r" b="b"/>
            <a:pathLst>
              <a:path w="3387090" h="4201795">
                <a:moveTo>
                  <a:pt x="3386963" y="0"/>
                </a:moveTo>
                <a:lnTo>
                  <a:pt x="0" y="0"/>
                </a:lnTo>
                <a:lnTo>
                  <a:pt x="0" y="4201286"/>
                </a:lnTo>
                <a:lnTo>
                  <a:pt x="3386963" y="4201286"/>
                </a:lnTo>
                <a:lnTo>
                  <a:pt x="3386963" y="0"/>
                </a:lnTo>
                <a:close/>
              </a:path>
            </a:pathLst>
          </a:custGeom>
          <a:solidFill>
            <a:srgbClr val="DAED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47570" y="1546936"/>
            <a:ext cx="1913255" cy="669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00"/>
              </a:spcBef>
            </a:pPr>
            <a:r>
              <a:rPr sz="2100" spc="-170" dirty="0">
                <a:latin typeface="Arial MT"/>
                <a:cs typeface="Arial MT"/>
              </a:rPr>
              <a:t>Enquête</a:t>
            </a:r>
            <a:r>
              <a:rPr sz="2100" spc="-1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auprès</a:t>
            </a:r>
            <a:endParaRPr sz="2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100" spc="-125" dirty="0">
                <a:latin typeface="Arial MT"/>
                <a:cs typeface="Arial MT"/>
              </a:rPr>
              <a:t>des </a:t>
            </a:r>
            <a:r>
              <a:rPr sz="2100" spc="-100" dirty="0">
                <a:latin typeface="Arial MT"/>
                <a:cs typeface="Arial MT"/>
              </a:rPr>
              <a:t>développeurs</a:t>
            </a:r>
            <a:endParaRPr sz="21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704" y="2337054"/>
            <a:ext cx="2987675" cy="41116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1780" marR="5080" indent="-259079">
              <a:lnSpc>
                <a:spcPct val="100899"/>
              </a:lnSpc>
              <a:spcBef>
                <a:spcPts val="75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271780" algn="l"/>
              </a:tabLst>
            </a:pPr>
            <a:r>
              <a:rPr sz="1900" spc="90" dirty="0">
                <a:solidFill>
                  <a:srgbClr val="252D37"/>
                </a:solidFill>
                <a:latin typeface="Calibri"/>
                <a:cs typeface="Calibri"/>
              </a:rPr>
              <a:t>89%</a:t>
            </a:r>
            <a:r>
              <a:rPr sz="19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5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9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personnes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interrogées</a:t>
            </a:r>
            <a:r>
              <a:rPr sz="19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déclarent</a:t>
            </a:r>
            <a:r>
              <a:rPr sz="19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avoir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9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900" spc="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visibilité</a:t>
            </a:r>
            <a:r>
              <a:rPr sz="1900" spc="1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sur</a:t>
            </a:r>
            <a:r>
              <a:rPr sz="1900" spc="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ce</a:t>
            </a:r>
            <a:r>
              <a:rPr sz="19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que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font</a:t>
            </a:r>
            <a:r>
              <a:rPr sz="1900" spc="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leurs</a:t>
            </a:r>
            <a:r>
              <a:rPr sz="1900" spc="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collègues</a:t>
            </a:r>
            <a:endParaRPr sz="1900">
              <a:latin typeface="Calibri"/>
              <a:cs typeface="Calibri"/>
            </a:endParaRPr>
          </a:p>
          <a:p>
            <a:pPr marL="271780" marR="309245" indent="-259079">
              <a:lnSpc>
                <a:spcPts val="2300"/>
              </a:lnSpc>
              <a:spcBef>
                <a:spcPts val="75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271780" algn="l"/>
              </a:tabLst>
            </a:pPr>
            <a:r>
              <a:rPr sz="1900" spc="90" dirty="0">
                <a:solidFill>
                  <a:srgbClr val="252D37"/>
                </a:solidFill>
                <a:latin typeface="Calibri"/>
                <a:cs typeface="Calibri"/>
              </a:rPr>
              <a:t>45%</a:t>
            </a:r>
            <a:r>
              <a:rPr sz="19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indiquent</a:t>
            </a:r>
            <a:r>
              <a:rPr sz="1900" spc="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faire</a:t>
            </a:r>
            <a:r>
              <a:rPr sz="1900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du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déploiement</a:t>
            </a:r>
            <a:r>
              <a:rPr sz="1900" spc="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continu</a:t>
            </a:r>
            <a:r>
              <a:rPr sz="1900" spc="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de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code</a:t>
            </a:r>
            <a:endParaRPr sz="1900">
              <a:latin typeface="Calibri"/>
              <a:cs typeface="Calibri"/>
            </a:endParaRPr>
          </a:p>
          <a:p>
            <a:pPr marL="271145" indent="-258445">
              <a:lnSpc>
                <a:spcPts val="2220"/>
              </a:lnSpc>
              <a:buClr>
                <a:srgbClr val="000000"/>
              </a:buClr>
              <a:buSzPct val="73684"/>
              <a:buFont typeface="Arial MT"/>
              <a:buChar char="•"/>
              <a:tabLst>
                <a:tab pos="271145" algn="l"/>
              </a:tabLst>
            </a:pPr>
            <a:r>
              <a:rPr sz="1900" spc="90" dirty="0">
                <a:solidFill>
                  <a:srgbClr val="252D37"/>
                </a:solidFill>
                <a:latin typeface="Calibri"/>
                <a:cs typeface="Calibri"/>
              </a:rPr>
              <a:t>50%</a:t>
            </a:r>
            <a:r>
              <a:rPr sz="19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disent</a:t>
            </a:r>
            <a:r>
              <a:rPr sz="19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que</a:t>
            </a:r>
            <a:r>
              <a:rPr sz="19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endParaRPr sz="1900">
              <a:latin typeface="Calibri"/>
              <a:cs typeface="Calibri"/>
            </a:endParaRPr>
          </a:p>
          <a:p>
            <a:pPr marL="271780" marR="241935">
              <a:lnSpc>
                <a:spcPct val="100899"/>
              </a:lnSpc>
            </a:pP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vulnérabilités</a:t>
            </a:r>
            <a:r>
              <a:rPr sz="1900" spc="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900" spc="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sécurité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sont</a:t>
            </a:r>
            <a:r>
              <a:rPr sz="1900" spc="2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découvertes</a:t>
            </a:r>
            <a:r>
              <a:rPr sz="19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par</a:t>
            </a:r>
            <a:r>
              <a:rPr sz="19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l’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équipe</a:t>
            </a:r>
            <a:r>
              <a:rPr sz="19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sécurité</a:t>
            </a:r>
            <a:r>
              <a:rPr sz="19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après</a:t>
            </a:r>
            <a:r>
              <a:rPr sz="19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le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merge</a:t>
            </a:r>
            <a:r>
              <a:rPr sz="19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19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code</a:t>
            </a:r>
            <a:endParaRPr sz="1900">
              <a:latin typeface="Calibri"/>
              <a:cs typeface="Calibri"/>
            </a:endParaRPr>
          </a:p>
          <a:p>
            <a:pPr marL="271780" marR="206375" indent="-259079">
              <a:lnSpc>
                <a:spcPct val="100499"/>
              </a:lnSpc>
              <a:spcBef>
                <a:spcPts val="15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271780" algn="l"/>
              </a:tabLst>
            </a:pPr>
            <a:r>
              <a:rPr sz="1900" spc="90" dirty="0">
                <a:solidFill>
                  <a:srgbClr val="252D37"/>
                </a:solidFill>
                <a:latin typeface="Calibri"/>
                <a:cs typeface="Calibri"/>
              </a:rPr>
              <a:t>49%</a:t>
            </a:r>
            <a:r>
              <a:rPr sz="19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disent</a:t>
            </a:r>
            <a:r>
              <a:rPr sz="19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que</a:t>
            </a:r>
            <a:r>
              <a:rPr sz="19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9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tests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sont</a:t>
            </a:r>
            <a:r>
              <a:rPr sz="19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source</a:t>
            </a:r>
            <a:r>
              <a:rPr sz="19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9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retard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187" y="1193965"/>
            <a:ext cx="1321180" cy="12208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3583" y="1146784"/>
            <a:ext cx="2390140" cy="38077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280529" y="2295995"/>
            <a:ext cx="3176905" cy="4786630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391160" marR="278130" indent="-259079">
              <a:lnSpc>
                <a:spcPct val="100899"/>
              </a:lnSpc>
              <a:spcBef>
                <a:spcPts val="210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391160" algn="l"/>
              </a:tabLst>
            </a:pPr>
            <a:r>
              <a:rPr sz="1900" spc="90" dirty="0">
                <a:solidFill>
                  <a:srgbClr val="252D37"/>
                </a:solidFill>
                <a:latin typeface="Calibri"/>
                <a:cs typeface="Calibri"/>
              </a:rPr>
              <a:t>79%</a:t>
            </a:r>
            <a:r>
              <a:rPr sz="19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5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9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personnes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interrogées</a:t>
            </a:r>
            <a:r>
              <a:rPr sz="1900" spc="11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se</a:t>
            </a:r>
            <a:r>
              <a:rPr sz="19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situent</a:t>
            </a:r>
            <a:r>
              <a:rPr sz="19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au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niveau</a:t>
            </a:r>
            <a:r>
              <a:rPr sz="19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«</a:t>
            </a:r>
            <a:r>
              <a:rPr sz="19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Intermédiaire</a:t>
            </a:r>
            <a:r>
              <a:rPr sz="19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252D37"/>
                </a:solidFill>
                <a:latin typeface="Calibri"/>
                <a:cs typeface="Calibri"/>
              </a:rPr>
              <a:t>»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900" spc="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leur</a:t>
            </a:r>
            <a:r>
              <a:rPr sz="1900" spc="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transformation</a:t>
            </a:r>
            <a:endParaRPr sz="1900">
              <a:latin typeface="Calibri"/>
              <a:cs typeface="Calibri"/>
            </a:endParaRPr>
          </a:p>
          <a:p>
            <a:pPr marL="391160" indent="-259079">
              <a:lnSpc>
                <a:spcPct val="100000"/>
              </a:lnSpc>
              <a:spcBef>
                <a:spcPts val="10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391160" algn="l"/>
              </a:tabLst>
            </a:pPr>
            <a:r>
              <a:rPr sz="1900" spc="90" dirty="0">
                <a:solidFill>
                  <a:srgbClr val="252D37"/>
                </a:solidFill>
                <a:latin typeface="Calibri"/>
                <a:cs typeface="Calibri"/>
              </a:rPr>
              <a:t>35%</a:t>
            </a:r>
            <a:r>
              <a:rPr sz="19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5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9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organisations</a:t>
            </a:r>
            <a:endParaRPr sz="1900">
              <a:latin typeface="Calibri"/>
              <a:cs typeface="Calibri"/>
            </a:endParaRPr>
          </a:p>
          <a:p>
            <a:pPr marL="391160" marR="154940">
              <a:lnSpc>
                <a:spcPct val="100800"/>
              </a:lnSpc>
              <a:spcBef>
                <a:spcPts val="5"/>
              </a:spcBef>
            </a:pP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900" spc="1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niveau</a:t>
            </a:r>
            <a:r>
              <a:rPr sz="1900" spc="11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5</a:t>
            </a:r>
            <a:r>
              <a:rPr sz="19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déploient</a:t>
            </a:r>
            <a:r>
              <a:rPr sz="19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9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la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demande</a:t>
            </a:r>
            <a:r>
              <a:rPr sz="1900" spc="3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(61%</a:t>
            </a:r>
            <a:r>
              <a:rPr sz="1900" spc="5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pourraient</a:t>
            </a:r>
            <a:r>
              <a:rPr sz="19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19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faire)</a:t>
            </a:r>
            <a:endParaRPr sz="1900">
              <a:latin typeface="Calibri"/>
              <a:cs typeface="Calibri"/>
            </a:endParaRPr>
          </a:p>
          <a:p>
            <a:pPr marL="388620" marR="296545" indent="-256540" algn="just">
              <a:lnSpc>
                <a:spcPct val="100800"/>
              </a:lnSpc>
              <a:spcBef>
                <a:spcPts val="10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391160" algn="l"/>
              </a:tabLst>
            </a:pP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7</a:t>
            </a:r>
            <a:r>
              <a:rPr sz="1900" spc="-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252D37"/>
                </a:solidFill>
                <a:latin typeface="Calibri"/>
                <a:cs typeface="Calibri"/>
              </a:rPr>
              <a:t>%</a:t>
            </a:r>
            <a:r>
              <a:rPr sz="1900" spc="5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peuvent</a:t>
            </a:r>
            <a:r>
              <a:rPr sz="1900" spc="3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remédier</a:t>
            </a:r>
            <a:r>
              <a:rPr sz="1900" spc="3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900" spc="-5" dirty="0">
                <a:solidFill>
                  <a:srgbClr val="252D37"/>
                </a:solidFill>
                <a:latin typeface="Calibri"/>
                <a:cs typeface="Calibri"/>
              </a:rPr>
              <a:t> 	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19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252D37"/>
                </a:solidFill>
                <a:latin typeface="Calibri"/>
                <a:cs typeface="Calibri"/>
              </a:rPr>
              <a:t>vulnérabilité</a:t>
            </a:r>
            <a:r>
              <a:rPr sz="19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critique</a:t>
            </a:r>
            <a:r>
              <a:rPr sz="1900" spc="-5" dirty="0">
                <a:solidFill>
                  <a:srgbClr val="252D37"/>
                </a:solidFill>
                <a:latin typeface="Calibri"/>
                <a:cs typeface="Calibri"/>
              </a:rPr>
              <a:t> 	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9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1</a:t>
            </a:r>
            <a:r>
              <a:rPr sz="19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252D37"/>
                </a:solidFill>
                <a:latin typeface="Calibri"/>
                <a:cs typeface="Calibri"/>
              </a:rPr>
              <a:t>heure</a:t>
            </a:r>
            <a:endParaRPr sz="1900">
              <a:latin typeface="Calibri"/>
              <a:cs typeface="Calibri"/>
            </a:endParaRPr>
          </a:p>
          <a:p>
            <a:pPr marL="391160" marR="182245" indent="-259079">
              <a:lnSpc>
                <a:spcPct val="100899"/>
              </a:lnSpc>
              <a:spcBef>
                <a:spcPts val="5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391160" algn="l"/>
              </a:tabLst>
            </a:pPr>
            <a:r>
              <a:rPr sz="1900" spc="7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900" spc="3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organisations</a:t>
            </a:r>
            <a:r>
              <a:rPr sz="19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9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plus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avancées</a:t>
            </a:r>
            <a:r>
              <a:rPr sz="1900" spc="4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9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matière </a:t>
            </a:r>
            <a:r>
              <a:rPr sz="1900" spc="55" dirty="0">
                <a:solidFill>
                  <a:srgbClr val="252D37"/>
                </a:solidFill>
                <a:latin typeface="Calibri"/>
                <a:cs typeface="Calibri"/>
              </a:rPr>
              <a:t>DevOps</a:t>
            </a:r>
            <a:r>
              <a:rPr sz="19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ont</a:t>
            </a:r>
            <a:r>
              <a:rPr sz="19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également </a:t>
            </a:r>
            <a:r>
              <a:rPr sz="1900" spc="5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9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pratiques</a:t>
            </a:r>
            <a:r>
              <a:rPr sz="19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9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sécurité totalement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intégrées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7215" y="2310892"/>
            <a:ext cx="3176905" cy="332422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16510" rIns="0" bIns="0" rtlCol="0">
            <a:spAutoFit/>
          </a:bodyPr>
          <a:lstStyle/>
          <a:p>
            <a:pPr marL="390525" indent="-259079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390525" algn="l"/>
              </a:tabLst>
            </a:pPr>
            <a:r>
              <a:rPr sz="1900" spc="90" dirty="0">
                <a:solidFill>
                  <a:srgbClr val="252D37"/>
                </a:solidFill>
                <a:latin typeface="Calibri"/>
                <a:cs typeface="Calibri"/>
              </a:rPr>
              <a:t>13%</a:t>
            </a:r>
            <a:r>
              <a:rPr sz="19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ont</a:t>
            </a:r>
            <a:r>
              <a:rPr sz="19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mis</a:t>
            </a:r>
            <a:r>
              <a:rPr sz="1900" spc="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9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œuvre</a:t>
            </a:r>
            <a:endParaRPr sz="1900">
              <a:latin typeface="Calibri"/>
              <a:cs typeface="Calibri"/>
            </a:endParaRPr>
          </a:p>
          <a:p>
            <a:pPr marL="390525" indent="-259079">
              <a:lnSpc>
                <a:spcPct val="100000"/>
              </a:lnSpc>
              <a:spcBef>
                <a:spcPts val="120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390525" algn="l"/>
              </a:tabLst>
            </a:pPr>
            <a:r>
              <a:rPr sz="1900" spc="85" dirty="0">
                <a:solidFill>
                  <a:srgbClr val="252D37"/>
                </a:solidFill>
                <a:latin typeface="Calibri"/>
                <a:cs typeface="Calibri"/>
              </a:rPr>
              <a:t>50%</a:t>
            </a:r>
            <a:r>
              <a:rPr sz="19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ont</a:t>
            </a:r>
            <a:r>
              <a:rPr sz="1900" spc="1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mis</a:t>
            </a:r>
            <a:r>
              <a:rPr sz="19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9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œuvre</a:t>
            </a:r>
            <a:r>
              <a:rPr sz="19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endParaRPr sz="1900">
              <a:latin typeface="Calibri"/>
              <a:cs typeface="Calibri"/>
            </a:endParaRPr>
          </a:p>
          <a:p>
            <a:pPr marL="390525">
              <a:lnSpc>
                <a:spcPct val="100000"/>
              </a:lnSpc>
              <a:spcBef>
                <a:spcPts val="15"/>
              </a:spcBef>
            </a:pP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sont</a:t>
            </a:r>
            <a:r>
              <a:rPr sz="19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9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expansion</a:t>
            </a:r>
            <a:endParaRPr sz="1900">
              <a:latin typeface="Calibri"/>
              <a:cs typeface="Calibri"/>
            </a:endParaRPr>
          </a:p>
          <a:p>
            <a:pPr marL="390525" marR="487680" indent="-259079">
              <a:lnSpc>
                <a:spcPct val="100800"/>
              </a:lnSpc>
              <a:spcBef>
                <a:spcPts val="5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390525" algn="l"/>
              </a:tabLst>
            </a:pPr>
            <a:r>
              <a:rPr sz="1900" spc="90" dirty="0">
                <a:solidFill>
                  <a:srgbClr val="252D37"/>
                </a:solidFill>
                <a:latin typeface="Calibri"/>
                <a:cs typeface="Calibri"/>
              </a:rPr>
              <a:t>27%</a:t>
            </a:r>
            <a:r>
              <a:rPr sz="1900" spc="2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prévoient</a:t>
            </a:r>
            <a:r>
              <a:rPr sz="1900" spc="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9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le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mettre</a:t>
            </a:r>
            <a:r>
              <a:rPr sz="1900" spc="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900" spc="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œuvre</a:t>
            </a:r>
            <a:r>
              <a:rPr sz="1900" spc="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(dans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9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12</a:t>
            </a:r>
            <a:r>
              <a:rPr sz="1900" spc="2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prochains</a:t>
            </a:r>
            <a:r>
              <a:rPr sz="19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52D37"/>
                </a:solidFill>
                <a:latin typeface="Calibri"/>
                <a:cs typeface="Calibri"/>
              </a:rPr>
              <a:t>mois)</a:t>
            </a:r>
            <a:endParaRPr sz="1900">
              <a:latin typeface="Calibri"/>
              <a:cs typeface="Calibri"/>
            </a:endParaRPr>
          </a:p>
          <a:p>
            <a:pPr marL="390525" marR="367665" indent="-259079">
              <a:lnSpc>
                <a:spcPct val="100899"/>
              </a:lnSpc>
              <a:spcBef>
                <a:spcPts val="5"/>
              </a:spcBef>
              <a:buClr>
                <a:srgbClr val="000000"/>
              </a:buClr>
              <a:buSzPct val="73684"/>
              <a:buFont typeface="Arial MT"/>
              <a:buChar char="•"/>
              <a:tabLst>
                <a:tab pos="390525" algn="l"/>
              </a:tabLst>
            </a:pPr>
            <a:r>
              <a:rPr sz="1900" spc="85" dirty="0">
                <a:solidFill>
                  <a:srgbClr val="252D37"/>
                </a:solidFill>
                <a:latin typeface="Calibri"/>
                <a:cs typeface="Calibri"/>
              </a:rPr>
              <a:t>9%</a:t>
            </a:r>
            <a:r>
              <a:rPr sz="1900" spc="3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intéressés</a:t>
            </a:r>
            <a:r>
              <a:rPr sz="19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mais</a:t>
            </a:r>
            <a:r>
              <a:rPr sz="19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52D37"/>
                </a:solidFill>
                <a:latin typeface="Calibri"/>
                <a:cs typeface="Calibri"/>
              </a:rPr>
              <a:t>pas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9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projets</a:t>
            </a:r>
            <a:r>
              <a:rPr sz="1900" spc="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immédiats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(dans</a:t>
            </a:r>
            <a:r>
              <a:rPr sz="19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9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12</a:t>
            </a:r>
            <a:r>
              <a:rPr sz="19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prochains mois)</a:t>
            </a:r>
            <a:endParaRPr sz="1900">
              <a:latin typeface="Calibri"/>
              <a:cs typeface="Calibri"/>
            </a:endParaRPr>
          </a:p>
          <a:p>
            <a:pPr marL="390525" indent="-259079">
              <a:lnSpc>
                <a:spcPct val="100000"/>
              </a:lnSpc>
              <a:buClr>
                <a:srgbClr val="000000"/>
              </a:buClr>
              <a:buSzPct val="73684"/>
              <a:buFont typeface="Arial MT"/>
              <a:buChar char="•"/>
              <a:tabLst>
                <a:tab pos="390525" algn="l"/>
              </a:tabLst>
            </a:pPr>
            <a:r>
              <a:rPr sz="1900" spc="85" dirty="0">
                <a:solidFill>
                  <a:srgbClr val="252D37"/>
                </a:solidFill>
                <a:latin typeface="Calibri"/>
                <a:cs typeface="Calibri"/>
              </a:rPr>
              <a:t>1%</a:t>
            </a:r>
            <a:r>
              <a:rPr sz="19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55" dirty="0">
                <a:solidFill>
                  <a:srgbClr val="252D37"/>
                </a:solidFill>
                <a:latin typeface="Calibri"/>
                <a:cs typeface="Calibri"/>
              </a:rPr>
              <a:t>pas</a:t>
            </a:r>
            <a:r>
              <a:rPr sz="19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intéressé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8936" y="1484503"/>
            <a:ext cx="2005330" cy="31572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3335">
              <a:lnSpc>
                <a:spcPct val="101000"/>
              </a:lnSpc>
              <a:spcBef>
                <a:spcPts val="75"/>
              </a:spcBef>
            </a:pPr>
            <a:r>
              <a:rPr sz="2100" spc="-135" dirty="0" err="1">
                <a:latin typeface="Arial MT"/>
                <a:cs typeface="Arial MT"/>
              </a:rPr>
              <a:t>Entreprise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spc="-135" dirty="0">
                <a:latin typeface="Arial MT"/>
                <a:cs typeface="Arial MT"/>
              </a:rPr>
              <a:t>DevOps</a:t>
            </a:r>
            <a:endParaRPr sz="21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02473" y="1474470"/>
            <a:ext cx="2459355" cy="64209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812800" marR="5080" indent="-800735">
              <a:lnSpc>
                <a:spcPct val="101000"/>
              </a:lnSpc>
              <a:spcBef>
                <a:spcPts val="75"/>
              </a:spcBef>
            </a:pPr>
            <a:r>
              <a:rPr sz="2100" spc="-95">
                <a:latin typeface="Arial MT"/>
                <a:cs typeface="Arial MT"/>
              </a:rPr>
              <a:t>Rapport</a:t>
            </a:r>
            <a:r>
              <a:rPr sz="2100" spc="-125">
                <a:latin typeface="Arial MT"/>
                <a:cs typeface="Arial MT"/>
              </a:rPr>
              <a:t> </a:t>
            </a:r>
            <a:r>
              <a:rPr sz="2100" spc="-20">
                <a:latin typeface="Arial MT"/>
                <a:cs typeface="Arial MT"/>
              </a:rPr>
              <a:t> </a:t>
            </a:r>
            <a:r>
              <a:rPr sz="2100" spc="-95" dirty="0">
                <a:latin typeface="Arial MT"/>
                <a:cs typeface="Arial MT"/>
              </a:rPr>
              <a:t>State</a:t>
            </a:r>
            <a:r>
              <a:rPr sz="2100" spc="-110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of </a:t>
            </a:r>
            <a:r>
              <a:rPr sz="2100" spc="-10" dirty="0">
                <a:latin typeface="Arial MT"/>
                <a:cs typeface="Arial MT"/>
              </a:rPr>
              <a:t>DevOps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60283" y="762495"/>
            <a:ext cx="1837689" cy="714641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53795" y="69596"/>
            <a:ext cx="6846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3620" algn="l"/>
              </a:tabLst>
            </a:pPr>
            <a:r>
              <a:rPr dirty="0"/>
              <a:t>Pourquoi</a:t>
            </a:r>
            <a:r>
              <a:rPr spc="235" dirty="0"/>
              <a:t> </a:t>
            </a:r>
            <a:r>
              <a:rPr spc="130" dirty="0"/>
              <a:t>DevOps</a:t>
            </a:r>
            <a:r>
              <a:rPr dirty="0"/>
              <a:t>	</a:t>
            </a:r>
            <a:r>
              <a:rPr spc="-10" dirty="0"/>
              <a:t>est-</a:t>
            </a:r>
            <a:r>
              <a:rPr dirty="0"/>
              <a:t>il</a:t>
            </a:r>
            <a:r>
              <a:rPr spc="280" dirty="0"/>
              <a:t> </a:t>
            </a:r>
            <a:r>
              <a:rPr dirty="0"/>
              <a:t>important</a:t>
            </a:r>
            <a:r>
              <a:rPr spc="254" dirty="0"/>
              <a:t> </a:t>
            </a:r>
            <a:r>
              <a:rPr spc="-50" dirty="0"/>
              <a:t>?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77709"/>
            <a:ext cx="10674730" cy="611630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79309" y="5745861"/>
            <a:ext cx="2771775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b="1" spc="-240" dirty="0">
                <a:solidFill>
                  <a:srgbClr val="FFFFFF"/>
                </a:solidFill>
                <a:latin typeface="Arial"/>
                <a:cs typeface="Arial"/>
              </a:rPr>
              <a:t>Damon</a:t>
            </a:r>
            <a:r>
              <a:rPr sz="31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150" b="1" spc="-285" dirty="0">
                <a:solidFill>
                  <a:srgbClr val="FFFFFF"/>
                </a:solidFill>
                <a:latin typeface="Arial"/>
                <a:cs typeface="Arial"/>
              </a:rPr>
              <a:t>Edwards</a:t>
            </a:r>
            <a:endParaRPr sz="31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609" y="1393444"/>
            <a:ext cx="4671060" cy="3987800"/>
            <a:chOff x="93609" y="1393444"/>
            <a:chExt cx="4671060" cy="39878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609" y="1393444"/>
              <a:ext cx="4671060" cy="39874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3603" y="1410462"/>
              <a:ext cx="4591050" cy="3907790"/>
            </a:xfrm>
            <a:custGeom>
              <a:avLst/>
              <a:gdLst/>
              <a:ahLst/>
              <a:cxnLst/>
              <a:rect l="l" t="t" r="r" b="b"/>
              <a:pathLst>
                <a:path w="4591050" h="3907790">
                  <a:moveTo>
                    <a:pt x="3571240" y="0"/>
                  </a:moveTo>
                  <a:lnTo>
                    <a:pt x="651243" y="0"/>
                  </a:lnTo>
                  <a:lnTo>
                    <a:pt x="602640" y="1777"/>
                  </a:lnTo>
                  <a:lnTo>
                    <a:pt x="555002" y="7112"/>
                  </a:lnTo>
                  <a:lnTo>
                    <a:pt x="508469" y="15747"/>
                  </a:lnTo>
                  <a:lnTo>
                    <a:pt x="463156" y="27685"/>
                  </a:lnTo>
                  <a:lnTo>
                    <a:pt x="419188" y="42544"/>
                  </a:lnTo>
                  <a:lnTo>
                    <a:pt x="376694" y="60578"/>
                  </a:lnTo>
                  <a:lnTo>
                    <a:pt x="335800" y="81406"/>
                  </a:lnTo>
                  <a:lnTo>
                    <a:pt x="296633" y="105028"/>
                  </a:lnTo>
                  <a:lnTo>
                    <a:pt x="259321" y="131190"/>
                  </a:lnTo>
                  <a:lnTo>
                    <a:pt x="223977" y="159765"/>
                  </a:lnTo>
                  <a:lnTo>
                    <a:pt x="190741" y="190753"/>
                  </a:lnTo>
                  <a:lnTo>
                    <a:pt x="159740" y="224027"/>
                  </a:lnTo>
                  <a:lnTo>
                    <a:pt x="131089" y="259333"/>
                  </a:lnTo>
                  <a:lnTo>
                    <a:pt x="104927" y="296671"/>
                  </a:lnTo>
                  <a:lnTo>
                    <a:pt x="81356" y="335788"/>
                  </a:lnTo>
                  <a:lnTo>
                    <a:pt x="60528" y="376681"/>
                  </a:lnTo>
                  <a:lnTo>
                    <a:pt x="42557" y="419226"/>
                  </a:lnTo>
                  <a:lnTo>
                    <a:pt x="27571" y="463168"/>
                  </a:lnTo>
                  <a:lnTo>
                    <a:pt x="15697" y="508507"/>
                  </a:lnTo>
                  <a:lnTo>
                    <a:pt x="7061" y="554989"/>
                  </a:lnTo>
                  <a:lnTo>
                    <a:pt x="1790" y="602741"/>
                  </a:lnTo>
                  <a:lnTo>
                    <a:pt x="0" y="651255"/>
                  </a:lnTo>
                  <a:lnTo>
                    <a:pt x="0" y="3256279"/>
                  </a:lnTo>
                  <a:lnTo>
                    <a:pt x="1790" y="3304793"/>
                  </a:lnTo>
                  <a:lnTo>
                    <a:pt x="7061" y="3352418"/>
                  </a:lnTo>
                  <a:lnTo>
                    <a:pt x="15697" y="3399028"/>
                  </a:lnTo>
                  <a:lnTo>
                    <a:pt x="27571" y="3444366"/>
                  </a:lnTo>
                  <a:lnTo>
                    <a:pt x="42557" y="3488308"/>
                  </a:lnTo>
                  <a:lnTo>
                    <a:pt x="60528" y="3530727"/>
                  </a:lnTo>
                  <a:lnTo>
                    <a:pt x="81356" y="3571621"/>
                  </a:lnTo>
                  <a:lnTo>
                    <a:pt x="104927" y="3610863"/>
                  </a:lnTo>
                  <a:lnTo>
                    <a:pt x="131089" y="3648075"/>
                  </a:lnTo>
                  <a:lnTo>
                    <a:pt x="159740" y="3683507"/>
                  </a:lnTo>
                  <a:lnTo>
                    <a:pt x="190741" y="3716654"/>
                  </a:lnTo>
                  <a:lnTo>
                    <a:pt x="223977" y="3747769"/>
                  </a:lnTo>
                  <a:lnTo>
                    <a:pt x="259321" y="3776344"/>
                  </a:lnTo>
                  <a:lnTo>
                    <a:pt x="296633" y="3802506"/>
                  </a:lnTo>
                  <a:lnTo>
                    <a:pt x="335800" y="3826129"/>
                  </a:lnTo>
                  <a:lnTo>
                    <a:pt x="376694" y="3846956"/>
                  </a:lnTo>
                  <a:lnTo>
                    <a:pt x="419188" y="3864863"/>
                  </a:lnTo>
                  <a:lnTo>
                    <a:pt x="463156" y="3879850"/>
                  </a:lnTo>
                  <a:lnTo>
                    <a:pt x="508469" y="3891787"/>
                  </a:lnTo>
                  <a:lnTo>
                    <a:pt x="555002" y="3900424"/>
                  </a:lnTo>
                  <a:lnTo>
                    <a:pt x="602640" y="3905630"/>
                  </a:lnTo>
                  <a:lnTo>
                    <a:pt x="651243" y="3907408"/>
                  </a:lnTo>
                  <a:lnTo>
                    <a:pt x="3571240" y="3907408"/>
                  </a:lnTo>
                  <a:lnTo>
                    <a:pt x="3619881" y="3905630"/>
                  </a:lnTo>
                  <a:lnTo>
                    <a:pt x="3667506" y="3900424"/>
                  </a:lnTo>
                  <a:lnTo>
                    <a:pt x="3714115" y="3891787"/>
                  </a:lnTo>
                  <a:lnTo>
                    <a:pt x="3759327" y="3879850"/>
                  </a:lnTo>
                  <a:lnTo>
                    <a:pt x="3803396" y="3864863"/>
                  </a:lnTo>
                  <a:lnTo>
                    <a:pt x="3845814" y="3846956"/>
                  </a:lnTo>
                  <a:lnTo>
                    <a:pt x="3886708" y="3826129"/>
                  </a:lnTo>
                  <a:lnTo>
                    <a:pt x="3925951" y="3802506"/>
                  </a:lnTo>
                  <a:lnTo>
                    <a:pt x="3963162" y="3776344"/>
                  </a:lnTo>
                  <a:lnTo>
                    <a:pt x="3998595" y="3747769"/>
                  </a:lnTo>
                  <a:lnTo>
                    <a:pt x="4031742" y="3716654"/>
                  </a:lnTo>
                  <a:lnTo>
                    <a:pt x="4062730" y="3683507"/>
                  </a:lnTo>
                  <a:lnTo>
                    <a:pt x="4091432" y="3648075"/>
                  </a:lnTo>
                  <a:lnTo>
                    <a:pt x="4117594" y="3610863"/>
                  </a:lnTo>
                  <a:lnTo>
                    <a:pt x="4141216" y="3571621"/>
                  </a:lnTo>
                  <a:lnTo>
                    <a:pt x="4162044" y="3530727"/>
                  </a:lnTo>
                  <a:lnTo>
                    <a:pt x="4179951" y="3488308"/>
                  </a:lnTo>
                  <a:lnTo>
                    <a:pt x="4194937" y="3444366"/>
                  </a:lnTo>
                  <a:lnTo>
                    <a:pt x="4206875" y="3399028"/>
                  </a:lnTo>
                  <a:lnTo>
                    <a:pt x="4215511" y="3352418"/>
                  </a:lnTo>
                  <a:lnTo>
                    <a:pt x="4220718" y="3304793"/>
                  </a:lnTo>
                  <a:lnTo>
                    <a:pt x="4222496" y="3256279"/>
                  </a:lnTo>
                  <a:lnTo>
                    <a:pt x="4591050" y="2525394"/>
                  </a:lnTo>
                  <a:lnTo>
                    <a:pt x="4222496" y="2279395"/>
                  </a:lnTo>
                  <a:lnTo>
                    <a:pt x="4222496" y="651255"/>
                  </a:lnTo>
                  <a:lnTo>
                    <a:pt x="4220464" y="599693"/>
                  </a:lnTo>
                  <a:lnTo>
                    <a:pt x="4214368" y="548766"/>
                  </a:lnTo>
                  <a:lnTo>
                    <a:pt x="4204462" y="498728"/>
                  </a:lnTo>
                  <a:lnTo>
                    <a:pt x="4190492" y="449706"/>
                  </a:lnTo>
                  <a:lnTo>
                    <a:pt x="4172966" y="402081"/>
                  </a:lnTo>
                  <a:lnTo>
                    <a:pt x="4151630" y="355853"/>
                  </a:lnTo>
                  <a:lnTo>
                    <a:pt x="4126865" y="311530"/>
                  </a:lnTo>
                  <a:lnTo>
                    <a:pt x="4098544" y="268985"/>
                  </a:lnTo>
                  <a:lnTo>
                    <a:pt x="4066794" y="228726"/>
                  </a:lnTo>
                  <a:lnTo>
                    <a:pt x="4031742" y="190753"/>
                  </a:lnTo>
                  <a:lnTo>
                    <a:pt x="3993896" y="155828"/>
                  </a:lnTo>
                  <a:lnTo>
                    <a:pt x="3953510" y="124078"/>
                  </a:lnTo>
                  <a:lnTo>
                    <a:pt x="3911092" y="95757"/>
                  </a:lnTo>
                  <a:lnTo>
                    <a:pt x="3866642" y="70865"/>
                  </a:lnTo>
                  <a:lnTo>
                    <a:pt x="3820541" y="49656"/>
                  </a:lnTo>
                  <a:lnTo>
                    <a:pt x="3772789" y="32003"/>
                  </a:lnTo>
                  <a:lnTo>
                    <a:pt x="3723894" y="18160"/>
                  </a:lnTo>
                  <a:lnTo>
                    <a:pt x="3673729" y="8127"/>
                  </a:lnTo>
                  <a:lnTo>
                    <a:pt x="3622802" y="2031"/>
                  </a:lnTo>
                  <a:lnTo>
                    <a:pt x="3571240" y="0"/>
                  </a:lnTo>
                  <a:close/>
                </a:path>
              </a:pathLst>
            </a:custGeom>
            <a:solidFill>
              <a:srgbClr val="DAED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4863" y="1994154"/>
            <a:ext cx="3632200" cy="267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 marR="5080" indent="-15240" algn="ctr">
              <a:lnSpc>
                <a:spcPct val="98500"/>
              </a:lnSpc>
              <a:spcBef>
                <a:spcPts val="135"/>
              </a:spcBef>
            </a:pPr>
            <a:r>
              <a:rPr sz="2200" dirty="0">
                <a:latin typeface="Calibri"/>
                <a:cs typeface="Calibri"/>
              </a:rPr>
              <a:t>«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véritable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objectif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(tout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à </a:t>
            </a:r>
            <a:r>
              <a:rPr sz="2200" dirty="0">
                <a:latin typeface="Calibri"/>
                <a:cs typeface="Calibri"/>
              </a:rPr>
              <a:t>fait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réalisable)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consiste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aligner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objectifs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ceux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du </a:t>
            </a:r>
            <a:r>
              <a:rPr sz="2200" spc="-10" dirty="0">
                <a:latin typeface="Calibri"/>
                <a:cs typeface="Calibri"/>
              </a:rPr>
              <a:t>business,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supprimant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tous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goulots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d’étranglement, inefficacités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risques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entre </a:t>
            </a:r>
            <a:r>
              <a:rPr sz="2200" dirty="0">
                <a:latin typeface="Calibri"/>
                <a:cs typeface="Calibri"/>
              </a:rPr>
              <a:t>une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idée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business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résultat </a:t>
            </a:r>
            <a:r>
              <a:rPr sz="2200" dirty="0">
                <a:latin typeface="Calibri"/>
                <a:cs typeface="Calibri"/>
              </a:rPr>
              <a:t>client</a:t>
            </a:r>
            <a:r>
              <a:rPr sz="2200" spc="-1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mesurable.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»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31393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53795" y="69596"/>
            <a:ext cx="6846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3620" algn="l"/>
              </a:tabLst>
            </a:pPr>
            <a:r>
              <a:rPr dirty="0"/>
              <a:t>Pourquoi</a:t>
            </a:r>
            <a:r>
              <a:rPr spc="235" dirty="0"/>
              <a:t> </a:t>
            </a:r>
            <a:r>
              <a:rPr spc="130" dirty="0"/>
              <a:t>DevOps</a:t>
            </a:r>
            <a:r>
              <a:rPr dirty="0"/>
              <a:t>	</a:t>
            </a:r>
            <a:r>
              <a:rPr spc="-10" dirty="0"/>
              <a:t>est-</a:t>
            </a:r>
            <a:r>
              <a:rPr dirty="0"/>
              <a:t>il</a:t>
            </a:r>
            <a:r>
              <a:rPr spc="280" dirty="0"/>
              <a:t> </a:t>
            </a:r>
            <a:r>
              <a:rPr dirty="0"/>
              <a:t>important</a:t>
            </a:r>
            <a:r>
              <a:rPr spc="254" dirty="0"/>
              <a:t> </a:t>
            </a:r>
            <a:r>
              <a:rPr spc="-50" dirty="0"/>
              <a:t>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3213" y="5099329"/>
            <a:ext cx="2648204" cy="13422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22503" y="760552"/>
            <a:ext cx="9258935" cy="4233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704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Pourquoi</a:t>
            </a:r>
            <a:r>
              <a:rPr sz="2000" spc="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l’IT</a:t>
            </a:r>
            <a:r>
              <a:rPr sz="2000" spc="11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27079"/>
                </a:solidFill>
                <a:latin typeface="Calibri"/>
                <a:cs typeface="Calibri"/>
              </a:rPr>
              <a:t>est-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il</a:t>
            </a:r>
            <a:r>
              <a:rPr sz="2000" spc="1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le</a:t>
            </a:r>
            <a:r>
              <a:rPr sz="2000" spc="12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moteur</a:t>
            </a: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16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r>
              <a:rPr sz="2000" spc="22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127079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000">
              <a:latin typeface="Calibri"/>
              <a:cs typeface="Calibri"/>
            </a:endParaRPr>
          </a:p>
          <a:p>
            <a:pPr marL="386080" marR="1830070" indent="-373380">
              <a:lnSpc>
                <a:spcPct val="100000"/>
              </a:lnSpc>
              <a:buClr>
                <a:srgbClr val="127079"/>
              </a:buClr>
              <a:buFont typeface="Arial MT"/>
              <a:buChar char="●"/>
              <a:tabLst>
                <a:tab pos="386080" algn="l"/>
              </a:tabLst>
            </a:pPr>
            <a:r>
              <a:rPr sz="2300" dirty="0">
                <a:latin typeface="Calibri"/>
                <a:cs typeface="Calibri"/>
              </a:rPr>
              <a:t>Toutes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4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entreprises</a:t>
            </a:r>
            <a:r>
              <a:rPr sz="2300" spc="459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sont</a:t>
            </a:r>
            <a:r>
              <a:rPr sz="2300" spc="4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maintenant</a:t>
            </a:r>
            <a:r>
              <a:rPr sz="2300" spc="320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4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entreprises </a:t>
            </a:r>
            <a:r>
              <a:rPr sz="2300" spc="55" dirty="0">
                <a:latin typeface="Calibri"/>
                <a:cs typeface="Calibri"/>
              </a:rPr>
              <a:t>technologiques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50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70" dirty="0">
                <a:latin typeface="Calibri"/>
                <a:cs typeface="Calibri"/>
              </a:rPr>
              <a:t>L’IoT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augmente</a:t>
            </a:r>
            <a:r>
              <a:rPr sz="2300" spc="2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rapidement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49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130" dirty="0">
                <a:latin typeface="Calibri"/>
                <a:cs typeface="Calibri"/>
              </a:rPr>
              <a:t>Les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consommateurs</a:t>
            </a:r>
            <a:r>
              <a:rPr sz="2300" spc="2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ont</a:t>
            </a:r>
            <a:r>
              <a:rPr sz="2300" spc="150" dirty="0">
                <a:latin typeface="Calibri"/>
                <a:cs typeface="Calibri"/>
              </a:rPr>
              <a:t> </a:t>
            </a:r>
            <a:r>
              <a:rPr sz="2300" spc="70" dirty="0">
                <a:latin typeface="Calibri"/>
                <a:cs typeface="Calibri"/>
              </a:rPr>
              <a:t>développé</a:t>
            </a:r>
            <a:r>
              <a:rPr sz="2300" spc="229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spc="70" dirty="0">
                <a:latin typeface="Calibri"/>
                <a:cs typeface="Calibri"/>
              </a:rPr>
              <a:t>habitudes</a:t>
            </a:r>
            <a:r>
              <a:rPr sz="2300" spc="2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«</a:t>
            </a:r>
            <a:r>
              <a:rPr sz="2300" spc="140" dirty="0">
                <a:latin typeface="Calibri"/>
                <a:cs typeface="Calibri"/>
              </a:rPr>
              <a:t> </a:t>
            </a:r>
            <a:r>
              <a:rPr sz="2300" spc="114" dirty="0">
                <a:latin typeface="Calibri"/>
                <a:cs typeface="Calibri"/>
              </a:rPr>
              <a:t>apps</a:t>
            </a:r>
            <a:r>
              <a:rPr sz="2300" spc="3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sur</a:t>
            </a:r>
            <a:r>
              <a:rPr sz="2300" spc="2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mobile</a:t>
            </a:r>
            <a:endParaRPr sz="2300">
              <a:latin typeface="Calibri"/>
              <a:cs typeface="Calibri"/>
            </a:endParaRPr>
          </a:p>
          <a:p>
            <a:pPr marL="386080">
              <a:lnSpc>
                <a:spcPct val="100000"/>
              </a:lnSpc>
            </a:pPr>
            <a:r>
              <a:rPr sz="2300" spc="-50" dirty="0">
                <a:latin typeface="Calibri"/>
                <a:cs typeface="Calibri"/>
              </a:rPr>
              <a:t>»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50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130" dirty="0">
                <a:latin typeface="Calibri"/>
                <a:cs typeface="Calibri"/>
              </a:rPr>
              <a:t>Les</a:t>
            </a:r>
            <a:r>
              <a:rPr sz="2300" spc="434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clients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valorisent</a:t>
            </a:r>
            <a:r>
              <a:rPr sz="2300" spc="320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résultats,</a:t>
            </a:r>
            <a:r>
              <a:rPr sz="2300" spc="310" dirty="0">
                <a:latin typeface="Calibri"/>
                <a:cs typeface="Calibri"/>
              </a:rPr>
              <a:t> </a:t>
            </a:r>
            <a:r>
              <a:rPr sz="2300" spc="105" dirty="0">
                <a:latin typeface="Calibri"/>
                <a:cs typeface="Calibri"/>
              </a:rPr>
              <a:t>pas</a:t>
            </a:r>
            <a:r>
              <a:rPr sz="2300" spc="41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3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produits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500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85" dirty="0">
                <a:latin typeface="Calibri"/>
                <a:cs typeface="Calibri"/>
              </a:rPr>
              <a:t>Le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time</a:t>
            </a:r>
            <a:r>
              <a:rPr sz="2300" spc="1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1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value</a:t>
            </a:r>
            <a:r>
              <a:rPr sz="2300" spc="27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remplace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</a:t>
            </a:r>
            <a:r>
              <a:rPr sz="2300" spc="1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time</a:t>
            </a:r>
            <a:r>
              <a:rPr sz="2300" spc="1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18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market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49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130" dirty="0">
                <a:latin typeface="Calibri"/>
                <a:cs typeface="Calibri"/>
              </a:rPr>
              <a:t>Les</a:t>
            </a:r>
            <a:r>
              <a:rPr sz="2300" spc="545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données</a:t>
            </a:r>
            <a:r>
              <a:rPr sz="2300" spc="4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intelligentes</a:t>
            </a:r>
            <a:r>
              <a:rPr sz="2300" spc="3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doivent</a:t>
            </a:r>
            <a:r>
              <a:rPr sz="2300" spc="3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déterminer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rapidement</a:t>
            </a:r>
            <a:r>
              <a:rPr sz="2300" spc="3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</a:t>
            </a:r>
            <a:r>
              <a:rPr sz="2300" spc="39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direction</a:t>
            </a:r>
            <a:endParaRPr sz="230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505"/>
              </a:spcBef>
              <a:buClr>
                <a:srgbClr val="127079"/>
              </a:buClr>
              <a:buFont typeface="Arial MT"/>
              <a:buChar char="●"/>
              <a:tabLst>
                <a:tab pos="385445" algn="l"/>
              </a:tabLst>
            </a:pPr>
            <a:r>
              <a:rPr sz="2300" spc="85" dirty="0">
                <a:latin typeface="Calibri"/>
                <a:cs typeface="Calibri"/>
              </a:rPr>
              <a:t>Le</a:t>
            </a:r>
            <a:r>
              <a:rPr sz="2300" spc="360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plaisir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client</a:t>
            </a:r>
            <a:r>
              <a:rPr sz="2300" spc="21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est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spc="70" dirty="0">
                <a:latin typeface="Calibri"/>
                <a:cs typeface="Calibri"/>
              </a:rPr>
              <a:t>plus</a:t>
            </a:r>
            <a:r>
              <a:rPr sz="2300" spc="3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important</a:t>
            </a:r>
            <a:r>
              <a:rPr sz="2300" spc="200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que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</a:t>
            </a:r>
            <a:r>
              <a:rPr sz="2300" spc="24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satisfaction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client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5133" y="5317045"/>
            <a:ext cx="3549015" cy="79184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36195" rIns="0" bIns="0" rtlCol="0">
            <a:spAutoFit/>
          </a:bodyPr>
          <a:lstStyle/>
          <a:p>
            <a:pPr marR="13970" algn="ctr">
              <a:lnSpc>
                <a:spcPts val="2615"/>
              </a:lnSpc>
              <a:spcBef>
                <a:spcPts val="285"/>
              </a:spcBef>
            </a:pPr>
            <a:r>
              <a:rPr sz="2200" spc="-40" dirty="0">
                <a:latin typeface="Calibri"/>
                <a:cs typeface="Calibri"/>
              </a:rPr>
              <a:t>Reconnaissez-</a:t>
            </a:r>
            <a:r>
              <a:rPr sz="2200" dirty="0">
                <a:latin typeface="Calibri"/>
                <a:cs typeface="Calibri"/>
              </a:rPr>
              <a:t>vous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ces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615"/>
              </a:lnSpc>
            </a:pPr>
            <a:r>
              <a:rPr sz="2200" spc="-20" dirty="0">
                <a:latin typeface="Calibri"/>
                <a:cs typeface="Calibri"/>
              </a:rPr>
              <a:t>moteurs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?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Du</a:t>
            </a:r>
            <a:r>
              <a:rPr spc="330" dirty="0"/>
              <a:t> </a:t>
            </a:r>
            <a:r>
              <a:rPr dirty="0"/>
              <a:t>point</a:t>
            </a:r>
            <a:r>
              <a:rPr spc="210" dirty="0"/>
              <a:t> </a:t>
            </a:r>
            <a:r>
              <a:rPr spc="60" dirty="0"/>
              <a:t>de</a:t>
            </a:r>
            <a:r>
              <a:rPr spc="315" dirty="0"/>
              <a:t> </a:t>
            </a:r>
            <a:r>
              <a:rPr dirty="0"/>
              <a:t>vue</a:t>
            </a:r>
            <a:r>
              <a:rPr spc="200" dirty="0"/>
              <a:t> </a:t>
            </a:r>
            <a:r>
              <a:rPr spc="-25" dirty="0"/>
              <a:t>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Du</a:t>
            </a:r>
            <a:r>
              <a:rPr spc="330" dirty="0"/>
              <a:t> </a:t>
            </a:r>
            <a:r>
              <a:rPr dirty="0"/>
              <a:t>point</a:t>
            </a:r>
            <a:r>
              <a:rPr spc="210" dirty="0"/>
              <a:t> </a:t>
            </a:r>
            <a:r>
              <a:rPr spc="60" dirty="0"/>
              <a:t>de</a:t>
            </a:r>
            <a:r>
              <a:rPr spc="315" dirty="0"/>
              <a:t> </a:t>
            </a:r>
            <a:r>
              <a:rPr dirty="0"/>
              <a:t>vue</a:t>
            </a:r>
            <a:r>
              <a:rPr spc="200" dirty="0"/>
              <a:t> </a:t>
            </a:r>
            <a:r>
              <a:rPr spc="-25" dirty="0"/>
              <a:t>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7147" y="760552"/>
            <a:ext cx="99504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Le</a:t>
            </a:r>
            <a:r>
              <a:rPr sz="2000" spc="1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défi</a:t>
            </a: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127079"/>
                </a:solidFill>
                <a:latin typeface="Calibri"/>
                <a:cs typeface="Calibri"/>
              </a:rPr>
              <a:t>IT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787" y="1362837"/>
            <a:ext cx="10025380" cy="78549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43815" rIns="0" bIns="0" rtlCol="0">
            <a:spAutoFit/>
          </a:bodyPr>
          <a:lstStyle/>
          <a:p>
            <a:pPr marL="2668905" marR="332740" indent="-1871980">
              <a:lnSpc>
                <a:spcPts val="2590"/>
              </a:lnSpc>
              <a:spcBef>
                <a:spcPts val="345"/>
              </a:spcBef>
            </a:pPr>
            <a:r>
              <a:rPr sz="2200" dirty="0">
                <a:latin typeface="Calibri"/>
                <a:cs typeface="Calibri"/>
              </a:rPr>
              <a:t>DevOps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doit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continuellement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produire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résultats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établissant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ponts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et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améliorant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presque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tous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aspects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l’IT.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283" y="2236884"/>
            <a:ext cx="9351010" cy="41300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459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65" dirty="0">
                <a:solidFill>
                  <a:srgbClr val="252D37"/>
                </a:solidFill>
                <a:latin typeface="Calibri"/>
                <a:cs typeface="Calibri"/>
              </a:rPr>
              <a:t>L’IT</a:t>
            </a:r>
            <a:r>
              <a:rPr sz="23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doit</a:t>
            </a:r>
            <a:r>
              <a:rPr sz="23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aller</a:t>
            </a:r>
            <a:r>
              <a:rPr sz="23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3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300" spc="2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300" spc="3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vite</a:t>
            </a:r>
            <a:r>
              <a:rPr sz="23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114" dirty="0">
                <a:solidFill>
                  <a:srgbClr val="252D37"/>
                </a:solidFill>
                <a:latin typeface="Calibri"/>
                <a:cs typeface="Calibri"/>
              </a:rPr>
              <a:t>sans</a:t>
            </a:r>
            <a:r>
              <a:rPr sz="2300" spc="3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70" dirty="0">
                <a:solidFill>
                  <a:srgbClr val="252D37"/>
                </a:solidFill>
                <a:latin typeface="Calibri"/>
                <a:cs typeface="Calibri"/>
              </a:rPr>
              <a:t>impact</a:t>
            </a:r>
            <a:r>
              <a:rPr sz="23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sur</a:t>
            </a:r>
            <a:r>
              <a:rPr sz="23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3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qualité</a:t>
            </a:r>
            <a:endParaRPr sz="2300">
              <a:latin typeface="Calibri"/>
              <a:cs typeface="Calibri"/>
            </a:endParaRPr>
          </a:p>
          <a:p>
            <a:pPr marL="387350" marR="5080" indent="-375285">
              <a:lnSpc>
                <a:spcPct val="101699"/>
              </a:lnSpc>
              <a:spcBef>
                <a:spcPts val="42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3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4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80" dirty="0">
                <a:solidFill>
                  <a:srgbClr val="252D37"/>
                </a:solidFill>
                <a:latin typeface="Calibri"/>
                <a:cs typeface="Calibri"/>
              </a:rPr>
              <a:t>investissements</a:t>
            </a:r>
            <a:r>
              <a:rPr sz="2300" spc="4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antérieurs</a:t>
            </a:r>
            <a:r>
              <a:rPr sz="23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ne</a:t>
            </a:r>
            <a:r>
              <a:rPr sz="2300" spc="3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fournissent</a:t>
            </a:r>
            <a:r>
              <a:rPr sz="2300" spc="3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105" dirty="0">
                <a:solidFill>
                  <a:srgbClr val="252D37"/>
                </a:solidFill>
                <a:latin typeface="Calibri"/>
                <a:cs typeface="Calibri"/>
              </a:rPr>
              <a:t>pas</a:t>
            </a:r>
            <a:r>
              <a:rPr sz="2300" spc="48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300" spc="3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valeur</a:t>
            </a:r>
            <a:r>
              <a:rPr sz="23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3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bout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bout</a:t>
            </a:r>
            <a:r>
              <a:rPr sz="2300" spc="2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908685" marR="97790" indent="-391795">
              <a:lnSpc>
                <a:spcPct val="100499"/>
              </a:lnSpc>
              <a:spcBef>
                <a:spcPts val="2085"/>
              </a:spcBef>
              <a:tabLst>
                <a:tab pos="908685" algn="l"/>
              </a:tabLst>
            </a:pPr>
            <a:r>
              <a:rPr sz="24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3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développement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logiciel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agile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c’est</a:t>
            </a:r>
            <a:r>
              <a:rPr sz="2100" spc="2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bien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mais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ça</a:t>
            </a:r>
            <a:r>
              <a:rPr sz="21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n’apporte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80" dirty="0">
                <a:solidFill>
                  <a:srgbClr val="252D37"/>
                </a:solidFill>
                <a:latin typeface="Calibri"/>
                <a:cs typeface="Calibri"/>
              </a:rPr>
              <a:t>pas</a:t>
            </a:r>
            <a:r>
              <a:rPr sz="21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pleine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valeur</a:t>
            </a:r>
            <a:r>
              <a:rPr sz="2100" spc="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516890">
              <a:lnSpc>
                <a:spcPct val="100000"/>
              </a:lnSpc>
              <a:spcBef>
                <a:spcPts val="1980"/>
              </a:spcBef>
              <a:tabLst>
                <a:tab pos="908685" algn="l"/>
              </a:tabLst>
            </a:pPr>
            <a:r>
              <a:rPr sz="24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spc="75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3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processus</a:t>
            </a:r>
            <a:r>
              <a:rPr sz="21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ITSM</a:t>
            </a:r>
            <a:r>
              <a:rPr sz="21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c’est</a:t>
            </a:r>
            <a:r>
              <a:rPr sz="21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bien,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mais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ça</a:t>
            </a:r>
            <a:r>
              <a:rPr sz="2100" spc="3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n’apporte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80" dirty="0">
                <a:solidFill>
                  <a:srgbClr val="252D37"/>
                </a:solidFill>
                <a:latin typeface="Calibri"/>
                <a:cs typeface="Calibri"/>
              </a:rPr>
              <a:t>pas</a:t>
            </a:r>
            <a:r>
              <a:rPr sz="21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pleine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valeur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908685" marR="357505" indent="-391795">
              <a:lnSpc>
                <a:spcPct val="100899"/>
              </a:lnSpc>
              <a:spcBef>
                <a:spcPts val="1975"/>
              </a:spcBef>
              <a:tabLst>
                <a:tab pos="908685" algn="l"/>
              </a:tabLst>
            </a:pPr>
            <a:r>
              <a:rPr sz="24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nouvelle</a:t>
            </a:r>
            <a:r>
              <a:rPr sz="21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automatisation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c’est</a:t>
            </a:r>
            <a:r>
              <a:rPr sz="21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bien,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mais</a:t>
            </a:r>
            <a:r>
              <a:rPr sz="21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ça</a:t>
            </a:r>
            <a:r>
              <a:rPr sz="2100" spc="3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n’apporte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80" dirty="0">
                <a:solidFill>
                  <a:srgbClr val="252D37"/>
                </a:solidFill>
                <a:latin typeface="Calibri"/>
                <a:cs typeface="Calibri"/>
              </a:rPr>
              <a:t>pas</a:t>
            </a:r>
            <a:r>
              <a:rPr sz="2100" spc="2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pleine valeur.</a:t>
            </a:r>
            <a:endParaRPr sz="21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58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1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300" spc="4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culture</a:t>
            </a:r>
            <a:r>
              <a:rPr sz="23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IT</a:t>
            </a:r>
            <a:r>
              <a:rPr sz="23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45" dirty="0">
                <a:solidFill>
                  <a:srgbClr val="252D37"/>
                </a:solidFill>
                <a:latin typeface="Calibri"/>
                <a:cs typeface="Calibri"/>
              </a:rPr>
              <a:t>silo</a:t>
            </a:r>
            <a:r>
              <a:rPr sz="23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limite</a:t>
            </a:r>
            <a:r>
              <a:rPr sz="23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3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55" dirty="0">
                <a:solidFill>
                  <a:srgbClr val="252D37"/>
                </a:solidFill>
                <a:latin typeface="Calibri"/>
                <a:cs typeface="Calibri"/>
              </a:rPr>
              <a:t>chaîne</a:t>
            </a:r>
            <a:r>
              <a:rPr sz="2300" spc="3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valeur</a:t>
            </a:r>
            <a:r>
              <a:rPr sz="23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524" y="6481915"/>
            <a:ext cx="9881235" cy="447040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10160" rIns="0" bIns="0" rtlCol="0">
            <a:spAutoFit/>
          </a:bodyPr>
          <a:lstStyle/>
          <a:p>
            <a:pPr marL="711200">
              <a:lnSpc>
                <a:spcPct val="100000"/>
              </a:lnSpc>
              <a:spcBef>
                <a:spcPts val="80"/>
              </a:spcBef>
            </a:pPr>
            <a:r>
              <a:rPr sz="2200" spc="-45" dirty="0">
                <a:solidFill>
                  <a:srgbClr val="3D3D3D"/>
                </a:solidFill>
                <a:latin typeface="Calibri"/>
                <a:cs typeface="Calibri"/>
              </a:rPr>
              <a:t>L’</a:t>
            </a:r>
            <a:r>
              <a:rPr sz="2200" spc="-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n’a</a:t>
            </a:r>
            <a:r>
              <a:rPr sz="2200" spc="-10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plus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besoin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s’aligner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ou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s’intégrer</a:t>
            </a:r>
            <a:r>
              <a:rPr sz="2200" spc="-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au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business,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elle</a:t>
            </a:r>
            <a:r>
              <a:rPr sz="2200" spc="-4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est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le</a:t>
            </a:r>
            <a:r>
              <a:rPr sz="2200" spc="-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business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233" y="760552"/>
            <a:ext cx="24441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Le</a:t>
            </a:r>
            <a:r>
              <a:rPr sz="2000" spc="19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mur</a:t>
            </a:r>
            <a:r>
              <a:rPr sz="2000" spc="11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13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la</a:t>
            </a: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confusion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Du</a:t>
            </a:r>
            <a:r>
              <a:rPr spc="330" dirty="0"/>
              <a:t> </a:t>
            </a:r>
            <a:r>
              <a:rPr dirty="0"/>
              <a:t>point</a:t>
            </a:r>
            <a:r>
              <a:rPr spc="210" dirty="0"/>
              <a:t> </a:t>
            </a:r>
            <a:r>
              <a:rPr spc="60" dirty="0"/>
              <a:t>de</a:t>
            </a:r>
            <a:r>
              <a:rPr spc="315" dirty="0"/>
              <a:t> </a:t>
            </a:r>
            <a:r>
              <a:rPr dirty="0"/>
              <a:t>vue</a:t>
            </a:r>
            <a:r>
              <a:rPr spc="200" dirty="0"/>
              <a:t> </a:t>
            </a:r>
            <a:r>
              <a:rPr spc="-25" dirty="0"/>
              <a:t>IT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255684" y="2116264"/>
            <a:ext cx="1269365" cy="4364355"/>
            <a:chOff x="6255684" y="2116264"/>
            <a:chExt cx="1269365" cy="43643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5684" y="2129396"/>
              <a:ext cx="1268893" cy="43507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3357" y="2116264"/>
              <a:ext cx="1193482" cy="427545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812406" y="2223897"/>
            <a:ext cx="194310" cy="412622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9209" marR="5080" indent="-17145" algn="just">
              <a:lnSpc>
                <a:spcPct val="101400"/>
              </a:lnSpc>
              <a:spcBef>
                <a:spcPts val="80"/>
              </a:spcBef>
            </a:pPr>
            <a:r>
              <a:rPr sz="1400" spc="-50" dirty="0">
                <a:solidFill>
                  <a:srgbClr val="F0F0F0"/>
                </a:solidFill>
                <a:latin typeface="Arial Black"/>
                <a:cs typeface="Arial Black"/>
              </a:rPr>
              <a:t>M U R</a:t>
            </a:r>
            <a:endParaRPr sz="1400">
              <a:latin typeface="Arial Black"/>
              <a:cs typeface="Arial Black"/>
            </a:endParaRPr>
          </a:p>
          <a:p>
            <a:pPr marL="30480">
              <a:lnSpc>
                <a:spcPct val="100000"/>
              </a:lnSpc>
              <a:spcBef>
                <a:spcPts val="1714"/>
              </a:spcBef>
            </a:pPr>
            <a:r>
              <a:rPr sz="1400" spc="-50" dirty="0">
                <a:solidFill>
                  <a:srgbClr val="F0F0F0"/>
                </a:solidFill>
                <a:latin typeface="Arial Black"/>
                <a:cs typeface="Arial Black"/>
              </a:rPr>
              <a:t>D</a:t>
            </a:r>
            <a:endParaRPr sz="1400">
              <a:latin typeface="Arial Black"/>
              <a:cs typeface="Arial Black"/>
            </a:endParaRPr>
          </a:p>
          <a:p>
            <a:pPr marL="45720">
              <a:lnSpc>
                <a:spcPct val="100000"/>
              </a:lnSpc>
              <a:spcBef>
                <a:spcPts val="25"/>
              </a:spcBef>
            </a:pPr>
            <a:r>
              <a:rPr sz="1400" spc="-50" dirty="0">
                <a:solidFill>
                  <a:srgbClr val="F0F0F0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  <a:p>
            <a:pPr marL="35560" marR="11430" indent="10160">
              <a:lnSpc>
                <a:spcPct val="101400"/>
              </a:lnSpc>
              <a:spcBef>
                <a:spcPts val="1695"/>
              </a:spcBef>
            </a:pPr>
            <a:r>
              <a:rPr sz="1400" spc="-50" dirty="0">
                <a:solidFill>
                  <a:srgbClr val="F0F0F0"/>
                </a:solidFill>
                <a:latin typeface="Arial Black"/>
                <a:cs typeface="Arial Black"/>
              </a:rPr>
              <a:t>L A</a:t>
            </a:r>
            <a:endParaRPr sz="1400">
              <a:latin typeface="Arial Black"/>
              <a:cs typeface="Arial Black"/>
            </a:endParaRPr>
          </a:p>
          <a:p>
            <a:pPr marL="24765" marR="6985" indent="15240">
              <a:lnSpc>
                <a:spcPct val="101200"/>
              </a:lnSpc>
              <a:spcBef>
                <a:spcPts val="1695"/>
              </a:spcBef>
            </a:pPr>
            <a:r>
              <a:rPr sz="1400" spc="-50" dirty="0">
                <a:solidFill>
                  <a:srgbClr val="F0F0F0"/>
                </a:solidFill>
                <a:latin typeface="Arial Black"/>
                <a:cs typeface="Arial Black"/>
              </a:rPr>
              <a:t>C O N F U S I O N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29253" y="1675130"/>
            <a:ext cx="2717165" cy="4385310"/>
            <a:chOff x="3429253" y="1675130"/>
            <a:chExt cx="2717165" cy="438531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253" y="3343529"/>
              <a:ext cx="2716656" cy="271665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3550" y="1675130"/>
              <a:ext cx="1839341" cy="171653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13555" y="1692148"/>
              <a:ext cx="1759585" cy="1637030"/>
            </a:xfrm>
            <a:custGeom>
              <a:avLst/>
              <a:gdLst/>
              <a:ahLst/>
              <a:cxnLst/>
              <a:rect l="l" t="t" r="r" b="b"/>
              <a:pathLst>
                <a:path w="1759585" h="1637029">
                  <a:moveTo>
                    <a:pt x="879729" y="0"/>
                  </a:moveTo>
                  <a:lnTo>
                    <a:pt x="829818" y="1270"/>
                  </a:lnTo>
                  <a:lnTo>
                    <a:pt x="780542" y="5080"/>
                  </a:lnTo>
                  <a:lnTo>
                    <a:pt x="732155" y="11430"/>
                  </a:lnTo>
                  <a:lnTo>
                    <a:pt x="684657" y="20193"/>
                  </a:lnTo>
                  <a:lnTo>
                    <a:pt x="638175" y="31242"/>
                  </a:lnTo>
                  <a:lnTo>
                    <a:pt x="592582" y="44577"/>
                  </a:lnTo>
                  <a:lnTo>
                    <a:pt x="548132" y="60071"/>
                  </a:lnTo>
                  <a:lnTo>
                    <a:pt x="504952" y="77724"/>
                  </a:lnTo>
                  <a:lnTo>
                    <a:pt x="462915" y="97409"/>
                  </a:lnTo>
                  <a:lnTo>
                    <a:pt x="422275" y="119126"/>
                  </a:lnTo>
                  <a:lnTo>
                    <a:pt x="383032" y="142748"/>
                  </a:lnTo>
                  <a:lnTo>
                    <a:pt x="345186" y="168275"/>
                  </a:lnTo>
                  <a:lnTo>
                    <a:pt x="308991" y="195580"/>
                  </a:lnTo>
                  <a:lnTo>
                    <a:pt x="274320" y="224536"/>
                  </a:lnTo>
                  <a:lnTo>
                    <a:pt x="241427" y="255143"/>
                  </a:lnTo>
                  <a:lnTo>
                    <a:pt x="210185" y="287401"/>
                  </a:lnTo>
                  <a:lnTo>
                    <a:pt x="180848" y="321056"/>
                  </a:lnTo>
                  <a:lnTo>
                    <a:pt x="153543" y="356235"/>
                  </a:lnTo>
                  <a:lnTo>
                    <a:pt x="128143" y="392811"/>
                  </a:lnTo>
                  <a:lnTo>
                    <a:pt x="104775" y="430657"/>
                  </a:lnTo>
                  <a:lnTo>
                    <a:pt x="83566" y="469646"/>
                  </a:lnTo>
                  <a:lnTo>
                    <a:pt x="64516" y="509905"/>
                  </a:lnTo>
                  <a:lnTo>
                    <a:pt x="47879" y="551180"/>
                  </a:lnTo>
                  <a:lnTo>
                    <a:pt x="33528" y="593598"/>
                  </a:lnTo>
                  <a:lnTo>
                    <a:pt x="21717" y="636905"/>
                  </a:lnTo>
                  <a:lnTo>
                    <a:pt x="12319" y="680974"/>
                  </a:lnTo>
                  <a:lnTo>
                    <a:pt x="5461" y="726059"/>
                  </a:lnTo>
                  <a:lnTo>
                    <a:pt x="1397" y="771779"/>
                  </a:lnTo>
                  <a:lnTo>
                    <a:pt x="0" y="818261"/>
                  </a:lnTo>
                  <a:lnTo>
                    <a:pt x="1397" y="864616"/>
                  </a:lnTo>
                  <a:lnTo>
                    <a:pt x="5461" y="910463"/>
                  </a:lnTo>
                  <a:lnTo>
                    <a:pt x="12319" y="955421"/>
                  </a:lnTo>
                  <a:lnTo>
                    <a:pt x="21717" y="999617"/>
                  </a:lnTo>
                  <a:lnTo>
                    <a:pt x="33528" y="1042924"/>
                  </a:lnTo>
                  <a:lnTo>
                    <a:pt x="47879" y="1085215"/>
                  </a:lnTo>
                  <a:lnTo>
                    <a:pt x="64516" y="1126617"/>
                  </a:lnTo>
                  <a:lnTo>
                    <a:pt x="83566" y="1166749"/>
                  </a:lnTo>
                  <a:lnTo>
                    <a:pt x="104775" y="1205865"/>
                  </a:lnTo>
                  <a:lnTo>
                    <a:pt x="128143" y="1243711"/>
                  </a:lnTo>
                  <a:lnTo>
                    <a:pt x="153543" y="1280160"/>
                  </a:lnTo>
                  <a:lnTo>
                    <a:pt x="180848" y="1315339"/>
                  </a:lnTo>
                  <a:lnTo>
                    <a:pt x="210185" y="1349121"/>
                  </a:lnTo>
                  <a:lnTo>
                    <a:pt x="241427" y="1381252"/>
                  </a:lnTo>
                  <a:lnTo>
                    <a:pt x="274320" y="1411986"/>
                  </a:lnTo>
                  <a:lnTo>
                    <a:pt x="308991" y="1440942"/>
                  </a:lnTo>
                  <a:lnTo>
                    <a:pt x="345186" y="1468247"/>
                  </a:lnTo>
                  <a:lnTo>
                    <a:pt x="383032" y="1493647"/>
                  </a:lnTo>
                  <a:lnTo>
                    <a:pt x="422275" y="1517269"/>
                  </a:lnTo>
                  <a:lnTo>
                    <a:pt x="462915" y="1538986"/>
                  </a:lnTo>
                  <a:lnTo>
                    <a:pt x="504952" y="1558798"/>
                  </a:lnTo>
                  <a:lnTo>
                    <a:pt x="548132" y="1576451"/>
                  </a:lnTo>
                  <a:lnTo>
                    <a:pt x="592582" y="1591945"/>
                  </a:lnTo>
                  <a:lnTo>
                    <a:pt x="638175" y="1605280"/>
                  </a:lnTo>
                  <a:lnTo>
                    <a:pt x="684657" y="1616329"/>
                  </a:lnTo>
                  <a:lnTo>
                    <a:pt x="732155" y="1625092"/>
                  </a:lnTo>
                  <a:lnTo>
                    <a:pt x="780542" y="1631315"/>
                  </a:lnTo>
                  <a:lnTo>
                    <a:pt x="829818" y="1635252"/>
                  </a:lnTo>
                  <a:lnTo>
                    <a:pt x="879729" y="1636522"/>
                  </a:lnTo>
                  <a:lnTo>
                    <a:pt x="929640" y="1635252"/>
                  </a:lnTo>
                  <a:lnTo>
                    <a:pt x="978789" y="1631315"/>
                  </a:lnTo>
                  <a:lnTo>
                    <a:pt x="1027176" y="1625092"/>
                  </a:lnTo>
                  <a:lnTo>
                    <a:pt x="1074674" y="1616329"/>
                  </a:lnTo>
                  <a:lnTo>
                    <a:pt x="1121283" y="1605280"/>
                  </a:lnTo>
                  <a:lnTo>
                    <a:pt x="1166749" y="1591945"/>
                  </a:lnTo>
                  <a:lnTo>
                    <a:pt x="1211199" y="1576451"/>
                  </a:lnTo>
                  <a:lnTo>
                    <a:pt x="1254379" y="1558798"/>
                  </a:lnTo>
                  <a:lnTo>
                    <a:pt x="1296416" y="1538986"/>
                  </a:lnTo>
                  <a:lnTo>
                    <a:pt x="1337056" y="1517269"/>
                  </a:lnTo>
                  <a:lnTo>
                    <a:pt x="1376299" y="1493647"/>
                  </a:lnTo>
                  <a:lnTo>
                    <a:pt x="1414145" y="1468247"/>
                  </a:lnTo>
                  <a:lnTo>
                    <a:pt x="1450340" y="1440942"/>
                  </a:lnTo>
                  <a:lnTo>
                    <a:pt x="1485011" y="1411986"/>
                  </a:lnTo>
                  <a:lnTo>
                    <a:pt x="1517904" y="1381252"/>
                  </a:lnTo>
                  <a:lnTo>
                    <a:pt x="1549146" y="1349121"/>
                  </a:lnTo>
                  <a:lnTo>
                    <a:pt x="1578483" y="1315339"/>
                  </a:lnTo>
                  <a:lnTo>
                    <a:pt x="1605788" y="1280160"/>
                  </a:lnTo>
                  <a:lnTo>
                    <a:pt x="1631315" y="1243711"/>
                  </a:lnTo>
                  <a:lnTo>
                    <a:pt x="1654556" y="1205865"/>
                  </a:lnTo>
                  <a:lnTo>
                    <a:pt x="1675765" y="1166749"/>
                  </a:lnTo>
                  <a:lnTo>
                    <a:pt x="1694815" y="1126617"/>
                  </a:lnTo>
                  <a:lnTo>
                    <a:pt x="1711452" y="1085215"/>
                  </a:lnTo>
                  <a:lnTo>
                    <a:pt x="1725803" y="1042924"/>
                  </a:lnTo>
                  <a:lnTo>
                    <a:pt x="1737741" y="999617"/>
                  </a:lnTo>
                  <a:lnTo>
                    <a:pt x="1747012" y="955421"/>
                  </a:lnTo>
                  <a:lnTo>
                    <a:pt x="1753870" y="910463"/>
                  </a:lnTo>
                  <a:lnTo>
                    <a:pt x="1757934" y="864616"/>
                  </a:lnTo>
                  <a:lnTo>
                    <a:pt x="1759331" y="818261"/>
                  </a:lnTo>
                  <a:lnTo>
                    <a:pt x="1757934" y="771779"/>
                  </a:lnTo>
                  <a:lnTo>
                    <a:pt x="1753870" y="726059"/>
                  </a:lnTo>
                  <a:lnTo>
                    <a:pt x="1747012" y="680974"/>
                  </a:lnTo>
                  <a:lnTo>
                    <a:pt x="1737741" y="636905"/>
                  </a:lnTo>
                  <a:lnTo>
                    <a:pt x="1725803" y="593598"/>
                  </a:lnTo>
                  <a:lnTo>
                    <a:pt x="1711452" y="551180"/>
                  </a:lnTo>
                  <a:lnTo>
                    <a:pt x="1694815" y="509905"/>
                  </a:lnTo>
                  <a:lnTo>
                    <a:pt x="1675765" y="469646"/>
                  </a:lnTo>
                  <a:lnTo>
                    <a:pt x="1654556" y="430657"/>
                  </a:lnTo>
                  <a:lnTo>
                    <a:pt x="1631315" y="392811"/>
                  </a:lnTo>
                  <a:lnTo>
                    <a:pt x="1605788" y="356235"/>
                  </a:lnTo>
                  <a:lnTo>
                    <a:pt x="1578483" y="321056"/>
                  </a:lnTo>
                  <a:lnTo>
                    <a:pt x="1549146" y="287401"/>
                  </a:lnTo>
                  <a:lnTo>
                    <a:pt x="1517904" y="255143"/>
                  </a:lnTo>
                  <a:lnTo>
                    <a:pt x="1485011" y="224536"/>
                  </a:lnTo>
                  <a:lnTo>
                    <a:pt x="1450340" y="195580"/>
                  </a:lnTo>
                  <a:lnTo>
                    <a:pt x="1414145" y="168275"/>
                  </a:lnTo>
                  <a:lnTo>
                    <a:pt x="1376299" y="142748"/>
                  </a:lnTo>
                  <a:lnTo>
                    <a:pt x="1337056" y="119126"/>
                  </a:lnTo>
                  <a:lnTo>
                    <a:pt x="1296416" y="97409"/>
                  </a:lnTo>
                  <a:lnTo>
                    <a:pt x="1254379" y="77724"/>
                  </a:lnTo>
                  <a:lnTo>
                    <a:pt x="1211199" y="60071"/>
                  </a:lnTo>
                  <a:lnTo>
                    <a:pt x="1166749" y="44577"/>
                  </a:lnTo>
                  <a:lnTo>
                    <a:pt x="1121283" y="31242"/>
                  </a:lnTo>
                  <a:lnTo>
                    <a:pt x="1074674" y="20193"/>
                  </a:lnTo>
                  <a:lnTo>
                    <a:pt x="1027176" y="11430"/>
                  </a:lnTo>
                  <a:lnTo>
                    <a:pt x="978789" y="5080"/>
                  </a:lnTo>
                  <a:lnTo>
                    <a:pt x="929640" y="1270"/>
                  </a:lnTo>
                  <a:lnTo>
                    <a:pt x="87972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801736" y="1670939"/>
            <a:ext cx="2412365" cy="4418965"/>
            <a:chOff x="7801736" y="1670939"/>
            <a:chExt cx="2412365" cy="441896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1736" y="3447415"/>
              <a:ext cx="2411856" cy="264248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31276" y="1670939"/>
              <a:ext cx="1839341" cy="183006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71154" y="1687957"/>
              <a:ext cx="1759585" cy="1750060"/>
            </a:xfrm>
            <a:custGeom>
              <a:avLst/>
              <a:gdLst/>
              <a:ahLst/>
              <a:cxnLst/>
              <a:rect l="l" t="t" r="r" b="b"/>
              <a:pathLst>
                <a:path w="1759584" h="1750060">
                  <a:moveTo>
                    <a:pt x="879728" y="0"/>
                  </a:moveTo>
                  <a:lnTo>
                    <a:pt x="831469" y="1270"/>
                  </a:lnTo>
                  <a:lnTo>
                    <a:pt x="783844" y="5080"/>
                  </a:lnTo>
                  <a:lnTo>
                    <a:pt x="737108" y="11430"/>
                  </a:lnTo>
                  <a:lnTo>
                    <a:pt x="691006" y="20193"/>
                  </a:lnTo>
                  <a:lnTo>
                    <a:pt x="645922" y="31242"/>
                  </a:lnTo>
                  <a:lnTo>
                    <a:pt x="601726" y="44576"/>
                  </a:lnTo>
                  <a:lnTo>
                    <a:pt x="558546" y="60198"/>
                  </a:lnTo>
                  <a:lnTo>
                    <a:pt x="516381" y="77850"/>
                  </a:lnTo>
                  <a:lnTo>
                    <a:pt x="475488" y="97662"/>
                  </a:lnTo>
                  <a:lnTo>
                    <a:pt x="435737" y="119507"/>
                  </a:lnTo>
                  <a:lnTo>
                    <a:pt x="397255" y="143256"/>
                  </a:lnTo>
                  <a:lnTo>
                    <a:pt x="360172" y="168783"/>
                  </a:lnTo>
                  <a:lnTo>
                    <a:pt x="324485" y="196214"/>
                  </a:lnTo>
                  <a:lnTo>
                    <a:pt x="290322" y="225425"/>
                  </a:lnTo>
                  <a:lnTo>
                    <a:pt x="257683" y="256286"/>
                  </a:lnTo>
                  <a:lnTo>
                    <a:pt x="226695" y="288798"/>
                  </a:lnTo>
                  <a:lnTo>
                    <a:pt x="197358" y="322707"/>
                  </a:lnTo>
                  <a:lnTo>
                    <a:pt x="169799" y="358267"/>
                  </a:lnTo>
                  <a:lnTo>
                    <a:pt x="144018" y="395097"/>
                  </a:lnTo>
                  <a:lnTo>
                    <a:pt x="120142" y="433324"/>
                  </a:lnTo>
                  <a:lnTo>
                    <a:pt x="98298" y="472948"/>
                  </a:lnTo>
                  <a:lnTo>
                    <a:pt x="78359" y="513588"/>
                  </a:lnTo>
                  <a:lnTo>
                    <a:pt x="60578" y="555498"/>
                  </a:lnTo>
                  <a:lnTo>
                    <a:pt x="44958" y="598424"/>
                  </a:lnTo>
                  <a:lnTo>
                    <a:pt x="31496" y="642365"/>
                  </a:lnTo>
                  <a:lnTo>
                    <a:pt x="20320" y="687324"/>
                  </a:lnTo>
                  <a:lnTo>
                    <a:pt x="11556" y="733044"/>
                  </a:lnTo>
                  <a:lnTo>
                    <a:pt x="5206" y="779652"/>
                  </a:lnTo>
                  <a:lnTo>
                    <a:pt x="1397" y="827024"/>
                  </a:lnTo>
                  <a:lnTo>
                    <a:pt x="0" y="875030"/>
                  </a:lnTo>
                  <a:lnTo>
                    <a:pt x="1397" y="923036"/>
                  </a:lnTo>
                  <a:lnTo>
                    <a:pt x="5206" y="970407"/>
                  </a:lnTo>
                  <a:lnTo>
                    <a:pt x="11556" y="1016888"/>
                  </a:lnTo>
                  <a:lnTo>
                    <a:pt x="20320" y="1062736"/>
                  </a:lnTo>
                  <a:lnTo>
                    <a:pt x="31496" y="1107567"/>
                  </a:lnTo>
                  <a:lnTo>
                    <a:pt x="44958" y="1151636"/>
                  </a:lnTo>
                  <a:lnTo>
                    <a:pt x="60578" y="1194562"/>
                  </a:lnTo>
                  <a:lnTo>
                    <a:pt x="78359" y="1236345"/>
                  </a:lnTo>
                  <a:lnTo>
                    <a:pt x="98298" y="1277112"/>
                  </a:lnTo>
                  <a:lnTo>
                    <a:pt x="120142" y="1316609"/>
                  </a:lnTo>
                  <a:lnTo>
                    <a:pt x="144018" y="1354836"/>
                  </a:lnTo>
                  <a:lnTo>
                    <a:pt x="169799" y="1391793"/>
                  </a:lnTo>
                  <a:lnTo>
                    <a:pt x="197358" y="1427226"/>
                  </a:lnTo>
                  <a:lnTo>
                    <a:pt x="226695" y="1461262"/>
                  </a:lnTo>
                  <a:lnTo>
                    <a:pt x="257683" y="1493774"/>
                  </a:lnTo>
                  <a:lnTo>
                    <a:pt x="290322" y="1524635"/>
                  </a:lnTo>
                  <a:lnTo>
                    <a:pt x="324485" y="1553718"/>
                  </a:lnTo>
                  <a:lnTo>
                    <a:pt x="360172" y="1581150"/>
                  </a:lnTo>
                  <a:lnTo>
                    <a:pt x="397255" y="1606804"/>
                  </a:lnTo>
                  <a:lnTo>
                    <a:pt x="435737" y="1630552"/>
                  </a:lnTo>
                  <a:lnTo>
                    <a:pt x="475488" y="1652397"/>
                  </a:lnTo>
                  <a:lnTo>
                    <a:pt x="516381" y="1672082"/>
                  </a:lnTo>
                  <a:lnTo>
                    <a:pt x="558546" y="1689862"/>
                  </a:lnTo>
                  <a:lnTo>
                    <a:pt x="601726" y="1705356"/>
                  </a:lnTo>
                  <a:lnTo>
                    <a:pt x="645922" y="1718818"/>
                  </a:lnTo>
                  <a:lnTo>
                    <a:pt x="691006" y="1729867"/>
                  </a:lnTo>
                  <a:lnTo>
                    <a:pt x="737108" y="1738502"/>
                  </a:lnTo>
                  <a:lnTo>
                    <a:pt x="783844" y="1744852"/>
                  </a:lnTo>
                  <a:lnTo>
                    <a:pt x="831469" y="1748663"/>
                  </a:lnTo>
                  <a:lnTo>
                    <a:pt x="879728" y="1750060"/>
                  </a:lnTo>
                  <a:lnTo>
                    <a:pt x="927989" y="1748663"/>
                  </a:lnTo>
                  <a:lnTo>
                    <a:pt x="975614" y="1744852"/>
                  </a:lnTo>
                  <a:lnTo>
                    <a:pt x="1022476" y="1738502"/>
                  </a:lnTo>
                  <a:lnTo>
                    <a:pt x="1068451" y="1729867"/>
                  </a:lnTo>
                  <a:lnTo>
                    <a:pt x="1113663" y="1718818"/>
                  </a:lnTo>
                  <a:lnTo>
                    <a:pt x="1157859" y="1705356"/>
                  </a:lnTo>
                  <a:lnTo>
                    <a:pt x="1201039" y="1689862"/>
                  </a:lnTo>
                  <a:lnTo>
                    <a:pt x="1243076" y="1672082"/>
                  </a:lnTo>
                  <a:lnTo>
                    <a:pt x="1283970" y="1652397"/>
                  </a:lnTo>
                  <a:lnTo>
                    <a:pt x="1323721" y="1630552"/>
                  </a:lnTo>
                  <a:lnTo>
                    <a:pt x="1362202" y="1606804"/>
                  </a:lnTo>
                  <a:lnTo>
                    <a:pt x="1399286" y="1581150"/>
                  </a:lnTo>
                  <a:lnTo>
                    <a:pt x="1434973" y="1553718"/>
                  </a:lnTo>
                  <a:lnTo>
                    <a:pt x="1469136" y="1524635"/>
                  </a:lnTo>
                  <a:lnTo>
                    <a:pt x="1501775" y="1493774"/>
                  </a:lnTo>
                  <a:lnTo>
                    <a:pt x="1532763" y="1461262"/>
                  </a:lnTo>
                  <a:lnTo>
                    <a:pt x="1562100" y="1427226"/>
                  </a:lnTo>
                  <a:lnTo>
                    <a:pt x="1589786" y="1391793"/>
                  </a:lnTo>
                  <a:lnTo>
                    <a:pt x="1615440" y="1354836"/>
                  </a:lnTo>
                  <a:lnTo>
                    <a:pt x="1639316" y="1316609"/>
                  </a:lnTo>
                  <a:lnTo>
                    <a:pt x="1661287" y="1277112"/>
                  </a:lnTo>
                  <a:lnTo>
                    <a:pt x="1681099" y="1236345"/>
                  </a:lnTo>
                  <a:lnTo>
                    <a:pt x="1699005" y="1194562"/>
                  </a:lnTo>
                  <a:lnTo>
                    <a:pt x="1714627" y="1151636"/>
                  </a:lnTo>
                  <a:lnTo>
                    <a:pt x="1728089" y="1107567"/>
                  </a:lnTo>
                  <a:lnTo>
                    <a:pt x="1739138" y="1062736"/>
                  </a:lnTo>
                  <a:lnTo>
                    <a:pt x="1747901" y="1016888"/>
                  </a:lnTo>
                  <a:lnTo>
                    <a:pt x="1754251" y="970407"/>
                  </a:lnTo>
                  <a:lnTo>
                    <a:pt x="1758188" y="923036"/>
                  </a:lnTo>
                  <a:lnTo>
                    <a:pt x="1759458" y="875030"/>
                  </a:lnTo>
                  <a:lnTo>
                    <a:pt x="1758061" y="825500"/>
                  </a:lnTo>
                  <a:lnTo>
                    <a:pt x="1753870" y="776224"/>
                  </a:lnTo>
                  <a:lnTo>
                    <a:pt x="1746885" y="727583"/>
                  </a:lnTo>
                  <a:lnTo>
                    <a:pt x="1737233" y="679576"/>
                  </a:lnTo>
                  <a:lnTo>
                    <a:pt x="1724914" y="632206"/>
                  </a:lnTo>
                  <a:lnTo>
                    <a:pt x="1710054" y="585724"/>
                  </a:lnTo>
                  <a:lnTo>
                    <a:pt x="1692528" y="540131"/>
                  </a:lnTo>
                  <a:lnTo>
                    <a:pt x="1672463" y="495681"/>
                  </a:lnTo>
                  <a:lnTo>
                    <a:pt x="1649984" y="452247"/>
                  </a:lnTo>
                  <a:lnTo>
                    <a:pt x="1624965" y="410083"/>
                  </a:lnTo>
                  <a:lnTo>
                    <a:pt x="1597660" y="369315"/>
                  </a:lnTo>
                  <a:lnTo>
                    <a:pt x="1568069" y="330073"/>
                  </a:lnTo>
                  <a:lnTo>
                    <a:pt x="1536065" y="292354"/>
                  </a:lnTo>
                  <a:lnTo>
                    <a:pt x="1501775" y="256286"/>
                  </a:lnTo>
                  <a:lnTo>
                    <a:pt x="1465579" y="222250"/>
                  </a:lnTo>
                  <a:lnTo>
                    <a:pt x="1427606" y="190373"/>
                  </a:lnTo>
                  <a:lnTo>
                    <a:pt x="1388110" y="160909"/>
                  </a:lnTo>
                  <a:lnTo>
                    <a:pt x="1347089" y="133731"/>
                  </a:lnTo>
                  <a:lnTo>
                    <a:pt x="1304798" y="108838"/>
                  </a:lnTo>
                  <a:lnTo>
                    <a:pt x="1261237" y="86487"/>
                  </a:lnTo>
                  <a:lnTo>
                    <a:pt x="1216405" y="66548"/>
                  </a:lnTo>
                  <a:lnTo>
                    <a:pt x="1170559" y="49149"/>
                  </a:lnTo>
                  <a:lnTo>
                    <a:pt x="1123823" y="34289"/>
                  </a:lnTo>
                  <a:lnTo>
                    <a:pt x="1076198" y="22098"/>
                  </a:lnTo>
                  <a:lnTo>
                    <a:pt x="1027938" y="12446"/>
                  </a:lnTo>
                  <a:lnTo>
                    <a:pt x="979043" y="5587"/>
                  </a:lnTo>
                  <a:lnTo>
                    <a:pt x="929640" y="1397"/>
                  </a:lnTo>
                  <a:lnTo>
                    <a:pt x="87972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92270" y="1775206"/>
            <a:ext cx="1029335" cy="14097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065" marR="5080" indent="-16510" algn="ctr">
              <a:lnSpc>
                <a:spcPct val="101099"/>
              </a:lnSpc>
              <a:spcBef>
                <a:spcPts val="75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Dev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apporte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des </a:t>
            </a:r>
            <a:r>
              <a:rPr sz="1800" spc="-145" dirty="0">
                <a:solidFill>
                  <a:srgbClr val="FFFFFF"/>
                </a:solidFill>
                <a:latin typeface="Arial MT"/>
                <a:cs typeface="Arial MT"/>
              </a:rPr>
              <a:t>change-</a:t>
            </a:r>
            <a:r>
              <a:rPr sz="1800" spc="-85" dirty="0">
                <a:solidFill>
                  <a:srgbClr val="FFFFFF"/>
                </a:solidFill>
                <a:latin typeface="Arial MT"/>
                <a:cs typeface="Arial MT"/>
              </a:rPr>
              <a:t>me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nts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8439657" y="2104136"/>
            <a:ext cx="846455" cy="8547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01099"/>
              </a:lnSpc>
              <a:spcBef>
                <a:spcPts val="75"/>
              </a:spcBef>
            </a:pPr>
            <a:r>
              <a:rPr sz="1800" spc="-80" dirty="0">
                <a:solidFill>
                  <a:srgbClr val="FFFFFF"/>
                </a:solidFill>
                <a:latin typeface="Arial MT"/>
                <a:cs typeface="Arial MT"/>
              </a:rPr>
              <a:t>Ops</a:t>
            </a:r>
            <a:r>
              <a:rPr sz="1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Arial MT"/>
                <a:cs typeface="Arial MT"/>
              </a:rPr>
              <a:t>veut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la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stabilité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0222" y="3173476"/>
            <a:ext cx="3021965" cy="213931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30480" rIns="0" bIns="0" rtlCol="0">
            <a:spAutoFit/>
          </a:bodyPr>
          <a:lstStyle/>
          <a:p>
            <a:pPr marL="125095" marR="111125" indent="3175" algn="ctr">
              <a:lnSpc>
                <a:spcPct val="98500"/>
              </a:lnSpc>
              <a:spcBef>
                <a:spcPts val="240"/>
              </a:spcBef>
            </a:pPr>
            <a:r>
              <a:rPr sz="2200" dirty="0">
                <a:latin typeface="Calibri"/>
                <a:cs typeface="Calibri"/>
              </a:rPr>
              <a:t>Qu'en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5" dirty="0">
                <a:latin typeface="Calibri"/>
                <a:cs typeface="Calibri"/>
              </a:rPr>
              <a:t>est-</a:t>
            </a:r>
            <a:r>
              <a:rPr sz="2200" dirty="0">
                <a:latin typeface="Calibri"/>
                <a:cs typeface="Calibri"/>
              </a:rPr>
              <a:t>il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la </a:t>
            </a:r>
            <a:r>
              <a:rPr sz="2200" spc="-10" dirty="0">
                <a:latin typeface="Calibri"/>
                <a:cs typeface="Calibri"/>
              </a:rPr>
              <a:t>sécurité,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la </a:t>
            </a:r>
            <a:r>
              <a:rPr sz="2200" dirty="0">
                <a:latin typeface="Calibri"/>
                <a:cs typeface="Calibri"/>
              </a:rPr>
              <a:t>gouvernance,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la </a:t>
            </a:r>
            <a:r>
              <a:rPr sz="2200" spc="-10" dirty="0">
                <a:latin typeface="Calibri"/>
                <a:cs typeface="Calibri"/>
              </a:rPr>
              <a:t>gestion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risques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conformité </a:t>
            </a:r>
            <a:r>
              <a:rPr sz="2200" spc="-60" dirty="0">
                <a:latin typeface="Calibri"/>
                <a:cs typeface="Calibri"/>
              </a:rPr>
              <a:t>?</a:t>
            </a:r>
            <a:endParaRPr sz="2200">
              <a:latin typeface="Calibri"/>
              <a:cs typeface="Calibri"/>
            </a:endParaRPr>
          </a:p>
          <a:p>
            <a:pPr marL="4445" algn="ctr">
              <a:lnSpc>
                <a:spcPts val="2495"/>
              </a:lnSpc>
            </a:pPr>
            <a:r>
              <a:rPr sz="2200" dirty="0">
                <a:latin typeface="Calibri"/>
                <a:cs typeface="Calibri"/>
              </a:rPr>
              <a:t>Que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veulent-</a:t>
            </a:r>
            <a:r>
              <a:rPr sz="2200" dirty="0">
                <a:latin typeface="Calibri"/>
                <a:cs typeface="Calibri"/>
              </a:rPr>
              <a:t>ils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?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8348" y="3352990"/>
            <a:ext cx="5755005" cy="884555"/>
            <a:chOff x="2538348" y="3352990"/>
            <a:chExt cx="5755005" cy="884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9914" y="3498097"/>
              <a:ext cx="1891365" cy="7393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24755" y="3529838"/>
              <a:ext cx="1781810" cy="625475"/>
            </a:xfrm>
            <a:custGeom>
              <a:avLst/>
              <a:gdLst/>
              <a:ahLst/>
              <a:cxnLst/>
              <a:rect l="l" t="t" r="r" b="b"/>
              <a:pathLst>
                <a:path w="1781810" h="625475">
                  <a:moveTo>
                    <a:pt x="0" y="625093"/>
                  </a:moveTo>
                  <a:lnTo>
                    <a:pt x="890778" y="0"/>
                  </a:lnTo>
                  <a:lnTo>
                    <a:pt x="1781683" y="625093"/>
                  </a:lnTo>
                  <a:lnTo>
                    <a:pt x="0" y="625093"/>
                  </a:lnTo>
                  <a:close/>
                </a:path>
              </a:pathLst>
            </a:custGeom>
            <a:ln w="571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8348" y="3352990"/>
              <a:ext cx="5754497" cy="2324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83052" y="3374821"/>
              <a:ext cx="5665470" cy="143510"/>
            </a:xfrm>
            <a:custGeom>
              <a:avLst/>
              <a:gdLst/>
              <a:ahLst/>
              <a:cxnLst/>
              <a:rect l="l" t="t" r="r" b="b"/>
              <a:pathLst>
                <a:path w="5665470" h="143510">
                  <a:moveTo>
                    <a:pt x="5664962" y="0"/>
                  </a:moveTo>
                  <a:lnTo>
                    <a:pt x="0" y="0"/>
                  </a:lnTo>
                  <a:lnTo>
                    <a:pt x="0" y="142951"/>
                  </a:lnTo>
                  <a:lnTo>
                    <a:pt x="5664962" y="142951"/>
                  </a:lnTo>
                  <a:lnTo>
                    <a:pt x="5664962" y="0"/>
                  </a:lnTo>
                  <a:close/>
                </a:path>
              </a:pathLst>
            </a:custGeom>
            <a:solidFill>
              <a:srgbClr val="FFA6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83052" y="3374821"/>
              <a:ext cx="5665470" cy="143510"/>
            </a:xfrm>
            <a:custGeom>
              <a:avLst/>
              <a:gdLst/>
              <a:ahLst/>
              <a:cxnLst/>
              <a:rect l="l" t="t" r="r" b="b"/>
              <a:pathLst>
                <a:path w="5665470" h="143510">
                  <a:moveTo>
                    <a:pt x="0" y="142951"/>
                  </a:moveTo>
                  <a:lnTo>
                    <a:pt x="5664962" y="142951"/>
                  </a:lnTo>
                  <a:lnTo>
                    <a:pt x="5664962" y="0"/>
                  </a:lnTo>
                  <a:lnTo>
                    <a:pt x="0" y="0"/>
                  </a:lnTo>
                  <a:lnTo>
                    <a:pt x="0" y="142951"/>
                  </a:lnTo>
                  <a:close/>
                </a:path>
              </a:pathLst>
            </a:custGeom>
            <a:ln w="9523">
              <a:solidFill>
                <a:srgbClr val="F6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6233" y="760552"/>
            <a:ext cx="24441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Le</a:t>
            </a:r>
            <a:r>
              <a:rPr sz="2000" spc="19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mur</a:t>
            </a:r>
            <a:r>
              <a:rPr sz="2000" spc="11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13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la</a:t>
            </a: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confusion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04234" y="2930779"/>
            <a:ext cx="303911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60" dirty="0">
                <a:solidFill>
                  <a:srgbClr val="404040"/>
                </a:solidFill>
                <a:latin typeface="Arial"/>
                <a:cs typeface="Arial"/>
              </a:rPr>
              <a:t>Quels</a:t>
            </a:r>
            <a:r>
              <a:rPr sz="2300" b="1" spc="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spc="-210" dirty="0">
                <a:solidFill>
                  <a:srgbClr val="404040"/>
                </a:solidFill>
                <a:latin typeface="Arial"/>
                <a:cs typeface="Arial"/>
              </a:rPr>
              <a:t>sont</a:t>
            </a:r>
            <a:r>
              <a:rPr sz="2300" b="1" spc="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spc="-175" dirty="0">
                <a:solidFill>
                  <a:srgbClr val="404040"/>
                </a:solidFill>
                <a:latin typeface="Arial"/>
                <a:cs typeface="Arial"/>
              </a:rPr>
              <a:t>les</a:t>
            </a:r>
            <a:r>
              <a:rPr sz="2300" b="1" spc="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spc="-185" dirty="0">
                <a:solidFill>
                  <a:srgbClr val="404040"/>
                </a:solidFill>
                <a:latin typeface="Arial"/>
                <a:cs typeface="Arial"/>
              </a:rPr>
              <a:t>dangers</a:t>
            </a:r>
            <a:r>
              <a:rPr sz="2300" b="1" spc="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spc="-360" dirty="0">
                <a:solidFill>
                  <a:srgbClr val="404040"/>
                </a:solidFill>
                <a:latin typeface="Arial"/>
                <a:cs typeface="Arial"/>
              </a:rPr>
              <a:t>?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57335" y="2911297"/>
            <a:ext cx="1285875" cy="72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2300" b="1" spc="-225" dirty="0">
                <a:solidFill>
                  <a:srgbClr val="404040"/>
                </a:solidFill>
                <a:latin typeface="Arial"/>
                <a:cs typeface="Arial"/>
              </a:rPr>
              <a:t>Accent</a:t>
            </a:r>
            <a:r>
              <a:rPr sz="2300" b="1" spc="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spc="-210" dirty="0">
                <a:solidFill>
                  <a:srgbClr val="404040"/>
                </a:solidFill>
                <a:latin typeface="Arial"/>
                <a:cs typeface="Arial"/>
              </a:rPr>
              <a:t>sur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300" b="1" dirty="0">
                <a:solidFill>
                  <a:srgbClr val="404040"/>
                </a:solidFill>
                <a:latin typeface="Arial"/>
                <a:cs typeface="Arial"/>
              </a:rPr>
              <a:t>la</a:t>
            </a:r>
            <a:r>
              <a:rPr sz="2300" b="1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spc="-130" dirty="0">
                <a:solidFill>
                  <a:srgbClr val="404040"/>
                </a:solidFill>
                <a:latin typeface="Arial"/>
                <a:cs typeface="Arial"/>
              </a:rPr>
              <a:t>stabilité</a:t>
            </a:r>
            <a:endParaRPr sz="2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8352" y="2911297"/>
            <a:ext cx="1583690" cy="72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25" dirty="0">
                <a:solidFill>
                  <a:srgbClr val="404040"/>
                </a:solidFill>
                <a:latin typeface="Arial"/>
                <a:cs typeface="Arial"/>
              </a:rPr>
              <a:t>Accent</a:t>
            </a:r>
            <a:r>
              <a:rPr sz="2300" b="1" spc="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spc="-235" dirty="0">
                <a:solidFill>
                  <a:srgbClr val="404040"/>
                </a:solidFill>
                <a:latin typeface="Arial"/>
                <a:cs typeface="Arial"/>
              </a:rPr>
              <a:t>sur</a:t>
            </a:r>
            <a:r>
              <a:rPr sz="2300" b="1" spc="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spc="-55" dirty="0">
                <a:solidFill>
                  <a:srgbClr val="404040"/>
                </a:solidFill>
                <a:latin typeface="Arial"/>
                <a:cs typeface="Arial"/>
              </a:rPr>
              <a:t>le</a:t>
            </a:r>
            <a:endParaRPr sz="230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</a:pPr>
            <a:r>
              <a:rPr sz="2300" b="1" spc="-155" dirty="0">
                <a:solidFill>
                  <a:srgbClr val="404040"/>
                </a:solidFill>
                <a:latin typeface="Arial"/>
                <a:cs typeface="Arial"/>
              </a:rPr>
              <a:t>changement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70810" y="3138798"/>
            <a:ext cx="1248410" cy="93345"/>
            <a:chOff x="2670810" y="3138798"/>
            <a:chExt cx="1248410" cy="93345"/>
          </a:xfrm>
        </p:grpSpPr>
        <p:sp>
          <p:nvSpPr>
            <p:cNvPr id="14" name="object 14"/>
            <p:cNvSpPr/>
            <p:nvPr/>
          </p:nvSpPr>
          <p:spPr>
            <a:xfrm>
              <a:off x="2741295" y="3185160"/>
              <a:ext cx="1177925" cy="0"/>
            </a:xfrm>
            <a:custGeom>
              <a:avLst/>
              <a:gdLst/>
              <a:ahLst/>
              <a:cxnLst/>
              <a:rect l="l" t="t" r="r" b="b"/>
              <a:pathLst>
                <a:path w="1177925">
                  <a:moveTo>
                    <a:pt x="1177925" y="0"/>
                  </a:moveTo>
                  <a:lnTo>
                    <a:pt x="0" y="0"/>
                  </a:lnTo>
                </a:path>
              </a:pathLst>
            </a:custGeom>
            <a:ln w="28573">
              <a:solidFill>
                <a:srgbClr val="FFA6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0810" y="3138798"/>
              <a:ext cx="116865" cy="9284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229736" y="5025136"/>
            <a:ext cx="4303395" cy="899794"/>
          </a:xfrm>
          <a:prstGeom prst="rect">
            <a:avLst/>
          </a:prstGeom>
          <a:solidFill>
            <a:srgbClr val="D7D7D7"/>
          </a:solidFill>
        </p:spPr>
        <p:txBody>
          <a:bodyPr vert="horz" wrap="square" lIns="0" tIns="25400" rIns="0" bIns="0" rtlCol="0">
            <a:spAutoFit/>
          </a:bodyPr>
          <a:lstStyle/>
          <a:p>
            <a:pPr marL="6350" algn="ctr">
              <a:lnSpc>
                <a:spcPts val="2675"/>
              </a:lnSpc>
              <a:spcBef>
                <a:spcPts val="200"/>
              </a:spcBef>
            </a:pPr>
            <a:r>
              <a:rPr sz="2300" b="1" dirty="0">
                <a:solidFill>
                  <a:srgbClr val="404040"/>
                </a:solidFill>
                <a:latin typeface="Arial"/>
                <a:cs typeface="Arial"/>
              </a:rPr>
              <a:t>Que</a:t>
            </a:r>
            <a:r>
              <a:rPr sz="2300" b="1" spc="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404040"/>
                </a:solidFill>
                <a:latin typeface="Arial"/>
                <a:cs typeface="Arial"/>
              </a:rPr>
              <a:t>veut</a:t>
            </a:r>
            <a:r>
              <a:rPr sz="2300" b="1" spc="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404040"/>
                </a:solidFill>
                <a:latin typeface="Arial"/>
                <a:cs typeface="Arial"/>
              </a:rPr>
              <a:t>le</a:t>
            </a:r>
            <a:r>
              <a:rPr sz="2300" b="1" spc="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404040"/>
                </a:solidFill>
                <a:latin typeface="Arial"/>
                <a:cs typeface="Arial"/>
              </a:rPr>
              <a:t>business </a:t>
            </a:r>
            <a:r>
              <a:rPr sz="2300" b="1" spc="-50" dirty="0">
                <a:solidFill>
                  <a:srgbClr val="404040"/>
                </a:solidFill>
                <a:latin typeface="Arial"/>
                <a:cs typeface="Arial"/>
              </a:rPr>
              <a:t>?</a:t>
            </a:r>
            <a:endParaRPr sz="2300">
              <a:latin typeface="Arial"/>
              <a:cs typeface="Arial"/>
            </a:endParaRPr>
          </a:p>
          <a:p>
            <a:pPr marL="5715" algn="ctr">
              <a:lnSpc>
                <a:spcPts val="3275"/>
              </a:lnSpc>
            </a:pPr>
            <a:r>
              <a:rPr sz="2800" b="1" dirty="0">
                <a:solidFill>
                  <a:srgbClr val="404040"/>
                </a:solidFill>
                <a:latin typeface="Calibri"/>
                <a:cs typeface="Calibri"/>
              </a:rPr>
              <a:t>Les</a:t>
            </a:r>
            <a:r>
              <a:rPr sz="28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04040"/>
                </a:solidFill>
                <a:latin typeface="Calibri"/>
                <a:cs typeface="Calibri"/>
              </a:rPr>
              <a:t>trois</a:t>
            </a:r>
            <a:r>
              <a:rPr sz="28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404040"/>
                </a:solidFill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18832" y="3138798"/>
            <a:ext cx="1248410" cy="93345"/>
            <a:chOff x="6918832" y="3138798"/>
            <a:chExt cx="1248410" cy="93345"/>
          </a:xfrm>
        </p:grpSpPr>
        <p:sp>
          <p:nvSpPr>
            <p:cNvPr id="18" name="object 18"/>
            <p:cNvSpPr/>
            <p:nvPr/>
          </p:nvSpPr>
          <p:spPr>
            <a:xfrm>
              <a:off x="6918832" y="3185160"/>
              <a:ext cx="1177925" cy="0"/>
            </a:xfrm>
            <a:custGeom>
              <a:avLst/>
              <a:gdLst/>
              <a:ahLst/>
              <a:cxnLst/>
              <a:rect l="l" t="t" r="r" b="b"/>
              <a:pathLst>
                <a:path w="1177925">
                  <a:moveTo>
                    <a:pt x="0" y="0"/>
                  </a:moveTo>
                  <a:lnTo>
                    <a:pt x="1177798" y="0"/>
                  </a:lnTo>
                </a:path>
              </a:pathLst>
            </a:custGeom>
            <a:ln w="28573">
              <a:solidFill>
                <a:srgbClr val="FFA6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50275" y="3138798"/>
              <a:ext cx="116862" cy="9284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918328" y="4139565"/>
            <a:ext cx="91122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14" dirty="0">
                <a:solidFill>
                  <a:srgbClr val="404040"/>
                </a:solidFill>
                <a:latin typeface="Arial"/>
                <a:cs typeface="Arial"/>
              </a:rPr>
              <a:t>Qualité</a:t>
            </a:r>
            <a:endParaRPr sz="23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Du</a:t>
            </a:r>
            <a:r>
              <a:rPr spc="330" dirty="0"/>
              <a:t> </a:t>
            </a:r>
            <a:r>
              <a:rPr dirty="0"/>
              <a:t>point</a:t>
            </a:r>
            <a:r>
              <a:rPr spc="210" dirty="0"/>
              <a:t> </a:t>
            </a:r>
            <a:r>
              <a:rPr spc="60" dirty="0"/>
              <a:t>de</a:t>
            </a:r>
            <a:r>
              <a:rPr spc="315" dirty="0"/>
              <a:t> </a:t>
            </a:r>
            <a:r>
              <a:rPr dirty="0"/>
              <a:t>vue</a:t>
            </a:r>
            <a:r>
              <a:rPr spc="200" dirty="0"/>
              <a:t> </a:t>
            </a:r>
            <a:r>
              <a:rPr spc="-25" dirty="0"/>
              <a:t>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233" y="760552"/>
            <a:ext cx="25641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La</a:t>
            </a:r>
            <a:r>
              <a:rPr sz="2000" spc="24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culture</a:t>
            </a:r>
            <a:r>
              <a:rPr sz="2000" spc="9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en</a:t>
            </a: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silo</a:t>
            </a:r>
            <a:r>
              <a:rPr sz="2000" spc="114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14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27079"/>
                </a:solidFill>
                <a:latin typeface="Calibri"/>
                <a:cs typeface="Calibri"/>
              </a:rPr>
              <a:t>l’IT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573" y="4841189"/>
            <a:ext cx="9771380" cy="146240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890395" marR="1873885" algn="ctr">
              <a:lnSpc>
                <a:spcPts val="2600"/>
              </a:lnSpc>
              <a:spcBef>
                <a:spcPts val="325"/>
              </a:spcBef>
            </a:pPr>
            <a:r>
              <a:rPr sz="2200" dirty="0">
                <a:latin typeface="Calibri"/>
                <a:cs typeface="Calibri"/>
              </a:rPr>
              <a:t>Des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silos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isolés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peuvent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favoriser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stéréotypes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et </a:t>
            </a:r>
            <a:r>
              <a:rPr sz="2200" dirty="0">
                <a:latin typeface="Calibri"/>
                <a:cs typeface="Calibri"/>
              </a:rPr>
              <a:t>idées</a:t>
            </a:r>
            <a:r>
              <a:rPr sz="2200" spc="-1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fausses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Dev,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d’autres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équipes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IT.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400"/>
              </a:lnSpc>
            </a:pPr>
            <a:r>
              <a:rPr sz="2200" dirty="0">
                <a:latin typeface="Calibri"/>
                <a:cs typeface="Calibri"/>
              </a:rPr>
              <a:t>Cela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peut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également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affecter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flux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travail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capacité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l’IT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innover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en</a:t>
            </a:r>
            <a:endParaRPr sz="2200">
              <a:latin typeface="Calibri"/>
              <a:cs typeface="Calibri"/>
            </a:endParaRPr>
          </a:p>
          <a:p>
            <a:pPr marL="2540" algn="ctr">
              <a:lnSpc>
                <a:spcPts val="2620"/>
              </a:lnSpc>
            </a:pPr>
            <a:r>
              <a:rPr sz="2200" spc="-10" dirty="0">
                <a:latin typeface="Calibri"/>
                <a:cs typeface="Calibri"/>
              </a:rPr>
              <a:t>permanence.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48636" y="1886458"/>
            <a:ext cx="2063750" cy="2660015"/>
            <a:chOff x="2048636" y="1886458"/>
            <a:chExt cx="2063750" cy="26600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8636" y="2482469"/>
              <a:ext cx="2063495" cy="20634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5557" y="1886458"/>
              <a:ext cx="1401191" cy="6144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45562" y="1903476"/>
              <a:ext cx="1321435" cy="534670"/>
            </a:xfrm>
            <a:custGeom>
              <a:avLst/>
              <a:gdLst/>
              <a:ahLst/>
              <a:cxnLst/>
              <a:rect l="l" t="t" r="r" b="b"/>
              <a:pathLst>
                <a:path w="1321435" h="534669">
                  <a:moveTo>
                    <a:pt x="1232153" y="0"/>
                  </a:moveTo>
                  <a:lnTo>
                    <a:pt x="89026" y="0"/>
                  </a:lnTo>
                  <a:lnTo>
                    <a:pt x="54356" y="6985"/>
                  </a:lnTo>
                  <a:lnTo>
                    <a:pt x="26035" y="26162"/>
                  </a:lnTo>
                  <a:lnTo>
                    <a:pt x="6985" y="54355"/>
                  </a:lnTo>
                  <a:lnTo>
                    <a:pt x="0" y="89026"/>
                  </a:lnTo>
                  <a:lnTo>
                    <a:pt x="0" y="445388"/>
                  </a:lnTo>
                  <a:lnTo>
                    <a:pt x="6985" y="480060"/>
                  </a:lnTo>
                  <a:lnTo>
                    <a:pt x="26035" y="508380"/>
                  </a:lnTo>
                  <a:lnTo>
                    <a:pt x="54356" y="527430"/>
                  </a:lnTo>
                  <a:lnTo>
                    <a:pt x="89026" y="534415"/>
                  </a:lnTo>
                  <a:lnTo>
                    <a:pt x="1232153" y="534415"/>
                  </a:lnTo>
                  <a:lnTo>
                    <a:pt x="1266825" y="527430"/>
                  </a:lnTo>
                  <a:lnTo>
                    <a:pt x="1295146" y="508380"/>
                  </a:lnTo>
                  <a:lnTo>
                    <a:pt x="1314196" y="480060"/>
                  </a:lnTo>
                  <a:lnTo>
                    <a:pt x="1321181" y="445388"/>
                  </a:lnTo>
                  <a:lnTo>
                    <a:pt x="1321181" y="89026"/>
                  </a:lnTo>
                  <a:lnTo>
                    <a:pt x="1314450" y="54990"/>
                  </a:lnTo>
                  <a:lnTo>
                    <a:pt x="1281557" y="14986"/>
                  </a:lnTo>
                  <a:lnTo>
                    <a:pt x="123215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386703" y="1901317"/>
            <a:ext cx="1897380" cy="2689225"/>
            <a:chOff x="6386703" y="1901317"/>
            <a:chExt cx="1897380" cy="26892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6703" y="2512187"/>
              <a:ext cx="1896999" cy="207835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1295" y="1901317"/>
              <a:ext cx="1401191" cy="6144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591300" y="1918335"/>
              <a:ext cx="1321435" cy="534670"/>
            </a:xfrm>
            <a:custGeom>
              <a:avLst/>
              <a:gdLst/>
              <a:ahLst/>
              <a:cxnLst/>
              <a:rect l="l" t="t" r="r" b="b"/>
              <a:pathLst>
                <a:path w="1321434" h="534669">
                  <a:moveTo>
                    <a:pt x="1232153" y="0"/>
                  </a:moveTo>
                  <a:lnTo>
                    <a:pt x="89153" y="0"/>
                  </a:lnTo>
                  <a:lnTo>
                    <a:pt x="54482" y="6985"/>
                  </a:lnTo>
                  <a:lnTo>
                    <a:pt x="26161" y="26035"/>
                  </a:lnTo>
                  <a:lnTo>
                    <a:pt x="6984" y="54356"/>
                  </a:lnTo>
                  <a:lnTo>
                    <a:pt x="0" y="89027"/>
                  </a:lnTo>
                  <a:lnTo>
                    <a:pt x="0" y="445389"/>
                  </a:lnTo>
                  <a:lnTo>
                    <a:pt x="6984" y="480060"/>
                  </a:lnTo>
                  <a:lnTo>
                    <a:pt x="26161" y="508381"/>
                  </a:lnTo>
                  <a:lnTo>
                    <a:pt x="54482" y="527431"/>
                  </a:lnTo>
                  <a:lnTo>
                    <a:pt x="89153" y="534416"/>
                  </a:lnTo>
                  <a:lnTo>
                    <a:pt x="1232153" y="534416"/>
                  </a:lnTo>
                  <a:lnTo>
                    <a:pt x="1266825" y="527431"/>
                  </a:lnTo>
                  <a:lnTo>
                    <a:pt x="1295146" y="508381"/>
                  </a:lnTo>
                  <a:lnTo>
                    <a:pt x="1314323" y="480060"/>
                  </a:lnTo>
                  <a:lnTo>
                    <a:pt x="1321307" y="445389"/>
                  </a:lnTo>
                  <a:lnTo>
                    <a:pt x="1321307" y="89027"/>
                  </a:lnTo>
                  <a:lnTo>
                    <a:pt x="1314450" y="54991"/>
                  </a:lnTo>
                  <a:lnTo>
                    <a:pt x="1281556" y="14986"/>
                  </a:lnTo>
                  <a:lnTo>
                    <a:pt x="123215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87523" y="1978914"/>
            <a:ext cx="4464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30" dirty="0">
                <a:solidFill>
                  <a:srgbClr val="FFFFFF"/>
                </a:solidFill>
                <a:latin typeface="Arial MT"/>
                <a:cs typeface="Arial MT"/>
              </a:rPr>
              <a:t>Dev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7018401" y="1993773"/>
            <a:ext cx="4870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Ops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97197" y="3407791"/>
            <a:ext cx="159702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Sécurité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70" dirty="0">
                <a:latin typeface="Arial MT"/>
                <a:cs typeface="Arial MT"/>
              </a:rPr>
              <a:t>Assurance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40" dirty="0">
                <a:latin typeface="Arial MT"/>
                <a:cs typeface="Arial MT"/>
              </a:rPr>
              <a:t>qualité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79485" y="3524758"/>
            <a:ext cx="1203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latin typeface="Arial MT"/>
                <a:cs typeface="Arial MT"/>
              </a:rPr>
              <a:t>Service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Desk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Du</a:t>
            </a:r>
            <a:r>
              <a:rPr spc="330" dirty="0"/>
              <a:t> </a:t>
            </a:r>
            <a:r>
              <a:rPr dirty="0"/>
              <a:t>point</a:t>
            </a:r>
            <a:r>
              <a:rPr spc="210" dirty="0"/>
              <a:t> </a:t>
            </a:r>
            <a:r>
              <a:rPr spc="60" dirty="0"/>
              <a:t>de</a:t>
            </a:r>
            <a:r>
              <a:rPr spc="315" dirty="0"/>
              <a:t> </a:t>
            </a:r>
            <a:r>
              <a:rPr dirty="0"/>
              <a:t>vue</a:t>
            </a:r>
            <a:r>
              <a:rPr spc="200" dirty="0"/>
              <a:t> </a:t>
            </a:r>
            <a:r>
              <a:rPr spc="-25" dirty="0"/>
              <a:t>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233" y="760552"/>
            <a:ext cx="4093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Présentation</a:t>
            </a:r>
            <a:r>
              <a:rPr sz="2000" spc="1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127079"/>
                </a:solidFill>
                <a:latin typeface="Calibri"/>
                <a:cs typeface="Calibri"/>
              </a:rPr>
              <a:t>des</a:t>
            </a:r>
            <a:r>
              <a:rPr sz="2000" spc="229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Three</a:t>
            </a:r>
            <a:r>
              <a:rPr sz="2000" spc="15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ways</a:t>
            </a:r>
            <a:r>
              <a:rPr sz="2000" spc="23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(3</a:t>
            </a:r>
            <a:r>
              <a:rPr sz="2000" spc="1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voies)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780" y="2443518"/>
            <a:ext cx="2179574" cy="2930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4378" y="2127224"/>
            <a:ext cx="2176526" cy="6440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30058" y="2197278"/>
            <a:ext cx="2612898" cy="636981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64121" y="2861056"/>
          <a:ext cx="961898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1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070"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1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Première</a:t>
                      </a:r>
                      <a:r>
                        <a:rPr sz="2100" spc="-9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1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voie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92CCDC"/>
                    </a:solidFill>
                  </a:tcPr>
                </a:tc>
                <a:tc>
                  <a:txBody>
                    <a:bodyPr/>
                    <a:lstStyle/>
                    <a:p>
                      <a:pPr marL="21272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1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Deuxième</a:t>
                      </a:r>
                      <a:r>
                        <a:rPr sz="2100" spc="-1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1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voie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92CCDC"/>
                    </a:solidFill>
                  </a:tcPr>
                </a:tc>
                <a:tc>
                  <a:txBody>
                    <a:bodyPr/>
                    <a:lstStyle/>
                    <a:p>
                      <a:pPr marL="92392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1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Troisième</a:t>
                      </a:r>
                      <a:r>
                        <a:rPr sz="2100" spc="-1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1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voie</a:t>
                      </a:r>
                      <a:endParaRPr sz="21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solidFill>
                      <a:srgbClr val="92C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545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20" dirty="0">
                          <a:latin typeface="Arial MT"/>
                          <a:cs typeface="Arial MT"/>
                        </a:rPr>
                        <a:t>Flux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21590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10" dirty="0">
                          <a:latin typeface="Arial MT"/>
                          <a:cs typeface="Arial MT"/>
                        </a:rPr>
                        <a:t>Feedback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31750" marB="0">
                    <a:solidFill>
                      <a:srgbClr val="DAEDF3"/>
                    </a:solidFill>
                  </a:tcPr>
                </a:tc>
                <a:tc>
                  <a:txBody>
                    <a:bodyPr/>
                    <a:lstStyle/>
                    <a:p>
                      <a:pPr marL="546100" marR="381635" indent="234315">
                        <a:lnSpc>
                          <a:spcPct val="100699"/>
                        </a:lnSpc>
                        <a:spcBef>
                          <a:spcPts val="215"/>
                        </a:spcBef>
                      </a:pPr>
                      <a:r>
                        <a:rPr sz="1900" spc="-20" dirty="0">
                          <a:latin typeface="Arial MT"/>
                          <a:cs typeface="Arial MT"/>
                        </a:rPr>
                        <a:t>Experimentation</a:t>
                      </a:r>
                      <a:r>
                        <a:rPr sz="19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25" dirty="0">
                          <a:latin typeface="Arial MT"/>
                          <a:cs typeface="Arial MT"/>
                        </a:rPr>
                        <a:t>et </a:t>
                      </a:r>
                      <a:r>
                        <a:rPr sz="1900" spc="-20" dirty="0">
                          <a:latin typeface="Arial MT"/>
                          <a:cs typeface="Arial MT"/>
                        </a:rPr>
                        <a:t>apprentissage</a:t>
                      </a:r>
                      <a:r>
                        <a:rPr sz="19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900" spc="-10" dirty="0">
                          <a:latin typeface="Arial MT"/>
                          <a:cs typeface="Arial MT"/>
                        </a:rPr>
                        <a:t>continus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solidFill>
                      <a:srgbClr val="DA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655726" y="3979926"/>
            <a:ext cx="2852420" cy="518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Comprendre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améliorer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flux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travail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gauche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à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droite)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2832" y="3979926"/>
            <a:ext cx="2823210" cy="76771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0"/>
              </a:spcBef>
            </a:pPr>
            <a:r>
              <a:rPr sz="1600" dirty="0">
                <a:latin typeface="Arial MT"/>
                <a:cs typeface="Arial MT"/>
              </a:rPr>
              <a:t>Créer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boucles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feedback permettant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amélioration </a:t>
            </a:r>
            <a:r>
              <a:rPr sz="1600" dirty="0">
                <a:latin typeface="Arial MT"/>
                <a:cs typeface="Arial MT"/>
              </a:rPr>
              <a:t>continue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(de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droite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à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gauche)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9963" y="3996055"/>
            <a:ext cx="2788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Créer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culture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qui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favorise</a:t>
            </a:r>
            <a:r>
              <a:rPr sz="1600" spc="-50" dirty="0">
                <a:latin typeface="Arial MT"/>
                <a:cs typeface="Arial MT"/>
              </a:rPr>
              <a:t> 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95490" y="4227703"/>
            <a:ext cx="2992755" cy="15125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70510" marR="5080" indent="-258445" algn="just">
              <a:lnSpc>
                <a:spcPct val="102200"/>
              </a:lnSpc>
              <a:spcBef>
                <a:spcPts val="50"/>
              </a:spcBef>
              <a:buSzPct val="84375"/>
              <a:buChar char="•"/>
              <a:tabLst>
                <a:tab pos="273050" algn="l"/>
              </a:tabLst>
            </a:pPr>
            <a:r>
              <a:rPr sz="1600" dirty="0">
                <a:latin typeface="Arial MT"/>
                <a:cs typeface="Arial MT"/>
              </a:rPr>
              <a:t>L’expérimentation,</a:t>
            </a:r>
            <a:r>
              <a:rPr sz="1600" spc="114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prise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de 	</a:t>
            </a:r>
            <a:r>
              <a:rPr sz="1600" dirty="0">
                <a:latin typeface="Arial MT"/>
                <a:cs typeface="Arial MT"/>
              </a:rPr>
              <a:t>risques et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tirer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 leçons </a:t>
            </a:r>
            <a:r>
              <a:rPr sz="1600" spc="-25" dirty="0">
                <a:latin typeface="Arial MT"/>
                <a:cs typeface="Arial MT"/>
              </a:rPr>
              <a:t>des 	</a:t>
            </a:r>
            <a:r>
              <a:rPr sz="1600" dirty="0">
                <a:latin typeface="Arial MT"/>
                <a:cs typeface="Arial MT"/>
              </a:rPr>
              <a:t>échecs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;</a:t>
            </a:r>
            <a:endParaRPr sz="1600">
              <a:latin typeface="Arial MT"/>
              <a:cs typeface="Arial MT"/>
            </a:endParaRPr>
          </a:p>
          <a:p>
            <a:pPr marL="270510" marR="71120" indent="-258445" algn="just">
              <a:lnSpc>
                <a:spcPct val="101899"/>
              </a:lnSpc>
              <a:buSzPct val="84375"/>
              <a:buChar char="•"/>
              <a:tabLst>
                <a:tab pos="273050" algn="l"/>
              </a:tabLst>
            </a:pPr>
            <a:r>
              <a:rPr sz="1600" dirty="0">
                <a:latin typeface="Arial MT"/>
                <a:cs typeface="Arial MT"/>
              </a:rPr>
              <a:t>Comprendre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que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répétition 	</a:t>
            </a:r>
            <a:r>
              <a:rPr sz="1600" dirty="0">
                <a:latin typeface="Arial MT"/>
                <a:cs typeface="Arial MT"/>
              </a:rPr>
              <a:t>et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pratique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est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condition 	</a:t>
            </a:r>
            <a:r>
              <a:rPr sz="1600" dirty="0">
                <a:latin typeface="Arial MT"/>
                <a:cs typeface="Arial MT"/>
              </a:rPr>
              <a:t>préalable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à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maîtrise.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233" y="760552"/>
            <a:ext cx="26371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La</a:t>
            </a:r>
            <a:r>
              <a:rPr sz="2000" spc="1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première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voie</a:t>
            </a:r>
            <a:r>
              <a:rPr sz="2000" spc="3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:</a:t>
            </a:r>
            <a:r>
              <a:rPr sz="2000" spc="5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le</a:t>
            </a: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27079"/>
                </a:solidFill>
                <a:latin typeface="Calibri"/>
                <a:cs typeface="Calibri"/>
              </a:rPr>
              <a:t>flux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958" y="2023999"/>
            <a:ext cx="6443091" cy="4333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9091" y="2776671"/>
            <a:ext cx="8844280" cy="25126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58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5" dirty="0">
                <a:latin typeface="Calibri"/>
                <a:cs typeface="Calibri"/>
              </a:rPr>
              <a:t>Comprendre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</a:t>
            </a:r>
            <a:r>
              <a:rPr sz="2300" spc="1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flux</a:t>
            </a:r>
            <a:r>
              <a:rPr sz="2300" spc="2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travail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6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Améliorer</a:t>
            </a:r>
            <a:r>
              <a:rPr sz="2300" spc="1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</a:t>
            </a:r>
            <a:r>
              <a:rPr sz="2300" spc="2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flux</a:t>
            </a:r>
            <a:r>
              <a:rPr sz="2300" spc="3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identifiant</a:t>
            </a:r>
            <a:r>
              <a:rPr sz="2300" spc="215" dirty="0">
                <a:latin typeface="Calibri"/>
                <a:cs typeface="Calibri"/>
              </a:rPr>
              <a:t> </a:t>
            </a:r>
            <a:r>
              <a:rPr sz="2300" spc="70" dirty="0">
                <a:latin typeface="Calibri"/>
                <a:cs typeface="Calibri"/>
              </a:rPr>
              <a:t>puis</a:t>
            </a:r>
            <a:r>
              <a:rPr sz="2300" spc="3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supprimant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les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contraintes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6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Ne</a:t>
            </a:r>
            <a:r>
              <a:rPr sz="2300" spc="330" dirty="0">
                <a:latin typeface="Calibri"/>
                <a:cs typeface="Calibri"/>
              </a:rPr>
              <a:t> </a:t>
            </a:r>
            <a:r>
              <a:rPr sz="2300" spc="75" dirty="0">
                <a:latin typeface="Calibri"/>
                <a:cs typeface="Calibri"/>
              </a:rPr>
              <a:t>jamais</a:t>
            </a:r>
            <a:r>
              <a:rPr sz="2300" spc="3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transmettre</a:t>
            </a:r>
            <a:r>
              <a:rPr sz="2300" spc="2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</a:t>
            </a:r>
            <a:r>
              <a:rPr sz="2300" spc="2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défaut</a:t>
            </a:r>
            <a:r>
              <a:rPr sz="2300" spc="22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connu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vers</a:t>
            </a:r>
            <a:r>
              <a:rPr sz="2300" spc="3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l’aval</a:t>
            </a:r>
            <a:endParaRPr sz="2300">
              <a:latin typeface="Calibri"/>
              <a:cs typeface="Calibri"/>
            </a:endParaRPr>
          </a:p>
          <a:p>
            <a:pPr marL="387350" marR="73025" indent="-375285">
              <a:lnSpc>
                <a:spcPct val="102200"/>
              </a:lnSpc>
              <a:spcBef>
                <a:spcPts val="5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Ne</a:t>
            </a:r>
            <a:r>
              <a:rPr sz="2300" spc="355" dirty="0">
                <a:latin typeface="Calibri"/>
                <a:cs typeface="Calibri"/>
              </a:rPr>
              <a:t> </a:t>
            </a:r>
            <a:r>
              <a:rPr sz="2300" spc="75" dirty="0">
                <a:latin typeface="Calibri"/>
                <a:cs typeface="Calibri"/>
              </a:rPr>
              <a:t>jamais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70" dirty="0">
                <a:latin typeface="Calibri"/>
                <a:cs typeface="Calibri"/>
              </a:rPr>
              <a:t>laisser</a:t>
            </a:r>
            <a:r>
              <a:rPr sz="2300" spc="3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une</a:t>
            </a:r>
            <a:r>
              <a:rPr sz="2300" spc="3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optimisation</a:t>
            </a:r>
            <a:r>
              <a:rPr sz="2300" spc="35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locale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entrainer</a:t>
            </a:r>
            <a:r>
              <a:rPr sz="2300" spc="2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dégradation </a:t>
            </a:r>
            <a:r>
              <a:rPr sz="2300" spc="50" dirty="0">
                <a:latin typeface="Calibri"/>
                <a:cs typeface="Calibri"/>
              </a:rPr>
              <a:t>globale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69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Atteindre</a:t>
            </a:r>
            <a:r>
              <a:rPr sz="2300" spc="2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une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véritable</a:t>
            </a:r>
            <a:r>
              <a:rPr sz="2300" spc="240" dirty="0">
                <a:latin typeface="Calibri"/>
                <a:cs typeface="Calibri"/>
              </a:rPr>
              <a:t> </a:t>
            </a:r>
            <a:r>
              <a:rPr sz="2300" spc="70" dirty="0">
                <a:latin typeface="Calibri"/>
                <a:cs typeface="Calibri"/>
              </a:rPr>
              <a:t>compréhension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l'ensemble</a:t>
            </a:r>
            <a:r>
              <a:rPr sz="2300" spc="3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système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977263" y="5667413"/>
            <a:ext cx="6809105" cy="78549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27939" rIns="0" bIns="0" rtlCol="0">
            <a:spAutoFit/>
          </a:bodyPr>
          <a:lstStyle/>
          <a:p>
            <a:pPr marR="45085" algn="ctr">
              <a:lnSpc>
                <a:spcPts val="2620"/>
              </a:lnSpc>
              <a:spcBef>
                <a:spcPts val="219"/>
              </a:spcBef>
            </a:pPr>
            <a:r>
              <a:rPr sz="2200" dirty="0">
                <a:latin typeface="Calibri"/>
                <a:cs typeface="Calibri"/>
              </a:rPr>
              <a:t>La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première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voie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fluidifier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travail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afin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qu’il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s’</a:t>
            </a:r>
            <a:endParaRPr sz="2200">
              <a:latin typeface="Calibri"/>
              <a:cs typeface="Calibri"/>
            </a:endParaRPr>
          </a:p>
          <a:p>
            <a:pPr marR="15240" algn="ctr">
              <a:lnSpc>
                <a:spcPts val="2620"/>
              </a:lnSpc>
            </a:pPr>
            <a:r>
              <a:rPr sz="2200" dirty="0">
                <a:latin typeface="Calibri"/>
                <a:cs typeface="Calibri"/>
              </a:rPr>
              <a:t>écoule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rapidement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gauche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droite.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894" y="1546052"/>
            <a:ext cx="10463769" cy="11773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6538" y="760552"/>
            <a:ext cx="2523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Théorie</a:t>
            </a:r>
            <a:r>
              <a:rPr sz="2000" spc="114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127079"/>
                </a:solidFill>
                <a:latin typeface="Calibri"/>
                <a:cs typeface="Calibri"/>
              </a:rPr>
              <a:t>des</a:t>
            </a:r>
            <a:r>
              <a:rPr sz="2000" spc="20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contraintes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75260" y="1559509"/>
            <a:ext cx="10383520" cy="109664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26670" rIns="0" bIns="0" rtlCol="0">
            <a:spAutoFit/>
          </a:bodyPr>
          <a:lstStyle/>
          <a:p>
            <a:pPr marL="361950" marR="352425" indent="-2540" algn="ctr">
              <a:lnSpc>
                <a:spcPct val="98400"/>
              </a:lnSpc>
              <a:spcBef>
                <a:spcPts val="210"/>
              </a:spcBef>
            </a:pPr>
            <a:r>
              <a:rPr sz="2200" dirty="0">
                <a:latin typeface="Calibri"/>
                <a:cs typeface="Calibri"/>
              </a:rPr>
              <a:t>Une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approche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permettant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d’identifier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plus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important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facteur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limitant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(c.à-</a:t>
            </a:r>
            <a:r>
              <a:rPr sz="2200" dirty="0">
                <a:latin typeface="Calibri"/>
                <a:cs typeface="Calibri"/>
              </a:rPr>
              <a:t>d.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la </a:t>
            </a:r>
            <a:r>
              <a:rPr sz="2200" spc="-20" dirty="0">
                <a:latin typeface="Calibri"/>
                <a:cs typeface="Calibri"/>
              </a:rPr>
              <a:t>contrainte)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retarde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l’atteinte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d’un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objectif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systématiquement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optimiser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cette contrainte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jusqu'à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qu'elle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soit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plus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facteur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limitant.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338" y="2868354"/>
            <a:ext cx="9362440" cy="251523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63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10" dirty="0">
                <a:latin typeface="Calibri"/>
                <a:cs typeface="Calibri"/>
              </a:rPr>
              <a:t>La</a:t>
            </a:r>
            <a:r>
              <a:rPr sz="2300" spc="50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théorie</a:t>
            </a:r>
            <a:r>
              <a:rPr sz="2300" spc="260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4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contraintes</a:t>
            </a:r>
            <a:r>
              <a:rPr sz="2300" spc="4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reconnaît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que</a:t>
            </a:r>
            <a:r>
              <a:rPr sz="2300" spc="36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865505" marR="101600" lvl="1" indent="-312420">
              <a:lnSpc>
                <a:spcPts val="2500"/>
              </a:lnSpc>
              <a:spcBef>
                <a:spcPts val="590"/>
              </a:spcBef>
              <a:buSzPct val="78571"/>
              <a:buFont typeface="Arial MT"/>
              <a:buChar char="–"/>
              <a:tabLst>
                <a:tab pos="865505" algn="l"/>
              </a:tabLst>
            </a:pP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Chaque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processus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au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moins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contrainte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ou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goulot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d'étranglement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qui</a:t>
            </a:r>
            <a:r>
              <a:rPr sz="21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affecte</a:t>
            </a:r>
            <a:r>
              <a:rPr sz="21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sa</a:t>
            </a:r>
            <a:r>
              <a:rPr sz="21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capacité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atteindre</a:t>
            </a:r>
            <a:r>
              <a:rPr sz="21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son</a:t>
            </a:r>
            <a:r>
              <a:rPr sz="21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objectif</a:t>
            </a:r>
            <a:r>
              <a:rPr sz="21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65505" marR="139700" lvl="1" indent="-312420">
              <a:lnSpc>
                <a:spcPts val="2500"/>
              </a:lnSpc>
              <a:spcBef>
                <a:spcPts val="400"/>
              </a:spcBef>
              <a:buSzPct val="78571"/>
              <a:buFont typeface="Arial MT"/>
              <a:buChar char="–"/>
              <a:tabLst>
                <a:tab pos="865505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2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processus</a:t>
            </a:r>
            <a:r>
              <a:rPr sz="21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pourra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au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maximum</a:t>
            </a:r>
            <a:r>
              <a:rPr sz="21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atteindre</a:t>
            </a:r>
            <a:r>
              <a:rPr sz="21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45" dirty="0">
                <a:solidFill>
                  <a:srgbClr val="252D37"/>
                </a:solidFill>
                <a:latin typeface="Calibri"/>
                <a:cs typeface="Calibri"/>
              </a:rPr>
              <a:t>capacité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ses</a:t>
            </a:r>
            <a:r>
              <a:rPr sz="21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contraintes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pourra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être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efficace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limite</a:t>
            </a:r>
            <a:r>
              <a:rPr sz="2100" spc="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son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maillon</a:t>
            </a:r>
            <a:r>
              <a:rPr sz="2100" spc="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faible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65505" lvl="1" indent="-311785">
              <a:lnSpc>
                <a:spcPts val="2510"/>
              </a:lnSpc>
              <a:spcBef>
                <a:spcPts val="300"/>
              </a:spcBef>
              <a:buSzPct val="78571"/>
              <a:buFont typeface="Arial MT"/>
              <a:buChar char="–"/>
              <a:tabLst>
                <a:tab pos="865505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L’optimisation</a:t>
            </a:r>
            <a:r>
              <a:rPr sz="2100" spc="1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contraintes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est</a:t>
            </a:r>
            <a:r>
              <a:rPr sz="21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1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moyen</a:t>
            </a:r>
            <a:r>
              <a:rPr sz="21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rapide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1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efficace</a:t>
            </a:r>
            <a:endParaRPr sz="2100">
              <a:latin typeface="Calibri"/>
              <a:cs typeface="Calibri"/>
            </a:endParaRPr>
          </a:p>
          <a:p>
            <a:pPr marL="865505">
              <a:lnSpc>
                <a:spcPts val="2510"/>
              </a:lnSpc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d'améliorer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l'ensemble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processus</a:t>
            </a:r>
            <a:r>
              <a:rPr sz="2100" spc="2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ou</a:t>
            </a:r>
            <a:r>
              <a:rPr sz="21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système.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5489" y="6004115"/>
            <a:ext cx="6703059" cy="78549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0" rIns="0" bIns="0" rtlCol="0">
            <a:spAutoFit/>
          </a:bodyPr>
          <a:lstStyle/>
          <a:p>
            <a:pPr marL="5080" algn="ctr">
              <a:lnSpc>
                <a:spcPts val="2615"/>
              </a:lnSpc>
            </a:pP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La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théorie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des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contraintes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été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introduite</a:t>
            </a:r>
            <a:r>
              <a:rPr sz="2200" spc="-4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dans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le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livre</a:t>
            </a:r>
            <a:endParaRPr sz="2200">
              <a:latin typeface="Calibri"/>
              <a:cs typeface="Calibri"/>
            </a:endParaRPr>
          </a:p>
          <a:p>
            <a:pPr marL="5715" algn="ctr">
              <a:lnSpc>
                <a:spcPts val="2620"/>
              </a:lnSpc>
            </a:pP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‘</a:t>
            </a:r>
            <a:r>
              <a:rPr sz="2200" u="heavy" dirty="0">
                <a:solidFill>
                  <a:srgbClr val="3D3D3D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The</a:t>
            </a:r>
            <a:r>
              <a:rPr sz="2200" u="heavy" spc="-55" dirty="0">
                <a:solidFill>
                  <a:srgbClr val="3D3D3D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 </a:t>
            </a:r>
            <a:r>
              <a:rPr sz="2200" u="heavy" dirty="0">
                <a:solidFill>
                  <a:srgbClr val="3D3D3D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Goal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’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par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Eliyahu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M.</a:t>
            </a:r>
            <a:r>
              <a:rPr sz="2200" spc="-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Goldratt.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6927" y="2494280"/>
            <a:ext cx="4365117" cy="31179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3043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28599" y="760552"/>
            <a:ext cx="4434840" cy="5675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Contraintes</a:t>
            </a:r>
            <a:r>
              <a:rPr sz="2000" spc="2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courantes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20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0" dirty="0">
                <a:latin typeface="Calibri"/>
                <a:cs typeface="Calibri"/>
              </a:rPr>
              <a:t>Délais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développement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96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50" dirty="0">
                <a:latin typeface="Calibri"/>
                <a:cs typeface="Calibri"/>
              </a:rPr>
              <a:t>Création</a:t>
            </a:r>
            <a:r>
              <a:rPr sz="2300" spc="35" dirty="0">
                <a:latin typeface="Calibri"/>
                <a:cs typeface="Calibri"/>
              </a:rPr>
              <a:t>  </a:t>
            </a:r>
            <a:r>
              <a:rPr sz="2300" dirty="0">
                <a:latin typeface="Calibri"/>
                <a:cs typeface="Calibri"/>
              </a:rPr>
              <a:t>d'environnement</a:t>
            </a:r>
            <a:r>
              <a:rPr sz="2300" spc="5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(test,</a:t>
            </a:r>
            <a:endParaRPr sz="2300">
              <a:latin typeface="Calibri"/>
              <a:cs typeface="Calibri"/>
            </a:endParaRPr>
          </a:p>
          <a:p>
            <a:pPr marL="387350">
              <a:lnSpc>
                <a:spcPct val="100000"/>
              </a:lnSpc>
              <a:spcBef>
                <a:spcPts val="60"/>
              </a:spcBef>
            </a:pPr>
            <a:r>
              <a:rPr sz="2300" dirty="0">
                <a:latin typeface="Calibri"/>
                <a:cs typeface="Calibri"/>
              </a:rPr>
              <a:t>simulation,</a:t>
            </a:r>
            <a:r>
              <a:rPr sz="2300" spc="55" dirty="0">
                <a:latin typeface="Calibri"/>
                <a:cs typeface="Calibri"/>
              </a:rPr>
              <a:t>  </a:t>
            </a:r>
            <a:r>
              <a:rPr sz="2300" dirty="0">
                <a:latin typeface="Calibri"/>
                <a:cs typeface="Calibri"/>
              </a:rPr>
              <a:t>production,</a:t>
            </a:r>
            <a:r>
              <a:rPr sz="2300" spc="100" dirty="0">
                <a:latin typeface="Calibri"/>
                <a:cs typeface="Calibri"/>
              </a:rPr>
              <a:t>  </a:t>
            </a:r>
            <a:r>
              <a:rPr sz="2300" spc="-10" dirty="0">
                <a:latin typeface="Calibri"/>
                <a:cs typeface="Calibri"/>
              </a:rPr>
              <a:t>etc.)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2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Déploiement</a:t>
            </a:r>
            <a:r>
              <a:rPr sz="2300" spc="48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51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code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05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Mise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spc="85" dirty="0">
                <a:latin typeface="Calibri"/>
                <a:cs typeface="Calibri"/>
              </a:rPr>
              <a:t>place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et</a:t>
            </a:r>
            <a:r>
              <a:rPr sz="2300" spc="160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exécution</a:t>
            </a:r>
            <a:r>
              <a:rPr sz="2300" spc="254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des</a:t>
            </a:r>
            <a:endParaRPr sz="2300">
              <a:latin typeface="Calibri"/>
              <a:cs typeface="Calibri"/>
            </a:endParaRPr>
          </a:p>
          <a:p>
            <a:pPr marL="387350">
              <a:lnSpc>
                <a:spcPct val="100000"/>
              </a:lnSpc>
              <a:spcBef>
                <a:spcPts val="50"/>
              </a:spcBef>
            </a:pPr>
            <a:r>
              <a:rPr sz="2300" spc="-10" dirty="0">
                <a:latin typeface="Calibri"/>
                <a:cs typeface="Calibri"/>
              </a:rPr>
              <a:t>tests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2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5" dirty="0">
                <a:latin typeface="Calibri"/>
                <a:cs typeface="Calibri"/>
              </a:rPr>
              <a:t>Évaluations</a:t>
            </a:r>
            <a:r>
              <a:rPr sz="2300" spc="25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2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sécurité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1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85" dirty="0">
                <a:latin typeface="Calibri"/>
                <a:cs typeface="Calibri"/>
              </a:rPr>
              <a:t>Dépendance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à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l’architecture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09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0" dirty="0">
                <a:latin typeface="Calibri"/>
                <a:cs typeface="Calibri"/>
              </a:rPr>
              <a:t>Gestion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produits</a:t>
            </a:r>
            <a:endParaRPr sz="2300">
              <a:latin typeface="Calibri"/>
              <a:cs typeface="Calibri"/>
            </a:endParaRPr>
          </a:p>
          <a:p>
            <a:pPr marL="387350" marR="808355" indent="-375285">
              <a:lnSpc>
                <a:spcPct val="101699"/>
              </a:lnSpc>
              <a:spcBef>
                <a:spcPts val="102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30" dirty="0">
                <a:latin typeface="Calibri"/>
                <a:cs typeface="Calibri"/>
              </a:rPr>
              <a:t>Processus</a:t>
            </a:r>
            <a:r>
              <a:rPr sz="2300" spc="310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complexes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-35" dirty="0">
                <a:latin typeface="Calibri"/>
                <a:cs typeface="Calibri"/>
              </a:rPr>
              <a:t>ou </a:t>
            </a:r>
            <a:r>
              <a:rPr sz="2300" spc="-10" dirty="0">
                <a:latin typeface="Calibri"/>
                <a:cs typeface="Calibri"/>
              </a:rPr>
              <a:t>bureaucratiques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599033" y="3067050"/>
            <a:ext cx="8907780" cy="158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7350" marR="5080" indent="-375285">
              <a:lnSpc>
                <a:spcPct val="100000"/>
              </a:lnSpc>
              <a:spcBef>
                <a:spcPts val="1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5" dirty="0">
                <a:latin typeface="Calibri"/>
                <a:cs typeface="Calibri"/>
              </a:rPr>
              <a:t>Comprendre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et</a:t>
            </a:r>
            <a:r>
              <a:rPr sz="2300" spc="1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répondre</a:t>
            </a:r>
            <a:r>
              <a:rPr sz="2300" spc="245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aux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besoins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tous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clients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-</a:t>
            </a:r>
            <a:r>
              <a:rPr sz="2300" spc="3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internes </a:t>
            </a:r>
            <a:r>
              <a:rPr sz="2300" spc="90" dirty="0">
                <a:latin typeface="Calibri"/>
                <a:cs typeface="Calibri"/>
              </a:rPr>
              <a:t>comme</a:t>
            </a:r>
            <a:r>
              <a:rPr sz="2300" spc="30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externes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6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95" dirty="0">
                <a:latin typeface="Calibri"/>
                <a:cs typeface="Calibri"/>
              </a:rPr>
              <a:t>Raccourcir</a:t>
            </a:r>
            <a:r>
              <a:rPr sz="2300" spc="3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et</a:t>
            </a:r>
            <a:r>
              <a:rPr sz="2300" spc="2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amplifier</a:t>
            </a:r>
            <a:r>
              <a:rPr sz="2300" spc="1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toutes</a:t>
            </a:r>
            <a:r>
              <a:rPr sz="2300" spc="320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boucles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feedback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6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0" dirty="0">
                <a:latin typeface="Calibri"/>
                <a:cs typeface="Calibri"/>
              </a:rPr>
              <a:t>Créer</a:t>
            </a:r>
            <a:r>
              <a:rPr sz="2300" spc="2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et</a:t>
            </a:r>
            <a:r>
              <a:rPr sz="2300" spc="1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intégrer</a:t>
            </a:r>
            <a:r>
              <a:rPr sz="2300" spc="195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spc="120" dirty="0">
                <a:latin typeface="Calibri"/>
                <a:cs typeface="Calibri"/>
              </a:rPr>
              <a:t>connaissances</a:t>
            </a:r>
            <a:r>
              <a:rPr sz="2300" spc="3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là</a:t>
            </a:r>
            <a:r>
              <a:rPr sz="2300" spc="2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où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elles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sont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spc="80" dirty="0">
                <a:latin typeface="Calibri"/>
                <a:cs typeface="Calibri"/>
              </a:rPr>
              <a:t>nécessaires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6233" y="760552"/>
            <a:ext cx="28613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Deuxième</a:t>
            </a:r>
            <a:r>
              <a:rPr sz="2000" spc="16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voie</a:t>
            </a:r>
            <a:r>
              <a:rPr sz="2000" spc="1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:</a:t>
            </a:r>
            <a:r>
              <a:rPr sz="2000" spc="16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40" dirty="0">
                <a:solidFill>
                  <a:srgbClr val="127079"/>
                </a:solidFill>
                <a:latin typeface="Calibri"/>
                <a:cs typeface="Calibri"/>
              </a:rPr>
              <a:t>Feedback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245" y="1726070"/>
            <a:ext cx="5910072" cy="9634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49805" y="5478602"/>
            <a:ext cx="7218045" cy="1123950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40005" rIns="0" bIns="0" rtlCol="0">
            <a:spAutoFit/>
          </a:bodyPr>
          <a:lstStyle/>
          <a:p>
            <a:pPr marL="270510" marR="258445" algn="ctr">
              <a:lnSpc>
                <a:spcPts val="2610"/>
              </a:lnSpc>
              <a:spcBef>
                <a:spcPts val="315"/>
              </a:spcBef>
            </a:pPr>
            <a:r>
              <a:rPr sz="2200" dirty="0">
                <a:latin typeface="Calibri"/>
                <a:cs typeface="Calibri"/>
              </a:rPr>
              <a:t>La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deuxième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voie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raccourcir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amplifier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boucles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feedback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droite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gauche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afin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améliorations puissent</a:t>
            </a:r>
            <a:r>
              <a:rPr sz="2200" spc="-1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être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apportées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permanence.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1219" y="1854809"/>
            <a:ext cx="4945760" cy="8062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3043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32561" y="3140518"/>
            <a:ext cx="4022090" cy="248348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45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65" dirty="0">
                <a:latin typeface="Calibri"/>
                <a:cs typeface="Calibri"/>
              </a:rPr>
              <a:t>Tests</a:t>
            </a:r>
            <a:r>
              <a:rPr sz="2300" spc="240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automatisés</a:t>
            </a:r>
            <a:endParaRPr sz="2300">
              <a:latin typeface="Calibri"/>
              <a:cs typeface="Calibri"/>
            </a:endParaRPr>
          </a:p>
          <a:p>
            <a:pPr marL="387350" marR="5080" indent="-375285">
              <a:lnSpc>
                <a:spcPct val="101800"/>
              </a:lnSpc>
              <a:spcBef>
                <a:spcPts val="42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85" dirty="0">
                <a:latin typeface="Calibri"/>
                <a:cs typeface="Calibri"/>
              </a:rPr>
              <a:t>Revue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par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spc="70" dirty="0">
                <a:latin typeface="Calibri"/>
                <a:cs typeface="Calibri"/>
              </a:rPr>
              <a:t>pairs</a:t>
            </a:r>
            <a:r>
              <a:rPr sz="2300" spc="229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des </a:t>
            </a:r>
            <a:r>
              <a:rPr sz="2300" spc="85" dirty="0">
                <a:latin typeface="Calibri"/>
                <a:cs typeface="Calibri"/>
              </a:rPr>
              <a:t>changements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production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69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-10" dirty="0">
                <a:latin typeface="Calibri"/>
                <a:cs typeface="Calibri"/>
              </a:rPr>
              <a:t>Monitoring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6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60" dirty="0">
                <a:latin typeface="Calibri"/>
                <a:cs typeface="Calibri"/>
              </a:rPr>
              <a:t>Tableaux</a:t>
            </a:r>
            <a:r>
              <a:rPr sz="2300" spc="2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bord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6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40" dirty="0">
                <a:latin typeface="Calibri"/>
                <a:cs typeface="Calibri"/>
              </a:rPr>
              <a:t>Logs</a:t>
            </a:r>
            <a:r>
              <a:rPr sz="2300" spc="3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production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5929" y="3124425"/>
            <a:ext cx="4431665" cy="27717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58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55" dirty="0">
                <a:latin typeface="Calibri"/>
                <a:cs typeface="Calibri"/>
              </a:rPr>
              <a:t>Indicateurs</a:t>
            </a:r>
            <a:r>
              <a:rPr sz="2300" spc="2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processus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6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90" dirty="0">
                <a:latin typeface="Calibri"/>
                <a:cs typeface="Calibri"/>
              </a:rPr>
              <a:t>Post-</a:t>
            </a:r>
            <a:r>
              <a:rPr sz="2300" spc="-10" dirty="0">
                <a:latin typeface="Calibri"/>
                <a:cs typeface="Calibri"/>
              </a:rPr>
              <a:t>mortem</a:t>
            </a:r>
            <a:endParaRPr sz="2300">
              <a:latin typeface="Calibri"/>
              <a:cs typeface="Calibri"/>
            </a:endParaRPr>
          </a:p>
          <a:p>
            <a:pPr marL="387350" marR="373380" indent="-375285">
              <a:lnSpc>
                <a:spcPct val="102200"/>
              </a:lnSpc>
              <a:spcBef>
                <a:spcPts val="5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0" dirty="0">
                <a:latin typeface="Calibri"/>
                <a:cs typeface="Calibri"/>
              </a:rPr>
              <a:t>Partage</a:t>
            </a:r>
            <a:r>
              <a:rPr sz="2300" spc="30" dirty="0">
                <a:latin typeface="Calibri"/>
                <a:cs typeface="Calibri"/>
              </a:rPr>
              <a:t>  </a:t>
            </a:r>
            <a:r>
              <a:rPr sz="2300" dirty="0">
                <a:latin typeface="Calibri"/>
                <a:cs typeface="Calibri"/>
              </a:rPr>
              <a:t>d’informations</a:t>
            </a:r>
            <a:r>
              <a:rPr sz="2300" spc="5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entre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4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pilotes</a:t>
            </a:r>
            <a:r>
              <a:rPr sz="2300" spc="3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d’exploitation</a:t>
            </a:r>
            <a:endParaRPr sz="2300">
              <a:latin typeface="Calibri"/>
              <a:cs typeface="Calibri"/>
            </a:endParaRPr>
          </a:p>
          <a:p>
            <a:pPr marL="387350" marR="5080" indent="-375285">
              <a:lnSpc>
                <a:spcPct val="101099"/>
              </a:lnSpc>
              <a:spcBef>
                <a:spcPts val="5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90" dirty="0">
                <a:latin typeface="Calibri"/>
                <a:cs typeface="Calibri"/>
              </a:rPr>
              <a:t>Données</a:t>
            </a:r>
            <a:r>
              <a:rPr sz="2300" spc="2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275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changement, incidents,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problèmes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et</a:t>
            </a:r>
            <a:r>
              <a:rPr sz="2300" spc="145" dirty="0">
                <a:latin typeface="Calibri"/>
                <a:cs typeface="Calibri"/>
              </a:rPr>
              <a:t> </a:t>
            </a:r>
            <a:r>
              <a:rPr sz="2300" spc="40" dirty="0">
                <a:latin typeface="Calibri"/>
                <a:cs typeface="Calibri"/>
              </a:rPr>
              <a:t>gestion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spc="100" dirty="0">
                <a:latin typeface="Calibri"/>
                <a:cs typeface="Calibri"/>
              </a:rPr>
              <a:t>connaissances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6233" y="760552"/>
            <a:ext cx="37458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Exemples</a:t>
            </a:r>
            <a:r>
              <a:rPr sz="2000" spc="42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34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boucles</a:t>
            </a:r>
            <a:r>
              <a:rPr sz="2000" spc="32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32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feedback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613359" y="4375129"/>
            <a:ext cx="9131300" cy="21659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86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Allouer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</a:t>
            </a:r>
            <a:r>
              <a:rPr sz="2300" spc="409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temps</a:t>
            </a:r>
            <a:r>
              <a:rPr sz="2300" spc="40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pour</a:t>
            </a:r>
            <a:r>
              <a:rPr sz="2300" spc="4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l'amélioration</a:t>
            </a:r>
            <a:r>
              <a:rPr sz="2300" spc="3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</a:t>
            </a:r>
            <a:r>
              <a:rPr sz="2300" spc="3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travail</a:t>
            </a:r>
            <a:r>
              <a:rPr sz="2300" spc="30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quotidien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9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0" dirty="0">
                <a:latin typeface="Calibri"/>
                <a:cs typeface="Calibri"/>
              </a:rPr>
              <a:t>Créer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des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rituels</a:t>
            </a:r>
            <a:r>
              <a:rPr sz="2300" spc="20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qui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récompensent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l'équipe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</a:t>
            </a:r>
            <a:r>
              <a:rPr sz="2300" spc="25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prise</a:t>
            </a:r>
            <a:r>
              <a:rPr sz="2300" spc="3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risques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81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Introduire</a:t>
            </a:r>
            <a:r>
              <a:rPr sz="2300" spc="200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37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défauts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dans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</a:t>
            </a:r>
            <a:r>
              <a:rPr sz="2300" spc="215" dirty="0">
                <a:latin typeface="Calibri"/>
                <a:cs typeface="Calibri"/>
              </a:rPr>
              <a:t> </a:t>
            </a:r>
            <a:r>
              <a:rPr sz="2300" spc="80" dirty="0">
                <a:latin typeface="Calibri"/>
                <a:cs typeface="Calibri"/>
              </a:rPr>
              <a:t>système</a:t>
            </a:r>
            <a:r>
              <a:rPr sz="2300" spc="3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pour</a:t>
            </a:r>
            <a:r>
              <a:rPr sz="2300" spc="3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augmenter</a:t>
            </a:r>
            <a:r>
              <a:rPr sz="2300" spc="3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</a:t>
            </a:r>
            <a:r>
              <a:rPr sz="2300" spc="2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résilience</a:t>
            </a:r>
            <a:endParaRPr sz="2300">
              <a:latin typeface="Calibri"/>
              <a:cs typeface="Calibri"/>
            </a:endParaRPr>
          </a:p>
          <a:p>
            <a:pPr marL="387350" marR="76835" indent="-375285">
              <a:lnSpc>
                <a:spcPts val="2500"/>
              </a:lnSpc>
              <a:spcBef>
                <a:spcPts val="114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45" dirty="0">
                <a:latin typeface="Calibri"/>
                <a:cs typeface="Calibri"/>
              </a:rPr>
              <a:t>Prévoir</a:t>
            </a:r>
            <a:r>
              <a:rPr sz="2300" spc="2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</a:t>
            </a:r>
            <a:r>
              <a:rPr sz="2300" spc="235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temps</a:t>
            </a:r>
            <a:r>
              <a:rPr sz="2300" spc="25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pour</a:t>
            </a:r>
            <a:r>
              <a:rPr sz="2300" spc="254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300" dirty="0">
                <a:latin typeface="Calibri"/>
                <a:cs typeface="Calibri"/>
              </a:rPr>
              <a:t> </a:t>
            </a:r>
            <a:r>
              <a:rPr sz="2300" spc="75" dirty="0">
                <a:latin typeface="Calibri"/>
                <a:cs typeface="Calibri"/>
              </a:rPr>
              <a:t>expériences</a:t>
            </a:r>
            <a:r>
              <a:rPr sz="2300" spc="3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et</a:t>
            </a:r>
            <a:r>
              <a:rPr sz="2300" spc="175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310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innovations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</a:t>
            </a:r>
            <a:r>
              <a:rPr sz="2300" spc="229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toute </a:t>
            </a:r>
            <a:r>
              <a:rPr sz="2300" dirty="0">
                <a:latin typeface="Calibri"/>
                <a:cs typeface="Calibri"/>
              </a:rPr>
              <a:t>sécurité</a:t>
            </a:r>
            <a:r>
              <a:rPr sz="2300" spc="25" dirty="0">
                <a:latin typeface="Calibri"/>
                <a:cs typeface="Calibri"/>
              </a:rPr>
              <a:t>  </a:t>
            </a:r>
            <a:r>
              <a:rPr sz="2300" spc="-10" dirty="0">
                <a:latin typeface="Calibri"/>
                <a:cs typeface="Calibri"/>
              </a:rPr>
              <a:t>(hackathons)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6233" y="760552"/>
            <a:ext cx="66167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La</a:t>
            </a:r>
            <a:r>
              <a:rPr sz="2000" spc="26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troisième</a:t>
            </a:r>
            <a:r>
              <a:rPr sz="2000" spc="1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voie</a:t>
            </a:r>
            <a:r>
              <a:rPr sz="2000" spc="1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:</a:t>
            </a:r>
            <a:r>
              <a:rPr sz="2000" spc="15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Experimentation</a:t>
            </a:r>
            <a:r>
              <a:rPr sz="2000" spc="15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et</a:t>
            </a:r>
            <a:r>
              <a:rPr sz="2000" spc="14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apprentissage</a:t>
            </a:r>
            <a:r>
              <a:rPr sz="2000" spc="16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continus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775" y="2585593"/>
            <a:ext cx="9966325" cy="1800860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13335" rIns="0" bIns="0" rtlCol="0">
            <a:spAutoFit/>
          </a:bodyPr>
          <a:lstStyle/>
          <a:p>
            <a:pPr marL="638175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Calibri"/>
                <a:cs typeface="Calibri"/>
              </a:rPr>
              <a:t>La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troisième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voie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encourage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culture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favorise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1038860" marR="812165" indent="-360045">
              <a:lnSpc>
                <a:spcPts val="2600"/>
              </a:lnSpc>
              <a:spcBef>
                <a:spcPts val="180"/>
              </a:spcBef>
              <a:buFont typeface="Arial MT"/>
              <a:buChar char="•"/>
              <a:tabLst>
                <a:tab pos="1038860" algn="l"/>
              </a:tabLst>
            </a:pPr>
            <a:r>
              <a:rPr sz="2200" spc="-40" dirty="0">
                <a:latin typeface="Calibri"/>
                <a:cs typeface="Calibri"/>
              </a:rPr>
              <a:t>L’expérimentation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continue,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prise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risques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fait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d’apprendre des </a:t>
            </a:r>
            <a:r>
              <a:rPr sz="2200" dirty="0">
                <a:latin typeface="Calibri"/>
                <a:cs typeface="Calibri"/>
              </a:rPr>
              <a:t>échecs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;</a:t>
            </a:r>
            <a:endParaRPr sz="2200">
              <a:latin typeface="Calibri"/>
              <a:cs typeface="Calibri"/>
            </a:endParaRPr>
          </a:p>
          <a:p>
            <a:pPr marL="1038860" indent="-358140">
              <a:lnSpc>
                <a:spcPts val="2400"/>
              </a:lnSpc>
              <a:buFont typeface="Arial MT"/>
              <a:buChar char="•"/>
              <a:tabLst>
                <a:tab pos="1038860" algn="l"/>
              </a:tabLst>
            </a:pPr>
            <a:r>
              <a:rPr sz="2200" spc="-10" dirty="0">
                <a:latin typeface="Calibri"/>
                <a:cs typeface="Calibri"/>
              </a:rPr>
              <a:t>Comprendre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répétition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pratique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sont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préalables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la</a:t>
            </a:r>
            <a:endParaRPr sz="2200">
              <a:latin typeface="Calibri"/>
              <a:cs typeface="Calibri"/>
            </a:endParaRPr>
          </a:p>
          <a:p>
            <a:pPr marL="1038860">
              <a:lnSpc>
                <a:spcPts val="2620"/>
              </a:lnSpc>
            </a:pPr>
            <a:r>
              <a:rPr sz="2200" spc="-10" dirty="0">
                <a:latin typeface="Calibri"/>
                <a:cs typeface="Calibri"/>
              </a:rPr>
              <a:t>maîtrise.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5078" y="1561338"/>
            <a:ext cx="3748912" cy="91389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1900" y="760552"/>
            <a:ext cx="9034145" cy="5855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5"/>
              </a:spcBef>
            </a:pP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Pour</a:t>
            </a:r>
            <a:r>
              <a:rPr sz="2000" spc="2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127079"/>
                </a:solidFill>
                <a:latin typeface="Calibri"/>
                <a:cs typeface="Calibri"/>
              </a:rPr>
              <a:t>résumer:</a:t>
            </a:r>
            <a:r>
              <a:rPr sz="2000" spc="2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127079"/>
                </a:solidFill>
                <a:latin typeface="Calibri"/>
                <a:cs typeface="Calibri"/>
              </a:rPr>
              <a:t>Bénéfices</a:t>
            </a:r>
            <a:r>
              <a:rPr sz="2000" spc="26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du</a:t>
            </a:r>
            <a:r>
              <a:rPr sz="2000" spc="3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1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Calibri"/>
              <a:cs typeface="Calibri"/>
            </a:endParaRPr>
          </a:p>
          <a:p>
            <a:pPr marL="290195" indent="-265430">
              <a:lnSpc>
                <a:spcPct val="100000"/>
              </a:lnSpc>
              <a:buAutoNum type="arabicPlain"/>
              <a:tabLst>
                <a:tab pos="290195" algn="l"/>
              </a:tabLst>
            </a:pPr>
            <a:r>
              <a:rPr sz="2000" dirty="0">
                <a:latin typeface="Calibri"/>
                <a:cs typeface="Calibri"/>
              </a:rPr>
              <a:t>Livraison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rapide:</a:t>
            </a:r>
            <a:endParaRPr sz="2000">
              <a:latin typeface="Calibri"/>
              <a:cs typeface="Calibri"/>
            </a:endParaRPr>
          </a:p>
          <a:p>
            <a:pPr marL="12700" marR="83820" lvl="1" indent="107950">
              <a:lnSpc>
                <a:spcPts val="2060"/>
              </a:lnSpc>
              <a:spcBef>
                <a:spcPts val="15"/>
              </a:spcBef>
              <a:buChar char="-"/>
              <a:tabLst>
                <a:tab pos="120650" algn="l"/>
              </a:tabLst>
            </a:pPr>
            <a:r>
              <a:rPr sz="1600" dirty="0">
                <a:latin typeface="Calibri"/>
                <a:cs typeface="Calibri"/>
              </a:rPr>
              <a:t>Grâce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à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l'automatisation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pipelines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CI/CD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(Intégration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Continue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Déploiement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Continu),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logiciels </a:t>
            </a:r>
            <a:r>
              <a:rPr sz="1600" dirty="0">
                <a:latin typeface="Calibri"/>
                <a:cs typeface="Calibri"/>
              </a:rPr>
              <a:t>sont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développés,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testés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déployés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plus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rapidement.</a:t>
            </a:r>
            <a:endParaRPr sz="1600">
              <a:latin typeface="Calibri"/>
              <a:cs typeface="Calibri"/>
            </a:endParaRPr>
          </a:p>
          <a:p>
            <a:pPr marL="120650" lvl="1" indent="-107950">
              <a:lnSpc>
                <a:spcPct val="100000"/>
              </a:lnSpc>
              <a:spcBef>
                <a:spcPts val="844"/>
              </a:spcBef>
              <a:buChar char="-"/>
              <a:tabLst>
                <a:tab pos="120650" algn="l"/>
              </a:tabLst>
            </a:pPr>
            <a:r>
              <a:rPr sz="1600" dirty="0">
                <a:latin typeface="Calibri"/>
                <a:cs typeface="Calibri"/>
              </a:rPr>
              <a:t>La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plus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fluide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cycles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développement</a:t>
            </a:r>
            <a:r>
              <a:rPr sz="1600" dirty="0">
                <a:latin typeface="Calibri"/>
                <a:cs typeface="Calibri"/>
              </a:rPr>
              <a:t> sont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plus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courts.</a:t>
            </a:r>
            <a:endParaRPr sz="16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1670"/>
              </a:spcBef>
            </a:pPr>
            <a:r>
              <a:rPr sz="2000" dirty="0">
                <a:latin typeface="Calibri"/>
                <a:cs typeface="Calibri"/>
              </a:rPr>
              <a:t>2- Amélioration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qualité:</a:t>
            </a:r>
            <a:endParaRPr sz="2000">
              <a:latin typeface="Calibri"/>
              <a:cs typeface="Calibri"/>
            </a:endParaRPr>
          </a:p>
          <a:p>
            <a:pPr marL="12700" marR="5080" indent="107950">
              <a:lnSpc>
                <a:spcPts val="2050"/>
              </a:lnSpc>
              <a:spcBef>
                <a:spcPts val="25"/>
              </a:spcBef>
              <a:buChar char="-"/>
              <a:tabLst>
                <a:tab pos="120650" algn="l"/>
              </a:tabLst>
            </a:pPr>
            <a:r>
              <a:rPr sz="1600" dirty="0">
                <a:latin typeface="Calibri"/>
                <a:cs typeface="Calibri"/>
              </a:rPr>
              <a:t>Les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automatisés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permettent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détecter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erreurs plus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tôt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développement, réduisant </a:t>
            </a:r>
            <a:r>
              <a:rPr sz="1600" dirty="0">
                <a:latin typeface="Calibri"/>
                <a:cs typeface="Calibri"/>
              </a:rPr>
              <a:t>ainsi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bugs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production.</a:t>
            </a:r>
            <a:endParaRPr sz="1600">
              <a:latin typeface="Calibri"/>
              <a:cs typeface="Calibri"/>
            </a:endParaRPr>
          </a:p>
          <a:p>
            <a:pPr marL="165735" indent="-107950">
              <a:lnSpc>
                <a:spcPct val="100000"/>
              </a:lnSpc>
              <a:spcBef>
                <a:spcPts val="844"/>
              </a:spcBef>
              <a:buChar char="-"/>
              <a:tabLst>
                <a:tab pos="165735" algn="l"/>
              </a:tabLst>
            </a:pPr>
            <a:r>
              <a:rPr sz="1600" dirty="0">
                <a:latin typeface="Calibri"/>
                <a:cs typeface="Calibri"/>
              </a:rPr>
              <a:t>La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surveillance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continue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garantit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réponse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rapide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défaillances.</a:t>
            </a:r>
            <a:endParaRPr sz="16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1664"/>
              </a:spcBef>
            </a:pPr>
            <a:r>
              <a:rPr sz="2000" dirty="0">
                <a:latin typeface="Calibri"/>
                <a:cs typeface="Calibri"/>
              </a:rPr>
              <a:t>3-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Réduction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silos:</a:t>
            </a:r>
            <a:endParaRPr sz="2000">
              <a:latin typeface="Calibri"/>
              <a:cs typeface="Calibri"/>
            </a:endParaRPr>
          </a:p>
          <a:p>
            <a:pPr marL="12700" marR="267335" indent="107950">
              <a:lnSpc>
                <a:spcPts val="2050"/>
              </a:lnSpc>
              <a:spcBef>
                <a:spcPts val="40"/>
              </a:spcBef>
              <a:buChar char="-"/>
              <a:tabLst>
                <a:tab pos="120650" algn="l"/>
              </a:tabLst>
            </a:pPr>
            <a:r>
              <a:rPr sz="1600" dirty="0">
                <a:latin typeface="Calibri"/>
                <a:cs typeface="Calibri"/>
              </a:rPr>
              <a:t>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DevOps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favorise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collaboration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interdisciplinaire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entre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développeurs,</a:t>
            </a:r>
            <a:r>
              <a:rPr sz="1600" dirty="0">
                <a:latin typeface="Calibri"/>
                <a:cs typeface="Calibri"/>
              </a:rPr>
              <a:t> 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équipes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d'exploitation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et </a:t>
            </a:r>
            <a:r>
              <a:rPr sz="1600" dirty="0">
                <a:latin typeface="Calibri"/>
                <a:cs typeface="Calibri"/>
              </a:rPr>
              <a:t>même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sécurité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(DevSecOps).</a:t>
            </a:r>
            <a:endParaRPr sz="1600">
              <a:latin typeface="Calibri"/>
              <a:cs typeface="Calibri"/>
            </a:endParaRPr>
          </a:p>
          <a:p>
            <a:pPr marL="120650" indent="-107950">
              <a:lnSpc>
                <a:spcPct val="100000"/>
              </a:lnSpc>
              <a:spcBef>
                <a:spcPts val="844"/>
              </a:spcBef>
              <a:buChar char="-"/>
              <a:tabLst>
                <a:tab pos="120650" algn="l"/>
              </a:tabLst>
            </a:pPr>
            <a:r>
              <a:rPr sz="1600" dirty="0">
                <a:latin typeface="Calibri"/>
                <a:cs typeface="Calibri"/>
              </a:rPr>
              <a:t>Une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meilleure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communication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permet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d'aligner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objectifs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résoudre plus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rapidement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problèmes.</a:t>
            </a:r>
            <a:endParaRPr sz="160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  <a:spcBef>
                <a:spcPts val="1664"/>
              </a:spcBef>
            </a:pPr>
            <a:r>
              <a:rPr sz="2000" dirty="0">
                <a:latin typeface="Calibri"/>
                <a:cs typeface="Calibri"/>
              </a:rPr>
              <a:t>4-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Amélioration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l’innovation:</a:t>
            </a:r>
            <a:endParaRPr sz="2000">
              <a:latin typeface="Calibri"/>
              <a:cs typeface="Calibri"/>
            </a:endParaRPr>
          </a:p>
          <a:p>
            <a:pPr marL="24765" marR="184150">
              <a:lnSpc>
                <a:spcPct val="106900"/>
              </a:lnSpc>
              <a:spcBef>
                <a:spcPts val="740"/>
              </a:spcBef>
            </a:pPr>
            <a:r>
              <a:rPr sz="1600" dirty="0">
                <a:latin typeface="Calibri"/>
                <a:cs typeface="Calibri"/>
              </a:rPr>
              <a:t>-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automatisant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tâches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manuelles,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équipes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peuvent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concentrer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l'innovation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création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spc="-20" dirty="0">
                <a:latin typeface="Calibri"/>
                <a:cs typeface="Calibri"/>
              </a:rPr>
              <a:t>valeur,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mène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à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nouvelles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fonctionnalités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plus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rapidement.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4092" y="760552"/>
            <a:ext cx="9114790" cy="3273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105"/>
              </a:spcBef>
            </a:pP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Pour</a:t>
            </a:r>
            <a:r>
              <a:rPr sz="2000" spc="2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127079"/>
                </a:solidFill>
                <a:latin typeface="Calibri"/>
                <a:cs typeface="Calibri"/>
              </a:rPr>
              <a:t>résumer:</a:t>
            </a:r>
            <a:r>
              <a:rPr sz="2000" spc="2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127079"/>
                </a:solidFill>
                <a:latin typeface="Calibri"/>
                <a:cs typeface="Calibri"/>
              </a:rPr>
              <a:t>Bénéfices</a:t>
            </a:r>
            <a:r>
              <a:rPr sz="2000" spc="26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du</a:t>
            </a:r>
            <a:r>
              <a:rPr sz="2000" spc="3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1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5-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Résilience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accure:</a:t>
            </a:r>
            <a:endParaRPr sz="2000">
              <a:latin typeface="Calibri"/>
              <a:cs typeface="Calibri"/>
            </a:endParaRPr>
          </a:p>
          <a:p>
            <a:pPr marL="12700" marR="5080" indent="153670">
              <a:lnSpc>
                <a:spcPct val="106900"/>
              </a:lnSpc>
              <a:spcBef>
                <a:spcPts val="735"/>
              </a:spcBef>
              <a:buChar char="-"/>
              <a:tabLst>
                <a:tab pos="166370" algn="l"/>
              </a:tabLst>
            </a:pPr>
            <a:r>
              <a:rPr sz="1600" dirty="0">
                <a:latin typeface="Calibri"/>
                <a:cs typeface="Calibri"/>
              </a:rPr>
              <a:t>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équipes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DevOps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adoptent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pratiques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l'infrastructure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(IaC)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permettent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gestion </a:t>
            </a:r>
            <a:r>
              <a:rPr sz="1600" dirty="0">
                <a:latin typeface="Calibri"/>
                <a:cs typeface="Calibri"/>
              </a:rPr>
              <a:t>plus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efficace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l'infrastructure.</a:t>
            </a:r>
            <a:endParaRPr sz="1600">
              <a:latin typeface="Calibri"/>
              <a:cs typeface="Calibri"/>
            </a:endParaRPr>
          </a:p>
          <a:p>
            <a:pPr marL="165735" indent="-107950">
              <a:lnSpc>
                <a:spcPct val="100000"/>
              </a:lnSpc>
              <a:spcBef>
                <a:spcPts val="1739"/>
              </a:spcBef>
              <a:buChar char="-"/>
              <a:tabLst>
                <a:tab pos="165735" algn="l"/>
              </a:tabLst>
            </a:pPr>
            <a:r>
              <a:rPr sz="1600" dirty="0">
                <a:latin typeface="Calibri"/>
                <a:cs typeface="Calibri"/>
              </a:rPr>
              <a:t>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monitoring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l’alerte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proactifs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permettent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réaction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rapide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aux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incidents.</a:t>
            </a:r>
            <a:endParaRPr sz="16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1664"/>
              </a:spcBef>
            </a:pPr>
            <a:r>
              <a:rPr sz="2000" dirty="0">
                <a:latin typeface="Calibri"/>
                <a:cs typeface="Calibri"/>
              </a:rPr>
              <a:t>6-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Résilience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accure:</a:t>
            </a:r>
            <a:endParaRPr sz="200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  <a:spcBef>
                <a:spcPts val="869"/>
              </a:spcBef>
            </a:pP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L’automatisation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prévention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erreurs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permettent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réduire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coûts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liés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aux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corrections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bugs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-10" dirty="0">
                <a:latin typeface="Calibri"/>
                <a:cs typeface="Calibri"/>
              </a:rPr>
              <a:t>tardifs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aux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incidents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production.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6193" y="760552"/>
            <a:ext cx="8977630" cy="6262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105"/>
              </a:spcBef>
            </a:pP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Pour</a:t>
            </a:r>
            <a:r>
              <a:rPr sz="2000" spc="2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127079"/>
                </a:solidFill>
                <a:latin typeface="Calibri"/>
                <a:cs typeface="Calibri"/>
              </a:rPr>
              <a:t>résumer:</a:t>
            </a:r>
            <a:r>
              <a:rPr sz="2000" spc="2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127079"/>
                </a:solidFill>
                <a:latin typeface="Calibri"/>
                <a:cs typeface="Calibri"/>
              </a:rPr>
              <a:t>Risques</a:t>
            </a:r>
            <a:r>
              <a:rPr sz="2000" spc="2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2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ne</a:t>
            </a:r>
            <a:r>
              <a:rPr sz="2000" spc="35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0" dirty="0">
                <a:solidFill>
                  <a:srgbClr val="127079"/>
                </a:solidFill>
                <a:latin typeface="Calibri"/>
                <a:cs typeface="Calibri"/>
              </a:rPr>
              <a:t>pasfaire</a:t>
            </a:r>
            <a:r>
              <a:rPr sz="2000" spc="29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du</a:t>
            </a:r>
            <a:r>
              <a:rPr sz="2000" spc="28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1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  <a:p>
            <a:pPr marL="278765" indent="-266065">
              <a:lnSpc>
                <a:spcPct val="100000"/>
              </a:lnSpc>
              <a:spcBef>
                <a:spcPts val="1760"/>
              </a:spcBef>
              <a:buAutoNum type="arabicPlain"/>
              <a:tabLst>
                <a:tab pos="278765" algn="l"/>
              </a:tabLst>
            </a:pPr>
            <a:r>
              <a:rPr sz="2000" dirty="0">
                <a:latin typeface="Calibri"/>
                <a:cs typeface="Calibri"/>
              </a:rPr>
              <a:t>Lenteur des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mises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 </a:t>
            </a:r>
            <a:r>
              <a:rPr sz="2000" spc="-20" dirty="0">
                <a:latin typeface="Calibri"/>
                <a:cs typeface="Calibri"/>
              </a:rPr>
              <a:t>jour:</a:t>
            </a:r>
            <a:endParaRPr sz="2000">
              <a:latin typeface="Calibri"/>
              <a:cs typeface="Calibri"/>
            </a:endParaRPr>
          </a:p>
          <a:p>
            <a:pPr marL="165735" lvl="1" indent="-107950">
              <a:lnSpc>
                <a:spcPct val="100000"/>
              </a:lnSpc>
              <a:spcBef>
                <a:spcPts val="869"/>
              </a:spcBef>
              <a:buChar char="-"/>
              <a:tabLst>
                <a:tab pos="165735" algn="l"/>
              </a:tabLst>
            </a:pPr>
            <a:r>
              <a:rPr sz="1600" dirty="0">
                <a:latin typeface="Calibri"/>
                <a:cs typeface="Calibri"/>
              </a:rPr>
              <a:t>Sans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DevOps,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cycles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développement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plus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équipes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développement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d’exploitation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-10" dirty="0">
                <a:latin typeface="Calibri"/>
                <a:cs typeface="Calibri"/>
              </a:rPr>
              <a:t>travaillant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souvent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manière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indépendante.</a:t>
            </a:r>
            <a:endParaRPr sz="1600">
              <a:latin typeface="Calibri"/>
              <a:cs typeface="Calibri"/>
            </a:endParaRPr>
          </a:p>
          <a:p>
            <a:pPr marL="165735" lvl="1" indent="-107950">
              <a:lnSpc>
                <a:spcPct val="100000"/>
              </a:lnSpc>
              <a:spcBef>
                <a:spcPts val="1739"/>
              </a:spcBef>
              <a:buChar char="-"/>
              <a:tabLst>
                <a:tab pos="165735" algn="l"/>
              </a:tabLst>
            </a:pPr>
            <a:r>
              <a:rPr sz="1600" dirty="0">
                <a:latin typeface="Calibri"/>
                <a:cs typeface="Calibri"/>
              </a:rPr>
              <a:t>Les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retards</a:t>
            </a:r>
            <a:r>
              <a:rPr sz="1600" dirty="0">
                <a:latin typeface="Calibri"/>
                <a:cs typeface="Calibri"/>
              </a:rPr>
              <a:t> dans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déploiements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peuvent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traduire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perte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compétitivité.</a:t>
            </a:r>
            <a:endParaRPr sz="16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1664"/>
              </a:spcBef>
            </a:pPr>
            <a:r>
              <a:rPr sz="2000" dirty="0">
                <a:latin typeface="Calibri"/>
                <a:cs typeface="Calibri"/>
              </a:rPr>
              <a:t>2-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Qualité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dégradée:</a:t>
            </a:r>
            <a:endParaRPr sz="2000">
              <a:latin typeface="Calibri"/>
              <a:cs typeface="Calibri"/>
            </a:endParaRPr>
          </a:p>
          <a:p>
            <a:pPr marL="12700" marR="133985" indent="153670">
              <a:lnSpc>
                <a:spcPct val="106900"/>
              </a:lnSpc>
              <a:spcBef>
                <a:spcPts val="740"/>
              </a:spcBef>
              <a:buChar char="-"/>
              <a:tabLst>
                <a:tab pos="166370" algn="l"/>
              </a:tabLst>
            </a:pPr>
            <a:r>
              <a:rPr sz="1600" dirty="0">
                <a:latin typeface="Calibri"/>
                <a:cs typeface="Calibri"/>
              </a:rPr>
              <a:t>L'absence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d'automatisation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surveillance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continue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entraîner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bugs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détectés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en </a:t>
            </a:r>
            <a:r>
              <a:rPr sz="1600" spc="-10" dirty="0">
                <a:latin typeface="Calibri"/>
                <a:cs typeface="Calibri"/>
              </a:rPr>
              <a:t>production,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affecte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l'expérience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utilisateur.</a:t>
            </a:r>
            <a:endParaRPr sz="1600">
              <a:latin typeface="Calibri"/>
              <a:cs typeface="Calibri"/>
            </a:endParaRPr>
          </a:p>
          <a:p>
            <a:pPr marL="165735" indent="-107950">
              <a:lnSpc>
                <a:spcPct val="100000"/>
              </a:lnSpc>
              <a:spcBef>
                <a:spcPts val="1740"/>
              </a:spcBef>
              <a:buChar char="-"/>
              <a:tabLst>
                <a:tab pos="165735" algn="l"/>
              </a:tabLst>
            </a:pPr>
            <a:r>
              <a:rPr sz="1600" dirty="0">
                <a:latin typeface="Calibri"/>
                <a:cs typeface="Calibri"/>
              </a:rPr>
              <a:t>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corrections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deviennent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coûteuses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complexes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à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mesure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projet </a:t>
            </a:r>
            <a:r>
              <a:rPr sz="1600" spc="-10" dirty="0">
                <a:latin typeface="Calibri"/>
                <a:cs typeface="Calibri"/>
              </a:rPr>
              <a:t>avance</a:t>
            </a:r>
            <a:endParaRPr sz="16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1660"/>
              </a:spcBef>
            </a:pPr>
            <a:r>
              <a:rPr sz="2000" dirty="0">
                <a:latin typeface="Calibri"/>
                <a:cs typeface="Calibri"/>
              </a:rPr>
              <a:t>3-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Silos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organisationnels:</a:t>
            </a:r>
            <a:endParaRPr sz="2000">
              <a:latin typeface="Calibri"/>
              <a:cs typeface="Calibri"/>
            </a:endParaRPr>
          </a:p>
          <a:p>
            <a:pPr marL="12700" marR="483234" indent="153670">
              <a:lnSpc>
                <a:spcPct val="106900"/>
              </a:lnSpc>
              <a:spcBef>
                <a:spcPts val="740"/>
              </a:spcBef>
              <a:buChar char="-"/>
              <a:tabLst>
                <a:tab pos="166370" algn="l"/>
              </a:tabLst>
            </a:pPr>
            <a:r>
              <a:rPr sz="1600" dirty="0">
                <a:latin typeface="Calibri"/>
                <a:cs typeface="Calibri"/>
              </a:rPr>
              <a:t>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manque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collaboration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entre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équipes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développement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d'exploitation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peut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entraîner</a:t>
            </a:r>
            <a:r>
              <a:rPr sz="1600" spc="-25" dirty="0">
                <a:latin typeface="Calibri"/>
                <a:cs typeface="Calibri"/>
              </a:rPr>
              <a:t> des </a:t>
            </a:r>
            <a:r>
              <a:rPr sz="1600" spc="-10" dirty="0">
                <a:latin typeface="Calibri"/>
                <a:cs typeface="Calibri"/>
              </a:rPr>
              <a:t>malentendus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conflits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priorités.</a:t>
            </a:r>
            <a:endParaRPr sz="1600">
              <a:latin typeface="Calibri"/>
              <a:cs typeface="Calibri"/>
            </a:endParaRPr>
          </a:p>
          <a:p>
            <a:pPr marL="165735" indent="-107950">
              <a:lnSpc>
                <a:spcPct val="100000"/>
              </a:lnSpc>
              <a:spcBef>
                <a:spcPts val="1739"/>
              </a:spcBef>
              <a:buChar char="-"/>
              <a:tabLst>
                <a:tab pos="165735" algn="l"/>
              </a:tabLst>
            </a:pPr>
            <a:r>
              <a:rPr sz="1600" dirty="0">
                <a:latin typeface="Calibri"/>
                <a:cs typeface="Calibri"/>
              </a:rPr>
              <a:t>Les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inefficacités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organisationnelles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peuvent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entraîner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retards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coûts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supplémentaires.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000" dirty="0">
                <a:latin typeface="Calibri"/>
                <a:cs typeface="Calibri"/>
              </a:rPr>
              <a:t>4-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Incapacité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innover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rapidement:</a:t>
            </a:r>
            <a:endParaRPr sz="2000">
              <a:latin typeface="Calibri"/>
              <a:cs typeface="Calibri"/>
            </a:endParaRPr>
          </a:p>
          <a:p>
            <a:pPr marL="12700" marR="680085" indent="45720">
              <a:lnSpc>
                <a:spcPct val="106900"/>
              </a:lnSpc>
              <a:spcBef>
                <a:spcPts val="735"/>
              </a:spcBef>
            </a:pPr>
            <a:r>
              <a:rPr sz="1600" dirty="0">
                <a:latin typeface="Calibri"/>
                <a:cs typeface="Calibri"/>
              </a:rPr>
              <a:t>-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DevOps,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équipes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passent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plus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temps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tâches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répétitives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manuelles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(comme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le </a:t>
            </a:r>
            <a:r>
              <a:rPr sz="1600" dirty="0">
                <a:latin typeface="Calibri"/>
                <a:cs typeface="Calibri"/>
              </a:rPr>
              <a:t>déploiement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gestion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l'infrastructure),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réduisant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ainsi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temps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pour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l'innovation.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065009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5175" algn="l"/>
                <a:tab pos="2501265" algn="l"/>
                <a:tab pos="5673090" algn="l"/>
              </a:tabLst>
            </a:pPr>
            <a:r>
              <a:rPr sz="3250" spc="110" dirty="0"/>
              <a:t>Les</a:t>
            </a:r>
            <a:r>
              <a:rPr sz="3250" dirty="0"/>
              <a:t>	</a:t>
            </a:r>
            <a:r>
              <a:rPr sz="3250" spc="35" dirty="0"/>
              <a:t>Principes</a:t>
            </a:r>
            <a:r>
              <a:rPr sz="3250" dirty="0"/>
              <a:t>	fondamentaux</a:t>
            </a:r>
            <a:r>
              <a:rPr sz="3250" spc="175" dirty="0"/>
              <a:t> </a:t>
            </a:r>
            <a:r>
              <a:rPr sz="3250" spc="-25" dirty="0"/>
              <a:t>de</a:t>
            </a:r>
            <a:r>
              <a:rPr sz="3250" dirty="0"/>
              <a:t>	</a:t>
            </a:r>
            <a:r>
              <a:rPr sz="3250" spc="85" dirty="0"/>
              <a:t>DevOps</a:t>
            </a:r>
            <a:endParaRPr sz="32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4092" y="760552"/>
            <a:ext cx="9072245" cy="3445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105"/>
              </a:spcBef>
            </a:pP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Pour</a:t>
            </a:r>
            <a:r>
              <a:rPr sz="2000" spc="2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127079"/>
                </a:solidFill>
                <a:latin typeface="Calibri"/>
                <a:cs typeface="Calibri"/>
              </a:rPr>
              <a:t>résumer:</a:t>
            </a:r>
            <a:r>
              <a:rPr sz="2000" spc="2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5" dirty="0">
                <a:solidFill>
                  <a:srgbClr val="127079"/>
                </a:solidFill>
                <a:latin typeface="Calibri"/>
                <a:cs typeface="Calibri"/>
              </a:rPr>
              <a:t>Risques</a:t>
            </a:r>
            <a:r>
              <a:rPr sz="2000" spc="2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28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ne</a:t>
            </a:r>
            <a:r>
              <a:rPr sz="2000" spc="35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20" dirty="0">
                <a:solidFill>
                  <a:srgbClr val="127079"/>
                </a:solidFill>
                <a:latin typeface="Calibri"/>
                <a:cs typeface="Calibri"/>
              </a:rPr>
              <a:t>pasfaire</a:t>
            </a:r>
            <a:r>
              <a:rPr sz="2000" spc="29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du</a:t>
            </a:r>
            <a:r>
              <a:rPr sz="2000" spc="28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11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5-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Réactivité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limitée:</a:t>
            </a:r>
            <a:endParaRPr sz="2000">
              <a:latin typeface="Calibri"/>
              <a:cs typeface="Calibri"/>
            </a:endParaRPr>
          </a:p>
          <a:p>
            <a:pPr marL="12700" marR="5080" indent="153670">
              <a:lnSpc>
                <a:spcPct val="106900"/>
              </a:lnSpc>
              <a:spcBef>
                <a:spcPts val="735"/>
              </a:spcBef>
              <a:buChar char="-"/>
              <a:tabLst>
                <a:tab pos="166370" algn="l"/>
              </a:tabLst>
            </a:pPr>
            <a:r>
              <a:rPr sz="1600" dirty="0">
                <a:latin typeface="Calibri"/>
                <a:cs typeface="Calibri"/>
              </a:rPr>
              <a:t>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manque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surveillance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continue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d'alertes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ralentir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détection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incidents,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conduit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à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des </a:t>
            </a:r>
            <a:r>
              <a:rPr sz="1600" spc="-10" dirty="0">
                <a:latin typeface="Calibri"/>
                <a:cs typeface="Calibri"/>
              </a:rPr>
              <a:t>interruptions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prolongées.</a:t>
            </a:r>
            <a:endParaRPr sz="1600">
              <a:latin typeface="Calibri"/>
              <a:cs typeface="Calibri"/>
            </a:endParaRPr>
          </a:p>
          <a:p>
            <a:pPr marL="165735" indent="-107950">
              <a:lnSpc>
                <a:spcPct val="100000"/>
              </a:lnSpc>
              <a:spcBef>
                <a:spcPts val="1739"/>
              </a:spcBef>
              <a:buChar char="-"/>
              <a:tabLst>
                <a:tab pos="165735" algn="l"/>
              </a:tabLst>
            </a:pPr>
            <a:r>
              <a:rPr sz="1600" dirty="0">
                <a:latin typeface="Calibri"/>
                <a:cs typeface="Calibri"/>
              </a:rPr>
              <a:t>Les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incidents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peuvent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s'accumuler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sans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qu'ils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soient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traités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efficacement.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000" dirty="0">
                <a:latin typeface="Calibri"/>
                <a:cs typeface="Calibri"/>
              </a:rPr>
              <a:t>6-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Coûts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d’exploitation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plus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élevés:</a:t>
            </a:r>
            <a:endParaRPr sz="2000">
              <a:latin typeface="Calibri"/>
              <a:cs typeface="Calibri"/>
            </a:endParaRPr>
          </a:p>
          <a:p>
            <a:pPr marL="12700" marR="600710" indent="45720">
              <a:lnSpc>
                <a:spcPct val="126899"/>
              </a:lnSpc>
              <a:spcBef>
                <a:spcPts val="1275"/>
              </a:spcBef>
            </a:pP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L'inefficacité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processus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manuels,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répétition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erreurs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humaines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incidents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détectés augmentent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coûts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opérationnels.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3488" y="840079"/>
            <a:ext cx="9053195" cy="633285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540"/>
              </a:spcBef>
              <a:buClr>
                <a:srgbClr val="127079"/>
              </a:buClr>
              <a:buSzPct val="102500"/>
              <a:buFont typeface="Arial MT"/>
              <a:buChar char="●"/>
              <a:tabLst>
                <a:tab pos="387350" algn="l"/>
              </a:tabLst>
            </a:pPr>
            <a:r>
              <a:rPr sz="2000" dirty="0">
                <a:latin typeface="Calibri"/>
                <a:cs typeface="Calibri"/>
              </a:rPr>
              <a:t>Artéfact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87350" marR="582295">
              <a:lnSpc>
                <a:spcPct val="101000"/>
              </a:lnSpc>
              <a:spcBef>
                <a:spcPts val="420"/>
              </a:spcBef>
            </a:pP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Tout</a:t>
            </a:r>
            <a:r>
              <a:rPr sz="20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élément</a:t>
            </a:r>
            <a:r>
              <a:rPr sz="20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d'un</a:t>
            </a:r>
            <a:r>
              <a:rPr sz="20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projet</a:t>
            </a:r>
            <a:r>
              <a:rPr sz="20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développement</a:t>
            </a:r>
            <a:r>
              <a:rPr sz="20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logiciel,</a:t>
            </a:r>
            <a:r>
              <a:rPr sz="20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y</a:t>
            </a:r>
            <a:r>
              <a:rPr sz="20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compris</a:t>
            </a:r>
            <a:r>
              <a:rPr sz="20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52D37"/>
                </a:solidFill>
                <a:latin typeface="Calibri"/>
                <a:cs typeface="Calibri"/>
              </a:rPr>
              <a:t>la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documentation,</a:t>
            </a:r>
            <a:r>
              <a:rPr sz="20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0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plans</a:t>
            </a:r>
            <a:r>
              <a:rPr sz="20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2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test,</a:t>
            </a:r>
            <a:r>
              <a:rPr sz="20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0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252D37"/>
                </a:solidFill>
                <a:latin typeface="Calibri"/>
                <a:cs typeface="Calibri"/>
              </a:rPr>
              <a:t>images,</a:t>
            </a:r>
            <a:r>
              <a:rPr sz="2000" spc="2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0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fichiers</a:t>
            </a:r>
            <a:r>
              <a:rPr sz="20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données</a:t>
            </a:r>
            <a:r>
              <a:rPr sz="20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0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52D37"/>
                </a:solidFill>
                <a:latin typeface="Calibri"/>
                <a:cs typeface="Calibri"/>
              </a:rPr>
              <a:t>les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modules</a:t>
            </a:r>
            <a:r>
              <a:rPr sz="2000" spc="3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exécutables.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buClr>
                <a:srgbClr val="127079"/>
              </a:buClr>
              <a:buSzPct val="102500"/>
              <a:buFont typeface="Arial MT"/>
              <a:buChar char="●"/>
              <a:tabLst>
                <a:tab pos="387350" algn="l"/>
              </a:tabLst>
            </a:pPr>
            <a:r>
              <a:rPr sz="2000" spc="75" dirty="0">
                <a:latin typeface="Calibri"/>
                <a:cs typeface="Calibri"/>
              </a:rPr>
              <a:t>Microservices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87350" marR="9525">
              <a:lnSpc>
                <a:spcPct val="101000"/>
              </a:lnSpc>
              <a:spcBef>
                <a:spcPts val="520"/>
              </a:spcBef>
            </a:pP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0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architecture</a:t>
            </a:r>
            <a:r>
              <a:rPr sz="20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logicielle</a:t>
            </a:r>
            <a:r>
              <a:rPr sz="20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65" dirty="0">
                <a:solidFill>
                  <a:srgbClr val="252D37"/>
                </a:solidFill>
                <a:latin typeface="Calibri"/>
                <a:cs typeface="Calibri"/>
              </a:rPr>
              <a:t>composée</a:t>
            </a:r>
            <a:r>
              <a:rPr sz="20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modules</a:t>
            </a:r>
            <a:r>
              <a:rPr sz="20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0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petits</a:t>
            </a:r>
            <a:r>
              <a:rPr sz="20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qui</a:t>
            </a:r>
            <a:r>
              <a:rPr sz="20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interagissent</a:t>
            </a:r>
            <a:r>
              <a:rPr sz="2000" spc="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52D37"/>
                </a:solidFill>
                <a:latin typeface="Calibri"/>
                <a:cs typeface="Calibri"/>
              </a:rPr>
              <a:t>via </a:t>
            </a:r>
            <a:r>
              <a:rPr sz="20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0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252D37"/>
                </a:solidFill>
                <a:latin typeface="Calibri"/>
                <a:cs typeface="Calibri"/>
              </a:rPr>
              <a:t>API</a:t>
            </a:r>
            <a:r>
              <a:rPr sz="20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0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peut</a:t>
            </a:r>
            <a:r>
              <a:rPr sz="2000" spc="1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être</a:t>
            </a:r>
            <a:r>
              <a:rPr sz="20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mise</a:t>
            </a:r>
            <a:r>
              <a:rPr sz="20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0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jour</a:t>
            </a:r>
            <a:r>
              <a:rPr sz="2000" spc="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75" dirty="0">
                <a:solidFill>
                  <a:srgbClr val="252D37"/>
                </a:solidFill>
                <a:latin typeface="Calibri"/>
                <a:cs typeface="Calibri"/>
              </a:rPr>
              <a:t>sans</a:t>
            </a:r>
            <a:r>
              <a:rPr sz="20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affecter</a:t>
            </a:r>
            <a:r>
              <a:rPr sz="20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l'ensemble</a:t>
            </a:r>
            <a:r>
              <a:rPr sz="2000" spc="1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0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système.</a:t>
            </a:r>
            <a:endParaRPr sz="2000">
              <a:latin typeface="Calibri"/>
              <a:cs typeface="Calibri"/>
            </a:endParaRPr>
          </a:p>
          <a:p>
            <a:pPr marL="387350">
              <a:lnSpc>
                <a:spcPct val="100000"/>
              </a:lnSpc>
              <a:spcBef>
                <a:spcPts val="80"/>
              </a:spcBef>
            </a:pPr>
            <a:r>
              <a:rPr sz="2000" spc="80" dirty="0">
                <a:solidFill>
                  <a:srgbClr val="252D37"/>
                </a:solidFill>
                <a:latin typeface="Calibri"/>
                <a:cs typeface="Calibri"/>
              </a:rPr>
              <a:t>Ceci</a:t>
            </a:r>
            <a:r>
              <a:rPr sz="2000" spc="3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est</a:t>
            </a:r>
            <a:r>
              <a:rPr sz="2000" spc="2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connu</a:t>
            </a:r>
            <a:r>
              <a:rPr sz="2000" spc="2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comme</a:t>
            </a:r>
            <a:r>
              <a:rPr sz="2000" spc="3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0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couplage</a:t>
            </a:r>
            <a:r>
              <a:rPr sz="2000" spc="3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lâche.</a:t>
            </a:r>
            <a:endParaRPr sz="2000">
              <a:latin typeface="Calibri"/>
              <a:cs typeface="Calibri"/>
            </a:endParaRPr>
          </a:p>
          <a:p>
            <a:pPr marL="389255" indent="-376555" algn="just">
              <a:lnSpc>
                <a:spcPct val="100000"/>
              </a:lnSpc>
              <a:spcBef>
                <a:spcPts val="2405"/>
              </a:spcBef>
              <a:buClr>
                <a:srgbClr val="127079"/>
              </a:buClr>
              <a:buSzPct val="102500"/>
              <a:buFont typeface="Arial MT"/>
              <a:buChar char="●"/>
              <a:tabLst>
                <a:tab pos="389255" algn="l"/>
              </a:tabLst>
            </a:pPr>
            <a:r>
              <a:rPr sz="2000" dirty="0">
                <a:latin typeface="Calibri"/>
                <a:cs typeface="Calibri"/>
              </a:rPr>
              <a:t>Virtualisation</a:t>
            </a:r>
            <a:r>
              <a:rPr sz="2000" spc="4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système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d'exploitation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(OS)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87350" marR="5080" algn="just">
              <a:lnSpc>
                <a:spcPct val="101000"/>
              </a:lnSpc>
              <a:spcBef>
                <a:spcPts val="515"/>
              </a:spcBef>
            </a:pP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0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méthode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0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diviser</a:t>
            </a:r>
            <a:r>
              <a:rPr sz="20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serveur</a:t>
            </a:r>
            <a:r>
              <a:rPr sz="20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0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plusieurs</a:t>
            </a:r>
            <a:r>
              <a:rPr sz="20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partitions</a:t>
            </a:r>
            <a:r>
              <a:rPr sz="20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appelées</a:t>
            </a:r>
            <a:r>
              <a:rPr sz="20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"conteneurs"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ou</a:t>
            </a:r>
            <a:r>
              <a:rPr sz="2000" spc="-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"environnements</a:t>
            </a:r>
            <a:r>
              <a:rPr sz="20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virtuels"</a:t>
            </a:r>
            <a:r>
              <a:rPr sz="20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afin</a:t>
            </a:r>
            <a:r>
              <a:rPr sz="2000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d'empêcher</a:t>
            </a:r>
            <a:r>
              <a:rPr sz="2000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applications</a:t>
            </a:r>
            <a:r>
              <a:rPr sz="20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d'interférer</a:t>
            </a:r>
            <a:r>
              <a:rPr sz="20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0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252D37"/>
                </a:solidFill>
                <a:latin typeface="Calibri"/>
                <a:cs typeface="Calibri"/>
              </a:rPr>
              <a:t>unes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20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0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autres.</a:t>
            </a:r>
            <a:endParaRPr sz="2000">
              <a:latin typeface="Calibri"/>
              <a:cs typeface="Calibri"/>
            </a:endParaRPr>
          </a:p>
          <a:p>
            <a:pPr marL="389255" indent="-376555" algn="just">
              <a:lnSpc>
                <a:spcPct val="100000"/>
              </a:lnSpc>
              <a:spcBef>
                <a:spcPts val="1180"/>
              </a:spcBef>
              <a:buClr>
                <a:srgbClr val="127079"/>
              </a:buClr>
              <a:buSzPct val="102500"/>
              <a:buFont typeface="Arial MT"/>
              <a:buChar char="●"/>
              <a:tabLst>
                <a:tab pos="389255" algn="l"/>
              </a:tabLst>
            </a:pPr>
            <a:r>
              <a:rPr sz="2000" dirty="0">
                <a:latin typeface="Calibri"/>
                <a:cs typeface="Calibri"/>
              </a:rPr>
              <a:t>Conteneurs</a:t>
            </a:r>
            <a:r>
              <a:rPr sz="2000" spc="4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87350">
              <a:lnSpc>
                <a:spcPct val="100000"/>
              </a:lnSpc>
              <a:spcBef>
                <a:spcPts val="550"/>
              </a:spcBef>
            </a:pP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0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façon</a:t>
            </a:r>
            <a:r>
              <a:rPr sz="20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regrouper</a:t>
            </a:r>
            <a:r>
              <a:rPr sz="2000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0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logiciels</a:t>
            </a:r>
            <a:r>
              <a:rPr sz="20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dans</a:t>
            </a:r>
            <a:r>
              <a:rPr sz="20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0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packages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légers,</a:t>
            </a:r>
            <a:r>
              <a:rPr sz="20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autonomes</a:t>
            </a:r>
            <a:r>
              <a:rPr sz="20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endParaRPr sz="2000">
              <a:latin typeface="Calibri"/>
              <a:cs typeface="Calibri"/>
            </a:endParaRPr>
          </a:p>
          <a:p>
            <a:pPr marL="387350" marR="204470">
              <a:lnSpc>
                <a:spcPct val="101000"/>
              </a:lnSpc>
            </a:pP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exécutables,</a:t>
            </a:r>
            <a:r>
              <a:rPr sz="20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incluant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tout</a:t>
            </a:r>
            <a:r>
              <a:rPr sz="20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0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nécessaire</a:t>
            </a:r>
            <a:r>
              <a:rPr sz="20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000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l’exécuter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(code,</a:t>
            </a:r>
            <a:r>
              <a:rPr sz="20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exécution,</a:t>
            </a:r>
            <a:r>
              <a:rPr sz="20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outils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système,</a:t>
            </a:r>
            <a:r>
              <a:rPr sz="20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bibliothèques</a:t>
            </a:r>
            <a:r>
              <a:rPr sz="2000" spc="-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système,</a:t>
            </a:r>
            <a:r>
              <a:rPr sz="20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paramètres)</a:t>
            </a:r>
            <a:r>
              <a:rPr sz="20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aux</a:t>
            </a:r>
            <a:r>
              <a:rPr sz="2000" spc="-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fins</a:t>
            </a:r>
            <a:r>
              <a:rPr sz="2000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développement,</a:t>
            </a:r>
            <a:r>
              <a:rPr sz="2000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d’envoi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déploiement.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Quelques</a:t>
            </a:r>
            <a:r>
              <a:rPr spc="-135" dirty="0"/>
              <a:t> </a:t>
            </a:r>
            <a:r>
              <a:rPr spc="-10" dirty="0"/>
              <a:t>définitions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"/>
            <a:ext cx="5431790" cy="7092315"/>
            <a:chOff x="0" y="12"/>
            <a:chExt cx="5431790" cy="7092315"/>
          </a:xfrm>
        </p:grpSpPr>
        <p:sp>
          <p:nvSpPr>
            <p:cNvPr id="3" name="object 3"/>
            <p:cNvSpPr/>
            <p:nvPr/>
          </p:nvSpPr>
          <p:spPr>
            <a:xfrm>
              <a:off x="0" y="12"/>
              <a:ext cx="4885055" cy="7092315"/>
            </a:xfrm>
            <a:custGeom>
              <a:avLst/>
              <a:gdLst/>
              <a:ahLst/>
              <a:cxnLst/>
              <a:rect l="l" t="t" r="r" b="b"/>
              <a:pathLst>
                <a:path w="4885055" h="7092315">
                  <a:moveTo>
                    <a:pt x="4885055" y="0"/>
                  </a:moveTo>
                  <a:lnTo>
                    <a:pt x="0" y="0"/>
                  </a:lnTo>
                  <a:lnTo>
                    <a:pt x="0" y="7091933"/>
                  </a:lnTo>
                  <a:lnTo>
                    <a:pt x="4885055" y="7091933"/>
                  </a:lnTo>
                  <a:lnTo>
                    <a:pt x="4885055" y="0"/>
                  </a:lnTo>
                  <a:close/>
                </a:path>
              </a:pathLst>
            </a:custGeom>
            <a:solidFill>
              <a:srgbClr val="308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34428" y="359283"/>
              <a:ext cx="2153285" cy="2153285"/>
            </a:xfrm>
            <a:custGeom>
              <a:avLst/>
              <a:gdLst/>
              <a:ahLst/>
              <a:cxnLst/>
              <a:rect l="l" t="t" r="r" b="b"/>
              <a:pathLst>
                <a:path w="2153285" h="2153285">
                  <a:moveTo>
                    <a:pt x="1076566" y="0"/>
                  </a:moveTo>
                  <a:lnTo>
                    <a:pt x="1028687" y="1015"/>
                  </a:lnTo>
                  <a:lnTo>
                    <a:pt x="981189" y="4190"/>
                  </a:lnTo>
                  <a:lnTo>
                    <a:pt x="934453" y="9270"/>
                  </a:lnTo>
                  <a:lnTo>
                    <a:pt x="888225" y="16382"/>
                  </a:lnTo>
                  <a:lnTo>
                    <a:pt x="842632" y="25526"/>
                  </a:lnTo>
                  <a:lnTo>
                    <a:pt x="797801" y="36449"/>
                  </a:lnTo>
                  <a:lnTo>
                    <a:pt x="753732" y="49275"/>
                  </a:lnTo>
                  <a:lnTo>
                    <a:pt x="710463" y="63880"/>
                  </a:lnTo>
                  <a:lnTo>
                    <a:pt x="668032" y="80263"/>
                  </a:lnTo>
                  <a:lnTo>
                    <a:pt x="626478" y="98298"/>
                  </a:lnTo>
                  <a:lnTo>
                    <a:pt x="585863" y="118109"/>
                  </a:lnTo>
                  <a:lnTo>
                    <a:pt x="546226" y="139445"/>
                  </a:lnTo>
                  <a:lnTo>
                    <a:pt x="507606" y="162432"/>
                  </a:lnTo>
                  <a:lnTo>
                    <a:pt x="470039" y="186943"/>
                  </a:lnTo>
                  <a:lnTo>
                    <a:pt x="433590" y="212978"/>
                  </a:lnTo>
                  <a:lnTo>
                    <a:pt x="398284" y="240537"/>
                  </a:lnTo>
                  <a:lnTo>
                    <a:pt x="364172" y="269366"/>
                  </a:lnTo>
                  <a:lnTo>
                    <a:pt x="331292" y="299719"/>
                  </a:lnTo>
                  <a:lnTo>
                    <a:pt x="299707" y="331215"/>
                  </a:lnTo>
                  <a:lnTo>
                    <a:pt x="269443" y="364108"/>
                  </a:lnTo>
                  <a:lnTo>
                    <a:pt x="240537" y="398272"/>
                  </a:lnTo>
                  <a:lnTo>
                    <a:pt x="213055" y="433577"/>
                  </a:lnTo>
                  <a:lnTo>
                    <a:pt x="187020" y="470026"/>
                  </a:lnTo>
                  <a:lnTo>
                    <a:pt x="162496" y="507618"/>
                  </a:lnTo>
                  <a:lnTo>
                    <a:pt x="139509" y="546226"/>
                  </a:lnTo>
                  <a:lnTo>
                    <a:pt x="118109" y="585851"/>
                  </a:lnTo>
                  <a:lnTo>
                    <a:pt x="98336" y="626490"/>
                  </a:lnTo>
                  <a:lnTo>
                    <a:pt x="80251" y="668019"/>
                  </a:lnTo>
                  <a:lnTo>
                    <a:pt x="63868" y="710437"/>
                  </a:lnTo>
                  <a:lnTo>
                    <a:pt x="49263" y="753744"/>
                  </a:lnTo>
                  <a:lnTo>
                    <a:pt x="36448" y="797813"/>
                  </a:lnTo>
                  <a:lnTo>
                    <a:pt x="25501" y="842644"/>
                  </a:lnTo>
                  <a:lnTo>
                    <a:pt x="16433" y="888110"/>
                  </a:lnTo>
                  <a:lnTo>
                    <a:pt x="9309" y="934338"/>
                  </a:lnTo>
                  <a:lnTo>
                    <a:pt x="4165" y="981201"/>
                  </a:lnTo>
                  <a:lnTo>
                    <a:pt x="1054" y="1028699"/>
                  </a:lnTo>
                  <a:lnTo>
                    <a:pt x="0" y="1076578"/>
                  </a:lnTo>
                  <a:lnTo>
                    <a:pt x="1054" y="1124584"/>
                  </a:lnTo>
                  <a:lnTo>
                    <a:pt x="4165" y="1171955"/>
                  </a:lnTo>
                  <a:lnTo>
                    <a:pt x="9309" y="1218818"/>
                  </a:lnTo>
                  <a:lnTo>
                    <a:pt x="16433" y="1265046"/>
                  </a:lnTo>
                  <a:lnTo>
                    <a:pt x="25501" y="1310639"/>
                  </a:lnTo>
                  <a:lnTo>
                    <a:pt x="36448" y="1355470"/>
                  </a:lnTo>
                  <a:lnTo>
                    <a:pt x="49263" y="1399539"/>
                  </a:lnTo>
                  <a:lnTo>
                    <a:pt x="63868" y="1442719"/>
                  </a:lnTo>
                  <a:lnTo>
                    <a:pt x="80251" y="1485137"/>
                  </a:lnTo>
                  <a:lnTo>
                    <a:pt x="98336" y="1526793"/>
                  </a:lnTo>
                  <a:lnTo>
                    <a:pt x="118109" y="1567306"/>
                  </a:lnTo>
                  <a:lnTo>
                    <a:pt x="139509" y="1607057"/>
                  </a:lnTo>
                  <a:lnTo>
                    <a:pt x="162496" y="1645665"/>
                  </a:lnTo>
                  <a:lnTo>
                    <a:pt x="187020" y="1683130"/>
                  </a:lnTo>
                  <a:lnTo>
                    <a:pt x="213055" y="1719579"/>
                  </a:lnTo>
                  <a:lnTo>
                    <a:pt x="240537" y="1754885"/>
                  </a:lnTo>
                  <a:lnTo>
                    <a:pt x="269443" y="1789048"/>
                  </a:lnTo>
                  <a:lnTo>
                    <a:pt x="299707" y="1821941"/>
                  </a:lnTo>
                  <a:lnTo>
                    <a:pt x="331292" y="1853564"/>
                  </a:lnTo>
                  <a:lnTo>
                    <a:pt x="364172" y="1883790"/>
                  </a:lnTo>
                  <a:lnTo>
                    <a:pt x="398284" y="1912746"/>
                  </a:lnTo>
                  <a:lnTo>
                    <a:pt x="433590" y="1940178"/>
                  </a:lnTo>
                  <a:lnTo>
                    <a:pt x="470039" y="1966213"/>
                  </a:lnTo>
                  <a:lnTo>
                    <a:pt x="507606" y="1990724"/>
                  </a:lnTo>
                  <a:lnTo>
                    <a:pt x="546226" y="2013711"/>
                  </a:lnTo>
                  <a:lnTo>
                    <a:pt x="585863" y="2035174"/>
                  </a:lnTo>
                  <a:lnTo>
                    <a:pt x="626478" y="2054859"/>
                  </a:lnTo>
                  <a:lnTo>
                    <a:pt x="668032" y="2073020"/>
                  </a:lnTo>
                  <a:lnTo>
                    <a:pt x="710463" y="2089403"/>
                  </a:lnTo>
                  <a:lnTo>
                    <a:pt x="753732" y="2104008"/>
                  </a:lnTo>
                  <a:lnTo>
                    <a:pt x="797801" y="2116835"/>
                  </a:lnTo>
                  <a:lnTo>
                    <a:pt x="842632" y="2127757"/>
                  </a:lnTo>
                  <a:lnTo>
                    <a:pt x="888225" y="2136774"/>
                  </a:lnTo>
                  <a:lnTo>
                    <a:pt x="934453" y="2143886"/>
                  </a:lnTo>
                  <a:lnTo>
                    <a:pt x="981189" y="2149093"/>
                  </a:lnTo>
                  <a:lnTo>
                    <a:pt x="1028687" y="2152141"/>
                  </a:lnTo>
                  <a:lnTo>
                    <a:pt x="1076566" y="2153284"/>
                  </a:lnTo>
                  <a:lnTo>
                    <a:pt x="1124572" y="2152141"/>
                  </a:lnTo>
                  <a:lnTo>
                    <a:pt x="1171943" y="2149093"/>
                  </a:lnTo>
                  <a:lnTo>
                    <a:pt x="1218806" y="2143886"/>
                  </a:lnTo>
                  <a:lnTo>
                    <a:pt x="1265034" y="2136774"/>
                  </a:lnTo>
                  <a:lnTo>
                    <a:pt x="1310627" y="2127757"/>
                  </a:lnTo>
                  <a:lnTo>
                    <a:pt x="1355458" y="2116835"/>
                  </a:lnTo>
                  <a:lnTo>
                    <a:pt x="1399527" y="2104008"/>
                  </a:lnTo>
                  <a:lnTo>
                    <a:pt x="1442834" y="2089403"/>
                  </a:lnTo>
                  <a:lnTo>
                    <a:pt x="1485252" y="2073020"/>
                  </a:lnTo>
                  <a:lnTo>
                    <a:pt x="1526781" y="2054859"/>
                  </a:lnTo>
                  <a:lnTo>
                    <a:pt x="1567421" y="2035174"/>
                  </a:lnTo>
                  <a:lnTo>
                    <a:pt x="1607045" y="2013711"/>
                  </a:lnTo>
                  <a:lnTo>
                    <a:pt x="1645653" y="1990724"/>
                  </a:lnTo>
                  <a:lnTo>
                    <a:pt x="1683245" y="1966213"/>
                  </a:lnTo>
                  <a:lnTo>
                    <a:pt x="1719694" y="1940178"/>
                  </a:lnTo>
                  <a:lnTo>
                    <a:pt x="1755000" y="1912746"/>
                  </a:lnTo>
                  <a:lnTo>
                    <a:pt x="1789036" y="1883790"/>
                  </a:lnTo>
                  <a:lnTo>
                    <a:pt x="1821929" y="1853564"/>
                  </a:lnTo>
                  <a:lnTo>
                    <a:pt x="1853552" y="1821941"/>
                  </a:lnTo>
                  <a:lnTo>
                    <a:pt x="1883778" y="1789048"/>
                  </a:lnTo>
                  <a:lnTo>
                    <a:pt x="1912734" y="1754885"/>
                  </a:lnTo>
                  <a:lnTo>
                    <a:pt x="1940166" y="1719579"/>
                  </a:lnTo>
                  <a:lnTo>
                    <a:pt x="1966201" y="1683130"/>
                  </a:lnTo>
                  <a:lnTo>
                    <a:pt x="1990712" y="1645665"/>
                  </a:lnTo>
                  <a:lnTo>
                    <a:pt x="2013699" y="1607057"/>
                  </a:lnTo>
                  <a:lnTo>
                    <a:pt x="2035162" y="1567306"/>
                  </a:lnTo>
                  <a:lnTo>
                    <a:pt x="2054974" y="1526793"/>
                  </a:lnTo>
                  <a:lnTo>
                    <a:pt x="2073008" y="1485137"/>
                  </a:lnTo>
                  <a:lnTo>
                    <a:pt x="2089391" y="1442719"/>
                  </a:lnTo>
                  <a:lnTo>
                    <a:pt x="2103996" y="1399539"/>
                  </a:lnTo>
                  <a:lnTo>
                    <a:pt x="2116823" y="1355470"/>
                  </a:lnTo>
                  <a:lnTo>
                    <a:pt x="2127745" y="1310639"/>
                  </a:lnTo>
                  <a:lnTo>
                    <a:pt x="2136762" y="1265046"/>
                  </a:lnTo>
                  <a:lnTo>
                    <a:pt x="2144001" y="1218818"/>
                  </a:lnTo>
                  <a:lnTo>
                    <a:pt x="2149081" y="1171955"/>
                  </a:lnTo>
                  <a:lnTo>
                    <a:pt x="2152256" y="1124584"/>
                  </a:lnTo>
                  <a:lnTo>
                    <a:pt x="2153272" y="1076578"/>
                  </a:lnTo>
                  <a:lnTo>
                    <a:pt x="2152129" y="1026286"/>
                  </a:lnTo>
                  <a:lnTo>
                    <a:pt x="2148573" y="976375"/>
                  </a:lnTo>
                  <a:lnTo>
                    <a:pt x="2142731" y="926845"/>
                  </a:lnTo>
                  <a:lnTo>
                    <a:pt x="2134730" y="877823"/>
                  </a:lnTo>
                  <a:lnTo>
                    <a:pt x="2124443" y="829182"/>
                  </a:lnTo>
                  <a:lnTo>
                    <a:pt x="2111997" y="781303"/>
                  </a:lnTo>
                  <a:lnTo>
                    <a:pt x="2097265" y="734059"/>
                  </a:lnTo>
                  <a:lnTo>
                    <a:pt x="2080501" y="687577"/>
                  </a:lnTo>
                  <a:lnTo>
                    <a:pt x="2061578" y="641857"/>
                  </a:lnTo>
                  <a:lnTo>
                    <a:pt x="2040623" y="597153"/>
                  </a:lnTo>
                  <a:lnTo>
                    <a:pt x="2017509" y="553338"/>
                  </a:lnTo>
                  <a:lnTo>
                    <a:pt x="1992490" y="510539"/>
                  </a:lnTo>
                  <a:lnTo>
                    <a:pt x="1965439" y="469010"/>
                  </a:lnTo>
                  <a:lnTo>
                    <a:pt x="1936356" y="428625"/>
                  </a:lnTo>
                  <a:lnTo>
                    <a:pt x="1905495" y="389508"/>
                  </a:lnTo>
                  <a:lnTo>
                    <a:pt x="1872602" y="351662"/>
                  </a:lnTo>
                  <a:lnTo>
                    <a:pt x="1837931" y="315340"/>
                  </a:lnTo>
                  <a:lnTo>
                    <a:pt x="1801609" y="280542"/>
                  </a:lnTo>
                  <a:lnTo>
                    <a:pt x="1763763" y="247776"/>
                  </a:lnTo>
                  <a:lnTo>
                    <a:pt x="1724647" y="216788"/>
                  </a:lnTo>
                  <a:lnTo>
                    <a:pt x="1684261" y="187832"/>
                  </a:lnTo>
                  <a:lnTo>
                    <a:pt x="1642605" y="160781"/>
                  </a:lnTo>
                  <a:lnTo>
                    <a:pt x="1599933" y="135635"/>
                  </a:lnTo>
                  <a:lnTo>
                    <a:pt x="1556118" y="112649"/>
                  </a:lnTo>
                  <a:lnTo>
                    <a:pt x="1511414" y="91693"/>
                  </a:lnTo>
                  <a:lnTo>
                    <a:pt x="1465694" y="72770"/>
                  </a:lnTo>
                  <a:lnTo>
                    <a:pt x="1419212" y="55879"/>
                  </a:lnTo>
                  <a:lnTo>
                    <a:pt x="1371968" y="41275"/>
                  </a:lnTo>
                  <a:lnTo>
                    <a:pt x="1323962" y="28828"/>
                  </a:lnTo>
                  <a:lnTo>
                    <a:pt x="1275448" y="18541"/>
                  </a:lnTo>
                  <a:lnTo>
                    <a:pt x="1226426" y="10413"/>
                  </a:lnTo>
                  <a:lnTo>
                    <a:pt x="1176769" y="4699"/>
                  </a:lnTo>
                  <a:lnTo>
                    <a:pt x="1126858" y="1142"/>
                  </a:lnTo>
                  <a:lnTo>
                    <a:pt x="1076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0940" y="702436"/>
              <a:ext cx="1480820" cy="1466850"/>
            </a:xfrm>
            <a:custGeom>
              <a:avLst/>
              <a:gdLst/>
              <a:ahLst/>
              <a:cxnLst/>
              <a:rect l="l" t="t" r="r" b="b"/>
              <a:pathLst>
                <a:path w="1480820" h="1466850">
                  <a:moveTo>
                    <a:pt x="1065555" y="401320"/>
                  </a:moveTo>
                  <a:lnTo>
                    <a:pt x="695477" y="633095"/>
                  </a:lnTo>
                  <a:lnTo>
                    <a:pt x="650900" y="673227"/>
                  </a:lnTo>
                  <a:lnTo>
                    <a:pt x="633120" y="731266"/>
                  </a:lnTo>
                  <a:lnTo>
                    <a:pt x="637565" y="757936"/>
                  </a:lnTo>
                  <a:lnTo>
                    <a:pt x="668807" y="815975"/>
                  </a:lnTo>
                  <a:lnTo>
                    <a:pt x="704494" y="838200"/>
                  </a:lnTo>
                  <a:lnTo>
                    <a:pt x="726719" y="847090"/>
                  </a:lnTo>
                  <a:lnTo>
                    <a:pt x="749071" y="847090"/>
                  </a:lnTo>
                  <a:lnTo>
                    <a:pt x="784631" y="842645"/>
                  </a:lnTo>
                  <a:lnTo>
                    <a:pt x="811428" y="829310"/>
                  </a:lnTo>
                  <a:lnTo>
                    <a:pt x="833780" y="811530"/>
                  </a:lnTo>
                  <a:lnTo>
                    <a:pt x="851560" y="784733"/>
                  </a:lnTo>
                  <a:lnTo>
                    <a:pt x="856005" y="784733"/>
                  </a:lnTo>
                  <a:lnTo>
                    <a:pt x="1065555" y="401320"/>
                  </a:lnTo>
                  <a:close/>
                </a:path>
                <a:path w="1480820" h="1466850">
                  <a:moveTo>
                    <a:pt x="1217193" y="178308"/>
                  </a:moveTo>
                  <a:lnTo>
                    <a:pt x="1172616" y="142748"/>
                  </a:lnTo>
                  <a:lnTo>
                    <a:pt x="1123594" y="107061"/>
                  </a:lnTo>
                  <a:lnTo>
                    <a:pt x="1016533" y="53467"/>
                  </a:lnTo>
                  <a:lnTo>
                    <a:pt x="958621" y="31242"/>
                  </a:lnTo>
                  <a:lnTo>
                    <a:pt x="833780" y="4445"/>
                  </a:lnTo>
                  <a:lnTo>
                    <a:pt x="771296" y="0"/>
                  </a:lnTo>
                  <a:lnTo>
                    <a:pt x="771296" y="173863"/>
                  </a:lnTo>
                  <a:lnTo>
                    <a:pt x="820318" y="182880"/>
                  </a:lnTo>
                  <a:lnTo>
                    <a:pt x="869340" y="187325"/>
                  </a:lnTo>
                  <a:lnTo>
                    <a:pt x="914044" y="200660"/>
                  </a:lnTo>
                  <a:lnTo>
                    <a:pt x="954176" y="214007"/>
                  </a:lnTo>
                  <a:lnTo>
                    <a:pt x="989736" y="231902"/>
                  </a:lnTo>
                  <a:lnTo>
                    <a:pt x="1025423" y="254127"/>
                  </a:lnTo>
                  <a:lnTo>
                    <a:pt x="1087907" y="303149"/>
                  </a:lnTo>
                  <a:lnTo>
                    <a:pt x="1217193" y="178308"/>
                  </a:lnTo>
                  <a:close/>
                </a:path>
                <a:path w="1480820" h="1466850">
                  <a:moveTo>
                    <a:pt x="1480210" y="766826"/>
                  </a:moveTo>
                  <a:lnTo>
                    <a:pt x="1301902" y="766826"/>
                  </a:lnTo>
                  <a:lnTo>
                    <a:pt x="1297457" y="820420"/>
                  </a:lnTo>
                  <a:lnTo>
                    <a:pt x="1283995" y="873887"/>
                  </a:lnTo>
                  <a:lnTo>
                    <a:pt x="1270660" y="922909"/>
                  </a:lnTo>
                  <a:lnTo>
                    <a:pt x="1248435" y="971931"/>
                  </a:lnTo>
                  <a:lnTo>
                    <a:pt x="1226083" y="1016508"/>
                  </a:lnTo>
                  <a:lnTo>
                    <a:pt x="1194841" y="1061085"/>
                  </a:lnTo>
                  <a:lnTo>
                    <a:pt x="1163726" y="1101217"/>
                  </a:lnTo>
                  <a:lnTo>
                    <a:pt x="1128039" y="1136904"/>
                  </a:lnTo>
                  <a:lnTo>
                    <a:pt x="1087907" y="1172591"/>
                  </a:lnTo>
                  <a:lnTo>
                    <a:pt x="1047775" y="1203833"/>
                  </a:lnTo>
                  <a:lnTo>
                    <a:pt x="1003198" y="1226058"/>
                  </a:lnTo>
                  <a:lnTo>
                    <a:pt x="954176" y="1248410"/>
                  </a:lnTo>
                  <a:lnTo>
                    <a:pt x="905027" y="1266190"/>
                  </a:lnTo>
                  <a:lnTo>
                    <a:pt x="851560" y="1279652"/>
                  </a:lnTo>
                  <a:lnTo>
                    <a:pt x="798093" y="1288542"/>
                  </a:lnTo>
                  <a:lnTo>
                    <a:pt x="744626" y="1292987"/>
                  </a:lnTo>
                  <a:lnTo>
                    <a:pt x="686587" y="1288542"/>
                  </a:lnTo>
                  <a:lnTo>
                    <a:pt x="633120" y="1279652"/>
                  </a:lnTo>
                  <a:lnTo>
                    <a:pt x="579653" y="1266190"/>
                  </a:lnTo>
                  <a:lnTo>
                    <a:pt x="526059" y="1248410"/>
                  </a:lnTo>
                  <a:lnTo>
                    <a:pt x="428015" y="1194943"/>
                  </a:lnTo>
                  <a:lnTo>
                    <a:pt x="383425" y="1163701"/>
                  </a:lnTo>
                  <a:lnTo>
                    <a:pt x="343306" y="1128014"/>
                  </a:lnTo>
                  <a:lnTo>
                    <a:pt x="307632" y="1087882"/>
                  </a:lnTo>
                  <a:lnTo>
                    <a:pt x="245211" y="998728"/>
                  </a:lnTo>
                  <a:lnTo>
                    <a:pt x="222923" y="949706"/>
                  </a:lnTo>
                  <a:lnTo>
                    <a:pt x="200634" y="896239"/>
                  </a:lnTo>
                  <a:lnTo>
                    <a:pt x="187261" y="842645"/>
                  </a:lnTo>
                  <a:lnTo>
                    <a:pt x="178333" y="789178"/>
                  </a:lnTo>
                  <a:lnTo>
                    <a:pt x="173875" y="731266"/>
                  </a:lnTo>
                  <a:lnTo>
                    <a:pt x="178333" y="677672"/>
                  </a:lnTo>
                  <a:lnTo>
                    <a:pt x="187261" y="624205"/>
                  </a:lnTo>
                  <a:lnTo>
                    <a:pt x="200634" y="575183"/>
                  </a:lnTo>
                  <a:lnTo>
                    <a:pt x="218465" y="526161"/>
                  </a:lnTo>
                  <a:lnTo>
                    <a:pt x="240753" y="477139"/>
                  </a:lnTo>
                  <a:lnTo>
                    <a:pt x="267512" y="432435"/>
                  </a:lnTo>
                  <a:lnTo>
                    <a:pt x="329933" y="352298"/>
                  </a:lnTo>
                  <a:lnTo>
                    <a:pt x="365594" y="316611"/>
                  </a:lnTo>
                  <a:lnTo>
                    <a:pt x="445795" y="254127"/>
                  </a:lnTo>
                  <a:lnTo>
                    <a:pt x="490372" y="231902"/>
                  </a:lnTo>
                  <a:lnTo>
                    <a:pt x="539521" y="209550"/>
                  </a:lnTo>
                  <a:lnTo>
                    <a:pt x="584098" y="191770"/>
                  </a:lnTo>
                  <a:lnTo>
                    <a:pt x="682142" y="173863"/>
                  </a:lnTo>
                  <a:lnTo>
                    <a:pt x="682142" y="0"/>
                  </a:lnTo>
                  <a:lnTo>
                    <a:pt x="610768" y="8890"/>
                  </a:lnTo>
                  <a:lnTo>
                    <a:pt x="543966" y="22352"/>
                  </a:lnTo>
                  <a:lnTo>
                    <a:pt x="477037" y="40132"/>
                  </a:lnTo>
                  <a:lnTo>
                    <a:pt x="414680" y="66929"/>
                  </a:lnTo>
                  <a:lnTo>
                    <a:pt x="298716" y="138176"/>
                  </a:lnTo>
                  <a:lnTo>
                    <a:pt x="245211" y="182880"/>
                  </a:lnTo>
                  <a:lnTo>
                    <a:pt x="196176" y="227457"/>
                  </a:lnTo>
                  <a:lnTo>
                    <a:pt x="115925" y="334391"/>
                  </a:lnTo>
                  <a:lnTo>
                    <a:pt x="80251" y="392430"/>
                  </a:lnTo>
                  <a:lnTo>
                    <a:pt x="53505" y="454787"/>
                  </a:lnTo>
                  <a:lnTo>
                    <a:pt x="31203" y="521716"/>
                  </a:lnTo>
                  <a:lnTo>
                    <a:pt x="13373" y="588518"/>
                  </a:lnTo>
                  <a:lnTo>
                    <a:pt x="4457" y="659892"/>
                  </a:lnTo>
                  <a:lnTo>
                    <a:pt x="0" y="731266"/>
                  </a:lnTo>
                  <a:lnTo>
                    <a:pt x="4457" y="806958"/>
                  </a:lnTo>
                  <a:lnTo>
                    <a:pt x="13373" y="882777"/>
                  </a:lnTo>
                  <a:lnTo>
                    <a:pt x="57962" y="1016508"/>
                  </a:lnTo>
                  <a:lnTo>
                    <a:pt x="89166" y="1083437"/>
                  </a:lnTo>
                  <a:lnTo>
                    <a:pt x="169418" y="1199388"/>
                  </a:lnTo>
                  <a:lnTo>
                    <a:pt x="218465" y="1252855"/>
                  </a:lnTo>
                  <a:lnTo>
                    <a:pt x="325475" y="1342009"/>
                  </a:lnTo>
                  <a:lnTo>
                    <a:pt x="387883" y="1377696"/>
                  </a:lnTo>
                  <a:lnTo>
                    <a:pt x="454812" y="1408938"/>
                  </a:lnTo>
                  <a:lnTo>
                    <a:pt x="521614" y="1435608"/>
                  </a:lnTo>
                  <a:lnTo>
                    <a:pt x="592988" y="1453515"/>
                  </a:lnTo>
                  <a:lnTo>
                    <a:pt x="664362" y="1462405"/>
                  </a:lnTo>
                  <a:lnTo>
                    <a:pt x="740054" y="1466850"/>
                  </a:lnTo>
                  <a:lnTo>
                    <a:pt x="811428" y="1462405"/>
                  </a:lnTo>
                  <a:lnTo>
                    <a:pt x="882802" y="1453515"/>
                  </a:lnTo>
                  <a:lnTo>
                    <a:pt x="954176" y="1435608"/>
                  </a:lnTo>
                  <a:lnTo>
                    <a:pt x="1020978" y="1408938"/>
                  </a:lnTo>
                  <a:lnTo>
                    <a:pt x="1083462" y="1382141"/>
                  </a:lnTo>
                  <a:lnTo>
                    <a:pt x="1141374" y="1346454"/>
                  </a:lnTo>
                  <a:lnTo>
                    <a:pt x="1199286" y="1306322"/>
                  </a:lnTo>
                  <a:lnTo>
                    <a:pt x="1297457" y="1208278"/>
                  </a:lnTo>
                  <a:lnTo>
                    <a:pt x="1342034" y="1154811"/>
                  </a:lnTo>
                  <a:lnTo>
                    <a:pt x="1377721" y="1096772"/>
                  </a:lnTo>
                  <a:lnTo>
                    <a:pt x="1408836" y="1034415"/>
                  </a:lnTo>
                  <a:lnTo>
                    <a:pt x="1435633" y="971931"/>
                  </a:lnTo>
                  <a:lnTo>
                    <a:pt x="1457985" y="905129"/>
                  </a:lnTo>
                  <a:lnTo>
                    <a:pt x="1471320" y="838200"/>
                  </a:lnTo>
                  <a:lnTo>
                    <a:pt x="1480210" y="766826"/>
                  </a:lnTo>
                  <a:close/>
                </a:path>
                <a:path w="1480820" h="1466850">
                  <a:moveTo>
                    <a:pt x="1480210" y="677672"/>
                  </a:moveTo>
                  <a:lnTo>
                    <a:pt x="1471320" y="615315"/>
                  </a:lnTo>
                  <a:lnTo>
                    <a:pt x="1457985" y="552831"/>
                  </a:lnTo>
                  <a:lnTo>
                    <a:pt x="1440078" y="494919"/>
                  </a:lnTo>
                  <a:lnTo>
                    <a:pt x="1417853" y="437007"/>
                  </a:lnTo>
                  <a:lnTo>
                    <a:pt x="1395501" y="383413"/>
                  </a:lnTo>
                  <a:lnTo>
                    <a:pt x="1364259" y="334391"/>
                  </a:lnTo>
                  <a:lnTo>
                    <a:pt x="1328572" y="285381"/>
                  </a:lnTo>
                  <a:lnTo>
                    <a:pt x="1288440" y="240792"/>
                  </a:lnTo>
                  <a:lnTo>
                    <a:pt x="1168171" y="365633"/>
                  </a:lnTo>
                  <a:lnTo>
                    <a:pt x="1194841" y="396875"/>
                  </a:lnTo>
                  <a:lnTo>
                    <a:pt x="1239418" y="468122"/>
                  </a:lnTo>
                  <a:lnTo>
                    <a:pt x="1275105" y="548386"/>
                  </a:lnTo>
                  <a:lnTo>
                    <a:pt x="1288440" y="592963"/>
                  </a:lnTo>
                  <a:lnTo>
                    <a:pt x="1297457" y="633095"/>
                  </a:lnTo>
                  <a:lnTo>
                    <a:pt x="1301902" y="677672"/>
                  </a:lnTo>
                  <a:lnTo>
                    <a:pt x="1480210" y="677672"/>
                  </a:lnTo>
                  <a:close/>
                </a:path>
              </a:pathLst>
            </a:custGeom>
            <a:solidFill>
              <a:srgbClr val="1F5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48479" y="667639"/>
              <a:ext cx="1054735" cy="1054735"/>
            </a:xfrm>
            <a:custGeom>
              <a:avLst/>
              <a:gdLst/>
              <a:ahLst/>
              <a:cxnLst/>
              <a:rect l="l" t="t" r="r" b="b"/>
              <a:pathLst>
                <a:path w="1054735" h="1054735">
                  <a:moveTo>
                    <a:pt x="527050" y="0"/>
                  </a:moveTo>
                  <a:lnTo>
                    <a:pt x="479171" y="2158"/>
                  </a:lnTo>
                  <a:lnTo>
                    <a:pt x="432308" y="8508"/>
                  </a:lnTo>
                  <a:lnTo>
                    <a:pt x="386969" y="18796"/>
                  </a:lnTo>
                  <a:lnTo>
                    <a:pt x="343154" y="32893"/>
                  </a:lnTo>
                  <a:lnTo>
                    <a:pt x="301117" y="50673"/>
                  </a:lnTo>
                  <a:lnTo>
                    <a:pt x="261112" y="71881"/>
                  </a:lnTo>
                  <a:lnTo>
                    <a:pt x="223139" y="96393"/>
                  </a:lnTo>
                  <a:lnTo>
                    <a:pt x="187452" y="123951"/>
                  </a:lnTo>
                  <a:lnTo>
                    <a:pt x="154305" y="154304"/>
                  </a:lnTo>
                  <a:lnTo>
                    <a:pt x="123952" y="187451"/>
                  </a:lnTo>
                  <a:lnTo>
                    <a:pt x="96393" y="223138"/>
                  </a:lnTo>
                  <a:lnTo>
                    <a:pt x="71882" y="260984"/>
                  </a:lnTo>
                  <a:lnTo>
                    <a:pt x="50673" y="301117"/>
                  </a:lnTo>
                  <a:lnTo>
                    <a:pt x="32893" y="343153"/>
                  </a:lnTo>
                  <a:lnTo>
                    <a:pt x="18796" y="386968"/>
                  </a:lnTo>
                  <a:lnTo>
                    <a:pt x="8509" y="432307"/>
                  </a:lnTo>
                  <a:lnTo>
                    <a:pt x="2159" y="479170"/>
                  </a:lnTo>
                  <a:lnTo>
                    <a:pt x="0" y="527050"/>
                  </a:lnTo>
                  <a:lnTo>
                    <a:pt x="2159" y="575055"/>
                  </a:lnTo>
                  <a:lnTo>
                    <a:pt x="8509" y="621791"/>
                  </a:lnTo>
                  <a:lnTo>
                    <a:pt x="18796" y="667257"/>
                  </a:lnTo>
                  <a:lnTo>
                    <a:pt x="32893" y="711073"/>
                  </a:lnTo>
                  <a:lnTo>
                    <a:pt x="50673" y="753110"/>
                  </a:lnTo>
                  <a:lnTo>
                    <a:pt x="71882" y="793114"/>
                  </a:lnTo>
                  <a:lnTo>
                    <a:pt x="96393" y="831088"/>
                  </a:lnTo>
                  <a:lnTo>
                    <a:pt x="123952" y="866775"/>
                  </a:lnTo>
                  <a:lnTo>
                    <a:pt x="154305" y="899794"/>
                  </a:lnTo>
                  <a:lnTo>
                    <a:pt x="187452" y="930275"/>
                  </a:lnTo>
                  <a:lnTo>
                    <a:pt x="223139" y="957833"/>
                  </a:lnTo>
                  <a:lnTo>
                    <a:pt x="261112" y="982217"/>
                  </a:lnTo>
                  <a:lnTo>
                    <a:pt x="301117" y="1003426"/>
                  </a:lnTo>
                  <a:lnTo>
                    <a:pt x="343154" y="1021206"/>
                  </a:lnTo>
                  <a:lnTo>
                    <a:pt x="386969" y="1035430"/>
                  </a:lnTo>
                  <a:lnTo>
                    <a:pt x="432308" y="1045717"/>
                  </a:lnTo>
                  <a:lnTo>
                    <a:pt x="479171" y="1052067"/>
                  </a:lnTo>
                  <a:lnTo>
                    <a:pt x="527050" y="1054227"/>
                  </a:lnTo>
                  <a:lnTo>
                    <a:pt x="575056" y="1052067"/>
                  </a:lnTo>
                  <a:lnTo>
                    <a:pt x="621919" y="1045717"/>
                  </a:lnTo>
                  <a:lnTo>
                    <a:pt x="667258" y="1035430"/>
                  </a:lnTo>
                  <a:lnTo>
                    <a:pt x="711073" y="1021206"/>
                  </a:lnTo>
                  <a:lnTo>
                    <a:pt x="753110" y="1003426"/>
                  </a:lnTo>
                  <a:lnTo>
                    <a:pt x="793115" y="982217"/>
                  </a:lnTo>
                  <a:lnTo>
                    <a:pt x="831088" y="957833"/>
                  </a:lnTo>
                  <a:lnTo>
                    <a:pt x="866775" y="930275"/>
                  </a:lnTo>
                  <a:lnTo>
                    <a:pt x="899795" y="899794"/>
                  </a:lnTo>
                  <a:lnTo>
                    <a:pt x="930275" y="866775"/>
                  </a:lnTo>
                  <a:lnTo>
                    <a:pt x="957834" y="831088"/>
                  </a:lnTo>
                  <a:lnTo>
                    <a:pt x="982218" y="793114"/>
                  </a:lnTo>
                  <a:lnTo>
                    <a:pt x="1003554" y="753110"/>
                  </a:lnTo>
                  <a:lnTo>
                    <a:pt x="1021207" y="711073"/>
                  </a:lnTo>
                  <a:lnTo>
                    <a:pt x="1035431" y="667257"/>
                  </a:lnTo>
                  <a:lnTo>
                    <a:pt x="1045718" y="621791"/>
                  </a:lnTo>
                  <a:lnTo>
                    <a:pt x="1052068" y="575055"/>
                  </a:lnTo>
                  <a:lnTo>
                    <a:pt x="1054227" y="527050"/>
                  </a:lnTo>
                  <a:lnTo>
                    <a:pt x="1051687" y="474979"/>
                  </a:lnTo>
                  <a:lnTo>
                    <a:pt x="1044067" y="423799"/>
                  </a:lnTo>
                  <a:lnTo>
                    <a:pt x="1031494" y="373760"/>
                  </a:lnTo>
                  <a:lnTo>
                    <a:pt x="1014095" y="325374"/>
                  </a:lnTo>
                  <a:lnTo>
                    <a:pt x="992124" y="278892"/>
                  </a:lnTo>
                  <a:lnTo>
                    <a:pt x="965708" y="234696"/>
                  </a:lnTo>
                  <a:lnTo>
                    <a:pt x="934847" y="193039"/>
                  </a:lnTo>
                  <a:lnTo>
                    <a:pt x="899795" y="154304"/>
                  </a:lnTo>
                  <a:lnTo>
                    <a:pt x="861187" y="119379"/>
                  </a:lnTo>
                  <a:lnTo>
                    <a:pt x="819531" y="88519"/>
                  </a:lnTo>
                  <a:lnTo>
                    <a:pt x="775335" y="62102"/>
                  </a:lnTo>
                  <a:lnTo>
                    <a:pt x="728853" y="40131"/>
                  </a:lnTo>
                  <a:lnTo>
                    <a:pt x="680466" y="22732"/>
                  </a:lnTo>
                  <a:lnTo>
                    <a:pt x="630428" y="10159"/>
                  </a:lnTo>
                  <a:lnTo>
                    <a:pt x="579247" y="2539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308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48479" y="667639"/>
              <a:ext cx="1054735" cy="1054735"/>
            </a:xfrm>
            <a:custGeom>
              <a:avLst/>
              <a:gdLst/>
              <a:ahLst/>
              <a:cxnLst/>
              <a:rect l="l" t="t" r="r" b="b"/>
              <a:pathLst>
                <a:path w="1054735" h="1054735">
                  <a:moveTo>
                    <a:pt x="0" y="527050"/>
                  </a:moveTo>
                  <a:lnTo>
                    <a:pt x="2159" y="479170"/>
                  </a:lnTo>
                  <a:lnTo>
                    <a:pt x="8509" y="432307"/>
                  </a:lnTo>
                  <a:lnTo>
                    <a:pt x="18796" y="386968"/>
                  </a:lnTo>
                  <a:lnTo>
                    <a:pt x="32893" y="343153"/>
                  </a:lnTo>
                  <a:lnTo>
                    <a:pt x="50673" y="301117"/>
                  </a:lnTo>
                  <a:lnTo>
                    <a:pt x="71882" y="260984"/>
                  </a:lnTo>
                  <a:lnTo>
                    <a:pt x="96393" y="223138"/>
                  </a:lnTo>
                  <a:lnTo>
                    <a:pt x="123952" y="187451"/>
                  </a:lnTo>
                  <a:lnTo>
                    <a:pt x="154305" y="154304"/>
                  </a:lnTo>
                  <a:lnTo>
                    <a:pt x="187452" y="123951"/>
                  </a:lnTo>
                  <a:lnTo>
                    <a:pt x="223139" y="96393"/>
                  </a:lnTo>
                  <a:lnTo>
                    <a:pt x="261112" y="71881"/>
                  </a:lnTo>
                  <a:lnTo>
                    <a:pt x="301117" y="50673"/>
                  </a:lnTo>
                  <a:lnTo>
                    <a:pt x="343154" y="32893"/>
                  </a:lnTo>
                  <a:lnTo>
                    <a:pt x="386969" y="18796"/>
                  </a:lnTo>
                  <a:lnTo>
                    <a:pt x="432308" y="8508"/>
                  </a:lnTo>
                  <a:lnTo>
                    <a:pt x="479171" y="2158"/>
                  </a:lnTo>
                  <a:lnTo>
                    <a:pt x="527050" y="0"/>
                  </a:lnTo>
                  <a:lnTo>
                    <a:pt x="579247" y="2539"/>
                  </a:lnTo>
                  <a:lnTo>
                    <a:pt x="630428" y="10159"/>
                  </a:lnTo>
                  <a:lnTo>
                    <a:pt x="680466" y="22732"/>
                  </a:lnTo>
                  <a:lnTo>
                    <a:pt x="728853" y="40131"/>
                  </a:lnTo>
                  <a:lnTo>
                    <a:pt x="775335" y="62102"/>
                  </a:lnTo>
                  <a:lnTo>
                    <a:pt x="819531" y="88519"/>
                  </a:lnTo>
                  <a:lnTo>
                    <a:pt x="861187" y="119379"/>
                  </a:lnTo>
                  <a:lnTo>
                    <a:pt x="899795" y="154304"/>
                  </a:lnTo>
                  <a:lnTo>
                    <a:pt x="934847" y="193039"/>
                  </a:lnTo>
                  <a:lnTo>
                    <a:pt x="965708" y="234696"/>
                  </a:lnTo>
                  <a:lnTo>
                    <a:pt x="992124" y="278892"/>
                  </a:lnTo>
                  <a:lnTo>
                    <a:pt x="1014095" y="325374"/>
                  </a:lnTo>
                  <a:lnTo>
                    <a:pt x="1031494" y="373760"/>
                  </a:lnTo>
                  <a:lnTo>
                    <a:pt x="1044067" y="423799"/>
                  </a:lnTo>
                  <a:lnTo>
                    <a:pt x="1051687" y="474979"/>
                  </a:lnTo>
                  <a:lnTo>
                    <a:pt x="1054227" y="527050"/>
                  </a:lnTo>
                  <a:lnTo>
                    <a:pt x="1052068" y="575055"/>
                  </a:lnTo>
                  <a:lnTo>
                    <a:pt x="1045718" y="621791"/>
                  </a:lnTo>
                  <a:lnTo>
                    <a:pt x="1035431" y="667257"/>
                  </a:lnTo>
                  <a:lnTo>
                    <a:pt x="1021207" y="711073"/>
                  </a:lnTo>
                  <a:lnTo>
                    <a:pt x="1003554" y="753110"/>
                  </a:lnTo>
                  <a:lnTo>
                    <a:pt x="982218" y="793114"/>
                  </a:lnTo>
                  <a:lnTo>
                    <a:pt x="957834" y="831088"/>
                  </a:lnTo>
                  <a:lnTo>
                    <a:pt x="930275" y="866775"/>
                  </a:lnTo>
                  <a:lnTo>
                    <a:pt x="899795" y="899794"/>
                  </a:lnTo>
                  <a:lnTo>
                    <a:pt x="866775" y="930275"/>
                  </a:lnTo>
                  <a:lnTo>
                    <a:pt x="831088" y="957833"/>
                  </a:lnTo>
                  <a:lnTo>
                    <a:pt x="793115" y="982217"/>
                  </a:lnTo>
                  <a:lnTo>
                    <a:pt x="753110" y="1003426"/>
                  </a:lnTo>
                  <a:lnTo>
                    <a:pt x="711073" y="1021206"/>
                  </a:lnTo>
                  <a:lnTo>
                    <a:pt x="667258" y="1035430"/>
                  </a:lnTo>
                  <a:lnTo>
                    <a:pt x="621919" y="1045717"/>
                  </a:lnTo>
                  <a:lnTo>
                    <a:pt x="575056" y="1052067"/>
                  </a:lnTo>
                  <a:lnTo>
                    <a:pt x="527050" y="1054227"/>
                  </a:lnTo>
                  <a:lnTo>
                    <a:pt x="479171" y="1052067"/>
                  </a:lnTo>
                  <a:lnTo>
                    <a:pt x="432308" y="1045717"/>
                  </a:lnTo>
                  <a:lnTo>
                    <a:pt x="386969" y="1035430"/>
                  </a:lnTo>
                  <a:lnTo>
                    <a:pt x="343154" y="1021206"/>
                  </a:lnTo>
                  <a:lnTo>
                    <a:pt x="301117" y="1003426"/>
                  </a:lnTo>
                  <a:lnTo>
                    <a:pt x="261112" y="982217"/>
                  </a:lnTo>
                  <a:lnTo>
                    <a:pt x="223139" y="957833"/>
                  </a:lnTo>
                  <a:lnTo>
                    <a:pt x="187452" y="930275"/>
                  </a:lnTo>
                  <a:lnTo>
                    <a:pt x="154305" y="899794"/>
                  </a:lnTo>
                  <a:lnTo>
                    <a:pt x="123952" y="866775"/>
                  </a:lnTo>
                  <a:lnTo>
                    <a:pt x="96393" y="831088"/>
                  </a:lnTo>
                  <a:lnTo>
                    <a:pt x="71882" y="793114"/>
                  </a:lnTo>
                  <a:lnTo>
                    <a:pt x="50673" y="753110"/>
                  </a:lnTo>
                  <a:lnTo>
                    <a:pt x="32893" y="711073"/>
                  </a:lnTo>
                  <a:lnTo>
                    <a:pt x="18796" y="667257"/>
                  </a:lnTo>
                  <a:lnTo>
                    <a:pt x="8509" y="621791"/>
                  </a:lnTo>
                  <a:lnTo>
                    <a:pt x="2159" y="575055"/>
                  </a:lnTo>
                  <a:lnTo>
                    <a:pt x="0" y="527050"/>
                  </a:lnTo>
                  <a:close/>
                </a:path>
              </a:pathLst>
            </a:custGeom>
            <a:ln w="571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60900" y="880236"/>
              <a:ext cx="427990" cy="441325"/>
            </a:xfrm>
            <a:custGeom>
              <a:avLst/>
              <a:gdLst/>
              <a:ahLst/>
              <a:cxnLst/>
              <a:rect l="l" t="t" r="r" b="b"/>
              <a:pathLst>
                <a:path w="427989" h="441325">
                  <a:moveTo>
                    <a:pt x="427990" y="180721"/>
                  </a:moveTo>
                  <a:lnTo>
                    <a:pt x="424307" y="138303"/>
                  </a:lnTo>
                  <a:lnTo>
                    <a:pt x="411353" y="101485"/>
                  </a:lnTo>
                  <a:lnTo>
                    <a:pt x="379984" y="57150"/>
                  </a:lnTo>
                  <a:lnTo>
                    <a:pt x="348615" y="35052"/>
                  </a:lnTo>
                  <a:lnTo>
                    <a:pt x="313563" y="18415"/>
                  </a:lnTo>
                  <a:lnTo>
                    <a:pt x="273050" y="5461"/>
                  </a:lnTo>
                  <a:lnTo>
                    <a:pt x="230505" y="0"/>
                  </a:lnTo>
                  <a:lnTo>
                    <a:pt x="206629" y="0"/>
                  </a:lnTo>
                  <a:lnTo>
                    <a:pt x="140208" y="7366"/>
                  </a:lnTo>
                  <a:lnTo>
                    <a:pt x="95885" y="24003"/>
                  </a:lnTo>
                  <a:lnTo>
                    <a:pt x="64516" y="46101"/>
                  </a:lnTo>
                  <a:lnTo>
                    <a:pt x="35052" y="79260"/>
                  </a:lnTo>
                  <a:lnTo>
                    <a:pt x="14732" y="121666"/>
                  </a:lnTo>
                  <a:lnTo>
                    <a:pt x="1778" y="173355"/>
                  </a:lnTo>
                  <a:lnTo>
                    <a:pt x="0" y="202946"/>
                  </a:lnTo>
                  <a:lnTo>
                    <a:pt x="121666" y="202946"/>
                  </a:lnTo>
                  <a:lnTo>
                    <a:pt x="123571" y="184404"/>
                  </a:lnTo>
                  <a:lnTo>
                    <a:pt x="127254" y="167906"/>
                  </a:lnTo>
                  <a:lnTo>
                    <a:pt x="147574" y="127254"/>
                  </a:lnTo>
                  <a:lnTo>
                    <a:pt x="188087" y="105156"/>
                  </a:lnTo>
                  <a:lnTo>
                    <a:pt x="212090" y="101485"/>
                  </a:lnTo>
                  <a:lnTo>
                    <a:pt x="234315" y="103251"/>
                  </a:lnTo>
                  <a:lnTo>
                    <a:pt x="280416" y="129159"/>
                  </a:lnTo>
                  <a:lnTo>
                    <a:pt x="296926" y="171577"/>
                  </a:lnTo>
                  <a:lnTo>
                    <a:pt x="298831" y="186309"/>
                  </a:lnTo>
                  <a:lnTo>
                    <a:pt x="293243" y="213995"/>
                  </a:lnTo>
                  <a:lnTo>
                    <a:pt x="267462" y="250825"/>
                  </a:lnTo>
                  <a:lnTo>
                    <a:pt x="254508" y="261874"/>
                  </a:lnTo>
                  <a:lnTo>
                    <a:pt x="217678" y="287782"/>
                  </a:lnTo>
                  <a:lnTo>
                    <a:pt x="158623" y="339344"/>
                  </a:lnTo>
                  <a:lnTo>
                    <a:pt x="143891" y="376301"/>
                  </a:lnTo>
                  <a:lnTo>
                    <a:pt x="138430" y="429768"/>
                  </a:lnTo>
                  <a:lnTo>
                    <a:pt x="138303" y="433451"/>
                  </a:lnTo>
                  <a:lnTo>
                    <a:pt x="140208" y="437134"/>
                  </a:lnTo>
                  <a:lnTo>
                    <a:pt x="143891" y="439039"/>
                  </a:lnTo>
                  <a:lnTo>
                    <a:pt x="151257" y="440817"/>
                  </a:lnTo>
                  <a:lnTo>
                    <a:pt x="245364" y="440817"/>
                  </a:lnTo>
                  <a:lnTo>
                    <a:pt x="250825" y="439039"/>
                  </a:lnTo>
                  <a:lnTo>
                    <a:pt x="254508" y="437134"/>
                  </a:lnTo>
                  <a:lnTo>
                    <a:pt x="256413" y="433451"/>
                  </a:lnTo>
                  <a:lnTo>
                    <a:pt x="256413" y="429768"/>
                  </a:lnTo>
                  <a:lnTo>
                    <a:pt x="258191" y="411353"/>
                  </a:lnTo>
                  <a:lnTo>
                    <a:pt x="261874" y="398399"/>
                  </a:lnTo>
                  <a:lnTo>
                    <a:pt x="267462" y="385572"/>
                  </a:lnTo>
                  <a:lnTo>
                    <a:pt x="285877" y="363347"/>
                  </a:lnTo>
                  <a:lnTo>
                    <a:pt x="331978" y="330200"/>
                  </a:lnTo>
                  <a:lnTo>
                    <a:pt x="387350" y="284099"/>
                  </a:lnTo>
                  <a:lnTo>
                    <a:pt x="409448" y="252730"/>
                  </a:lnTo>
                  <a:lnTo>
                    <a:pt x="427990" y="193675"/>
                  </a:lnTo>
                  <a:lnTo>
                    <a:pt x="427990" y="1807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153" y="1393063"/>
              <a:ext cx="151257" cy="15125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11" name="object 11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21309" y="3102940"/>
            <a:ext cx="19100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80" dirty="0">
                <a:solidFill>
                  <a:srgbClr val="FFFFFF"/>
                </a:solidFill>
                <a:latin typeface="Calibri"/>
                <a:cs typeface="Calibri"/>
              </a:rPr>
              <a:t>Module</a:t>
            </a:r>
            <a:r>
              <a:rPr sz="3600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8227" y="3066923"/>
            <a:ext cx="5271515" cy="2915031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604128" y="862076"/>
            <a:ext cx="14198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60" dirty="0">
                <a:solidFill>
                  <a:srgbClr val="30859B"/>
                </a:solidFill>
              </a:rPr>
              <a:t>Questions</a:t>
            </a:r>
            <a:endParaRPr sz="25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68275">
              <a:lnSpc>
                <a:spcPts val="124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400608" y="7215099"/>
            <a:ext cx="25673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A</a:t>
            </a:r>
            <a:r>
              <a:rPr sz="1200" spc="10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//</a:t>
            </a:r>
            <a:r>
              <a:rPr sz="1200" spc="9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MODULE</a:t>
            </a:r>
            <a:r>
              <a:rPr sz="1200" spc="210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sz="1200" spc="11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–</a:t>
            </a:r>
            <a:r>
              <a:rPr sz="1200" spc="85" dirty="0">
                <a:solidFill>
                  <a:srgbClr val="878787"/>
                </a:solidFill>
                <a:latin typeface="Calibri"/>
                <a:cs typeface="Calibri"/>
              </a:rPr>
              <a:t> EXPLORER</a:t>
            </a:r>
            <a:r>
              <a:rPr sz="1200" spc="25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878787"/>
                </a:solidFill>
                <a:latin typeface="Calibri"/>
                <a:cs typeface="Calibri"/>
              </a:rPr>
              <a:t>DEVOPS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05653" y="1585976"/>
            <a:ext cx="13995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114" dirty="0">
                <a:solidFill>
                  <a:srgbClr val="30859B"/>
                </a:solidFill>
                <a:latin typeface="Calibri"/>
                <a:cs typeface="Calibri"/>
              </a:rPr>
              <a:t>Réponses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3" name="object 3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103" y="-4764"/>
            <a:ext cx="3519170" cy="7566025"/>
            <a:chOff x="-6103" y="-4764"/>
            <a:chExt cx="3519170" cy="7566025"/>
          </a:xfrm>
        </p:grpSpPr>
        <p:sp>
          <p:nvSpPr>
            <p:cNvPr id="6" name="object 6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391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3509391" y="7556500"/>
                  </a:lnTo>
                  <a:lnTo>
                    <a:pt x="350939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7556500"/>
                  </a:moveTo>
                  <a:lnTo>
                    <a:pt x="3509391" y="7556500"/>
                  </a:lnTo>
                  <a:lnTo>
                    <a:pt x="3509391" y="0"/>
                  </a:lnTo>
                  <a:lnTo>
                    <a:pt x="0" y="0"/>
                  </a:lnTo>
                  <a:lnTo>
                    <a:pt x="0" y="7556500"/>
                  </a:lnTo>
                  <a:close/>
                </a:path>
              </a:pathLst>
            </a:custGeom>
            <a:ln w="9525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461" y="0"/>
                  </a:moveTo>
                  <a:lnTo>
                    <a:pt x="0" y="0"/>
                  </a:lnTo>
                  <a:lnTo>
                    <a:pt x="3509461" y="7556498"/>
                  </a:lnTo>
                  <a:lnTo>
                    <a:pt x="350946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0"/>
                  </a:moveTo>
                  <a:lnTo>
                    <a:pt x="3509461" y="0"/>
                  </a:lnTo>
                  <a:lnTo>
                    <a:pt x="3509461" y="7556498"/>
                  </a:lnTo>
                </a:path>
                <a:path w="350964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8292" y="771721"/>
            <a:ext cx="2161540" cy="1568450"/>
          </a:xfrm>
          <a:prstGeom prst="rect">
            <a:avLst/>
          </a:prstGeom>
        </p:spPr>
        <p:txBody>
          <a:bodyPr vert="horz" wrap="square" lIns="0" tIns="33210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2615"/>
              </a:spcBef>
              <a:tabLst>
                <a:tab pos="708660" algn="l"/>
                <a:tab pos="1187450" algn="l"/>
              </a:tabLst>
            </a:pPr>
            <a:r>
              <a:rPr sz="36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400" b="1" spc="-75" baseline="1543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5400" b="1" baseline="154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6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  <a:tabLst>
                <a:tab pos="1733550" algn="l"/>
              </a:tabLst>
            </a:pP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8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00" b="1" spc="-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00" b="1" spc="-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2</a:t>
            </a:r>
            <a:r>
              <a:rPr sz="2800" b="1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292" y="2621356"/>
            <a:ext cx="2181225" cy="9474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85" dirty="0">
                <a:solidFill>
                  <a:srgbClr val="FFFFFF"/>
                </a:solidFill>
                <a:latin typeface="Calibri"/>
                <a:cs typeface="Calibri"/>
              </a:rPr>
              <a:t>Industrialisation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11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180" dirty="0">
                <a:solidFill>
                  <a:srgbClr val="FFFFFF"/>
                </a:solidFill>
                <a:latin typeface="Calibri"/>
                <a:cs typeface="Calibri"/>
              </a:rPr>
              <a:t>déploiements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74631" y="2558986"/>
            <a:ext cx="462915" cy="462915"/>
            <a:chOff x="3274631" y="2558986"/>
            <a:chExt cx="462915" cy="462915"/>
          </a:xfrm>
        </p:grpSpPr>
        <p:sp>
          <p:nvSpPr>
            <p:cNvPr id="13" name="object 13"/>
            <p:cNvSpPr/>
            <p:nvPr/>
          </p:nvSpPr>
          <p:spPr>
            <a:xfrm>
              <a:off x="3288919" y="257327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841"/>
                  </a:lnTo>
                  <a:lnTo>
                    <a:pt x="121665" y="22097"/>
                  </a:lnTo>
                  <a:lnTo>
                    <a:pt x="81279" y="47751"/>
                  </a:lnTo>
                  <a:lnTo>
                    <a:pt x="47751" y="81406"/>
                  </a:lnTo>
                  <a:lnTo>
                    <a:pt x="22097" y="121665"/>
                  </a:lnTo>
                  <a:lnTo>
                    <a:pt x="5714" y="167385"/>
                  </a:lnTo>
                  <a:lnTo>
                    <a:pt x="0" y="217169"/>
                  </a:lnTo>
                  <a:lnTo>
                    <a:pt x="5714" y="266953"/>
                  </a:lnTo>
                  <a:lnTo>
                    <a:pt x="22097" y="312546"/>
                  </a:lnTo>
                  <a:lnTo>
                    <a:pt x="47751" y="352932"/>
                  </a:lnTo>
                  <a:lnTo>
                    <a:pt x="81279" y="386460"/>
                  </a:lnTo>
                  <a:lnTo>
                    <a:pt x="121665" y="412114"/>
                  </a:lnTo>
                  <a:lnTo>
                    <a:pt x="167258" y="428497"/>
                  </a:lnTo>
                  <a:lnTo>
                    <a:pt x="217042" y="434213"/>
                  </a:lnTo>
                  <a:lnTo>
                    <a:pt x="266826" y="428497"/>
                  </a:lnTo>
                  <a:lnTo>
                    <a:pt x="312546" y="412114"/>
                  </a:lnTo>
                  <a:lnTo>
                    <a:pt x="352805" y="386460"/>
                  </a:lnTo>
                  <a:lnTo>
                    <a:pt x="386460" y="352932"/>
                  </a:lnTo>
                  <a:lnTo>
                    <a:pt x="412114" y="312546"/>
                  </a:lnTo>
                  <a:lnTo>
                    <a:pt x="428370" y="266953"/>
                  </a:lnTo>
                  <a:lnTo>
                    <a:pt x="434213" y="217169"/>
                  </a:lnTo>
                  <a:lnTo>
                    <a:pt x="429894" y="174625"/>
                  </a:lnTo>
                  <a:lnTo>
                    <a:pt x="417575" y="134112"/>
                  </a:lnTo>
                  <a:lnTo>
                    <a:pt x="397636" y="96646"/>
                  </a:lnTo>
                  <a:lnTo>
                    <a:pt x="370585" y="63626"/>
                  </a:lnTo>
                  <a:lnTo>
                    <a:pt x="337565" y="36575"/>
                  </a:lnTo>
                  <a:lnTo>
                    <a:pt x="300100" y="16637"/>
                  </a:lnTo>
                  <a:lnTo>
                    <a:pt x="259587" y="4317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88919" y="257327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169"/>
                  </a:moveTo>
                  <a:lnTo>
                    <a:pt x="5714" y="167385"/>
                  </a:lnTo>
                  <a:lnTo>
                    <a:pt x="22097" y="121665"/>
                  </a:lnTo>
                  <a:lnTo>
                    <a:pt x="47751" y="81406"/>
                  </a:lnTo>
                  <a:lnTo>
                    <a:pt x="81279" y="47751"/>
                  </a:lnTo>
                  <a:lnTo>
                    <a:pt x="121665" y="22097"/>
                  </a:lnTo>
                  <a:lnTo>
                    <a:pt x="167258" y="5841"/>
                  </a:lnTo>
                  <a:lnTo>
                    <a:pt x="217042" y="0"/>
                  </a:lnTo>
                  <a:lnTo>
                    <a:pt x="259587" y="4317"/>
                  </a:lnTo>
                  <a:lnTo>
                    <a:pt x="300100" y="16637"/>
                  </a:lnTo>
                  <a:lnTo>
                    <a:pt x="337565" y="36575"/>
                  </a:lnTo>
                  <a:lnTo>
                    <a:pt x="370585" y="63626"/>
                  </a:lnTo>
                  <a:lnTo>
                    <a:pt x="397636" y="96646"/>
                  </a:lnTo>
                  <a:lnTo>
                    <a:pt x="417575" y="134112"/>
                  </a:lnTo>
                  <a:lnTo>
                    <a:pt x="429894" y="174625"/>
                  </a:lnTo>
                  <a:lnTo>
                    <a:pt x="434213" y="217169"/>
                  </a:lnTo>
                  <a:lnTo>
                    <a:pt x="428370" y="266953"/>
                  </a:lnTo>
                  <a:lnTo>
                    <a:pt x="412114" y="312546"/>
                  </a:lnTo>
                  <a:lnTo>
                    <a:pt x="386460" y="352932"/>
                  </a:lnTo>
                  <a:lnTo>
                    <a:pt x="352805" y="386460"/>
                  </a:lnTo>
                  <a:lnTo>
                    <a:pt x="312546" y="412114"/>
                  </a:lnTo>
                  <a:lnTo>
                    <a:pt x="266826" y="428497"/>
                  </a:lnTo>
                  <a:lnTo>
                    <a:pt x="217042" y="434213"/>
                  </a:lnTo>
                  <a:lnTo>
                    <a:pt x="167258" y="428497"/>
                  </a:lnTo>
                  <a:lnTo>
                    <a:pt x="121665" y="412114"/>
                  </a:lnTo>
                  <a:lnTo>
                    <a:pt x="81279" y="386460"/>
                  </a:lnTo>
                  <a:lnTo>
                    <a:pt x="47751" y="352932"/>
                  </a:lnTo>
                  <a:lnTo>
                    <a:pt x="22097" y="312546"/>
                  </a:lnTo>
                  <a:lnTo>
                    <a:pt x="5714" y="266953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23030" y="2603373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226814" y="870585"/>
            <a:ext cx="47301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/>
              <a:t>Standardisation</a:t>
            </a:r>
            <a:r>
              <a:rPr sz="3200" spc="-30" dirty="0"/>
              <a:t> </a:t>
            </a:r>
            <a:r>
              <a:rPr sz="3200" dirty="0"/>
              <a:t>des</a:t>
            </a:r>
            <a:r>
              <a:rPr sz="3200" spc="-70" dirty="0"/>
              <a:t> </a:t>
            </a:r>
            <a:r>
              <a:rPr sz="3200" spc="-10" dirty="0"/>
              <a:t>livrables</a:t>
            </a:r>
            <a:endParaRPr sz="3200"/>
          </a:p>
        </p:txBody>
      </p:sp>
      <p:sp>
        <p:nvSpPr>
          <p:cNvPr id="17" name="object 17"/>
          <p:cNvSpPr txBox="1"/>
          <p:nvPr/>
        </p:nvSpPr>
        <p:spPr>
          <a:xfrm>
            <a:off x="4196588" y="2590038"/>
            <a:ext cx="602234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3200" spc="-1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3200" spc="-1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3200" spc="-1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d’une</a:t>
            </a:r>
            <a:r>
              <a:rPr sz="3200" spc="-1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usine</a:t>
            </a:r>
            <a:r>
              <a:rPr sz="3200" spc="-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4052"/>
                </a:solidFill>
                <a:latin typeface="Calibri"/>
                <a:cs typeface="Calibri"/>
              </a:rPr>
              <a:t>logicielle 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et</a:t>
            </a:r>
            <a:r>
              <a:rPr sz="3200" spc="-1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3200" spc="-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4052"/>
                </a:solidFill>
                <a:latin typeface="Calibri"/>
                <a:cs typeface="Calibri"/>
              </a:rPr>
              <a:t>l’intégration</a:t>
            </a:r>
            <a:r>
              <a:rPr sz="3200" spc="-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4052"/>
                </a:solidFill>
                <a:latin typeface="Calibri"/>
                <a:cs typeface="Calibri"/>
              </a:rPr>
              <a:t>continue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90125" y="881951"/>
            <a:ext cx="462915" cy="462915"/>
            <a:chOff x="3290125" y="881951"/>
            <a:chExt cx="462915" cy="462915"/>
          </a:xfrm>
        </p:grpSpPr>
        <p:sp>
          <p:nvSpPr>
            <p:cNvPr id="19" name="object 19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170" y="0"/>
                  </a:moveTo>
                  <a:lnTo>
                    <a:pt x="167386" y="5842"/>
                  </a:lnTo>
                  <a:lnTo>
                    <a:pt x="121665" y="22098"/>
                  </a:lnTo>
                  <a:lnTo>
                    <a:pt x="81407" y="47751"/>
                  </a:lnTo>
                  <a:lnTo>
                    <a:pt x="47751" y="81406"/>
                  </a:lnTo>
                  <a:lnTo>
                    <a:pt x="22098" y="121666"/>
                  </a:lnTo>
                  <a:lnTo>
                    <a:pt x="5841" y="167386"/>
                  </a:lnTo>
                  <a:lnTo>
                    <a:pt x="0" y="217169"/>
                  </a:lnTo>
                  <a:lnTo>
                    <a:pt x="5841" y="266826"/>
                  </a:lnTo>
                  <a:lnTo>
                    <a:pt x="22098" y="312547"/>
                  </a:lnTo>
                  <a:lnTo>
                    <a:pt x="47751" y="352932"/>
                  </a:lnTo>
                  <a:lnTo>
                    <a:pt x="81407" y="386461"/>
                  </a:lnTo>
                  <a:lnTo>
                    <a:pt x="121665" y="412114"/>
                  </a:lnTo>
                  <a:lnTo>
                    <a:pt x="167386" y="428498"/>
                  </a:lnTo>
                  <a:lnTo>
                    <a:pt x="217170" y="434213"/>
                  </a:lnTo>
                  <a:lnTo>
                    <a:pt x="266953" y="428498"/>
                  </a:lnTo>
                  <a:lnTo>
                    <a:pt x="312547" y="412114"/>
                  </a:lnTo>
                  <a:lnTo>
                    <a:pt x="352933" y="386461"/>
                  </a:lnTo>
                  <a:lnTo>
                    <a:pt x="386461" y="352932"/>
                  </a:lnTo>
                  <a:lnTo>
                    <a:pt x="412114" y="312547"/>
                  </a:lnTo>
                  <a:lnTo>
                    <a:pt x="428498" y="266826"/>
                  </a:lnTo>
                  <a:lnTo>
                    <a:pt x="434213" y="217169"/>
                  </a:lnTo>
                  <a:lnTo>
                    <a:pt x="430022" y="174625"/>
                  </a:lnTo>
                  <a:lnTo>
                    <a:pt x="417702" y="133984"/>
                  </a:lnTo>
                  <a:lnTo>
                    <a:pt x="397763" y="96647"/>
                  </a:lnTo>
                  <a:lnTo>
                    <a:pt x="370586" y="63626"/>
                  </a:lnTo>
                  <a:lnTo>
                    <a:pt x="337565" y="36575"/>
                  </a:lnTo>
                  <a:lnTo>
                    <a:pt x="300227" y="16509"/>
                  </a:lnTo>
                  <a:lnTo>
                    <a:pt x="259714" y="4318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69"/>
                  </a:moveTo>
                  <a:lnTo>
                    <a:pt x="5841" y="167386"/>
                  </a:lnTo>
                  <a:lnTo>
                    <a:pt x="22098" y="121666"/>
                  </a:lnTo>
                  <a:lnTo>
                    <a:pt x="47751" y="81406"/>
                  </a:lnTo>
                  <a:lnTo>
                    <a:pt x="81407" y="47751"/>
                  </a:lnTo>
                  <a:lnTo>
                    <a:pt x="121665" y="22098"/>
                  </a:lnTo>
                  <a:lnTo>
                    <a:pt x="167386" y="5842"/>
                  </a:lnTo>
                  <a:lnTo>
                    <a:pt x="217170" y="0"/>
                  </a:lnTo>
                  <a:lnTo>
                    <a:pt x="259714" y="4318"/>
                  </a:lnTo>
                  <a:lnTo>
                    <a:pt x="300227" y="16509"/>
                  </a:lnTo>
                  <a:lnTo>
                    <a:pt x="337565" y="36575"/>
                  </a:lnTo>
                  <a:lnTo>
                    <a:pt x="370586" y="63626"/>
                  </a:lnTo>
                  <a:lnTo>
                    <a:pt x="397763" y="96647"/>
                  </a:lnTo>
                  <a:lnTo>
                    <a:pt x="417702" y="133984"/>
                  </a:lnTo>
                  <a:lnTo>
                    <a:pt x="430022" y="174625"/>
                  </a:lnTo>
                  <a:lnTo>
                    <a:pt x="434213" y="217169"/>
                  </a:lnTo>
                  <a:lnTo>
                    <a:pt x="428498" y="266826"/>
                  </a:lnTo>
                  <a:lnTo>
                    <a:pt x="412114" y="312547"/>
                  </a:lnTo>
                  <a:lnTo>
                    <a:pt x="386461" y="352932"/>
                  </a:lnTo>
                  <a:lnTo>
                    <a:pt x="352933" y="386461"/>
                  </a:lnTo>
                  <a:lnTo>
                    <a:pt x="312547" y="412114"/>
                  </a:lnTo>
                  <a:lnTo>
                    <a:pt x="266953" y="428498"/>
                  </a:lnTo>
                  <a:lnTo>
                    <a:pt x="217170" y="434213"/>
                  </a:lnTo>
                  <a:lnTo>
                    <a:pt x="167386" y="428498"/>
                  </a:lnTo>
                  <a:lnTo>
                    <a:pt x="121665" y="412114"/>
                  </a:lnTo>
                  <a:lnTo>
                    <a:pt x="81407" y="386461"/>
                  </a:lnTo>
                  <a:lnTo>
                    <a:pt x="47751" y="352932"/>
                  </a:lnTo>
                  <a:lnTo>
                    <a:pt x="22098" y="312547"/>
                  </a:lnTo>
                  <a:lnTo>
                    <a:pt x="5841" y="266826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38525" y="926084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97238" y="4768914"/>
            <a:ext cx="462915" cy="462915"/>
            <a:chOff x="3297238" y="4768914"/>
            <a:chExt cx="462915" cy="462915"/>
          </a:xfrm>
        </p:grpSpPr>
        <p:sp>
          <p:nvSpPr>
            <p:cNvPr id="23" name="object 23"/>
            <p:cNvSpPr/>
            <p:nvPr/>
          </p:nvSpPr>
          <p:spPr>
            <a:xfrm>
              <a:off x="3311525" y="47832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9" y="5715"/>
                  </a:lnTo>
                  <a:lnTo>
                    <a:pt x="121665" y="21971"/>
                  </a:lnTo>
                  <a:lnTo>
                    <a:pt x="81279" y="47625"/>
                  </a:lnTo>
                  <a:lnTo>
                    <a:pt x="47751" y="81280"/>
                  </a:lnTo>
                  <a:lnTo>
                    <a:pt x="22098" y="121539"/>
                  </a:lnTo>
                  <a:lnTo>
                    <a:pt x="5714" y="167259"/>
                  </a:lnTo>
                  <a:lnTo>
                    <a:pt x="0" y="217043"/>
                  </a:lnTo>
                  <a:lnTo>
                    <a:pt x="5714" y="266827"/>
                  </a:lnTo>
                  <a:lnTo>
                    <a:pt x="22098" y="312420"/>
                  </a:lnTo>
                  <a:lnTo>
                    <a:pt x="47751" y="352806"/>
                  </a:lnTo>
                  <a:lnTo>
                    <a:pt x="81279" y="386334"/>
                  </a:lnTo>
                  <a:lnTo>
                    <a:pt x="121665" y="411988"/>
                  </a:lnTo>
                  <a:lnTo>
                    <a:pt x="167259" y="428371"/>
                  </a:lnTo>
                  <a:lnTo>
                    <a:pt x="217042" y="434086"/>
                  </a:lnTo>
                  <a:lnTo>
                    <a:pt x="266826" y="428371"/>
                  </a:lnTo>
                  <a:lnTo>
                    <a:pt x="312547" y="411988"/>
                  </a:lnTo>
                  <a:lnTo>
                    <a:pt x="352805" y="386334"/>
                  </a:lnTo>
                  <a:lnTo>
                    <a:pt x="386461" y="352806"/>
                  </a:lnTo>
                  <a:lnTo>
                    <a:pt x="412114" y="312420"/>
                  </a:lnTo>
                  <a:lnTo>
                    <a:pt x="428371" y="266827"/>
                  </a:lnTo>
                  <a:lnTo>
                    <a:pt x="434213" y="217043"/>
                  </a:lnTo>
                  <a:lnTo>
                    <a:pt x="429895" y="174498"/>
                  </a:lnTo>
                  <a:lnTo>
                    <a:pt x="417575" y="133985"/>
                  </a:lnTo>
                  <a:lnTo>
                    <a:pt x="397637" y="96520"/>
                  </a:lnTo>
                  <a:lnTo>
                    <a:pt x="370586" y="63500"/>
                  </a:lnTo>
                  <a:lnTo>
                    <a:pt x="337565" y="36449"/>
                  </a:lnTo>
                  <a:lnTo>
                    <a:pt x="300100" y="16510"/>
                  </a:lnTo>
                  <a:lnTo>
                    <a:pt x="259587" y="4191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11525" y="4783201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3"/>
                  </a:moveTo>
                  <a:lnTo>
                    <a:pt x="5714" y="167259"/>
                  </a:lnTo>
                  <a:lnTo>
                    <a:pt x="22098" y="121539"/>
                  </a:lnTo>
                  <a:lnTo>
                    <a:pt x="47751" y="81280"/>
                  </a:lnTo>
                  <a:lnTo>
                    <a:pt x="81279" y="47625"/>
                  </a:lnTo>
                  <a:lnTo>
                    <a:pt x="121665" y="21971"/>
                  </a:lnTo>
                  <a:lnTo>
                    <a:pt x="167259" y="5715"/>
                  </a:lnTo>
                  <a:lnTo>
                    <a:pt x="217042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565" y="36449"/>
                  </a:lnTo>
                  <a:lnTo>
                    <a:pt x="370586" y="63500"/>
                  </a:lnTo>
                  <a:lnTo>
                    <a:pt x="397637" y="96520"/>
                  </a:lnTo>
                  <a:lnTo>
                    <a:pt x="417575" y="133985"/>
                  </a:lnTo>
                  <a:lnTo>
                    <a:pt x="429895" y="174498"/>
                  </a:lnTo>
                  <a:lnTo>
                    <a:pt x="434213" y="217043"/>
                  </a:lnTo>
                  <a:lnTo>
                    <a:pt x="428371" y="266827"/>
                  </a:lnTo>
                  <a:lnTo>
                    <a:pt x="412114" y="312420"/>
                  </a:lnTo>
                  <a:lnTo>
                    <a:pt x="386461" y="352806"/>
                  </a:lnTo>
                  <a:lnTo>
                    <a:pt x="352805" y="386334"/>
                  </a:lnTo>
                  <a:lnTo>
                    <a:pt x="312547" y="411988"/>
                  </a:lnTo>
                  <a:lnTo>
                    <a:pt x="266826" y="428371"/>
                  </a:lnTo>
                  <a:lnTo>
                    <a:pt x="217042" y="434086"/>
                  </a:lnTo>
                  <a:lnTo>
                    <a:pt x="167259" y="428371"/>
                  </a:lnTo>
                  <a:lnTo>
                    <a:pt x="121665" y="411988"/>
                  </a:lnTo>
                  <a:lnTo>
                    <a:pt x="81279" y="386334"/>
                  </a:lnTo>
                  <a:lnTo>
                    <a:pt x="47751" y="352806"/>
                  </a:lnTo>
                  <a:lnTo>
                    <a:pt x="22098" y="312420"/>
                  </a:lnTo>
                  <a:lnTo>
                    <a:pt x="5714" y="266827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45890" y="4813808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5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4196588" y="4863211"/>
            <a:ext cx="52317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solidFill>
                  <a:srgbClr val="164052"/>
                </a:solidFill>
                <a:latin typeface="Calibri"/>
                <a:cs typeface="Calibri"/>
              </a:rPr>
              <a:t>Standardisation</a:t>
            </a:r>
            <a:r>
              <a:rPr sz="3200" spc="-3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du</a:t>
            </a:r>
            <a:r>
              <a:rPr sz="3200" spc="-5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164052"/>
                </a:solidFill>
                <a:latin typeface="Calibri"/>
                <a:cs typeface="Calibri"/>
              </a:rPr>
              <a:t>provisioning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75297"/>
            <a:ext cx="10680700" cy="6012815"/>
            <a:chOff x="0" y="775297"/>
            <a:chExt cx="10680700" cy="60128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75297"/>
              <a:ext cx="10680192" cy="60123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5736" y="1469644"/>
              <a:ext cx="5522595" cy="28263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85740" y="1486662"/>
              <a:ext cx="5443220" cy="2746375"/>
            </a:xfrm>
            <a:custGeom>
              <a:avLst/>
              <a:gdLst/>
              <a:ahLst/>
              <a:cxnLst/>
              <a:rect l="l" t="t" r="r" b="b"/>
              <a:pathLst>
                <a:path w="5443220" h="2746375">
                  <a:moveTo>
                    <a:pt x="4985004" y="0"/>
                  </a:moveTo>
                  <a:lnTo>
                    <a:pt x="1045972" y="0"/>
                  </a:lnTo>
                  <a:lnTo>
                    <a:pt x="999236" y="2412"/>
                  </a:lnTo>
                  <a:lnTo>
                    <a:pt x="953770" y="9397"/>
                  </a:lnTo>
                  <a:lnTo>
                    <a:pt x="909828" y="20574"/>
                  </a:lnTo>
                  <a:lnTo>
                    <a:pt x="867791" y="36067"/>
                  </a:lnTo>
                  <a:lnTo>
                    <a:pt x="827786" y="55244"/>
                  </a:lnTo>
                  <a:lnTo>
                    <a:pt x="790067" y="78231"/>
                  </a:lnTo>
                  <a:lnTo>
                    <a:pt x="754888" y="104520"/>
                  </a:lnTo>
                  <a:lnTo>
                    <a:pt x="722376" y="134112"/>
                  </a:lnTo>
                  <a:lnTo>
                    <a:pt x="692785" y="166624"/>
                  </a:lnTo>
                  <a:lnTo>
                    <a:pt x="666496" y="201802"/>
                  </a:lnTo>
                  <a:lnTo>
                    <a:pt x="643509" y="239649"/>
                  </a:lnTo>
                  <a:lnTo>
                    <a:pt x="624205" y="279653"/>
                  </a:lnTo>
                  <a:lnTo>
                    <a:pt x="608838" y="321690"/>
                  </a:lnTo>
                  <a:lnTo>
                    <a:pt x="597535" y="365505"/>
                  </a:lnTo>
                  <a:lnTo>
                    <a:pt x="590676" y="410971"/>
                  </a:lnTo>
                  <a:lnTo>
                    <a:pt x="588263" y="457834"/>
                  </a:lnTo>
                  <a:lnTo>
                    <a:pt x="0" y="1041018"/>
                  </a:lnTo>
                  <a:lnTo>
                    <a:pt x="588263" y="1144396"/>
                  </a:lnTo>
                  <a:lnTo>
                    <a:pt x="588263" y="2288666"/>
                  </a:lnTo>
                  <a:lnTo>
                    <a:pt x="590676" y="2335529"/>
                  </a:lnTo>
                  <a:lnTo>
                    <a:pt x="597535" y="2380995"/>
                  </a:lnTo>
                  <a:lnTo>
                    <a:pt x="608838" y="2424810"/>
                  </a:lnTo>
                  <a:lnTo>
                    <a:pt x="624205" y="2466847"/>
                  </a:lnTo>
                  <a:lnTo>
                    <a:pt x="643509" y="2506853"/>
                  </a:lnTo>
                  <a:lnTo>
                    <a:pt x="666496" y="2544571"/>
                  </a:lnTo>
                  <a:lnTo>
                    <a:pt x="692785" y="2579878"/>
                  </a:lnTo>
                  <a:lnTo>
                    <a:pt x="722376" y="2612390"/>
                  </a:lnTo>
                  <a:lnTo>
                    <a:pt x="754888" y="2641854"/>
                  </a:lnTo>
                  <a:lnTo>
                    <a:pt x="790067" y="2668269"/>
                  </a:lnTo>
                  <a:lnTo>
                    <a:pt x="827786" y="2691129"/>
                  </a:lnTo>
                  <a:lnTo>
                    <a:pt x="867791" y="2710433"/>
                  </a:lnTo>
                  <a:lnTo>
                    <a:pt x="909828" y="2725801"/>
                  </a:lnTo>
                  <a:lnTo>
                    <a:pt x="953770" y="2737104"/>
                  </a:lnTo>
                  <a:lnTo>
                    <a:pt x="999236" y="2744089"/>
                  </a:lnTo>
                  <a:lnTo>
                    <a:pt x="1045972" y="2746375"/>
                  </a:lnTo>
                  <a:lnTo>
                    <a:pt x="4985004" y="2746375"/>
                  </a:lnTo>
                  <a:lnTo>
                    <a:pt x="5031740" y="2744089"/>
                  </a:lnTo>
                  <a:lnTo>
                    <a:pt x="5077206" y="2737104"/>
                  </a:lnTo>
                  <a:lnTo>
                    <a:pt x="5121020" y="2725801"/>
                  </a:lnTo>
                  <a:lnTo>
                    <a:pt x="5163185" y="2710433"/>
                  </a:lnTo>
                  <a:lnTo>
                    <a:pt x="5203190" y="2691129"/>
                  </a:lnTo>
                  <a:lnTo>
                    <a:pt x="5240909" y="2668269"/>
                  </a:lnTo>
                  <a:lnTo>
                    <a:pt x="5276088" y="2641854"/>
                  </a:lnTo>
                  <a:lnTo>
                    <a:pt x="5308600" y="2612390"/>
                  </a:lnTo>
                  <a:lnTo>
                    <a:pt x="5338191" y="2579878"/>
                  </a:lnTo>
                  <a:lnTo>
                    <a:pt x="5364480" y="2544571"/>
                  </a:lnTo>
                  <a:lnTo>
                    <a:pt x="5387467" y="2506853"/>
                  </a:lnTo>
                  <a:lnTo>
                    <a:pt x="5406770" y="2466847"/>
                  </a:lnTo>
                  <a:lnTo>
                    <a:pt x="5422138" y="2424810"/>
                  </a:lnTo>
                  <a:lnTo>
                    <a:pt x="5433441" y="2380995"/>
                  </a:lnTo>
                  <a:lnTo>
                    <a:pt x="5440299" y="2335529"/>
                  </a:lnTo>
                  <a:lnTo>
                    <a:pt x="5442712" y="2288666"/>
                  </a:lnTo>
                  <a:lnTo>
                    <a:pt x="5442712" y="457834"/>
                  </a:lnTo>
                  <a:lnTo>
                    <a:pt x="5439791" y="406145"/>
                  </a:lnTo>
                  <a:lnTo>
                    <a:pt x="5431155" y="355472"/>
                  </a:lnTo>
                  <a:lnTo>
                    <a:pt x="5416931" y="306450"/>
                  </a:lnTo>
                  <a:lnTo>
                    <a:pt x="5397373" y="259333"/>
                  </a:lnTo>
                  <a:lnTo>
                    <a:pt x="5372735" y="214629"/>
                  </a:lnTo>
                  <a:lnTo>
                    <a:pt x="5343017" y="172719"/>
                  </a:lnTo>
                  <a:lnTo>
                    <a:pt x="5308600" y="134112"/>
                  </a:lnTo>
                  <a:lnTo>
                    <a:pt x="5269992" y="99694"/>
                  </a:lnTo>
                  <a:lnTo>
                    <a:pt x="5228209" y="69976"/>
                  </a:lnTo>
                  <a:lnTo>
                    <a:pt x="5183378" y="45338"/>
                  </a:lnTo>
                  <a:lnTo>
                    <a:pt x="5136261" y="25780"/>
                  </a:lnTo>
                  <a:lnTo>
                    <a:pt x="5087239" y="11556"/>
                  </a:lnTo>
                  <a:lnTo>
                    <a:pt x="5036566" y="2920"/>
                  </a:lnTo>
                  <a:lnTo>
                    <a:pt x="4985004" y="0"/>
                  </a:lnTo>
                  <a:close/>
                </a:path>
              </a:pathLst>
            </a:custGeom>
            <a:solidFill>
              <a:srgbClr val="DAED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87644" y="1849374"/>
            <a:ext cx="4026535" cy="19608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594" marR="43815" indent="6350" algn="ctr">
              <a:lnSpc>
                <a:spcPct val="98500"/>
              </a:lnSpc>
              <a:spcBef>
                <a:spcPts val="135"/>
              </a:spcBef>
            </a:pPr>
            <a:r>
              <a:rPr sz="2200" spc="-10" dirty="0">
                <a:latin typeface="Calibri"/>
                <a:cs typeface="Calibri"/>
              </a:rPr>
              <a:t>"DevOps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résume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à </a:t>
            </a:r>
            <a:r>
              <a:rPr sz="2200" spc="-20" dirty="0">
                <a:latin typeface="Calibri"/>
                <a:cs typeface="Calibri"/>
              </a:rPr>
              <a:t>l'automatisation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même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façon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l'astronomie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résume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pas </a:t>
            </a:r>
            <a:r>
              <a:rPr sz="2200" dirty="0">
                <a:latin typeface="Calibri"/>
                <a:cs typeface="Calibri"/>
              </a:rPr>
              <a:t>aux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télescopes.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»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20"/>
              </a:spcBef>
            </a:pPr>
            <a:r>
              <a:rPr sz="1900" spc="-20" dirty="0">
                <a:latin typeface="Calibri"/>
                <a:cs typeface="Calibri"/>
              </a:rPr>
              <a:t>Christopher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Little,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DevOps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Handbook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53795" y="69596"/>
            <a:ext cx="3141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L’automatisation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6198" y="6463690"/>
            <a:ext cx="428371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45" dirty="0">
                <a:latin typeface="Arial MT"/>
                <a:cs typeface="Arial MT"/>
              </a:rPr>
              <a:t>https://xebialabs.com/periodic-</a:t>
            </a:r>
            <a:r>
              <a:rPr sz="1550" spc="-55" dirty="0">
                <a:latin typeface="Arial MT"/>
                <a:cs typeface="Arial MT"/>
              </a:rPr>
              <a:t>table-</a:t>
            </a:r>
            <a:r>
              <a:rPr sz="1550" spc="-45" dirty="0">
                <a:latin typeface="Arial MT"/>
                <a:cs typeface="Arial MT"/>
              </a:rPr>
              <a:t>of-</a:t>
            </a:r>
            <a:r>
              <a:rPr sz="1550" spc="-100" dirty="0">
                <a:latin typeface="Arial MT"/>
                <a:cs typeface="Arial MT"/>
              </a:rPr>
              <a:t>devops-</a:t>
            </a:r>
            <a:r>
              <a:rPr sz="1550" spc="-10" dirty="0">
                <a:latin typeface="Arial MT"/>
                <a:cs typeface="Arial MT"/>
              </a:rPr>
              <a:t>tools</a:t>
            </a:r>
            <a:endParaRPr sz="15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179" y="1180541"/>
            <a:ext cx="8999456" cy="52391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056233" y="760552"/>
            <a:ext cx="382777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Table</a:t>
            </a:r>
            <a:r>
              <a:rPr sz="2000" spc="9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périodique</a:t>
            </a:r>
            <a:r>
              <a:rPr sz="2000" spc="10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127079"/>
                </a:solidFill>
                <a:latin typeface="Calibri"/>
                <a:cs typeface="Calibri"/>
              </a:rPr>
              <a:t>des</a:t>
            </a:r>
            <a:r>
              <a:rPr sz="2000" spc="1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outils</a:t>
            </a:r>
            <a:r>
              <a:rPr sz="2000" spc="10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Standardisation</a:t>
            </a:r>
            <a:r>
              <a:rPr spc="-95" dirty="0"/>
              <a:t> </a:t>
            </a:r>
            <a:r>
              <a:rPr dirty="0"/>
              <a:t>des</a:t>
            </a:r>
            <a:r>
              <a:rPr spc="-70" dirty="0"/>
              <a:t> </a:t>
            </a:r>
            <a:r>
              <a:rPr spc="-10" dirty="0"/>
              <a:t>livrables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225" y="1462337"/>
            <a:ext cx="4556760" cy="48044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56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45" dirty="0">
                <a:latin typeface="Calibri"/>
                <a:cs typeface="Calibri"/>
              </a:rPr>
              <a:t>L’automatisation</a:t>
            </a:r>
            <a:r>
              <a:rPr sz="2300" spc="3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permet</a:t>
            </a:r>
            <a:r>
              <a:rPr sz="2300" spc="32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823594" lvl="1" indent="-269875">
              <a:lnSpc>
                <a:spcPct val="100000"/>
              </a:lnSpc>
              <a:spcBef>
                <a:spcPts val="415"/>
              </a:spcBef>
              <a:buSzPct val="85714"/>
              <a:buFont typeface="Arial MT"/>
              <a:buChar char="–"/>
              <a:tabLst>
                <a:tab pos="823594" algn="l"/>
              </a:tabLst>
            </a:pP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3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délais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courts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23594" lvl="1" indent="-269875">
              <a:lnSpc>
                <a:spcPts val="2515"/>
              </a:lnSpc>
              <a:spcBef>
                <a:spcPts val="575"/>
              </a:spcBef>
              <a:buSzPct val="85714"/>
              <a:buFont typeface="Arial MT"/>
              <a:buChar char="–"/>
              <a:tabLst>
                <a:tab pos="823594" algn="l"/>
              </a:tabLst>
            </a:pP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mises</a:t>
            </a:r>
            <a:r>
              <a:rPr sz="2100" spc="2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production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endParaRPr sz="2100">
              <a:latin typeface="Calibri"/>
              <a:cs typeface="Calibri"/>
            </a:endParaRPr>
          </a:p>
          <a:p>
            <a:pPr marL="823594">
              <a:lnSpc>
                <a:spcPts val="2515"/>
              </a:lnSpc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fréquentes</a:t>
            </a:r>
            <a:r>
              <a:rPr sz="21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23594" marR="200660" lvl="1" indent="-269875">
              <a:lnSpc>
                <a:spcPts val="2500"/>
              </a:lnSpc>
              <a:spcBef>
                <a:spcPts val="675"/>
              </a:spcBef>
              <a:buSzPct val="85714"/>
              <a:buFont typeface="Arial MT"/>
              <a:buChar char="–"/>
              <a:tabLst>
                <a:tab pos="823594" algn="l"/>
              </a:tabLst>
            </a:pP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mises</a:t>
            </a:r>
            <a:r>
              <a:rPr sz="21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1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production</a:t>
            </a:r>
            <a:r>
              <a:rPr sz="21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moins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houleuses</a:t>
            </a:r>
            <a:r>
              <a:rPr sz="2100" spc="3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23594" lvl="1" indent="-269875">
              <a:lnSpc>
                <a:spcPct val="100000"/>
              </a:lnSpc>
              <a:spcBef>
                <a:spcPts val="420"/>
              </a:spcBef>
              <a:buSzPct val="85714"/>
              <a:buFont typeface="Arial MT"/>
              <a:buChar char="–"/>
              <a:tabLst>
                <a:tab pos="823594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moins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d'erreurs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23594" lvl="1" indent="-269875">
              <a:lnSpc>
                <a:spcPct val="100000"/>
              </a:lnSpc>
              <a:spcBef>
                <a:spcPts val="505"/>
              </a:spcBef>
              <a:buSzPct val="85714"/>
              <a:buFont typeface="Arial MT"/>
              <a:buChar char="–"/>
              <a:tabLst>
                <a:tab pos="823594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meilleure</a:t>
            </a:r>
            <a:r>
              <a:rPr sz="2100" spc="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qualité</a:t>
            </a:r>
            <a:r>
              <a:rPr sz="21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23594" marR="412750" lvl="1" indent="-269875">
              <a:lnSpc>
                <a:spcPts val="2500"/>
              </a:lnSpc>
              <a:spcBef>
                <a:spcPts val="680"/>
              </a:spcBef>
              <a:buSzPct val="85714"/>
              <a:buFont typeface="Arial MT"/>
              <a:buChar char="–"/>
              <a:tabLst>
                <a:tab pos="823594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sécurité</a:t>
            </a:r>
            <a:r>
              <a:rPr sz="21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améliorée</a:t>
            </a:r>
            <a:r>
              <a:rPr sz="21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une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atténuation</a:t>
            </a:r>
            <a:r>
              <a:rPr sz="2100" spc="11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risques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23594" lvl="1" indent="-269875">
              <a:lnSpc>
                <a:spcPct val="100000"/>
              </a:lnSpc>
              <a:spcBef>
                <a:spcPts val="420"/>
              </a:spcBef>
              <a:buSzPct val="85714"/>
              <a:buFont typeface="Arial MT"/>
              <a:buChar char="–"/>
              <a:tabLst>
                <a:tab pos="823594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rétablissements</a:t>
            </a:r>
            <a:r>
              <a:rPr sz="21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rapides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23594" marR="222885" lvl="1" indent="-269875">
              <a:lnSpc>
                <a:spcPts val="2510"/>
              </a:lnSpc>
              <a:spcBef>
                <a:spcPts val="670"/>
              </a:spcBef>
              <a:buSzPct val="85714"/>
              <a:buFont typeface="Arial MT"/>
              <a:buChar char="–"/>
              <a:tabLst>
                <a:tab pos="823594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satisfaction</a:t>
            </a:r>
            <a:r>
              <a:rPr sz="2100" spc="11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l’entreprise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et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clients.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41804" y="5028846"/>
            <a:ext cx="4456430" cy="1627505"/>
            <a:chOff x="5841804" y="5028846"/>
            <a:chExt cx="4456430" cy="16275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1804" y="5028846"/>
              <a:ext cx="4456313" cy="16275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872861" y="5036820"/>
              <a:ext cx="4394200" cy="1570355"/>
            </a:xfrm>
            <a:custGeom>
              <a:avLst/>
              <a:gdLst/>
              <a:ahLst/>
              <a:cxnLst/>
              <a:rect l="l" t="t" r="r" b="b"/>
              <a:pathLst>
                <a:path w="4394200" h="1570354">
                  <a:moveTo>
                    <a:pt x="4394200" y="232664"/>
                  </a:moveTo>
                  <a:lnTo>
                    <a:pt x="4389755" y="187071"/>
                  </a:lnTo>
                  <a:lnTo>
                    <a:pt x="4376547" y="143637"/>
                  </a:lnTo>
                  <a:lnTo>
                    <a:pt x="4355211" y="103632"/>
                  </a:lnTo>
                  <a:lnTo>
                    <a:pt x="4326128" y="68199"/>
                  </a:lnTo>
                  <a:lnTo>
                    <a:pt x="4290695" y="39116"/>
                  </a:lnTo>
                  <a:lnTo>
                    <a:pt x="4250690" y="17780"/>
                  </a:lnTo>
                  <a:lnTo>
                    <a:pt x="4207256" y="4572"/>
                  </a:lnTo>
                  <a:lnTo>
                    <a:pt x="4161663" y="0"/>
                  </a:lnTo>
                  <a:lnTo>
                    <a:pt x="232537" y="0"/>
                  </a:lnTo>
                  <a:lnTo>
                    <a:pt x="185674" y="4826"/>
                  </a:lnTo>
                  <a:lnTo>
                    <a:pt x="142113" y="18288"/>
                  </a:lnTo>
                  <a:lnTo>
                    <a:pt x="102616" y="39751"/>
                  </a:lnTo>
                  <a:lnTo>
                    <a:pt x="68199" y="68199"/>
                  </a:lnTo>
                  <a:lnTo>
                    <a:pt x="39751" y="102616"/>
                  </a:lnTo>
                  <a:lnTo>
                    <a:pt x="18288" y="142113"/>
                  </a:lnTo>
                  <a:lnTo>
                    <a:pt x="4699" y="185801"/>
                  </a:lnTo>
                  <a:lnTo>
                    <a:pt x="0" y="232664"/>
                  </a:lnTo>
                  <a:lnTo>
                    <a:pt x="0" y="1162939"/>
                  </a:lnTo>
                  <a:lnTo>
                    <a:pt x="4699" y="1209802"/>
                  </a:lnTo>
                  <a:lnTo>
                    <a:pt x="18288" y="1253451"/>
                  </a:lnTo>
                  <a:lnTo>
                    <a:pt x="39751" y="1292961"/>
                  </a:lnTo>
                  <a:lnTo>
                    <a:pt x="68199" y="1327391"/>
                  </a:lnTo>
                  <a:lnTo>
                    <a:pt x="102616" y="1355788"/>
                  </a:lnTo>
                  <a:lnTo>
                    <a:pt x="142113" y="1377226"/>
                  </a:lnTo>
                  <a:lnTo>
                    <a:pt x="185674" y="1390777"/>
                  </a:lnTo>
                  <a:lnTo>
                    <a:pt x="232537" y="1395501"/>
                  </a:lnTo>
                  <a:lnTo>
                    <a:pt x="732409" y="1395501"/>
                  </a:lnTo>
                  <a:lnTo>
                    <a:pt x="1281684" y="1569935"/>
                  </a:lnTo>
                  <a:lnTo>
                    <a:pt x="1830959" y="1395501"/>
                  </a:lnTo>
                  <a:lnTo>
                    <a:pt x="4161663" y="1395501"/>
                  </a:lnTo>
                  <a:lnTo>
                    <a:pt x="4208526" y="1390777"/>
                  </a:lnTo>
                  <a:lnTo>
                    <a:pt x="4252214" y="1377226"/>
                  </a:lnTo>
                  <a:lnTo>
                    <a:pt x="4291711" y="1355788"/>
                  </a:lnTo>
                  <a:lnTo>
                    <a:pt x="4326128" y="1327391"/>
                  </a:lnTo>
                  <a:lnTo>
                    <a:pt x="4354576" y="1292961"/>
                  </a:lnTo>
                  <a:lnTo>
                    <a:pt x="4375912" y="1253451"/>
                  </a:lnTo>
                  <a:lnTo>
                    <a:pt x="4389501" y="1209802"/>
                  </a:lnTo>
                  <a:lnTo>
                    <a:pt x="4394200" y="1162939"/>
                  </a:lnTo>
                  <a:lnTo>
                    <a:pt x="4394200" y="23266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54622" y="5228666"/>
            <a:ext cx="3837940" cy="979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8440" algn="ctr">
              <a:lnSpc>
                <a:spcPts val="2615"/>
              </a:lnSpc>
              <a:spcBef>
                <a:spcPts val="95"/>
              </a:spcBef>
            </a:pPr>
            <a:r>
              <a:rPr sz="2200" b="1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Vos</a:t>
            </a:r>
            <a:r>
              <a:rPr sz="2200" b="1" i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outils</a:t>
            </a:r>
            <a:r>
              <a:rPr sz="2200" b="1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seuls</a:t>
            </a:r>
            <a:r>
              <a:rPr sz="2200" b="1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ne</a:t>
            </a:r>
            <a:r>
              <a:rPr sz="2200" b="1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vous</a:t>
            </a:r>
            <a:r>
              <a:rPr sz="2200" b="1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FFFFFF"/>
                </a:solidFill>
                <a:latin typeface="Calibri"/>
                <a:cs typeface="Calibri"/>
              </a:rPr>
              <a:t>feront</a:t>
            </a:r>
            <a:endParaRPr sz="2200">
              <a:latin typeface="Calibri"/>
              <a:cs typeface="Calibri"/>
            </a:endParaRPr>
          </a:p>
          <a:p>
            <a:pPr marR="213995" algn="ctr">
              <a:lnSpc>
                <a:spcPts val="2615"/>
              </a:lnSpc>
            </a:pPr>
            <a:r>
              <a:rPr sz="2200" b="1" i="1" dirty="0">
                <a:solidFill>
                  <a:srgbClr val="FFFFFF"/>
                </a:solidFill>
                <a:latin typeface="Calibri"/>
                <a:cs typeface="Calibri"/>
              </a:rPr>
              <a:t>pas</a:t>
            </a:r>
            <a:r>
              <a:rPr sz="2200" b="1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FFFFFF"/>
                </a:solidFill>
                <a:latin typeface="Calibri"/>
                <a:cs typeface="Calibri"/>
              </a:rPr>
              <a:t>réussir</a:t>
            </a:r>
            <a:r>
              <a:rPr sz="2200" b="1" i="1" spc="-10" dirty="0">
                <a:solidFill>
                  <a:srgbClr val="FFFFFF"/>
                </a:solidFill>
                <a:latin typeface="Arial"/>
                <a:cs typeface="Arial"/>
              </a:rPr>
              <a:t>.”</a:t>
            </a:r>
            <a:endParaRPr sz="2200">
              <a:latin typeface="Arial"/>
              <a:cs typeface="Arial"/>
            </a:endParaRPr>
          </a:p>
          <a:p>
            <a:pPr marL="2284730">
              <a:lnSpc>
                <a:spcPct val="100000"/>
              </a:lnSpc>
            </a:pP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Patrick</a:t>
            </a:r>
            <a:r>
              <a:rPr sz="19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Debois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28584" y="1025946"/>
            <a:ext cx="4450715" cy="3826510"/>
            <a:chOff x="5828584" y="1025946"/>
            <a:chExt cx="4450715" cy="38265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8584" y="1025946"/>
              <a:ext cx="4450241" cy="382643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59652" y="1034034"/>
              <a:ext cx="4388485" cy="3764279"/>
            </a:xfrm>
            <a:custGeom>
              <a:avLst/>
              <a:gdLst/>
              <a:ahLst/>
              <a:cxnLst/>
              <a:rect l="l" t="t" r="r" b="b"/>
              <a:pathLst>
                <a:path w="4388484" h="3764279">
                  <a:moveTo>
                    <a:pt x="3760597" y="0"/>
                  </a:moveTo>
                  <a:lnTo>
                    <a:pt x="627380" y="0"/>
                  </a:lnTo>
                  <a:lnTo>
                    <a:pt x="578358" y="1904"/>
                  </a:lnTo>
                  <a:lnTo>
                    <a:pt x="530351" y="7365"/>
                  </a:lnTo>
                  <a:lnTo>
                    <a:pt x="483488" y="16509"/>
                  </a:lnTo>
                  <a:lnTo>
                    <a:pt x="438023" y="29082"/>
                  </a:lnTo>
                  <a:lnTo>
                    <a:pt x="393954" y="44830"/>
                  </a:lnTo>
                  <a:lnTo>
                    <a:pt x="351409" y="63753"/>
                  </a:lnTo>
                  <a:lnTo>
                    <a:pt x="310642" y="85597"/>
                  </a:lnTo>
                  <a:lnTo>
                    <a:pt x="271780" y="110362"/>
                  </a:lnTo>
                  <a:lnTo>
                    <a:pt x="234950" y="137794"/>
                  </a:lnTo>
                  <a:lnTo>
                    <a:pt x="200279" y="167766"/>
                  </a:lnTo>
                  <a:lnTo>
                    <a:pt x="167767" y="200278"/>
                  </a:lnTo>
                  <a:lnTo>
                    <a:pt x="137795" y="234949"/>
                  </a:lnTo>
                  <a:lnTo>
                    <a:pt x="110362" y="271779"/>
                  </a:lnTo>
                  <a:lnTo>
                    <a:pt x="85598" y="310641"/>
                  </a:lnTo>
                  <a:lnTo>
                    <a:pt x="63754" y="351408"/>
                  </a:lnTo>
                  <a:lnTo>
                    <a:pt x="44831" y="393953"/>
                  </a:lnTo>
                  <a:lnTo>
                    <a:pt x="29083" y="438022"/>
                  </a:lnTo>
                  <a:lnTo>
                    <a:pt x="16510" y="483488"/>
                  </a:lnTo>
                  <a:lnTo>
                    <a:pt x="7366" y="530351"/>
                  </a:lnTo>
                  <a:lnTo>
                    <a:pt x="1905" y="578357"/>
                  </a:lnTo>
                  <a:lnTo>
                    <a:pt x="0" y="627379"/>
                  </a:lnTo>
                  <a:lnTo>
                    <a:pt x="0" y="3136899"/>
                  </a:lnTo>
                  <a:lnTo>
                    <a:pt x="1905" y="3185921"/>
                  </a:lnTo>
                  <a:lnTo>
                    <a:pt x="7366" y="3233928"/>
                  </a:lnTo>
                  <a:lnTo>
                    <a:pt x="16510" y="3280790"/>
                  </a:lnTo>
                  <a:lnTo>
                    <a:pt x="29083" y="3326256"/>
                  </a:lnTo>
                  <a:lnTo>
                    <a:pt x="44831" y="3370326"/>
                  </a:lnTo>
                  <a:lnTo>
                    <a:pt x="63754" y="3412743"/>
                  </a:lnTo>
                  <a:lnTo>
                    <a:pt x="85598" y="3453510"/>
                  </a:lnTo>
                  <a:lnTo>
                    <a:pt x="110362" y="3492372"/>
                  </a:lnTo>
                  <a:lnTo>
                    <a:pt x="137795" y="3529329"/>
                  </a:lnTo>
                  <a:lnTo>
                    <a:pt x="167767" y="3564001"/>
                  </a:lnTo>
                  <a:lnTo>
                    <a:pt x="200279" y="3596512"/>
                  </a:lnTo>
                  <a:lnTo>
                    <a:pt x="234950" y="3626484"/>
                  </a:lnTo>
                  <a:lnTo>
                    <a:pt x="271780" y="3653916"/>
                  </a:lnTo>
                  <a:lnTo>
                    <a:pt x="310642" y="3678681"/>
                  </a:lnTo>
                  <a:lnTo>
                    <a:pt x="351409" y="3700526"/>
                  </a:lnTo>
                  <a:lnTo>
                    <a:pt x="393954" y="3719449"/>
                  </a:lnTo>
                  <a:lnTo>
                    <a:pt x="438023" y="3735196"/>
                  </a:lnTo>
                  <a:lnTo>
                    <a:pt x="483488" y="3747769"/>
                  </a:lnTo>
                  <a:lnTo>
                    <a:pt x="530351" y="3756786"/>
                  </a:lnTo>
                  <a:lnTo>
                    <a:pt x="578358" y="3762375"/>
                  </a:lnTo>
                  <a:lnTo>
                    <a:pt x="627380" y="3764279"/>
                  </a:lnTo>
                  <a:lnTo>
                    <a:pt x="3760597" y="3764279"/>
                  </a:lnTo>
                  <a:lnTo>
                    <a:pt x="3809619" y="3762375"/>
                  </a:lnTo>
                  <a:lnTo>
                    <a:pt x="3857625" y="3756786"/>
                  </a:lnTo>
                  <a:lnTo>
                    <a:pt x="3904488" y="3747769"/>
                  </a:lnTo>
                  <a:lnTo>
                    <a:pt x="3949954" y="3735196"/>
                  </a:lnTo>
                  <a:lnTo>
                    <a:pt x="3994023" y="3719449"/>
                  </a:lnTo>
                  <a:lnTo>
                    <a:pt x="4036568" y="3700526"/>
                  </a:lnTo>
                  <a:lnTo>
                    <a:pt x="4077335" y="3678681"/>
                  </a:lnTo>
                  <a:lnTo>
                    <a:pt x="4116197" y="3653916"/>
                  </a:lnTo>
                  <a:lnTo>
                    <a:pt x="4153027" y="3626484"/>
                  </a:lnTo>
                  <a:lnTo>
                    <a:pt x="4187698" y="3596512"/>
                  </a:lnTo>
                  <a:lnTo>
                    <a:pt x="4220210" y="3564001"/>
                  </a:lnTo>
                  <a:lnTo>
                    <a:pt x="4250182" y="3529329"/>
                  </a:lnTo>
                  <a:lnTo>
                    <a:pt x="4277614" y="3492372"/>
                  </a:lnTo>
                  <a:lnTo>
                    <a:pt x="4302379" y="3453510"/>
                  </a:lnTo>
                  <a:lnTo>
                    <a:pt x="4324223" y="3412743"/>
                  </a:lnTo>
                  <a:lnTo>
                    <a:pt x="4343146" y="3370326"/>
                  </a:lnTo>
                  <a:lnTo>
                    <a:pt x="4358894" y="3326256"/>
                  </a:lnTo>
                  <a:lnTo>
                    <a:pt x="4371467" y="3280790"/>
                  </a:lnTo>
                  <a:lnTo>
                    <a:pt x="4380611" y="3233928"/>
                  </a:lnTo>
                  <a:lnTo>
                    <a:pt x="4386072" y="3185921"/>
                  </a:lnTo>
                  <a:lnTo>
                    <a:pt x="4387977" y="3136899"/>
                  </a:lnTo>
                  <a:lnTo>
                    <a:pt x="4387977" y="627379"/>
                  </a:lnTo>
                  <a:lnTo>
                    <a:pt x="4386072" y="577722"/>
                  </a:lnTo>
                  <a:lnTo>
                    <a:pt x="4380230" y="528573"/>
                  </a:lnTo>
                  <a:lnTo>
                    <a:pt x="4370578" y="480440"/>
                  </a:lnTo>
                  <a:lnTo>
                    <a:pt x="4357243" y="433196"/>
                  </a:lnTo>
                  <a:lnTo>
                    <a:pt x="4340225" y="387222"/>
                  </a:lnTo>
                  <a:lnTo>
                    <a:pt x="4319778" y="342772"/>
                  </a:lnTo>
                  <a:lnTo>
                    <a:pt x="4295902" y="299973"/>
                  </a:lnTo>
                  <a:lnTo>
                    <a:pt x="4268597" y="259079"/>
                  </a:lnTo>
                  <a:lnTo>
                    <a:pt x="4237990" y="220217"/>
                  </a:lnTo>
                  <a:lnTo>
                    <a:pt x="4204208" y="183768"/>
                  </a:lnTo>
                  <a:lnTo>
                    <a:pt x="4167758" y="149986"/>
                  </a:lnTo>
                  <a:lnTo>
                    <a:pt x="4128897" y="119379"/>
                  </a:lnTo>
                  <a:lnTo>
                    <a:pt x="4088003" y="92074"/>
                  </a:lnTo>
                  <a:lnTo>
                    <a:pt x="4045204" y="68198"/>
                  </a:lnTo>
                  <a:lnTo>
                    <a:pt x="4000754" y="47751"/>
                  </a:lnTo>
                  <a:lnTo>
                    <a:pt x="3954779" y="30733"/>
                  </a:lnTo>
                  <a:lnTo>
                    <a:pt x="3907536" y="17399"/>
                  </a:lnTo>
                  <a:lnTo>
                    <a:pt x="3859403" y="7747"/>
                  </a:lnTo>
                  <a:lnTo>
                    <a:pt x="3810254" y="1904"/>
                  </a:lnTo>
                  <a:lnTo>
                    <a:pt x="3760597" y="0"/>
                  </a:lnTo>
                  <a:close/>
                </a:path>
              </a:pathLst>
            </a:custGeom>
            <a:solidFill>
              <a:srgbClr val="DAED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56538" y="624707"/>
            <a:ext cx="8130540" cy="950594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Avantages</a:t>
            </a:r>
            <a:r>
              <a:rPr sz="2000" spc="31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3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l’automatisation</a:t>
            </a:r>
            <a:endParaRPr sz="2000">
              <a:latin typeface="Calibri"/>
              <a:cs typeface="Calibri"/>
            </a:endParaRPr>
          </a:p>
          <a:p>
            <a:pPr marL="5072380">
              <a:lnSpc>
                <a:spcPct val="100000"/>
              </a:lnSpc>
              <a:spcBef>
                <a:spcPts val="1170"/>
              </a:spcBef>
            </a:pP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L'automatisation</a:t>
            </a:r>
            <a:r>
              <a:rPr sz="2200" spc="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donne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les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116828" y="1545717"/>
            <a:ext cx="3571875" cy="1008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tâches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routine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à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l'ordinateur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et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permet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aux</a:t>
            </a:r>
            <a:r>
              <a:rPr sz="2200" spc="-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individus</a:t>
            </a:r>
            <a:r>
              <a:rPr sz="2200" spc="-10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de:</a:t>
            </a:r>
            <a:endParaRPr sz="2200">
              <a:latin typeface="Calibri"/>
              <a:cs typeface="Calibri"/>
            </a:endParaRPr>
          </a:p>
          <a:p>
            <a:pPr marL="297180" indent="-243840">
              <a:lnSpc>
                <a:spcPts val="2420"/>
              </a:lnSpc>
              <a:buClr>
                <a:srgbClr val="000000"/>
              </a:buClr>
              <a:buFont typeface="Arial MT"/>
              <a:buChar char="•"/>
              <a:tabLst>
                <a:tab pos="297180" algn="l"/>
              </a:tabLst>
            </a:pP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Analyser</a:t>
            </a:r>
            <a:r>
              <a:rPr sz="2200" spc="-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les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preuves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0355" y="2523820"/>
            <a:ext cx="3324860" cy="2023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95"/>
              </a:spcBef>
              <a:buSzPct val="81818"/>
              <a:buFont typeface="Arial MT"/>
              <a:buChar char="•"/>
              <a:tabLst>
                <a:tab pos="263525" algn="l"/>
              </a:tabLst>
            </a:pP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Résoudre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des</a:t>
            </a:r>
            <a:r>
              <a:rPr sz="2200" spc="-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problèmes</a:t>
            </a:r>
            <a:endParaRPr sz="2200">
              <a:latin typeface="Calibri"/>
              <a:cs typeface="Calibri"/>
            </a:endParaRPr>
          </a:p>
          <a:p>
            <a:pPr marL="265430" marR="257810" indent="-253365">
              <a:lnSpc>
                <a:spcPts val="2590"/>
              </a:lnSpc>
              <a:spcBef>
                <a:spcPts val="195"/>
              </a:spcBef>
              <a:buSzPct val="81818"/>
              <a:buFont typeface="Arial MT"/>
              <a:buChar char="•"/>
              <a:tabLst>
                <a:tab pos="265430" algn="l"/>
              </a:tabLst>
            </a:pP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Prendre</a:t>
            </a:r>
            <a:r>
              <a:rPr sz="2200" spc="-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des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décisions</a:t>
            </a:r>
            <a:r>
              <a:rPr sz="2200" spc="-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en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fonction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du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feedback</a:t>
            </a:r>
            <a:endParaRPr sz="2200">
              <a:latin typeface="Calibri"/>
              <a:cs typeface="Calibri"/>
            </a:endParaRPr>
          </a:p>
          <a:p>
            <a:pPr marL="263525" indent="-250825">
              <a:lnSpc>
                <a:spcPts val="2430"/>
              </a:lnSpc>
              <a:buSzPct val="81818"/>
              <a:buFont typeface="Arial MT"/>
              <a:buChar char="•"/>
              <a:tabLst>
                <a:tab pos="263525" algn="l"/>
              </a:tabLst>
            </a:pP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Utiliser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leurs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compétences,</a:t>
            </a:r>
            <a:endParaRPr sz="2200">
              <a:latin typeface="Calibri"/>
              <a:cs typeface="Calibri"/>
            </a:endParaRPr>
          </a:p>
          <a:p>
            <a:pPr marL="265430">
              <a:lnSpc>
                <a:spcPts val="2615"/>
              </a:lnSpc>
              <a:spcBef>
                <a:spcPts val="60"/>
              </a:spcBef>
            </a:pP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leur</a:t>
            </a:r>
            <a:r>
              <a:rPr sz="2200" spc="-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expérience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et</a:t>
            </a:r>
            <a:r>
              <a:rPr sz="2200" spc="-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leur</a:t>
            </a:r>
            <a:endParaRPr sz="2200">
              <a:latin typeface="Calibri"/>
              <a:cs typeface="Calibri"/>
            </a:endParaRPr>
          </a:p>
          <a:p>
            <a:pPr marL="265430">
              <a:lnSpc>
                <a:spcPts val="2615"/>
              </a:lnSpc>
            </a:pP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jugement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53795" y="69596"/>
            <a:ext cx="530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Standardisation</a:t>
            </a:r>
            <a:r>
              <a:rPr spc="-95" dirty="0"/>
              <a:t> </a:t>
            </a:r>
            <a:r>
              <a:rPr dirty="0"/>
              <a:t>des</a:t>
            </a:r>
            <a:r>
              <a:rPr spc="-70" dirty="0"/>
              <a:t> </a:t>
            </a:r>
            <a:r>
              <a:rPr spc="-10" dirty="0"/>
              <a:t>livrables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9513" y="760552"/>
            <a:ext cx="9105265" cy="553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Définitions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0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Artéfact</a:t>
            </a:r>
            <a:r>
              <a:rPr sz="2300" spc="45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387350" marR="261620">
              <a:lnSpc>
                <a:spcPct val="101000"/>
              </a:lnSpc>
              <a:spcBef>
                <a:spcPts val="440"/>
              </a:spcBef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Tout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élément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d'un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projet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développement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logiciel,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y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compris</a:t>
            </a:r>
            <a:r>
              <a:rPr sz="21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la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documentation,</a:t>
            </a:r>
            <a:r>
              <a:rPr sz="21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plans</a:t>
            </a:r>
            <a:r>
              <a:rPr sz="2100" spc="2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test,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50" dirty="0">
                <a:solidFill>
                  <a:srgbClr val="252D37"/>
                </a:solidFill>
                <a:latin typeface="Calibri"/>
                <a:cs typeface="Calibri"/>
              </a:rPr>
              <a:t>images,</a:t>
            </a:r>
            <a:r>
              <a:rPr sz="21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fichiers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données</a:t>
            </a:r>
            <a:r>
              <a:rPr sz="2100" spc="2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les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modules</a:t>
            </a:r>
            <a:r>
              <a:rPr sz="2100" spc="3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exécutables.</a:t>
            </a:r>
            <a:endParaRPr sz="21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216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Interface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415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programmation</a:t>
            </a:r>
            <a:r>
              <a:rPr sz="2300" spc="38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d'application</a:t>
            </a:r>
            <a:r>
              <a:rPr sz="2300" spc="4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(API)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387350" marR="5080">
              <a:lnSpc>
                <a:spcPct val="101000"/>
              </a:lnSpc>
              <a:spcBef>
                <a:spcPts val="535"/>
              </a:spcBef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Ensemble</a:t>
            </a:r>
            <a:r>
              <a:rPr sz="2100" spc="3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protocoles</a:t>
            </a:r>
            <a:r>
              <a:rPr sz="21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utilisés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créer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applications</a:t>
            </a:r>
            <a:r>
              <a:rPr sz="21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système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d'exploitation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spécifique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ou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comme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interface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entre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modules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ou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des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applications.</a:t>
            </a:r>
            <a:endParaRPr sz="21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247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80" dirty="0">
                <a:latin typeface="Calibri"/>
                <a:cs typeface="Calibri"/>
              </a:rPr>
              <a:t>Microservices</a:t>
            </a:r>
            <a:r>
              <a:rPr sz="2300" spc="26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387350">
              <a:lnSpc>
                <a:spcPct val="100000"/>
              </a:lnSpc>
              <a:spcBef>
                <a:spcPts val="550"/>
              </a:spcBef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architecture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logicielle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composée</a:t>
            </a:r>
            <a:r>
              <a:rPr sz="21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modules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petits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qui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interagissent</a:t>
            </a:r>
            <a:endParaRPr sz="2100">
              <a:latin typeface="Calibri"/>
              <a:cs typeface="Calibri"/>
            </a:endParaRPr>
          </a:p>
          <a:p>
            <a:pPr marL="387350" marR="548640">
              <a:lnSpc>
                <a:spcPts val="2600"/>
              </a:lnSpc>
              <a:spcBef>
                <a:spcPts val="45"/>
              </a:spcBef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via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50" dirty="0">
                <a:solidFill>
                  <a:srgbClr val="252D37"/>
                </a:solidFill>
                <a:latin typeface="Calibri"/>
                <a:cs typeface="Calibri"/>
              </a:rPr>
              <a:t>API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peut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être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mise</a:t>
            </a:r>
            <a:r>
              <a:rPr sz="2100" spc="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1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jour</a:t>
            </a:r>
            <a:r>
              <a:rPr sz="2100" spc="1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sans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affecter</a:t>
            </a:r>
            <a:r>
              <a:rPr sz="21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l'ensemble</a:t>
            </a:r>
            <a:r>
              <a:rPr sz="21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système. </a:t>
            </a:r>
            <a:r>
              <a:rPr sz="2100" spc="75" dirty="0">
                <a:solidFill>
                  <a:srgbClr val="252D37"/>
                </a:solidFill>
                <a:latin typeface="Calibri"/>
                <a:cs typeface="Calibri"/>
              </a:rPr>
              <a:t>Ceci</a:t>
            </a:r>
            <a:r>
              <a:rPr sz="2100" spc="4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est</a:t>
            </a:r>
            <a:r>
              <a:rPr sz="21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connu</a:t>
            </a:r>
            <a:r>
              <a:rPr sz="2100" spc="3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comme</a:t>
            </a:r>
            <a:r>
              <a:rPr sz="2100" spc="3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1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couplage</a:t>
            </a:r>
            <a:r>
              <a:rPr sz="2100" spc="3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lâche.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Architecture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24636" y="760552"/>
            <a:ext cx="8978900" cy="6122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3865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Définitions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0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Virtualisation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505" dirty="0">
                <a:latin typeface="Calibri"/>
                <a:cs typeface="Calibri"/>
              </a:rPr>
              <a:t> </a:t>
            </a:r>
            <a:r>
              <a:rPr sz="2300" spc="80" dirty="0">
                <a:latin typeface="Calibri"/>
                <a:cs typeface="Calibri"/>
              </a:rPr>
              <a:t>système</a:t>
            </a:r>
            <a:r>
              <a:rPr sz="2300" spc="5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d'exploitation</a:t>
            </a:r>
            <a:r>
              <a:rPr sz="2300" spc="505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(OS)</a:t>
            </a:r>
            <a:r>
              <a:rPr sz="2300" spc="509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387350" marR="152400">
              <a:lnSpc>
                <a:spcPct val="101200"/>
              </a:lnSpc>
              <a:spcBef>
                <a:spcPts val="520"/>
              </a:spcBef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méthode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1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diviser</a:t>
            </a:r>
            <a:r>
              <a:rPr sz="21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1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serveur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plusieurs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partitions</a:t>
            </a:r>
            <a:r>
              <a:rPr sz="2100" spc="1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appelées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"conteneurs"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ou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"environnements</a:t>
            </a:r>
            <a:r>
              <a:rPr sz="2100" spc="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virtuels"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afin</a:t>
            </a: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45" dirty="0">
                <a:solidFill>
                  <a:srgbClr val="252D37"/>
                </a:solidFill>
                <a:latin typeface="Calibri"/>
                <a:cs typeface="Calibri"/>
              </a:rPr>
              <a:t>d'empêcher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applications d'interférer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unes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21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autres.</a:t>
            </a:r>
            <a:endParaRPr sz="21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16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5" dirty="0">
                <a:latin typeface="Calibri"/>
                <a:cs typeface="Calibri"/>
              </a:rPr>
              <a:t>Conteneurs</a:t>
            </a:r>
            <a:r>
              <a:rPr sz="2300" spc="30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387350" marR="5080">
              <a:lnSpc>
                <a:spcPct val="91300"/>
              </a:lnSpc>
              <a:spcBef>
                <a:spcPts val="710"/>
              </a:spcBef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façon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regrouper</a:t>
            </a:r>
            <a:r>
              <a:rPr sz="2100" spc="2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logiciels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dans</a:t>
            </a:r>
            <a:r>
              <a:rPr sz="2100" spc="2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packages</a:t>
            </a:r>
            <a:r>
              <a:rPr sz="21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légers,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autonomes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exécutables,</a:t>
            </a:r>
            <a:r>
              <a:rPr sz="2100" spc="2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incluant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tout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nécessaire</a:t>
            </a:r>
            <a:r>
              <a:rPr sz="2100" spc="3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1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l’exécuter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(code,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exécution,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outils</a:t>
            </a:r>
            <a:r>
              <a:rPr sz="21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système,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bibliothèques</a:t>
            </a:r>
            <a:r>
              <a:rPr sz="2100" spc="1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système,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paramètres)</a:t>
            </a:r>
            <a:r>
              <a:rPr sz="21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aux</a:t>
            </a:r>
            <a:r>
              <a:rPr sz="2100" spc="2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fins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de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développement,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d’envoi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déploiement.</a:t>
            </a:r>
            <a:endParaRPr sz="21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98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5" dirty="0">
                <a:latin typeface="Calibri"/>
                <a:cs typeface="Calibri"/>
              </a:rPr>
              <a:t>Open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spc="80" dirty="0">
                <a:latin typeface="Calibri"/>
                <a:cs typeface="Calibri"/>
              </a:rPr>
              <a:t>source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387350" marR="309880">
              <a:lnSpc>
                <a:spcPct val="91500"/>
              </a:lnSpc>
              <a:spcBef>
                <a:spcPts val="705"/>
              </a:spcBef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Logiciel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distribué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2100" spc="2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son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code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source</a:t>
            </a:r>
            <a:r>
              <a:rPr sz="2100" spc="2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afin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que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organisations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d'utilisateurs</a:t>
            </a:r>
            <a:r>
              <a:rPr sz="21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finaux</a:t>
            </a:r>
            <a:r>
              <a:rPr sz="2100" spc="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fournisseurs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puissent</a:t>
            </a:r>
            <a:r>
              <a:rPr sz="2100" spc="1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modifier</a:t>
            </a:r>
            <a:r>
              <a:rPr sz="21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leurs</a:t>
            </a:r>
            <a:r>
              <a:rPr sz="2100" spc="1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propres fins.</a:t>
            </a:r>
            <a:endParaRPr sz="21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98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50" dirty="0">
                <a:latin typeface="Calibri"/>
                <a:cs typeface="Calibri"/>
              </a:rPr>
              <a:t>Machine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learning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387350">
              <a:lnSpc>
                <a:spcPct val="100000"/>
              </a:lnSpc>
              <a:spcBef>
                <a:spcPts val="405"/>
              </a:spcBef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Analyse</a:t>
            </a:r>
            <a:r>
              <a:rPr sz="21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données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utilisant</a:t>
            </a:r>
            <a:r>
              <a:rPr sz="2100" spc="1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algorithmes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qui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apprennent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données.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Architecture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920" y="5339137"/>
            <a:ext cx="4380230" cy="98933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105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Infrastructure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</a:t>
            </a:r>
            <a:r>
              <a:rPr sz="2300" spc="3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tant</a:t>
            </a:r>
            <a:r>
              <a:rPr sz="2300" spc="305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que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code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09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-10" dirty="0">
                <a:latin typeface="Calibri"/>
                <a:cs typeface="Calibri"/>
              </a:rPr>
              <a:t>Expérimentation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852795" y="5177917"/>
            <a:ext cx="4082415" cy="78549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41275" rIns="0" bIns="0" rtlCol="0">
            <a:spAutoFit/>
          </a:bodyPr>
          <a:lstStyle/>
          <a:p>
            <a:pPr marL="1717675" marR="185420" indent="-1558290">
              <a:lnSpc>
                <a:spcPts val="2600"/>
              </a:lnSpc>
              <a:spcBef>
                <a:spcPts val="325"/>
              </a:spcBef>
            </a:pP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Eviter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les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outils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qui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renforcent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les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silos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3D3D3D"/>
                </a:solidFill>
                <a:latin typeface="Calibri"/>
                <a:cs typeface="Calibri"/>
              </a:rPr>
              <a:t>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928" y="760552"/>
            <a:ext cx="38201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Pratiques</a:t>
            </a:r>
            <a:r>
              <a:rPr sz="2000" spc="20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d’automatisation</a:t>
            </a:r>
            <a:r>
              <a:rPr sz="2000" spc="204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425" y="1549425"/>
            <a:ext cx="9622155" cy="1123950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33020" rIns="0" bIns="0" rtlCol="0">
            <a:spAutoFit/>
          </a:bodyPr>
          <a:lstStyle/>
          <a:p>
            <a:pPr marL="230504" marR="218440" algn="ctr">
              <a:lnSpc>
                <a:spcPts val="2600"/>
              </a:lnSpc>
              <a:spcBef>
                <a:spcPts val="260"/>
              </a:spcBef>
            </a:pPr>
            <a:r>
              <a:rPr sz="2200" dirty="0">
                <a:latin typeface="Calibri"/>
                <a:cs typeface="Calibri"/>
              </a:rPr>
              <a:t>Une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philosophie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toochain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(chaîne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d’outils)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implique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l’utilisation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d’un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ensemble intégré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d’outils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complémentaires </a:t>
            </a:r>
            <a:r>
              <a:rPr sz="2200" spc="-10" dirty="0">
                <a:latin typeface="Calibri"/>
                <a:cs typeface="Calibri"/>
              </a:rPr>
              <a:t>spécifiques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aux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tâches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pour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automatiser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les </a:t>
            </a:r>
            <a:r>
              <a:rPr sz="2200" spc="-10" dirty="0">
                <a:latin typeface="Calibri"/>
                <a:cs typeface="Calibri"/>
              </a:rPr>
              <a:t>processus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livraison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déploiement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bout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bout.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920" y="2632513"/>
            <a:ext cx="8307705" cy="1971039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105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Toolchain</a:t>
            </a:r>
            <a:r>
              <a:rPr sz="2300" spc="3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(par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opposition</a:t>
            </a:r>
            <a:r>
              <a:rPr sz="2300" spc="4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à</a:t>
            </a:r>
            <a:r>
              <a:rPr sz="2300" spc="43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une</a:t>
            </a:r>
            <a:r>
              <a:rPr sz="2300" spc="3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solution</a:t>
            </a:r>
            <a:r>
              <a:rPr sz="2300" spc="3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à</a:t>
            </a:r>
            <a:r>
              <a:rPr sz="2300" spc="43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fournisseur</a:t>
            </a:r>
            <a:r>
              <a:rPr sz="2300" spc="4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unique)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09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50" dirty="0">
                <a:latin typeface="Calibri"/>
                <a:cs typeface="Calibri"/>
              </a:rPr>
              <a:t>Outils</a:t>
            </a:r>
            <a:r>
              <a:rPr sz="2300" spc="220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partagés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1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70" dirty="0">
                <a:latin typeface="Calibri"/>
                <a:cs typeface="Calibri"/>
              </a:rPr>
              <a:t>En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libre</a:t>
            </a:r>
            <a:r>
              <a:rPr sz="2300" spc="14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service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1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dirty="0">
                <a:latin typeface="Calibri"/>
                <a:cs typeface="Calibri"/>
              </a:rPr>
              <a:t>Prévoir</a:t>
            </a:r>
            <a:r>
              <a:rPr sz="2300" spc="3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l’architecture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du</a:t>
            </a:r>
            <a:r>
              <a:rPr sz="2300" spc="4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logiciel</a:t>
            </a:r>
            <a:r>
              <a:rPr sz="2300" spc="45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4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manière</a:t>
            </a:r>
            <a:r>
              <a:rPr sz="2300" spc="40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à</a:t>
            </a:r>
            <a:r>
              <a:rPr sz="2300" spc="48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permettre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8892" y="4563110"/>
            <a:ext cx="3287395" cy="79883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354330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automatisation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2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tests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520"/>
              </a:spcBef>
              <a:buFont typeface="Arial MT"/>
              <a:buChar char="–"/>
              <a:tabLst>
                <a:tab pos="354330" algn="l"/>
              </a:tabLst>
            </a:pP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Surveillance.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2101215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50" spc="-10" dirty="0"/>
              <a:t>Architecture</a:t>
            </a:r>
            <a:endParaRPr sz="32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5879" y="5593207"/>
            <a:ext cx="1209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Feedback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58098" y="2483485"/>
            <a:ext cx="29845" cy="3669029"/>
            <a:chOff x="2058098" y="2483485"/>
            <a:chExt cx="29845" cy="3669029"/>
          </a:xfrm>
        </p:grpSpPr>
        <p:sp>
          <p:nvSpPr>
            <p:cNvPr id="4" name="object 4"/>
            <p:cNvSpPr/>
            <p:nvPr/>
          </p:nvSpPr>
          <p:spPr>
            <a:xfrm>
              <a:off x="2072766" y="4135374"/>
              <a:ext cx="0" cy="2003425"/>
            </a:xfrm>
            <a:custGeom>
              <a:avLst/>
              <a:gdLst/>
              <a:ahLst/>
              <a:cxnLst/>
              <a:rect l="l" t="t" r="r" b="b"/>
              <a:pathLst>
                <a:path h="2003425">
                  <a:moveTo>
                    <a:pt x="0" y="1872487"/>
                  </a:moveTo>
                  <a:lnTo>
                    <a:pt x="0" y="2003424"/>
                  </a:lnTo>
                </a:path>
                <a:path h="2003425">
                  <a:moveTo>
                    <a:pt x="0" y="194309"/>
                  </a:moveTo>
                  <a:lnTo>
                    <a:pt x="0" y="678814"/>
                  </a:lnTo>
                </a:path>
                <a:path h="2003425">
                  <a:moveTo>
                    <a:pt x="0" y="0"/>
                  </a:moveTo>
                  <a:lnTo>
                    <a:pt x="0" y="137921"/>
                  </a:lnTo>
                </a:path>
              </a:pathLst>
            </a:custGeom>
            <a:ln w="2622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59685" y="3811047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69">
                  <a:moveTo>
                    <a:pt x="0" y="0"/>
                  </a:moveTo>
                  <a:lnTo>
                    <a:pt x="261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72766" y="2496820"/>
              <a:ext cx="0" cy="3458210"/>
            </a:xfrm>
            <a:custGeom>
              <a:avLst/>
              <a:gdLst/>
              <a:ahLst/>
              <a:cxnLst/>
              <a:rect l="l" t="t" r="r" b="b"/>
              <a:pathLst>
                <a:path h="3458210">
                  <a:moveTo>
                    <a:pt x="0" y="878205"/>
                  </a:moveTo>
                  <a:lnTo>
                    <a:pt x="0" y="1037336"/>
                  </a:lnTo>
                </a:path>
                <a:path h="3458210">
                  <a:moveTo>
                    <a:pt x="0" y="448691"/>
                  </a:moveTo>
                  <a:lnTo>
                    <a:pt x="0" y="554482"/>
                  </a:lnTo>
                </a:path>
                <a:path h="3458210">
                  <a:moveTo>
                    <a:pt x="0" y="0"/>
                  </a:moveTo>
                  <a:lnTo>
                    <a:pt x="0" y="173100"/>
                  </a:lnTo>
                </a:path>
                <a:path h="3458210">
                  <a:moveTo>
                    <a:pt x="0" y="3007614"/>
                  </a:moveTo>
                  <a:lnTo>
                    <a:pt x="0" y="3457702"/>
                  </a:lnTo>
                </a:path>
                <a:path h="3458210">
                  <a:moveTo>
                    <a:pt x="0" y="2592959"/>
                  </a:moveTo>
                  <a:lnTo>
                    <a:pt x="0" y="2683891"/>
                  </a:lnTo>
                </a:path>
              </a:pathLst>
            </a:custGeom>
            <a:ln w="2622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83460" y="5203317"/>
            <a:ext cx="7410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latin typeface="Arial MT"/>
                <a:cs typeface="Arial MT"/>
              </a:rPr>
              <a:t>Feedback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41676" y="2470912"/>
            <a:ext cx="1080770" cy="3452495"/>
            <a:chOff x="2241676" y="2470912"/>
            <a:chExt cx="1080770" cy="3452495"/>
          </a:xfrm>
        </p:grpSpPr>
        <p:sp>
          <p:nvSpPr>
            <p:cNvPr id="9" name="object 9"/>
            <p:cNvSpPr/>
            <p:nvPr/>
          </p:nvSpPr>
          <p:spPr>
            <a:xfrm>
              <a:off x="3308603" y="2484247"/>
              <a:ext cx="0" cy="3425825"/>
            </a:xfrm>
            <a:custGeom>
              <a:avLst/>
              <a:gdLst/>
              <a:ahLst/>
              <a:cxnLst/>
              <a:rect l="l" t="t" r="r" b="b"/>
              <a:pathLst>
                <a:path h="3425825">
                  <a:moveTo>
                    <a:pt x="0" y="706247"/>
                  </a:moveTo>
                  <a:lnTo>
                    <a:pt x="0" y="1032764"/>
                  </a:lnTo>
                </a:path>
                <a:path h="3425825">
                  <a:moveTo>
                    <a:pt x="0" y="0"/>
                  </a:moveTo>
                  <a:lnTo>
                    <a:pt x="0" y="242697"/>
                  </a:lnTo>
                </a:path>
                <a:path h="3425825">
                  <a:moveTo>
                    <a:pt x="0" y="1496187"/>
                  </a:moveTo>
                  <a:lnTo>
                    <a:pt x="0" y="1789049"/>
                  </a:lnTo>
                </a:path>
                <a:path h="3425825">
                  <a:moveTo>
                    <a:pt x="0" y="1845437"/>
                  </a:moveTo>
                  <a:lnTo>
                    <a:pt x="0" y="2372106"/>
                  </a:lnTo>
                </a:path>
                <a:path h="3425825">
                  <a:moveTo>
                    <a:pt x="0" y="2835529"/>
                  </a:moveTo>
                  <a:lnTo>
                    <a:pt x="0" y="3425698"/>
                  </a:lnTo>
                </a:path>
              </a:pathLst>
            </a:custGeom>
            <a:ln w="2622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1677" y="4249090"/>
              <a:ext cx="1069340" cy="323850"/>
            </a:xfrm>
            <a:custGeom>
              <a:avLst/>
              <a:gdLst/>
              <a:ahLst/>
              <a:cxnLst/>
              <a:rect l="l" t="t" r="r" b="b"/>
              <a:pathLst>
                <a:path w="1069339" h="323850">
                  <a:moveTo>
                    <a:pt x="1068857" y="80708"/>
                  </a:moveTo>
                  <a:lnTo>
                    <a:pt x="0" y="80708"/>
                  </a:lnTo>
                  <a:lnTo>
                    <a:pt x="0" y="323799"/>
                  </a:lnTo>
                  <a:lnTo>
                    <a:pt x="1068857" y="323799"/>
                  </a:lnTo>
                  <a:lnTo>
                    <a:pt x="1068857" y="80708"/>
                  </a:lnTo>
                  <a:close/>
                </a:path>
                <a:path w="1069339" h="323850">
                  <a:moveTo>
                    <a:pt x="1068857" y="0"/>
                  </a:moveTo>
                  <a:lnTo>
                    <a:pt x="0" y="0"/>
                  </a:lnTo>
                  <a:lnTo>
                    <a:pt x="0" y="24206"/>
                  </a:lnTo>
                  <a:lnTo>
                    <a:pt x="1068857" y="24206"/>
                  </a:lnTo>
                  <a:lnTo>
                    <a:pt x="10688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11729" y="4271518"/>
            <a:ext cx="741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5" dirty="0">
                <a:solidFill>
                  <a:srgbClr val="3D3D3D"/>
                </a:solidFill>
                <a:latin typeface="Arial MT"/>
                <a:cs typeface="Arial MT"/>
              </a:rPr>
              <a:t>Feedback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66697" y="3834130"/>
            <a:ext cx="741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5" dirty="0">
                <a:solidFill>
                  <a:srgbClr val="3D3D3D"/>
                </a:solidFill>
                <a:latin typeface="Arial MT"/>
                <a:cs typeface="Arial MT"/>
              </a:rPr>
              <a:t>Feedback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66697" y="3073654"/>
            <a:ext cx="741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5" dirty="0">
                <a:latin typeface="Arial MT"/>
                <a:cs typeface="Arial MT"/>
              </a:rPr>
              <a:t>Feedback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60929" y="5932678"/>
            <a:ext cx="7410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latin typeface="Arial MT"/>
                <a:cs typeface="Arial MT"/>
              </a:rPr>
              <a:t>Feedback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1983" y="2008251"/>
            <a:ext cx="1119505" cy="426084"/>
          </a:xfrm>
          <a:prstGeom prst="rect">
            <a:avLst/>
          </a:prstGeom>
          <a:solidFill>
            <a:srgbClr val="3D3D3D"/>
          </a:solidFill>
        </p:spPr>
        <p:txBody>
          <a:bodyPr vert="horz" wrap="square" lIns="0" tIns="0" rIns="0" bIns="0" rtlCol="0">
            <a:spAutoFit/>
          </a:bodyPr>
          <a:lstStyle/>
          <a:p>
            <a:pPr marL="229870">
              <a:lnSpc>
                <a:spcPts val="1440"/>
              </a:lnSpc>
            </a:pPr>
            <a:r>
              <a:rPr sz="1250" spc="-85" dirty="0">
                <a:solidFill>
                  <a:srgbClr val="FFFFFF"/>
                </a:solidFill>
                <a:latin typeface="Arial MT"/>
                <a:cs typeface="Arial MT"/>
              </a:rPr>
              <a:t>Equipe</a:t>
            </a:r>
            <a:r>
              <a:rPr sz="12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endParaRPr sz="1250">
              <a:latin typeface="Arial MT"/>
              <a:cs typeface="Arial MT"/>
            </a:endParaRPr>
          </a:p>
          <a:p>
            <a:pPr marL="220979">
              <a:lnSpc>
                <a:spcPct val="100000"/>
              </a:lnSpc>
              <a:spcBef>
                <a:spcPts val="80"/>
              </a:spcBef>
            </a:pPr>
            <a:r>
              <a:rPr sz="1250" spc="-10" dirty="0">
                <a:solidFill>
                  <a:srgbClr val="FFFFFF"/>
                </a:solidFill>
                <a:latin typeface="Arial MT"/>
                <a:cs typeface="Arial MT"/>
              </a:rPr>
              <a:t>réalisation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4635" y="2008251"/>
            <a:ext cx="1119505" cy="426084"/>
          </a:xfrm>
          <a:prstGeom prst="rect">
            <a:avLst/>
          </a:prstGeom>
          <a:solidFill>
            <a:srgbClr val="3D3D3D"/>
          </a:solidFill>
        </p:spPr>
        <p:txBody>
          <a:bodyPr vert="horz" wrap="square" lIns="0" tIns="0" rIns="0" bIns="0" rtlCol="0">
            <a:spAutoFit/>
          </a:bodyPr>
          <a:lstStyle/>
          <a:p>
            <a:pPr marR="166370" algn="r">
              <a:lnSpc>
                <a:spcPts val="1440"/>
              </a:lnSpc>
            </a:pPr>
            <a:r>
              <a:rPr sz="1250" spc="-75" dirty="0">
                <a:solidFill>
                  <a:srgbClr val="FFFFFF"/>
                </a:solidFill>
                <a:latin typeface="Arial MT"/>
                <a:cs typeface="Arial MT"/>
              </a:rPr>
              <a:t>Gestion</a:t>
            </a:r>
            <a:r>
              <a:rPr sz="12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Arial MT"/>
                <a:cs typeface="Arial MT"/>
              </a:rPr>
              <a:t>des</a:t>
            </a:r>
            <a:endParaRPr sz="1250">
              <a:latin typeface="Arial MT"/>
              <a:cs typeface="Arial MT"/>
            </a:endParaRPr>
          </a:p>
          <a:p>
            <a:pPr marR="224154" algn="r">
              <a:lnSpc>
                <a:spcPct val="100000"/>
              </a:lnSpc>
              <a:spcBef>
                <a:spcPts val="80"/>
              </a:spcBef>
            </a:pPr>
            <a:r>
              <a:rPr sz="1250" spc="-10" dirty="0">
                <a:solidFill>
                  <a:srgbClr val="FFFFFF"/>
                </a:solidFill>
                <a:latin typeface="Arial MT"/>
                <a:cs typeface="Arial MT"/>
              </a:rPr>
              <a:t>versions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75330" y="2008251"/>
            <a:ext cx="1212215" cy="426084"/>
          </a:xfrm>
          <a:prstGeom prst="rect">
            <a:avLst/>
          </a:prstGeom>
          <a:solidFill>
            <a:srgbClr val="3D3D3D"/>
          </a:solidFill>
        </p:spPr>
        <p:txBody>
          <a:bodyPr vert="horz" wrap="square" lIns="0" tIns="3810" rIns="0" bIns="0" rtlCol="0">
            <a:spAutoFit/>
          </a:bodyPr>
          <a:lstStyle/>
          <a:p>
            <a:pPr marL="187960" marR="129539" indent="-10795">
              <a:lnSpc>
                <a:spcPts val="1510"/>
              </a:lnSpc>
              <a:spcBef>
                <a:spcPts val="30"/>
              </a:spcBef>
            </a:pPr>
            <a:r>
              <a:rPr sz="1200" spc="-55" dirty="0">
                <a:solidFill>
                  <a:srgbClr val="FFFFFF"/>
                </a:solidFill>
                <a:latin typeface="Arial MT"/>
                <a:cs typeface="Arial MT"/>
              </a:rPr>
              <a:t>Compilation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et </a:t>
            </a:r>
            <a:r>
              <a:rPr sz="1200" spc="-135" dirty="0">
                <a:solidFill>
                  <a:srgbClr val="FFFFFF"/>
                </a:solidFill>
                <a:latin typeface="Arial MT"/>
                <a:cs typeface="Arial MT"/>
              </a:rPr>
              <a:t>Tests</a:t>
            </a:r>
            <a:r>
              <a:rPr sz="1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unitaires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0040" y="2007743"/>
            <a:ext cx="1119505" cy="427355"/>
          </a:xfrm>
          <a:prstGeom prst="rect">
            <a:avLst/>
          </a:prstGeom>
          <a:solidFill>
            <a:srgbClr val="3D3D3D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5"/>
              </a:lnSpc>
            </a:pPr>
            <a:r>
              <a:rPr sz="1250" spc="-10" dirty="0">
                <a:solidFill>
                  <a:srgbClr val="FFFFFF"/>
                </a:solidFill>
                <a:latin typeface="Arial MT"/>
                <a:cs typeface="Arial MT"/>
              </a:rPr>
              <a:t>Tests</a:t>
            </a:r>
            <a:endParaRPr sz="1250">
              <a:latin typeface="Arial MT"/>
              <a:cs typeface="Arial MT"/>
            </a:endParaRPr>
          </a:p>
          <a:p>
            <a:pPr marR="32384" algn="ctr">
              <a:lnSpc>
                <a:spcPct val="100000"/>
              </a:lnSpc>
              <a:spcBef>
                <a:spcPts val="85"/>
              </a:spcBef>
            </a:pPr>
            <a:r>
              <a:rPr sz="1250" spc="-50" dirty="0">
                <a:solidFill>
                  <a:srgbClr val="FFFFFF"/>
                </a:solidFill>
                <a:latin typeface="Arial MT"/>
                <a:cs typeface="Arial MT"/>
              </a:rPr>
              <a:t>d’acceptation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24296" y="2007743"/>
            <a:ext cx="1119505" cy="427355"/>
          </a:xfrm>
          <a:prstGeom prst="rect">
            <a:avLst/>
          </a:prstGeom>
          <a:solidFill>
            <a:srgbClr val="3D3D3D"/>
          </a:solidFill>
        </p:spPr>
        <p:txBody>
          <a:bodyPr vert="horz" wrap="square" lIns="0" tIns="106680" rIns="0" bIns="0" rtlCol="0">
            <a:spAutoFit/>
          </a:bodyPr>
          <a:lstStyle/>
          <a:p>
            <a:pPr marL="368300">
              <a:lnSpc>
                <a:spcPct val="100000"/>
              </a:lnSpc>
              <a:spcBef>
                <a:spcPts val="840"/>
              </a:spcBef>
            </a:pPr>
            <a:r>
              <a:rPr sz="1250" spc="-20" dirty="0">
                <a:solidFill>
                  <a:srgbClr val="FFFFFF"/>
                </a:solidFill>
                <a:latin typeface="Arial MT"/>
                <a:cs typeface="Arial MT"/>
              </a:rPr>
              <a:t>UATs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07505" y="2008251"/>
            <a:ext cx="1024255" cy="426084"/>
          </a:xfrm>
          <a:prstGeom prst="rect">
            <a:avLst/>
          </a:prstGeom>
          <a:solidFill>
            <a:srgbClr val="3D3D3D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50" spc="-65" dirty="0">
                <a:solidFill>
                  <a:srgbClr val="FFFFFF"/>
                </a:solidFill>
                <a:latin typeface="Arial MT"/>
                <a:cs typeface="Arial MT"/>
              </a:rPr>
              <a:t>Mise </a:t>
            </a:r>
            <a:r>
              <a:rPr sz="1250" spc="-35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endParaRPr sz="12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1250" spc="-20" dirty="0">
                <a:solidFill>
                  <a:srgbClr val="FFFFFF"/>
                </a:solidFill>
                <a:latin typeface="Arial MT"/>
                <a:cs typeface="Arial MT"/>
              </a:rPr>
              <a:t>prod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8230" y="2438146"/>
            <a:ext cx="6479540" cy="3739515"/>
            <a:chOff x="678230" y="2438146"/>
            <a:chExt cx="6479540" cy="3739515"/>
          </a:xfrm>
        </p:grpSpPr>
        <p:sp>
          <p:nvSpPr>
            <p:cNvPr id="22" name="object 22"/>
            <p:cNvSpPr/>
            <p:nvPr/>
          </p:nvSpPr>
          <p:spPr>
            <a:xfrm>
              <a:off x="820191" y="2451481"/>
              <a:ext cx="6323965" cy="3712845"/>
            </a:xfrm>
            <a:custGeom>
              <a:avLst/>
              <a:gdLst/>
              <a:ahLst/>
              <a:cxnLst/>
              <a:rect l="l" t="t" r="r" b="b"/>
              <a:pathLst>
                <a:path w="6323965" h="3712845">
                  <a:moveTo>
                    <a:pt x="0" y="438403"/>
                  </a:moveTo>
                  <a:lnTo>
                    <a:pt x="0" y="1027049"/>
                  </a:lnTo>
                </a:path>
                <a:path w="6323965" h="3712845">
                  <a:moveTo>
                    <a:pt x="0" y="57785"/>
                  </a:moveTo>
                  <a:lnTo>
                    <a:pt x="0" y="162813"/>
                  </a:lnTo>
                </a:path>
                <a:path w="6323965" h="3712845">
                  <a:moveTo>
                    <a:pt x="0" y="1302639"/>
                  </a:moveTo>
                  <a:lnTo>
                    <a:pt x="0" y="2292096"/>
                  </a:lnTo>
                </a:path>
                <a:path w="6323965" h="3712845">
                  <a:moveTo>
                    <a:pt x="0" y="2567686"/>
                  </a:moveTo>
                  <a:lnTo>
                    <a:pt x="0" y="3699764"/>
                  </a:lnTo>
                </a:path>
                <a:path w="6323965" h="3712845">
                  <a:moveTo>
                    <a:pt x="3941419" y="2069973"/>
                  </a:moveTo>
                  <a:lnTo>
                    <a:pt x="3941419" y="2567940"/>
                  </a:lnTo>
                </a:path>
                <a:path w="6323965" h="3712845">
                  <a:moveTo>
                    <a:pt x="3941419" y="70358"/>
                  </a:moveTo>
                  <a:lnTo>
                    <a:pt x="3941419" y="1362202"/>
                  </a:lnTo>
                </a:path>
                <a:path w="6323965" h="3712845">
                  <a:moveTo>
                    <a:pt x="3941419" y="3388360"/>
                  </a:moveTo>
                  <a:lnTo>
                    <a:pt x="3941419" y="3503041"/>
                  </a:lnTo>
                </a:path>
                <a:path w="6323965" h="3712845">
                  <a:moveTo>
                    <a:pt x="3941419" y="3556380"/>
                  </a:moveTo>
                  <a:lnTo>
                    <a:pt x="3941419" y="3712337"/>
                  </a:lnTo>
                </a:path>
                <a:path w="6323965" h="3712845">
                  <a:moveTo>
                    <a:pt x="5143855" y="32765"/>
                  </a:moveTo>
                  <a:lnTo>
                    <a:pt x="5143855" y="3256661"/>
                  </a:lnTo>
                </a:path>
                <a:path w="6323965" h="3712845">
                  <a:moveTo>
                    <a:pt x="5143855" y="3582289"/>
                  </a:moveTo>
                  <a:lnTo>
                    <a:pt x="5143855" y="3674745"/>
                  </a:lnTo>
                </a:path>
                <a:path w="6323965" h="3712845">
                  <a:moveTo>
                    <a:pt x="6323812" y="0"/>
                  </a:moveTo>
                  <a:lnTo>
                    <a:pt x="6323812" y="3402584"/>
                  </a:lnTo>
                </a:path>
              </a:pathLst>
            </a:custGeom>
            <a:ln w="2622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53133" y="2669946"/>
              <a:ext cx="250825" cy="275590"/>
            </a:xfrm>
            <a:custGeom>
              <a:avLst/>
              <a:gdLst/>
              <a:ahLst/>
              <a:cxnLst/>
              <a:rect l="l" t="t" r="r" b="b"/>
              <a:pathLst>
                <a:path w="250825" h="275589">
                  <a:moveTo>
                    <a:pt x="250520" y="0"/>
                  </a:moveTo>
                  <a:lnTo>
                    <a:pt x="0" y="0"/>
                  </a:lnTo>
                  <a:lnTo>
                    <a:pt x="0" y="275564"/>
                  </a:lnTo>
                  <a:lnTo>
                    <a:pt x="250520" y="275564"/>
                  </a:lnTo>
                  <a:lnTo>
                    <a:pt x="250520" y="0"/>
                  </a:lnTo>
                  <a:close/>
                </a:path>
              </a:pathLst>
            </a:custGeom>
            <a:solidFill>
              <a:srgbClr val="F9BD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66744" y="2727045"/>
              <a:ext cx="334645" cy="463550"/>
            </a:xfrm>
            <a:custGeom>
              <a:avLst/>
              <a:gdLst/>
              <a:ahLst/>
              <a:cxnLst/>
              <a:rect l="l" t="t" r="r" b="b"/>
              <a:pathLst>
                <a:path w="334645" h="463550">
                  <a:moveTo>
                    <a:pt x="334022" y="0"/>
                  </a:moveTo>
                  <a:lnTo>
                    <a:pt x="0" y="0"/>
                  </a:lnTo>
                  <a:lnTo>
                    <a:pt x="0" y="463448"/>
                  </a:lnTo>
                  <a:lnTo>
                    <a:pt x="334022" y="463448"/>
                  </a:lnTo>
                  <a:lnTo>
                    <a:pt x="3340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8230" y="2614320"/>
              <a:ext cx="250825" cy="275590"/>
            </a:xfrm>
            <a:custGeom>
              <a:avLst/>
              <a:gdLst/>
              <a:ahLst/>
              <a:cxnLst/>
              <a:rect l="l" t="t" r="r" b="b"/>
              <a:pathLst>
                <a:path w="250825" h="275589">
                  <a:moveTo>
                    <a:pt x="250520" y="0"/>
                  </a:moveTo>
                  <a:lnTo>
                    <a:pt x="0" y="0"/>
                  </a:lnTo>
                  <a:lnTo>
                    <a:pt x="0" y="275564"/>
                  </a:lnTo>
                  <a:lnTo>
                    <a:pt x="250520" y="275564"/>
                  </a:lnTo>
                  <a:lnTo>
                    <a:pt x="250520" y="0"/>
                  </a:lnTo>
                  <a:close/>
                </a:path>
              </a:pathLst>
            </a:custGeom>
            <a:solidFill>
              <a:srgbClr val="F9BD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26896" y="2742819"/>
              <a:ext cx="784860" cy="0"/>
            </a:xfrm>
            <a:custGeom>
              <a:avLst/>
              <a:gdLst/>
              <a:ahLst/>
              <a:cxnLst/>
              <a:rect l="l" t="t" r="r" b="b"/>
              <a:pathLst>
                <a:path w="784860">
                  <a:moveTo>
                    <a:pt x="0" y="0"/>
                  </a:moveTo>
                  <a:lnTo>
                    <a:pt x="784682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0016" y="2691221"/>
              <a:ext cx="129844" cy="10315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011123" y="2484882"/>
            <a:ext cx="6216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25" dirty="0">
                <a:solidFill>
                  <a:srgbClr val="3D3D3D"/>
                </a:solidFill>
                <a:latin typeface="Arial MT"/>
                <a:cs typeface="Arial MT"/>
              </a:rPr>
              <a:t>Check</a:t>
            </a:r>
            <a:r>
              <a:rPr sz="1400" spc="-9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D3D3D"/>
                </a:solidFill>
                <a:latin typeface="Arial MT"/>
                <a:cs typeface="Arial MT"/>
              </a:rPr>
              <a:t>in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178430" y="2766405"/>
            <a:ext cx="879475" cy="103505"/>
            <a:chOff x="2178430" y="2766405"/>
            <a:chExt cx="879475" cy="103505"/>
          </a:xfrm>
        </p:grpSpPr>
        <p:sp>
          <p:nvSpPr>
            <p:cNvPr id="30" name="object 30"/>
            <p:cNvSpPr/>
            <p:nvPr/>
          </p:nvSpPr>
          <p:spPr>
            <a:xfrm>
              <a:off x="2194305" y="2817876"/>
              <a:ext cx="784860" cy="0"/>
            </a:xfrm>
            <a:custGeom>
              <a:avLst/>
              <a:gdLst/>
              <a:ahLst/>
              <a:cxnLst/>
              <a:rect l="l" t="t" r="r" b="b"/>
              <a:pathLst>
                <a:path w="784860">
                  <a:moveTo>
                    <a:pt x="0" y="0"/>
                  </a:moveTo>
                  <a:lnTo>
                    <a:pt x="784732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476" y="2766405"/>
              <a:ext cx="129844" cy="10315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293747" y="2545207"/>
            <a:ext cx="5435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Arial MT"/>
                <a:cs typeface="Arial MT"/>
              </a:rPr>
              <a:t>Trigger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78230" y="3043021"/>
            <a:ext cx="2822575" cy="937894"/>
            <a:chOff x="678230" y="3043021"/>
            <a:chExt cx="2822575" cy="937894"/>
          </a:xfrm>
        </p:grpSpPr>
        <p:sp>
          <p:nvSpPr>
            <p:cNvPr id="34" name="object 34"/>
            <p:cNvSpPr/>
            <p:nvPr/>
          </p:nvSpPr>
          <p:spPr>
            <a:xfrm>
              <a:off x="1095933" y="3115310"/>
              <a:ext cx="2069464" cy="0"/>
            </a:xfrm>
            <a:custGeom>
              <a:avLst/>
              <a:gdLst/>
              <a:ahLst/>
              <a:cxnLst/>
              <a:rect l="l" t="t" r="r" b="b"/>
              <a:pathLst>
                <a:path w="2069464">
                  <a:moveTo>
                    <a:pt x="2068906" y="0"/>
                  </a:moveTo>
                  <a:lnTo>
                    <a:pt x="0" y="0"/>
                  </a:lnTo>
                </a:path>
              </a:pathLst>
            </a:custGeom>
            <a:ln w="444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6358" y="3043021"/>
              <a:ext cx="181787" cy="14442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3133" y="3534181"/>
              <a:ext cx="250825" cy="275590"/>
            </a:xfrm>
            <a:custGeom>
              <a:avLst/>
              <a:gdLst/>
              <a:ahLst/>
              <a:cxnLst/>
              <a:rect l="l" t="t" r="r" b="b"/>
              <a:pathLst>
                <a:path w="250825" h="275589">
                  <a:moveTo>
                    <a:pt x="250520" y="0"/>
                  </a:moveTo>
                  <a:lnTo>
                    <a:pt x="0" y="0"/>
                  </a:lnTo>
                  <a:lnTo>
                    <a:pt x="0" y="275564"/>
                  </a:lnTo>
                  <a:lnTo>
                    <a:pt x="250520" y="275564"/>
                  </a:lnTo>
                  <a:lnTo>
                    <a:pt x="250520" y="0"/>
                  </a:lnTo>
                  <a:close/>
                </a:path>
              </a:pathLst>
            </a:custGeom>
            <a:solidFill>
              <a:srgbClr val="F9BD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66744" y="3517112"/>
              <a:ext cx="334645" cy="463550"/>
            </a:xfrm>
            <a:custGeom>
              <a:avLst/>
              <a:gdLst/>
              <a:ahLst/>
              <a:cxnLst/>
              <a:rect l="l" t="t" r="r" b="b"/>
              <a:pathLst>
                <a:path w="334645" h="463550">
                  <a:moveTo>
                    <a:pt x="334022" y="0"/>
                  </a:moveTo>
                  <a:lnTo>
                    <a:pt x="0" y="0"/>
                  </a:lnTo>
                  <a:lnTo>
                    <a:pt x="0" y="463448"/>
                  </a:lnTo>
                  <a:lnTo>
                    <a:pt x="334022" y="463448"/>
                  </a:lnTo>
                  <a:lnTo>
                    <a:pt x="334022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8230" y="3478555"/>
              <a:ext cx="250825" cy="275590"/>
            </a:xfrm>
            <a:custGeom>
              <a:avLst/>
              <a:gdLst/>
              <a:ahLst/>
              <a:cxnLst/>
              <a:rect l="l" t="t" r="r" b="b"/>
              <a:pathLst>
                <a:path w="250825" h="275589">
                  <a:moveTo>
                    <a:pt x="250520" y="0"/>
                  </a:moveTo>
                  <a:lnTo>
                    <a:pt x="0" y="0"/>
                  </a:lnTo>
                  <a:lnTo>
                    <a:pt x="0" y="275564"/>
                  </a:lnTo>
                  <a:lnTo>
                    <a:pt x="250520" y="275564"/>
                  </a:lnTo>
                  <a:lnTo>
                    <a:pt x="250520" y="0"/>
                  </a:lnTo>
                  <a:close/>
                </a:path>
              </a:pathLst>
            </a:custGeom>
            <a:solidFill>
              <a:srgbClr val="F9BD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26896" y="3621913"/>
              <a:ext cx="784860" cy="0"/>
            </a:xfrm>
            <a:custGeom>
              <a:avLst/>
              <a:gdLst/>
              <a:ahLst/>
              <a:cxnLst/>
              <a:rect l="l" t="t" r="r" b="b"/>
              <a:pathLst>
                <a:path w="784860">
                  <a:moveTo>
                    <a:pt x="0" y="0"/>
                  </a:moveTo>
                  <a:lnTo>
                    <a:pt x="784682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0016" y="3570315"/>
              <a:ext cx="129844" cy="10315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040993" y="3364230"/>
            <a:ext cx="6216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25" dirty="0">
                <a:solidFill>
                  <a:srgbClr val="3D3D3D"/>
                </a:solidFill>
                <a:latin typeface="Arial MT"/>
                <a:cs typeface="Arial MT"/>
              </a:rPr>
              <a:t>Check</a:t>
            </a:r>
            <a:r>
              <a:rPr sz="1400" spc="-9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D3D3D"/>
                </a:solidFill>
                <a:latin typeface="Arial MT"/>
                <a:cs typeface="Arial MT"/>
              </a:rPr>
              <a:t>in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178430" y="3630640"/>
            <a:ext cx="879475" cy="103505"/>
            <a:chOff x="2178430" y="3630640"/>
            <a:chExt cx="879475" cy="103505"/>
          </a:xfrm>
        </p:grpSpPr>
        <p:sp>
          <p:nvSpPr>
            <p:cNvPr id="43" name="object 43"/>
            <p:cNvSpPr/>
            <p:nvPr/>
          </p:nvSpPr>
          <p:spPr>
            <a:xfrm>
              <a:off x="2194305" y="3682238"/>
              <a:ext cx="784860" cy="0"/>
            </a:xfrm>
            <a:custGeom>
              <a:avLst/>
              <a:gdLst/>
              <a:ahLst/>
              <a:cxnLst/>
              <a:rect l="l" t="t" r="r" b="b"/>
              <a:pathLst>
                <a:path w="784860">
                  <a:moveTo>
                    <a:pt x="0" y="0"/>
                  </a:moveTo>
                  <a:lnTo>
                    <a:pt x="784732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7476" y="3630640"/>
              <a:ext cx="129844" cy="10315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2323338" y="3409569"/>
            <a:ext cx="5435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3D3D3D"/>
                </a:solidFill>
                <a:latin typeface="Arial MT"/>
                <a:cs typeface="Arial MT"/>
              </a:rPr>
              <a:t>Trigger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71511" y="3813746"/>
            <a:ext cx="3971290" cy="708025"/>
            <a:chOff x="971511" y="3813746"/>
            <a:chExt cx="3971290" cy="708025"/>
          </a:xfrm>
        </p:grpSpPr>
        <p:sp>
          <p:nvSpPr>
            <p:cNvPr id="47" name="object 47"/>
            <p:cNvSpPr/>
            <p:nvPr/>
          </p:nvSpPr>
          <p:spPr>
            <a:xfrm>
              <a:off x="1081087" y="3890518"/>
              <a:ext cx="2069464" cy="0"/>
            </a:xfrm>
            <a:custGeom>
              <a:avLst/>
              <a:gdLst/>
              <a:ahLst/>
              <a:cxnLst/>
              <a:rect l="l" t="t" r="r" b="b"/>
              <a:pathLst>
                <a:path w="2069464">
                  <a:moveTo>
                    <a:pt x="2068893" y="0"/>
                  </a:moveTo>
                  <a:lnTo>
                    <a:pt x="0" y="0"/>
                  </a:lnTo>
                </a:path>
              </a:pathLst>
            </a:custGeom>
            <a:ln w="444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1511" y="3818229"/>
              <a:ext cx="181787" cy="14442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591811" y="3813746"/>
              <a:ext cx="351155" cy="708025"/>
            </a:xfrm>
            <a:custGeom>
              <a:avLst/>
              <a:gdLst/>
              <a:ahLst/>
              <a:cxnLst/>
              <a:rect l="l" t="t" r="r" b="b"/>
              <a:pathLst>
                <a:path w="351154" h="708025">
                  <a:moveTo>
                    <a:pt x="350723" y="0"/>
                  </a:moveTo>
                  <a:lnTo>
                    <a:pt x="0" y="0"/>
                  </a:lnTo>
                  <a:lnTo>
                    <a:pt x="0" y="707707"/>
                  </a:lnTo>
                  <a:lnTo>
                    <a:pt x="350723" y="707707"/>
                  </a:lnTo>
                  <a:lnTo>
                    <a:pt x="3507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800602" y="3643376"/>
            <a:ext cx="5435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Arial MT"/>
                <a:cs typeface="Arial MT"/>
              </a:rPr>
              <a:t>Trigger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94944" y="3866352"/>
            <a:ext cx="3900804" cy="1453515"/>
            <a:chOff x="694944" y="3866352"/>
            <a:chExt cx="3900804" cy="1453515"/>
          </a:xfrm>
        </p:grpSpPr>
        <p:sp>
          <p:nvSpPr>
            <p:cNvPr id="52" name="object 52"/>
            <p:cNvSpPr/>
            <p:nvPr/>
          </p:nvSpPr>
          <p:spPr>
            <a:xfrm>
              <a:off x="3497452" y="3917823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10">
                  <a:moveTo>
                    <a:pt x="0" y="0"/>
                  </a:moveTo>
                  <a:lnTo>
                    <a:pt x="955929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1820" y="3866352"/>
              <a:ext cx="129717" cy="10315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084795" y="4295521"/>
              <a:ext cx="3488690" cy="12065"/>
            </a:xfrm>
            <a:custGeom>
              <a:avLst/>
              <a:gdLst/>
              <a:ahLst/>
              <a:cxnLst/>
              <a:rect l="l" t="t" r="r" b="b"/>
              <a:pathLst>
                <a:path w="3488690" h="12064">
                  <a:moveTo>
                    <a:pt x="3488474" y="0"/>
                  </a:moveTo>
                  <a:lnTo>
                    <a:pt x="0" y="11938"/>
                  </a:lnTo>
                </a:path>
              </a:pathLst>
            </a:custGeom>
            <a:ln w="444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5220" y="4235170"/>
              <a:ext cx="181965" cy="14442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954911" y="4814214"/>
              <a:ext cx="250825" cy="275590"/>
            </a:xfrm>
            <a:custGeom>
              <a:avLst/>
              <a:gdLst/>
              <a:ahLst/>
              <a:cxnLst/>
              <a:rect l="l" t="t" r="r" b="b"/>
              <a:pathLst>
                <a:path w="250825" h="275589">
                  <a:moveTo>
                    <a:pt x="250520" y="0"/>
                  </a:moveTo>
                  <a:lnTo>
                    <a:pt x="0" y="0"/>
                  </a:lnTo>
                  <a:lnTo>
                    <a:pt x="0" y="275564"/>
                  </a:lnTo>
                  <a:lnTo>
                    <a:pt x="250520" y="275564"/>
                  </a:lnTo>
                  <a:lnTo>
                    <a:pt x="250520" y="0"/>
                  </a:lnTo>
                  <a:close/>
                </a:path>
              </a:pathLst>
            </a:custGeom>
            <a:solidFill>
              <a:srgbClr val="F9BD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183382" y="4856327"/>
              <a:ext cx="334645" cy="463550"/>
            </a:xfrm>
            <a:custGeom>
              <a:avLst/>
              <a:gdLst/>
              <a:ahLst/>
              <a:cxnLst/>
              <a:rect l="l" t="t" r="r" b="b"/>
              <a:pathLst>
                <a:path w="334645" h="463550">
                  <a:moveTo>
                    <a:pt x="334022" y="0"/>
                  </a:moveTo>
                  <a:lnTo>
                    <a:pt x="0" y="0"/>
                  </a:lnTo>
                  <a:lnTo>
                    <a:pt x="0" y="463448"/>
                  </a:lnTo>
                  <a:lnTo>
                    <a:pt x="334022" y="463448"/>
                  </a:lnTo>
                  <a:lnTo>
                    <a:pt x="334022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94944" y="4743602"/>
              <a:ext cx="250825" cy="275590"/>
            </a:xfrm>
            <a:custGeom>
              <a:avLst/>
              <a:gdLst/>
              <a:ahLst/>
              <a:cxnLst/>
              <a:rect l="l" t="t" r="r" b="b"/>
              <a:pathLst>
                <a:path w="250825" h="275589">
                  <a:moveTo>
                    <a:pt x="250520" y="0"/>
                  </a:moveTo>
                  <a:lnTo>
                    <a:pt x="0" y="0"/>
                  </a:lnTo>
                  <a:lnTo>
                    <a:pt x="0" y="275564"/>
                  </a:lnTo>
                  <a:lnTo>
                    <a:pt x="250520" y="275564"/>
                  </a:lnTo>
                  <a:lnTo>
                    <a:pt x="250520" y="0"/>
                  </a:lnTo>
                  <a:close/>
                </a:path>
              </a:pathLst>
            </a:custGeom>
            <a:solidFill>
              <a:srgbClr val="F9BD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43597" y="4886960"/>
              <a:ext cx="784860" cy="0"/>
            </a:xfrm>
            <a:custGeom>
              <a:avLst/>
              <a:gdLst/>
              <a:ahLst/>
              <a:cxnLst/>
              <a:rect l="l" t="t" r="r" b="b"/>
              <a:pathLst>
                <a:path w="784860">
                  <a:moveTo>
                    <a:pt x="0" y="0"/>
                  </a:moveTo>
                  <a:lnTo>
                    <a:pt x="784745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654" y="4835362"/>
              <a:ext cx="129844" cy="103159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1057452" y="4629404"/>
            <a:ext cx="622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25" dirty="0">
                <a:latin typeface="Arial MT"/>
                <a:cs typeface="Arial MT"/>
              </a:rPr>
              <a:t>Check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in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88212" y="4910546"/>
            <a:ext cx="4015740" cy="929640"/>
            <a:chOff x="988212" y="4910546"/>
            <a:chExt cx="4015740" cy="929640"/>
          </a:xfrm>
        </p:grpSpPr>
        <p:sp>
          <p:nvSpPr>
            <p:cNvPr id="63" name="object 63"/>
            <p:cNvSpPr/>
            <p:nvPr/>
          </p:nvSpPr>
          <p:spPr>
            <a:xfrm>
              <a:off x="2196210" y="4962144"/>
              <a:ext cx="784860" cy="0"/>
            </a:xfrm>
            <a:custGeom>
              <a:avLst/>
              <a:gdLst/>
              <a:ahLst/>
              <a:cxnLst/>
              <a:rect l="l" t="t" r="r" b="b"/>
              <a:pathLst>
                <a:path w="784860">
                  <a:moveTo>
                    <a:pt x="0" y="0"/>
                  </a:moveTo>
                  <a:lnTo>
                    <a:pt x="784606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9254" y="4910546"/>
              <a:ext cx="129844" cy="103159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097787" y="5244719"/>
              <a:ext cx="2069464" cy="0"/>
            </a:xfrm>
            <a:custGeom>
              <a:avLst/>
              <a:gdLst/>
              <a:ahLst/>
              <a:cxnLst/>
              <a:rect l="l" t="t" r="r" b="b"/>
              <a:pathLst>
                <a:path w="2069464">
                  <a:moveTo>
                    <a:pt x="2068957" y="0"/>
                  </a:moveTo>
                  <a:lnTo>
                    <a:pt x="0" y="0"/>
                  </a:lnTo>
                </a:path>
              </a:pathLst>
            </a:custGeom>
            <a:ln w="444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8212" y="5172430"/>
              <a:ext cx="181787" cy="14442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4653025" y="5019408"/>
              <a:ext cx="351155" cy="821055"/>
            </a:xfrm>
            <a:custGeom>
              <a:avLst/>
              <a:gdLst/>
              <a:ahLst/>
              <a:cxnLst/>
              <a:rect l="l" t="t" r="r" b="b"/>
              <a:pathLst>
                <a:path w="351154" h="821054">
                  <a:moveTo>
                    <a:pt x="350723" y="0"/>
                  </a:moveTo>
                  <a:lnTo>
                    <a:pt x="0" y="0"/>
                  </a:lnTo>
                  <a:lnTo>
                    <a:pt x="0" y="820432"/>
                  </a:lnTo>
                  <a:lnTo>
                    <a:pt x="350723" y="820432"/>
                  </a:lnTo>
                  <a:lnTo>
                    <a:pt x="350723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2325116" y="4556252"/>
            <a:ext cx="543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Trigger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743071" y="5283835"/>
            <a:ext cx="60325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50" dirty="0">
                <a:latin typeface="Arial MT"/>
                <a:cs typeface="Arial MT"/>
              </a:rPr>
              <a:t>Trigger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978014" y="5205567"/>
            <a:ext cx="6293485" cy="924560"/>
            <a:chOff x="978014" y="5205567"/>
            <a:chExt cx="6293485" cy="924560"/>
          </a:xfrm>
        </p:grpSpPr>
        <p:sp>
          <p:nvSpPr>
            <p:cNvPr id="71" name="object 71"/>
            <p:cNvSpPr/>
            <p:nvPr/>
          </p:nvSpPr>
          <p:spPr>
            <a:xfrm>
              <a:off x="3588385" y="5257165"/>
              <a:ext cx="956310" cy="0"/>
            </a:xfrm>
            <a:custGeom>
              <a:avLst/>
              <a:gdLst/>
              <a:ahLst/>
              <a:cxnLst/>
              <a:rect l="l" t="t" r="r" b="b"/>
              <a:pathLst>
                <a:path w="956310">
                  <a:moveTo>
                    <a:pt x="0" y="0"/>
                  </a:moveTo>
                  <a:lnTo>
                    <a:pt x="955928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2625" y="5205567"/>
              <a:ext cx="129844" cy="103159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087589" y="5640451"/>
              <a:ext cx="3549015" cy="4445"/>
            </a:xfrm>
            <a:custGeom>
              <a:avLst/>
              <a:gdLst/>
              <a:ahLst/>
              <a:cxnLst/>
              <a:rect l="l" t="t" r="r" b="b"/>
              <a:pathLst>
                <a:path w="3549015" h="4445">
                  <a:moveTo>
                    <a:pt x="3548799" y="0"/>
                  </a:moveTo>
                  <a:lnTo>
                    <a:pt x="0" y="3937"/>
                  </a:lnTo>
                </a:path>
              </a:pathLst>
            </a:custGeom>
            <a:ln w="444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8014" y="5572099"/>
              <a:ext cx="181838" cy="144424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872226" y="5708103"/>
              <a:ext cx="1399540" cy="421640"/>
            </a:xfrm>
            <a:custGeom>
              <a:avLst/>
              <a:gdLst/>
              <a:ahLst/>
              <a:cxnLst/>
              <a:rect l="l" t="t" r="r" b="b"/>
              <a:pathLst>
                <a:path w="1399540" h="421639">
                  <a:moveTo>
                    <a:pt x="283921" y="0"/>
                  </a:moveTo>
                  <a:lnTo>
                    <a:pt x="0" y="0"/>
                  </a:lnTo>
                  <a:lnTo>
                    <a:pt x="0" y="325666"/>
                  </a:lnTo>
                  <a:lnTo>
                    <a:pt x="283921" y="325666"/>
                  </a:lnTo>
                  <a:lnTo>
                    <a:pt x="283921" y="0"/>
                  </a:lnTo>
                  <a:close/>
                </a:path>
                <a:path w="1399540" h="421639">
                  <a:moveTo>
                    <a:pt x="1399222" y="145973"/>
                  </a:moveTo>
                  <a:lnTo>
                    <a:pt x="1148715" y="145973"/>
                  </a:lnTo>
                  <a:lnTo>
                    <a:pt x="1148715" y="421551"/>
                  </a:lnTo>
                  <a:lnTo>
                    <a:pt x="1399222" y="421551"/>
                  </a:lnTo>
                  <a:lnTo>
                    <a:pt x="1399222" y="145973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001259" y="5491734"/>
            <a:ext cx="92836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0" dirty="0">
                <a:latin typeface="Arial MT"/>
                <a:cs typeface="Arial MT"/>
              </a:rPr>
              <a:t>Approbation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161278" y="5719318"/>
            <a:ext cx="9201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5" dirty="0">
                <a:latin typeface="Arial MT"/>
                <a:cs typeface="Arial MT"/>
              </a:rPr>
              <a:t>Approbation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1007706" y="5684238"/>
            <a:ext cx="5981065" cy="374015"/>
            <a:chOff x="1007706" y="5684238"/>
            <a:chExt cx="5981065" cy="374015"/>
          </a:xfrm>
        </p:grpSpPr>
        <p:sp>
          <p:nvSpPr>
            <p:cNvPr id="79" name="object 79"/>
            <p:cNvSpPr/>
            <p:nvPr/>
          </p:nvSpPr>
          <p:spPr>
            <a:xfrm>
              <a:off x="4996433" y="5735193"/>
              <a:ext cx="758825" cy="11430"/>
            </a:xfrm>
            <a:custGeom>
              <a:avLst/>
              <a:gdLst/>
              <a:ahLst/>
              <a:cxnLst/>
              <a:rect l="l" t="t" r="r" b="b"/>
              <a:pathLst>
                <a:path w="758825" h="11429">
                  <a:moveTo>
                    <a:pt x="0" y="11430"/>
                  </a:moveTo>
                  <a:lnTo>
                    <a:pt x="758698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02935" y="5684238"/>
              <a:ext cx="130378" cy="103151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150610" y="5976747"/>
              <a:ext cx="760095" cy="0"/>
            </a:xfrm>
            <a:custGeom>
              <a:avLst/>
              <a:gdLst/>
              <a:ahLst/>
              <a:cxnLst/>
              <a:rect l="l" t="t" r="r" b="b"/>
              <a:pathLst>
                <a:path w="760095">
                  <a:moveTo>
                    <a:pt x="0" y="0"/>
                  </a:moveTo>
                  <a:lnTo>
                    <a:pt x="759587" y="0"/>
                  </a:lnTo>
                </a:path>
              </a:pathLst>
            </a:custGeom>
            <a:ln w="317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635" y="5925149"/>
              <a:ext cx="129844" cy="10315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1117282" y="5976747"/>
              <a:ext cx="4734560" cy="8890"/>
            </a:xfrm>
            <a:custGeom>
              <a:avLst/>
              <a:gdLst/>
              <a:ahLst/>
              <a:cxnLst/>
              <a:rect l="l" t="t" r="r" b="b"/>
              <a:pathLst>
                <a:path w="4734560" h="8889">
                  <a:moveTo>
                    <a:pt x="4734496" y="0"/>
                  </a:moveTo>
                  <a:lnTo>
                    <a:pt x="0" y="8890"/>
                  </a:lnTo>
                </a:path>
              </a:pathLst>
            </a:custGeom>
            <a:ln w="4444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7706" y="5913348"/>
              <a:ext cx="181889" cy="144424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5787009" y="6376517"/>
            <a:ext cx="2007235" cy="74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50" spc="80" dirty="0">
                <a:solidFill>
                  <a:srgbClr val="464646"/>
                </a:solidFill>
                <a:latin typeface="Calibri"/>
                <a:cs typeface="Calibri"/>
              </a:rPr>
              <a:t>Source</a:t>
            </a:r>
            <a:r>
              <a:rPr sz="1150" spc="12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64646"/>
                </a:solidFill>
                <a:latin typeface="Calibri"/>
                <a:cs typeface="Calibri"/>
              </a:rPr>
              <a:t>:</a:t>
            </a:r>
            <a:r>
              <a:rPr sz="1150" spc="-6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80" dirty="0">
                <a:solidFill>
                  <a:srgbClr val="464646"/>
                </a:solidFill>
                <a:latin typeface="Calibri"/>
                <a:cs typeface="Calibri"/>
              </a:rPr>
              <a:t>Continuous</a:t>
            </a:r>
            <a:r>
              <a:rPr sz="1150" i="1" spc="1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35" dirty="0">
                <a:solidFill>
                  <a:srgbClr val="464646"/>
                </a:solidFill>
                <a:latin typeface="Calibri"/>
                <a:cs typeface="Calibri"/>
              </a:rPr>
              <a:t>Delivery:</a:t>
            </a:r>
            <a:endParaRPr sz="1150">
              <a:latin typeface="Calibri"/>
              <a:cs typeface="Calibri"/>
            </a:endParaRPr>
          </a:p>
          <a:p>
            <a:pPr marL="82550" marR="79375" algn="ctr">
              <a:lnSpc>
                <a:spcPts val="1430"/>
              </a:lnSpc>
              <a:spcBef>
                <a:spcPts val="40"/>
              </a:spcBef>
            </a:pPr>
            <a:r>
              <a:rPr sz="1150" i="1" spc="55" dirty="0">
                <a:solidFill>
                  <a:srgbClr val="464646"/>
                </a:solidFill>
                <a:latin typeface="Calibri"/>
                <a:cs typeface="Calibri"/>
              </a:rPr>
              <a:t>Reliable</a:t>
            </a:r>
            <a:r>
              <a:rPr sz="1150" i="1" spc="10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75" dirty="0">
                <a:solidFill>
                  <a:srgbClr val="464646"/>
                </a:solidFill>
                <a:latin typeface="Calibri"/>
                <a:cs typeface="Calibri"/>
              </a:rPr>
              <a:t>Software</a:t>
            </a:r>
            <a:r>
              <a:rPr sz="1150" i="1" spc="12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70" dirty="0">
                <a:solidFill>
                  <a:srgbClr val="464646"/>
                </a:solidFill>
                <a:latin typeface="Calibri"/>
                <a:cs typeface="Calibri"/>
              </a:rPr>
              <a:t>Releases </a:t>
            </a:r>
            <a:r>
              <a:rPr sz="1150" i="1" spc="60" dirty="0">
                <a:solidFill>
                  <a:srgbClr val="464646"/>
                </a:solidFill>
                <a:latin typeface="Calibri"/>
                <a:cs typeface="Calibri"/>
              </a:rPr>
              <a:t>through</a:t>
            </a:r>
            <a:r>
              <a:rPr sz="1150" i="1" spc="22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464646"/>
                </a:solidFill>
                <a:latin typeface="Calibri"/>
                <a:cs typeface="Calibri"/>
              </a:rPr>
              <a:t>Build,</a:t>
            </a:r>
            <a:r>
              <a:rPr sz="1150" i="1" spc="24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464646"/>
                </a:solidFill>
                <a:latin typeface="Calibri"/>
                <a:cs typeface="Calibri"/>
              </a:rPr>
              <a:t>Test,</a:t>
            </a:r>
            <a:r>
              <a:rPr sz="1150" i="1" spc="28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30" dirty="0">
                <a:solidFill>
                  <a:srgbClr val="464646"/>
                </a:solidFill>
                <a:latin typeface="Calibri"/>
                <a:cs typeface="Calibri"/>
              </a:rPr>
              <a:t>and</a:t>
            </a:r>
            <a:endParaRPr sz="1150">
              <a:latin typeface="Calibri"/>
              <a:cs typeface="Calibri"/>
            </a:endParaRPr>
          </a:p>
          <a:p>
            <a:pPr algn="ctr">
              <a:lnSpc>
                <a:spcPts val="1360"/>
              </a:lnSpc>
            </a:pPr>
            <a:r>
              <a:rPr sz="1150" i="1" spc="80" dirty="0">
                <a:solidFill>
                  <a:srgbClr val="464646"/>
                </a:solidFill>
                <a:latin typeface="Calibri"/>
                <a:cs typeface="Calibri"/>
              </a:rPr>
              <a:t>Deployment</a:t>
            </a:r>
            <a:r>
              <a:rPr sz="1150" i="1" spc="10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45" dirty="0">
                <a:solidFill>
                  <a:srgbClr val="464646"/>
                </a:solidFill>
                <a:latin typeface="Calibri"/>
                <a:cs typeface="Calibri"/>
              </a:rPr>
              <a:t>Automation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86" name="object 86"/>
          <p:cNvSpPr txBox="1"/>
          <p:nvPr/>
        </p:nvSpPr>
        <p:spPr>
          <a:xfrm>
            <a:off x="7998586" y="1692287"/>
            <a:ext cx="2572385" cy="4848225"/>
          </a:xfrm>
          <a:prstGeom prst="rect">
            <a:avLst/>
          </a:prstGeom>
          <a:solidFill>
            <a:srgbClr val="D7D7D7"/>
          </a:solidFill>
        </p:spPr>
        <p:txBody>
          <a:bodyPr vert="horz" wrap="square" lIns="0" tIns="30480" rIns="0" bIns="0" rtlCol="0">
            <a:spAutoFit/>
          </a:bodyPr>
          <a:lstStyle/>
          <a:p>
            <a:pPr marL="130810" marR="115570" algn="ctr">
              <a:lnSpc>
                <a:spcPct val="98500"/>
              </a:lnSpc>
              <a:spcBef>
                <a:spcPts val="240"/>
              </a:spcBef>
            </a:pP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Le</a:t>
            </a:r>
            <a:r>
              <a:rPr sz="2200" spc="-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pipeline</a:t>
            </a:r>
            <a:r>
              <a:rPr sz="2200" spc="-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de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déploiement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est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un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processus automatisé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permettant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200" spc="-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gérer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tous</a:t>
            </a:r>
            <a:r>
              <a:rPr sz="2200" spc="-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les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changements,</a:t>
            </a:r>
            <a:r>
              <a:rPr sz="2200" spc="-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du </a:t>
            </a:r>
            <a:r>
              <a:rPr sz="2200" spc="-40" dirty="0">
                <a:solidFill>
                  <a:srgbClr val="3D3D3D"/>
                </a:solidFill>
                <a:latin typeface="Calibri"/>
                <a:cs typeface="Calibri"/>
              </a:rPr>
              <a:t>check-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in</a:t>
            </a:r>
            <a:r>
              <a:rPr sz="2200" spc="-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à</a:t>
            </a:r>
            <a:r>
              <a:rPr sz="2200" spc="-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la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mise</a:t>
            </a:r>
            <a:r>
              <a:rPr sz="2200" spc="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en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production.</a:t>
            </a:r>
            <a:r>
              <a:rPr sz="2200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Les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toolchains</a:t>
            </a:r>
            <a:r>
              <a:rPr sz="2200" spc="-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couvrent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des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silos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et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automatisent</a:t>
            </a:r>
            <a:r>
              <a:rPr sz="2200" spc="-11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le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pipeline</a:t>
            </a:r>
            <a:r>
              <a:rPr sz="2200" spc="-8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de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déploiement.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43127" y="1309827"/>
            <a:ext cx="29019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0" dirty="0">
                <a:solidFill>
                  <a:srgbClr val="127079"/>
                </a:solidFill>
                <a:latin typeface="Calibri"/>
                <a:cs typeface="Calibri"/>
              </a:rPr>
              <a:t>Le</a:t>
            </a:r>
            <a:r>
              <a:rPr sz="2000" spc="204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pipeline</a:t>
            </a:r>
            <a:r>
              <a:rPr sz="2000" spc="12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de</a:t>
            </a:r>
            <a:r>
              <a:rPr sz="2000" spc="15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déploiement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9" name="object 89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853680" cy="1017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50" spc="95" dirty="0"/>
              <a:t>Mise</a:t>
            </a:r>
            <a:r>
              <a:rPr sz="3250" spc="280" dirty="0"/>
              <a:t> </a:t>
            </a:r>
            <a:r>
              <a:rPr sz="3250" spc="60" dirty="0"/>
              <a:t>en</a:t>
            </a:r>
            <a:r>
              <a:rPr sz="3250" spc="300" dirty="0"/>
              <a:t> </a:t>
            </a:r>
            <a:r>
              <a:rPr sz="3250" spc="95" dirty="0"/>
              <a:t>œuvre</a:t>
            </a:r>
            <a:r>
              <a:rPr sz="3250" spc="315" dirty="0"/>
              <a:t> </a:t>
            </a:r>
            <a:r>
              <a:rPr sz="3250" spc="95" dirty="0"/>
              <a:t>d’une</a:t>
            </a:r>
            <a:r>
              <a:rPr sz="3250" spc="315" dirty="0"/>
              <a:t> </a:t>
            </a:r>
            <a:r>
              <a:rPr sz="3250" spc="95" dirty="0"/>
              <a:t>usine</a:t>
            </a:r>
            <a:r>
              <a:rPr sz="3250" spc="325" dirty="0"/>
              <a:t> </a:t>
            </a:r>
            <a:r>
              <a:rPr sz="3250" spc="114" dirty="0"/>
              <a:t>logicielle</a:t>
            </a:r>
            <a:r>
              <a:rPr sz="3250" spc="305" dirty="0"/>
              <a:t> </a:t>
            </a:r>
            <a:r>
              <a:rPr sz="3250" spc="70" dirty="0"/>
              <a:t>et</a:t>
            </a:r>
            <a:r>
              <a:rPr sz="3250" spc="280" dirty="0"/>
              <a:t> </a:t>
            </a:r>
            <a:r>
              <a:rPr sz="3250" spc="30" dirty="0"/>
              <a:t>de </a:t>
            </a:r>
            <a:r>
              <a:rPr sz="3250" spc="120" dirty="0"/>
              <a:t>l’intégration</a:t>
            </a:r>
            <a:r>
              <a:rPr sz="3250" spc="300" dirty="0"/>
              <a:t> </a:t>
            </a:r>
            <a:r>
              <a:rPr sz="3250" spc="100" dirty="0"/>
              <a:t>continue</a:t>
            </a:r>
            <a:endParaRPr sz="325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9586" y="70815"/>
            <a:ext cx="7952740" cy="1410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760" marR="5080">
              <a:lnSpc>
                <a:spcPct val="100000"/>
              </a:lnSpc>
              <a:spcBef>
                <a:spcPts val="105"/>
              </a:spcBef>
            </a:pPr>
            <a:r>
              <a:rPr sz="3250" spc="95" dirty="0"/>
              <a:t>Mise</a:t>
            </a:r>
            <a:r>
              <a:rPr sz="3250" spc="280" dirty="0"/>
              <a:t> </a:t>
            </a:r>
            <a:r>
              <a:rPr sz="3250" spc="60" dirty="0"/>
              <a:t>en</a:t>
            </a:r>
            <a:r>
              <a:rPr sz="3250" spc="300" dirty="0"/>
              <a:t> </a:t>
            </a:r>
            <a:r>
              <a:rPr sz="3250" spc="95" dirty="0"/>
              <a:t>œuvre</a:t>
            </a:r>
            <a:r>
              <a:rPr sz="3250" spc="315" dirty="0"/>
              <a:t> </a:t>
            </a:r>
            <a:r>
              <a:rPr sz="3250" spc="95" dirty="0"/>
              <a:t>d’une</a:t>
            </a:r>
            <a:r>
              <a:rPr sz="3250" spc="315" dirty="0"/>
              <a:t> </a:t>
            </a:r>
            <a:r>
              <a:rPr sz="3250" spc="95" dirty="0"/>
              <a:t>usine</a:t>
            </a:r>
            <a:r>
              <a:rPr sz="3250" spc="325" dirty="0"/>
              <a:t> </a:t>
            </a:r>
            <a:r>
              <a:rPr sz="3250" spc="114" dirty="0"/>
              <a:t>logicielle</a:t>
            </a:r>
            <a:r>
              <a:rPr sz="3250" spc="305" dirty="0"/>
              <a:t> </a:t>
            </a:r>
            <a:r>
              <a:rPr sz="3250" spc="70" dirty="0"/>
              <a:t>et</a:t>
            </a:r>
            <a:r>
              <a:rPr sz="3250" spc="280" dirty="0"/>
              <a:t> </a:t>
            </a:r>
            <a:r>
              <a:rPr sz="3250" spc="30" dirty="0"/>
              <a:t>de </a:t>
            </a:r>
            <a:r>
              <a:rPr sz="3250" spc="120" dirty="0"/>
              <a:t>l’intégration</a:t>
            </a:r>
            <a:r>
              <a:rPr sz="3250" spc="300" dirty="0"/>
              <a:t> </a:t>
            </a:r>
            <a:r>
              <a:rPr sz="3250" spc="100" dirty="0"/>
              <a:t>continue</a:t>
            </a:r>
            <a:endParaRPr sz="3250"/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000" spc="-10" dirty="0">
                <a:solidFill>
                  <a:srgbClr val="127079"/>
                </a:solidFill>
              </a:rPr>
              <a:t>Toolchains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609549" y="1720799"/>
            <a:ext cx="9622155" cy="109664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37465" rIns="0" bIns="0" rtlCol="0">
            <a:spAutoFit/>
          </a:bodyPr>
          <a:lstStyle/>
          <a:p>
            <a:pPr marL="247650" marR="232410" algn="ctr">
              <a:lnSpc>
                <a:spcPct val="98400"/>
              </a:lnSpc>
              <a:spcBef>
                <a:spcPts val="295"/>
              </a:spcBef>
            </a:pPr>
            <a:r>
              <a:rPr sz="2200" dirty="0">
                <a:latin typeface="Calibri"/>
                <a:cs typeface="Calibri"/>
              </a:rPr>
              <a:t>La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DevOps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toolchain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composée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outils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nécessaires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pour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prendre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charge </a:t>
            </a:r>
            <a:r>
              <a:rPr sz="2200" spc="-20" dirty="0">
                <a:latin typeface="Calibri"/>
                <a:cs typeface="Calibri"/>
              </a:rPr>
              <a:t>l’intégration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continue,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livraison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continue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ainsi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production </a:t>
            </a:r>
            <a:r>
              <a:rPr sz="2200" dirty="0">
                <a:latin typeface="Calibri"/>
                <a:cs typeface="Calibri"/>
              </a:rPr>
              <a:t>continue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opérations.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(Gartner)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46" y="2875280"/>
            <a:ext cx="8822055" cy="2625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1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30" dirty="0">
                <a:latin typeface="Calibri"/>
                <a:cs typeface="Calibri"/>
              </a:rPr>
              <a:t>Les</a:t>
            </a:r>
            <a:r>
              <a:rPr sz="2300" spc="420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toolchains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automatisent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spc="85" dirty="0">
                <a:latin typeface="Calibri"/>
                <a:cs typeface="Calibri"/>
              </a:rPr>
              <a:t>tâches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dans</a:t>
            </a:r>
            <a:r>
              <a:rPr sz="2300" spc="3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</a:t>
            </a:r>
            <a:r>
              <a:rPr sz="2300" spc="2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pipeline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de</a:t>
            </a:r>
            <a:endParaRPr sz="2300">
              <a:latin typeface="Calibri"/>
              <a:cs typeface="Calibri"/>
            </a:endParaRPr>
          </a:p>
          <a:p>
            <a:pPr marL="387350">
              <a:lnSpc>
                <a:spcPct val="100000"/>
              </a:lnSpc>
            </a:pPr>
            <a:r>
              <a:rPr sz="2300" spc="-10" dirty="0">
                <a:latin typeface="Calibri"/>
                <a:cs typeface="Calibri"/>
              </a:rPr>
              <a:t>déploiement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29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05" dirty="0">
                <a:latin typeface="Calibri"/>
                <a:cs typeface="Calibri"/>
              </a:rPr>
              <a:t>Chaque</a:t>
            </a:r>
            <a:r>
              <a:rPr sz="2300" spc="4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élément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40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toolchain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sert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objectif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spécifique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29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30" dirty="0">
                <a:latin typeface="Calibri"/>
                <a:cs typeface="Calibri"/>
              </a:rPr>
              <a:t>Les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spc="75" dirty="0">
                <a:latin typeface="Calibri"/>
                <a:cs typeface="Calibri"/>
              </a:rPr>
              <a:t>applications</a:t>
            </a:r>
            <a:r>
              <a:rPr sz="2300" spc="220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dans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254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toolchains</a:t>
            </a:r>
            <a:r>
              <a:rPr sz="2300" spc="204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sont</a:t>
            </a:r>
            <a:r>
              <a:rPr sz="2300" spc="240" dirty="0">
                <a:latin typeface="Calibri"/>
                <a:cs typeface="Calibri"/>
              </a:rPr>
              <a:t> </a:t>
            </a:r>
            <a:r>
              <a:rPr sz="2300" spc="85" dirty="0">
                <a:latin typeface="Calibri"/>
                <a:cs typeface="Calibri"/>
              </a:rPr>
              <a:t>connectées</a:t>
            </a:r>
            <a:r>
              <a:rPr sz="2300" spc="3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via</a:t>
            </a:r>
            <a:r>
              <a:rPr sz="2300" spc="215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des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API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31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80" dirty="0">
                <a:latin typeface="Calibri"/>
                <a:cs typeface="Calibri"/>
              </a:rPr>
              <a:t>Elles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doivent</a:t>
            </a:r>
            <a:r>
              <a:rPr sz="2300" spc="220" dirty="0">
                <a:latin typeface="Calibri"/>
                <a:cs typeface="Calibri"/>
              </a:rPr>
              <a:t> </a:t>
            </a:r>
            <a:r>
              <a:rPr sz="2300" spc="105" dirty="0">
                <a:latin typeface="Calibri"/>
                <a:cs typeface="Calibri"/>
              </a:rPr>
              <a:t>pas</a:t>
            </a:r>
            <a:r>
              <a:rPr sz="2300" spc="375" dirty="0">
                <a:latin typeface="Calibri"/>
                <a:cs typeface="Calibri"/>
              </a:rPr>
              <a:t> </a:t>
            </a:r>
            <a:r>
              <a:rPr sz="2300" spc="75" dirty="0">
                <a:latin typeface="Calibri"/>
                <a:cs typeface="Calibri"/>
              </a:rPr>
              <a:t>nécessairement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être</a:t>
            </a:r>
            <a:r>
              <a:rPr sz="2300" spc="185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homogènes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</a:t>
            </a:r>
            <a:r>
              <a:rPr sz="2300" spc="2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provenir</a:t>
            </a:r>
            <a:endParaRPr sz="2300">
              <a:latin typeface="Calibri"/>
              <a:cs typeface="Calibri"/>
            </a:endParaRPr>
          </a:p>
          <a:p>
            <a:pPr marL="387350">
              <a:lnSpc>
                <a:spcPct val="100000"/>
              </a:lnSpc>
            </a:pPr>
            <a:r>
              <a:rPr sz="2300" dirty="0">
                <a:latin typeface="Calibri"/>
                <a:cs typeface="Calibri"/>
              </a:rPr>
              <a:t>d'un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seul</a:t>
            </a:r>
            <a:r>
              <a:rPr sz="2300" spc="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fournisseur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4332" y="6179007"/>
            <a:ext cx="72485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80" dirty="0">
                <a:solidFill>
                  <a:srgbClr val="464646"/>
                </a:solidFill>
                <a:latin typeface="Calibri"/>
                <a:cs typeface="Calibri"/>
              </a:rPr>
              <a:t>Source</a:t>
            </a:r>
            <a:r>
              <a:rPr sz="1150" spc="15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4646"/>
                </a:solidFill>
                <a:latin typeface="Calibri"/>
                <a:cs typeface="Calibri"/>
              </a:rPr>
              <a:t>:</a:t>
            </a:r>
            <a:r>
              <a:rPr sz="1150" spc="-2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80" dirty="0">
                <a:solidFill>
                  <a:srgbClr val="464646"/>
                </a:solidFill>
                <a:latin typeface="Calibri"/>
                <a:cs typeface="Calibri"/>
              </a:rPr>
              <a:t>Continuous</a:t>
            </a:r>
            <a:r>
              <a:rPr sz="1150" i="1" spc="14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45" dirty="0">
                <a:solidFill>
                  <a:srgbClr val="464646"/>
                </a:solidFill>
                <a:latin typeface="Calibri"/>
                <a:cs typeface="Calibri"/>
              </a:rPr>
              <a:t>Delivery:</a:t>
            </a:r>
            <a:r>
              <a:rPr sz="1150" i="1" spc="19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55" dirty="0">
                <a:solidFill>
                  <a:srgbClr val="464646"/>
                </a:solidFill>
                <a:latin typeface="Calibri"/>
                <a:cs typeface="Calibri"/>
              </a:rPr>
              <a:t>Reliable</a:t>
            </a:r>
            <a:r>
              <a:rPr sz="1150" i="1" spc="16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75" dirty="0">
                <a:solidFill>
                  <a:srgbClr val="464646"/>
                </a:solidFill>
                <a:latin typeface="Calibri"/>
                <a:cs typeface="Calibri"/>
              </a:rPr>
              <a:t>Software</a:t>
            </a:r>
            <a:r>
              <a:rPr sz="1150" i="1" spc="1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85" dirty="0">
                <a:solidFill>
                  <a:srgbClr val="464646"/>
                </a:solidFill>
                <a:latin typeface="Calibri"/>
                <a:cs typeface="Calibri"/>
              </a:rPr>
              <a:t>Releases</a:t>
            </a:r>
            <a:r>
              <a:rPr sz="1150" i="1" spc="204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60" dirty="0">
                <a:solidFill>
                  <a:srgbClr val="464646"/>
                </a:solidFill>
                <a:latin typeface="Calibri"/>
                <a:cs typeface="Calibri"/>
              </a:rPr>
              <a:t>through</a:t>
            </a:r>
            <a:r>
              <a:rPr sz="1150" i="1" spc="13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464646"/>
                </a:solidFill>
                <a:latin typeface="Calibri"/>
                <a:cs typeface="Calibri"/>
              </a:rPr>
              <a:t>Build,</a:t>
            </a:r>
            <a:r>
              <a:rPr sz="1150" i="1" spc="12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464646"/>
                </a:solidFill>
                <a:latin typeface="Calibri"/>
                <a:cs typeface="Calibri"/>
              </a:rPr>
              <a:t>Test,</a:t>
            </a:r>
            <a:r>
              <a:rPr sz="1150" i="1" spc="16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50" dirty="0">
                <a:solidFill>
                  <a:srgbClr val="464646"/>
                </a:solidFill>
                <a:latin typeface="Calibri"/>
                <a:cs typeface="Calibri"/>
              </a:rPr>
              <a:t>and</a:t>
            </a:r>
            <a:r>
              <a:rPr sz="1150" i="1" spc="12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80" dirty="0">
                <a:solidFill>
                  <a:srgbClr val="464646"/>
                </a:solidFill>
                <a:latin typeface="Calibri"/>
                <a:cs typeface="Calibri"/>
              </a:rPr>
              <a:t>Deployment</a:t>
            </a:r>
            <a:r>
              <a:rPr sz="1150" i="1" spc="15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45" dirty="0">
                <a:solidFill>
                  <a:srgbClr val="464646"/>
                </a:solidFill>
                <a:latin typeface="Calibri"/>
                <a:cs typeface="Calibri"/>
              </a:rPr>
              <a:t>Automation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311" y="1572514"/>
            <a:ext cx="6238240" cy="1595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1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30" dirty="0">
                <a:latin typeface="Calibri"/>
                <a:cs typeface="Calibri"/>
              </a:rPr>
              <a:t>Les</a:t>
            </a:r>
            <a:r>
              <a:rPr sz="2300" spc="475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toolchains</a:t>
            </a:r>
            <a:r>
              <a:rPr sz="2300" spc="330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sont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généralement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construites</a:t>
            </a:r>
            <a:endParaRPr sz="2300">
              <a:latin typeface="Calibri"/>
              <a:cs typeface="Calibri"/>
            </a:endParaRPr>
          </a:p>
          <a:p>
            <a:pPr marL="387350">
              <a:lnSpc>
                <a:spcPct val="100000"/>
              </a:lnSpc>
            </a:pPr>
            <a:r>
              <a:rPr sz="2300" dirty="0">
                <a:latin typeface="Calibri"/>
                <a:cs typeface="Calibri"/>
              </a:rPr>
              <a:t>autour</a:t>
            </a:r>
            <a:r>
              <a:rPr sz="2300" spc="210" dirty="0">
                <a:latin typeface="Calibri"/>
                <a:cs typeface="Calibri"/>
              </a:rPr>
              <a:t> </a:t>
            </a:r>
            <a:r>
              <a:rPr sz="2300" spc="100" dirty="0">
                <a:latin typeface="Calibri"/>
                <a:cs typeface="Calibri"/>
              </a:rPr>
              <a:t>d'écosystèmes</a:t>
            </a:r>
            <a:r>
              <a:rPr sz="2300" spc="415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sources</a:t>
            </a:r>
            <a:r>
              <a:rPr sz="2300" spc="3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ouverts</a:t>
            </a:r>
            <a:endParaRPr sz="2300">
              <a:latin typeface="Calibri"/>
              <a:cs typeface="Calibri"/>
            </a:endParaRPr>
          </a:p>
          <a:p>
            <a:pPr marL="387350" marR="450850" indent="-375285">
              <a:lnSpc>
                <a:spcPct val="100000"/>
              </a:lnSpc>
              <a:spcBef>
                <a:spcPts val="131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90" dirty="0">
                <a:latin typeface="Calibri"/>
                <a:cs typeface="Calibri"/>
              </a:rPr>
              <a:t>Exiger</a:t>
            </a:r>
            <a:r>
              <a:rPr sz="2300" spc="4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une</a:t>
            </a:r>
            <a:r>
              <a:rPr sz="2300" spc="36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conception</a:t>
            </a:r>
            <a:r>
              <a:rPr sz="2300" spc="43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architecturale</a:t>
            </a:r>
            <a:r>
              <a:rPr sz="2300" spc="3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pour </a:t>
            </a:r>
            <a:r>
              <a:rPr sz="2300" spc="70" dirty="0">
                <a:latin typeface="Calibri"/>
                <a:cs typeface="Calibri"/>
              </a:rPr>
              <a:t>assurer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l'interopérabilité</a:t>
            </a:r>
            <a:r>
              <a:rPr sz="2300" spc="2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et</a:t>
            </a:r>
            <a:r>
              <a:rPr sz="2300" spc="2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</a:t>
            </a:r>
            <a:r>
              <a:rPr sz="2300" spc="300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cohérence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3587" y="3429127"/>
            <a:ext cx="489458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50" spc="80" dirty="0">
                <a:solidFill>
                  <a:srgbClr val="464646"/>
                </a:solidFill>
                <a:latin typeface="Calibri"/>
                <a:cs typeface="Calibri"/>
              </a:rPr>
              <a:t>Source</a:t>
            </a:r>
            <a:r>
              <a:rPr sz="1150" spc="114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64646"/>
                </a:solidFill>
                <a:latin typeface="Calibri"/>
                <a:cs typeface="Calibri"/>
              </a:rPr>
              <a:t>:</a:t>
            </a:r>
            <a:r>
              <a:rPr sz="1150" spc="-4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80" dirty="0">
                <a:solidFill>
                  <a:srgbClr val="464646"/>
                </a:solidFill>
                <a:latin typeface="Calibri"/>
                <a:cs typeface="Calibri"/>
              </a:rPr>
              <a:t>Continuous</a:t>
            </a:r>
            <a:r>
              <a:rPr sz="1150" i="1" spc="1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45" dirty="0">
                <a:solidFill>
                  <a:srgbClr val="464646"/>
                </a:solidFill>
                <a:latin typeface="Calibri"/>
                <a:cs typeface="Calibri"/>
              </a:rPr>
              <a:t>Delivery:</a:t>
            </a:r>
            <a:r>
              <a:rPr sz="1150" i="1" spc="14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55" dirty="0">
                <a:solidFill>
                  <a:srgbClr val="464646"/>
                </a:solidFill>
                <a:latin typeface="Calibri"/>
                <a:cs typeface="Calibri"/>
              </a:rPr>
              <a:t>Reliable</a:t>
            </a:r>
            <a:r>
              <a:rPr sz="1150" i="1" spc="1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75" dirty="0">
                <a:solidFill>
                  <a:srgbClr val="464646"/>
                </a:solidFill>
                <a:latin typeface="Calibri"/>
                <a:cs typeface="Calibri"/>
              </a:rPr>
              <a:t>Software</a:t>
            </a:r>
            <a:r>
              <a:rPr sz="1150" i="1" spc="10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85" dirty="0">
                <a:solidFill>
                  <a:srgbClr val="464646"/>
                </a:solidFill>
                <a:latin typeface="Calibri"/>
                <a:cs typeface="Calibri"/>
              </a:rPr>
              <a:t>Releases</a:t>
            </a:r>
            <a:r>
              <a:rPr sz="1150" i="1" spc="16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60" dirty="0">
                <a:solidFill>
                  <a:srgbClr val="464646"/>
                </a:solidFill>
                <a:latin typeface="Calibri"/>
                <a:cs typeface="Calibri"/>
              </a:rPr>
              <a:t>through</a:t>
            </a:r>
            <a:r>
              <a:rPr sz="1150" i="1" spc="10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-10" dirty="0">
                <a:solidFill>
                  <a:srgbClr val="464646"/>
                </a:solidFill>
                <a:latin typeface="Calibri"/>
                <a:cs typeface="Calibri"/>
              </a:rPr>
              <a:t>Build,</a:t>
            </a:r>
            <a:endParaRPr sz="1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50" i="1" dirty="0">
                <a:solidFill>
                  <a:srgbClr val="464646"/>
                </a:solidFill>
                <a:latin typeface="Calibri"/>
                <a:cs typeface="Calibri"/>
              </a:rPr>
              <a:t>Test,</a:t>
            </a:r>
            <a:r>
              <a:rPr sz="1150" i="1" spc="16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55" dirty="0">
                <a:solidFill>
                  <a:srgbClr val="464646"/>
                </a:solidFill>
                <a:latin typeface="Calibri"/>
                <a:cs typeface="Calibri"/>
              </a:rPr>
              <a:t>and</a:t>
            </a:r>
            <a:r>
              <a:rPr sz="1150" i="1" spc="15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80" dirty="0">
                <a:solidFill>
                  <a:srgbClr val="464646"/>
                </a:solidFill>
                <a:latin typeface="Calibri"/>
                <a:cs typeface="Calibri"/>
              </a:rPr>
              <a:t>Deployment</a:t>
            </a:r>
            <a:r>
              <a:rPr sz="1150" i="1" spc="15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50" i="1" spc="50" dirty="0">
                <a:solidFill>
                  <a:srgbClr val="464646"/>
                </a:solidFill>
                <a:latin typeface="Calibri"/>
                <a:cs typeface="Calibri"/>
              </a:rPr>
              <a:t>Automation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6233" y="1145540"/>
            <a:ext cx="11176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Toolchains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7582" y="4391304"/>
            <a:ext cx="6205855" cy="1123950"/>
          </a:xfrm>
          <a:prstGeom prst="rect">
            <a:avLst/>
          </a:prstGeom>
          <a:solidFill>
            <a:srgbClr val="92CCDC"/>
          </a:solidFill>
        </p:spPr>
        <p:txBody>
          <a:bodyPr vert="horz" wrap="square" lIns="0" tIns="30480" rIns="0" bIns="0" rtlCol="0">
            <a:spAutoFit/>
          </a:bodyPr>
          <a:lstStyle/>
          <a:p>
            <a:pPr marL="338455" marR="325755" indent="1905" algn="ctr">
              <a:lnSpc>
                <a:spcPct val="98700"/>
              </a:lnSpc>
              <a:spcBef>
                <a:spcPts val="240"/>
              </a:spcBef>
            </a:pP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Comment</a:t>
            </a:r>
            <a:r>
              <a:rPr sz="2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2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DevOps</a:t>
            </a:r>
            <a:r>
              <a:rPr sz="22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toolchains</a:t>
            </a:r>
            <a:r>
              <a:rPr sz="2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doivent-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elles 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s'interfacer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avec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outils</a:t>
            </a:r>
            <a:r>
              <a:rPr sz="2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opérationnels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tels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r>
              <a:rPr sz="2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surveillance</a:t>
            </a:r>
            <a:r>
              <a:rPr sz="22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2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08342" y="1398397"/>
            <a:ext cx="2980055" cy="4650105"/>
          </a:xfrm>
          <a:custGeom>
            <a:avLst/>
            <a:gdLst/>
            <a:ahLst/>
            <a:cxnLst/>
            <a:rect l="l" t="t" r="r" b="b"/>
            <a:pathLst>
              <a:path w="2980054" h="4650105">
                <a:moveTo>
                  <a:pt x="2483357" y="0"/>
                </a:moveTo>
                <a:lnTo>
                  <a:pt x="496569" y="0"/>
                </a:lnTo>
                <a:lnTo>
                  <a:pt x="448817" y="2286"/>
                </a:lnTo>
                <a:lnTo>
                  <a:pt x="402208" y="8890"/>
                </a:lnTo>
                <a:lnTo>
                  <a:pt x="357250" y="19812"/>
                </a:lnTo>
                <a:lnTo>
                  <a:pt x="313816" y="34671"/>
                </a:lnTo>
                <a:lnTo>
                  <a:pt x="272414" y="53340"/>
                </a:lnTo>
                <a:lnTo>
                  <a:pt x="233044" y="75565"/>
                </a:lnTo>
                <a:lnTo>
                  <a:pt x="196087" y="101219"/>
                </a:lnTo>
                <a:lnTo>
                  <a:pt x="161671" y="129921"/>
                </a:lnTo>
                <a:lnTo>
                  <a:pt x="129921" y="161671"/>
                </a:lnTo>
                <a:lnTo>
                  <a:pt x="101218" y="196087"/>
                </a:lnTo>
                <a:lnTo>
                  <a:pt x="75564" y="233045"/>
                </a:lnTo>
                <a:lnTo>
                  <a:pt x="53339" y="272415"/>
                </a:lnTo>
                <a:lnTo>
                  <a:pt x="34671" y="313817"/>
                </a:lnTo>
                <a:lnTo>
                  <a:pt x="19811" y="357250"/>
                </a:lnTo>
                <a:lnTo>
                  <a:pt x="8889" y="402209"/>
                </a:lnTo>
                <a:lnTo>
                  <a:pt x="2158" y="448818"/>
                </a:lnTo>
                <a:lnTo>
                  <a:pt x="0" y="496697"/>
                </a:lnTo>
                <a:lnTo>
                  <a:pt x="0" y="4152900"/>
                </a:lnTo>
                <a:lnTo>
                  <a:pt x="2158" y="4200779"/>
                </a:lnTo>
                <a:lnTo>
                  <a:pt x="8889" y="4247261"/>
                </a:lnTo>
                <a:lnTo>
                  <a:pt x="19811" y="4292346"/>
                </a:lnTo>
                <a:lnTo>
                  <a:pt x="34671" y="4335780"/>
                </a:lnTo>
                <a:lnTo>
                  <a:pt x="53339" y="4377182"/>
                </a:lnTo>
                <a:lnTo>
                  <a:pt x="75564" y="4416425"/>
                </a:lnTo>
                <a:lnTo>
                  <a:pt x="101218" y="4453509"/>
                </a:lnTo>
                <a:lnTo>
                  <a:pt x="129921" y="4487926"/>
                </a:lnTo>
                <a:lnTo>
                  <a:pt x="161671" y="4519676"/>
                </a:lnTo>
                <a:lnTo>
                  <a:pt x="196087" y="4548378"/>
                </a:lnTo>
                <a:lnTo>
                  <a:pt x="233044" y="4574032"/>
                </a:lnTo>
                <a:lnTo>
                  <a:pt x="272414" y="4596257"/>
                </a:lnTo>
                <a:lnTo>
                  <a:pt x="313816" y="4614926"/>
                </a:lnTo>
                <a:lnTo>
                  <a:pt x="357250" y="4629785"/>
                </a:lnTo>
                <a:lnTo>
                  <a:pt x="402208" y="4640707"/>
                </a:lnTo>
                <a:lnTo>
                  <a:pt x="448817" y="4647311"/>
                </a:lnTo>
                <a:lnTo>
                  <a:pt x="496569" y="4649597"/>
                </a:lnTo>
                <a:lnTo>
                  <a:pt x="2483357" y="4649597"/>
                </a:lnTo>
                <a:lnTo>
                  <a:pt x="2531109" y="4647311"/>
                </a:lnTo>
                <a:lnTo>
                  <a:pt x="2577718" y="4640707"/>
                </a:lnTo>
                <a:lnTo>
                  <a:pt x="2622677" y="4629785"/>
                </a:lnTo>
                <a:lnTo>
                  <a:pt x="2666110" y="4614926"/>
                </a:lnTo>
                <a:lnTo>
                  <a:pt x="2707512" y="4596257"/>
                </a:lnTo>
                <a:lnTo>
                  <a:pt x="2746882" y="4574032"/>
                </a:lnTo>
                <a:lnTo>
                  <a:pt x="2783839" y="4548378"/>
                </a:lnTo>
                <a:lnTo>
                  <a:pt x="2818256" y="4519676"/>
                </a:lnTo>
                <a:lnTo>
                  <a:pt x="2850006" y="4487926"/>
                </a:lnTo>
                <a:lnTo>
                  <a:pt x="2878835" y="4453509"/>
                </a:lnTo>
                <a:lnTo>
                  <a:pt x="2904362" y="4416425"/>
                </a:lnTo>
                <a:lnTo>
                  <a:pt x="2926587" y="4377182"/>
                </a:lnTo>
                <a:lnTo>
                  <a:pt x="2945256" y="4335780"/>
                </a:lnTo>
                <a:lnTo>
                  <a:pt x="2960115" y="4292346"/>
                </a:lnTo>
                <a:lnTo>
                  <a:pt x="2971037" y="4247261"/>
                </a:lnTo>
                <a:lnTo>
                  <a:pt x="2977768" y="4200779"/>
                </a:lnTo>
                <a:lnTo>
                  <a:pt x="2979928" y="4152900"/>
                </a:lnTo>
                <a:lnTo>
                  <a:pt x="2979928" y="496697"/>
                </a:lnTo>
                <a:lnTo>
                  <a:pt x="2977514" y="447548"/>
                </a:lnTo>
                <a:lnTo>
                  <a:pt x="2970403" y="399288"/>
                </a:lnTo>
                <a:lnTo>
                  <a:pt x="2958464" y="352171"/>
                </a:lnTo>
                <a:lnTo>
                  <a:pt x="2942208" y="306578"/>
                </a:lnTo>
                <a:lnTo>
                  <a:pt x="2921507" y="262763"/>
                </a:lnTo>
                <a:lnTo>
                  <a:pt x="2896488" y="221107"/>
                </a:lnTo>
                <a:lnTo>
                  <a:pt x="2867532" y="181864"/>
                </a:lnTo>
                <a:lnTo>
                  <a:pt x="2834512" y="145415"/>
                </a:lnTo>
                <a:lnTo>
                  <a:pt x="2798063" y="112395"/>
                </a:lnTo>
                <a:lnTo>
                  <a:pt x="2758821" y="83439"/>
                </a:lnTo>
                <a:lnTo>
                  <a:pt x="2717164" y="58420"/>
                </a:lnTo>
                <a:lnTo>
                  <a:pt x="2673350" y="37719"/>
                </a:lnTo>
                <a:lnTo>
                  <a:pt x="2627756" y="21462"/>
                </a:lnTo>
                <a:lnTo>
                  <a:pt x="2580639" y="9652"/>
                </a:lnTo>
                <a:lnTo>
                  <a:pt x="2532379" y="2412"/>
                </a:lnTo>
                <a:lnTo>
                  <a:pt x="2483357" y="0"/>
                </a:lnTo>
                <a:close/>
              </a:path>
            </a:pathLst>
          </a:custGeom>
          <a:solidFill>
            <a:srgbClr val="DAED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71358" y="1516126"/>
            <a:ext cx="2463165" cy="4323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>
              <a:lnSpc>
                <a:spcPct val="98500"/>
              </a:lnSpc>
              <a:spcBef>
                <a:spcPts val="135"/>
              </a:spcBef>
            </a:pP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Le</a:t>
            </a:r>
            <a:r>
              <a:rPr sz="2200" spc="-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pipeline</a:t>
            </a:r>
            <a:r>
              <a:rPr sz="2200" spc="-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de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déploiement</a:t>
            </a:r>
            <a:r>
              <a:rPr sz="2200" spc="-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est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un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processus</a:t>
            </a:r>
            <a:r>
              <a:rPr sz="2200" spc="-3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automatisé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permettant</a:t>
            </a:r>
            <a:r>
              <a:rPr sz="2200" spc="-3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200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gérer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tous</a:t>
            </a:r>
            <a:r>
              <a:rPr sz="2200" spc="-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les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changements,</a:t>
            </a:r>
            <a:r>
              <a:rPr sz="2200" spc="-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du </a:t>
            </a:r>
            <a:r>
              <a:rPr sz="2200" spc="-40" dirty="0">
                <a:solidFill>
                  <a:srgbClr val="3D3D3D"/>
                </a:solidFill>
                <a:latin typeface="Calibri"/>
                <a:cs typeface="Calibri"/>
              </a:rPr>
              <a:t>check-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in</a:t>
            </a:r>
            <a:r>
              <a:rPr sz="2200" spc="-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à</a:t>
            </a:r>
            <a:r>
              <a:rPr sz="2200" spc="-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la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mise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en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production.</a:t>
            </a:r>
            <a:r>
              <a:rPr sz="2200" spc="-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Les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toolchains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embrassent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des</a:t>
            </a:r>
            <a:r>
              <a:rPr sz="2200" spc="-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D3D3D"/>
                </a:solidFill>
                <a:latin typeface="Calibri"/>
                <a:cs typeface="Calibri"/>
              </a:rPr>
              <a:t>silos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et</a:t>
            </a:r>
            <a:r>
              <a:rPr sz="2200" spc="-10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automatisent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le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pipeline</a:t>
            </a:r>
            <a:r>
              <a:rPr sz="2200" spc="-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D3D3D"/>
                </a:solidFill>
                <a:latin typeface="Calibri"/>
                <a:cs typeface="Calibri"/>
              </a:rPr>
              <a:t>de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déploiement.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853680" cy="1017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50" spc="95" dirty="0"/>
              <a:t>Mise</a:t>
            </a:r>
            <a:r>
              <a:rPr sz="3250" spc="280" dirty="0"/>
              <a:t> </a:t>
            </a:r>
            <a:r>
              <a:rPr sz="3250" spc="60" dirty="0"/>
              <a:t>en</a:t>
            </a:r>
            <a:r>
              <a:rPr sz="3250" spc="300" dirty="0"/>
              <a:t> </a:t>
            </a:r>
            <a:r>
              <a:rPr sz="3250" spc="95" dirty="0"/>
              <a:t>œuvre</a:t>
            </a:r>
            <a:r>
              <a:rPr sz="3250" spc="315" dirty="0"/>
              <a:t> </a:t>
            </a:r>
            <a:r>
              <a:rPr sz="3250" spc="95" dirty="0"/>
              <a:t>d’une</a:t>
            </a:r>
            <a:r>
              <a:rPr sz="3250" spc="315" dirty="0"/>
              <a:t> </a:t>
            </a:r>
            <a:r>
              <a:rPr sz="3250" spc="95" dirty="0"/>
              <a:t>usine</a:t>
            </a:r>
            <a:r>
              <a:rPr sz="3250" spc="325" dirty="0"/>
              <a:t> </a:t>
            </a:r>
            <a:r>
              <a:rPr sz="3250" spc="114" dirty="0"/>
              <a:t>logicielle</a:t>
            </a:r>
            <a:r>
              <a:rPr sz="3250" spc="305" dirty="0"/>
              <a:t> </a:t>
            </a:r>
            <a:r>
              <a:rPr sz="3250" spc="70" dirty="0"/>
              <a:t>et</a:t>
            </a:r>
            <a:r>
              <a:rPr sz="3250" spc="280" dirty="0"/>
              <a:t> </a:t>
            </a:r>
            <a:r>
              <a:rPr sz="3250" spc="30" dirty="0"/>
              <a:t>de </a:t>
            </a:r>
            <a:r>
              <a:rPr sz="3250" spc="120" dirty="0"/>
              <a:t>l’intégration</a:t>
            </a:r>
            <a:r>
              <a:rPr sz="3250" spc="300" dirty="0"/>
              <a:t> </a:t>
            </a:r>
            <a:r>
              <a:rPr sz="3250" spc="100" dirty="0"/>
              <a:t>continue</a:t>
            </a:r>
            <a:endParaRPr sz="325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951" y="70815"/>
            <a:ext cx="7853680" cy="1416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50" spc="95" dirty="0"/>
              <a:t>Mise</a:t>
            </a:r>
            <a:r>
              <a:rPr sz="3250" spc="280" dirty="0"/>
              <a:t> </a:t>
            </a:r>
            <a:r>
              <a:rPr sz="3250" spc="60" dirty="0"/>
              <a:t>en</a:t>
            </a:r>
            <a:r>
              <a:rPr sz="3250" spc="300" dirty="0"/>
              <a:t> </a:t>
            </a:r>
            <a:r>
              <a:rPr sz="3250" spc="95" dirty="0"/>
              <a:t>œuvre</a:t>
            </a:r>
            <a:r>
              <a:rPr sz="3250" spc="315" dirty="0"/>
              <a:t> </a:t>
            </a:r>
            <a:r>
              <a:rPr sz="3250" spc="95" dirty="0"/>
              <a:t>d’une</a:t>
            </a:r>
            <a:r>
              <a:rPr sz="3250" spc="315" dirty="0"/>
              <a:t> </a:t>
            </a:r>
            <a:r>
              <a:rPr sz="3250" spc="95" dirty="0"/>
              <a:t>usine</a:t>
            </a:r>
            <a:r>
              <a:rPr sz="3250" spc="325" dirty="0"/>
              <a:t> </a:t>
            </a:r>
            <a:r>
              <a:rPr sz="3250" spc="114" dirty="0"/>
              <a:t>logicielle</a:t>
            </a:r>
            <a:r>
              <a:rPr sz="3250" spc="305" dirty="0"/>
              <a:t> </a:t>
            </a:r>
            <a:r>
              <a:rPr sz="3250" spc="70" dirty="0"/>
              <a:t>et</a:t>
            </a:r>
            <a:r>
              <a:rPr sz="3250" spc="280" dirty="0"/>
              <a:t> </a:t>
            </a:r>
            <a:r>
              <a:rPr sz="3250" spc="30" dirty="0"/>
              <a:t>de </a:t>
            </a:r>
            <a:r>
              <a:rPr sz="3250" spc="120" dirty="0"/>
              <a:t>l’intégration</a:t>
            </a:r>
            <a:r>
              <a:rPr sz="3250" spc="300" dirty="0"/>
              <a:t> </a:t>
            </a:r>
            <a:r>
              <a:rPr sz="3250" spc="100" dirty="0"/>
              <a:t>continue</a:t>
            </a:r>
            <a:endParaRPr sz="3250"/>
          </a:p>
          <a:p>
            <a:pPr marL="205740">
              <a:lnSpc>
                <a:spcPct val="100000"/>
              </a:lnSpc>
              <a:spcBef>
                <a:spcPts val="740"/>
              </a:spcBef>
            </a:pPr>
            <a:r>
              <a:rPr sz="2000" dirty="0">
                <a:solidFill>
                  <a:srgbClr val="127079"/>
                </a:solidFill>
              </a:rPr>
              <a:t>Toolchains</a:t>
            </a:r>
            <a:r>
              <a:rPr sz="2000" spc="180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(Exemple</a:t>
            </a:r>
            <a:r>
              <a:rPr sz="2000" spc="200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:</a:t>
            </a:r>
            <a:r>
              <a:rPr sz="2000" spc="200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gouvernement</a:t>
            </a:r>
            <a:r>
              <a:rPr sz="2000" spc="195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américain</a:t>
            </a:r>
            <a:r>
              <a:rPr sz="2000" spc="225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-</a:t>
            </a:r>
            <a:r>
              <a:rPr sz="2000" spc="310" dirty="0">
                <a:solidFill>
                  <a:srgbClr val="127079"/>
                </a:solidFill>
              </a:rPr>
              <a:t> </a:t>
            </a:r>
            <a:r>
              <a:rPr sz="2000" spc="40" dirty="0">
                <a:solidFill>
                  <a:srgbClr val="127079"/>
                </a:solidFill>
              </a:rPr>
              <a:t>GSA)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5555" y="5842457"/>
            <a:ext cx="6057265" cy="1123950"/>
          </a:xfrm>
          <a:prstGeom prst="rect">
            <a:avLst/>
          </a:prstGeom>
          <a:solidFill>
            <a:srgbClr val="DAEDF3">
              <a:alpha val="49411"/>
            </a:srgbClr>
          </a:solidFill>
        </p:spPr>
        <p:txBody>
          <a:bodyPr vert="horz" wrap="square" lIns="0" tIns="30480" rIns="0" bIns="0" rtlCol="0">
            <a:spAutoFit/>
          </a:bodyPr>
          <a:lstStyle/>
          <a:p>
            <a:pPr marL="172085" marR="158750" algn="ctr">
              <a:lnSpc>
                <a:spcPct val="98700"/>
              </a:lnSpc>
              <a:spcBef>
                <a:spcPts val="240"/>
              </a:spcBef>
            </a:pP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La</a:t>
            </a:r>
            <a:r>
              <a:rPr sz="2200" spc="-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manière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dont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ces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outils</a:t>
            </a:r>
            <a:r>
              <a:rPr sz="2200" spc="-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sont</a:t>
            </a:r>
            <a:r>
              <a:rPr sz="2200" spc="-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adaptés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et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intégrés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dans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votre</a:t>
            </a:r>
            <a:r>
              <a:rPr sz="22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pipeline</a:t>
            </a:r>
            <a:r>
              <a:rPr sz="22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20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déploiement</a:t>
            </a:r>
            <a:r>
              <a:rPr sz="2200" spc="-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déterminera </a:t>
            </a:r>
            <a:r>
              <a:rPr sz="2200" dirty="0">
                <a:solidFill>
                  <a:srgbClr val="3D3D3D"/>
                </a:solidFill>
                <a:latin typeface="Calibri"/>
                <a:cs typeface="Calibri"/>
              </a:rPr>
              <a:t>leur</a:t>
            </a:r>
            <a:r>
              <a:rPr sz="2200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D3D3D"/>
                </a:solidFill>
                <a:latin typeface="Calibri"/>
                <a:cs typeface="Calibri"/>
              </a:rPr>
              <a:t>valeur.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9228" y="1925955"/>
            <a:ext cx="8935085" cy="78549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49530" rIns="0" bIns="0" rtlCol="0">
            <a:spAutoFit/>
          </a:bodyPr>
          <a:lstStyle/>
          <a:p>
            <a:pPr marL="539115" algn="ctr">
              <a:lnSpc>
                <a:spcPts val="2620"/>
              </a:lnSpc>
              <a:spcBef>
                <a:spcPts val="390"/>
              </a:spcBef>
            </a:pPr>
            <a:r>
              <a:rPr sz="2200" dirty="0">
                <a:latin typeface="Calibri"/>
                <a:cs typeface="Calibri"/>
              </a:rPr>
              <a:t>Il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existe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nombreux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outils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DevOps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open-</a:t>
            </a:r>
            <a:r>
              <a:rPr sz="2200" dirty="0">
                <a:latin typeface="Calibri"/>
                <a:cs typeface="Calibri"/>
              </a:rPr>
              <a:t>source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avec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des</a:t>
            </a:r>
            <a:endParaRPr sz="2200">
              <a:latin typeface="Calibri"/>
              <a:cs typeface="Calibri"/>
            </a:endParaRPr>
          </a:p>
          <a:p>
            <a:pPr marL="561975" algn="ctr">
              <a:lnSpc>
                <a:spcPts val="2620"/>
              </a:lnSpc>
            </a:pPr>
            <a:r>
              <a:rPr sz="2200" spc="-30" dirty="0">
                <a:latin typeface="Calibri"/>
                <a:cs typeface="Calibri"/>
              </a:rPr>
              <a:t>écosystèmes </a:t>
            </a:r>
            <a:r>
              <a:rPr sz="2200" spc="-10" dirty="0">
                <a:latin typeface="Calibri"/>
                <a:cs typeface="Calibri"/>
              </a:rPr>
              <a:t>dynamiques.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0455" y="2734945"/>
            <a:ext cx="6947661" cy="29642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220" y="3772573"/>
            <a:ext cx="994638" cy="9960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5"/>
              </a:spcBef>
            </a:pPr>
            <a:r>
              <a:rPr sz="3250" spc="105" dirty="0"/>
              <a:t>DevOps</a:t>
            </a:r>
            <a:r>
              <a:rPr sz="3250" spc="350" dirty="0"/>
              <a:t> </a:t>
            </a:r>
            <a:r>
              <a:rPr sz="3250" spc="-10" dirty="0"/>
              <a:t>toolchains</a:t>
            </a:r>
            <a:endParaRPr sz="3250"/>
          </a:p>
        </p:txBody>
      </p:sp>
      <p:sp>
        <p:nvSpPr>
          <p:cNvPr id="3" name="object 3"/>
          <p:cNvSpPr txBox="1"/>
          <p:nvPr/>
        </p:nvSpPr>
        <p:spPr>
          <a:xfrm>
            <a:off x="599643" y="760552"/>
            <a:ext cx="4737100" cy="5902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Eléments</a:t>
            </a:r>
            <a:r>
              <a:rPr sz="2000" spc="1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127079"/>
                </a:solidFill>
                <a:latin typeface="Calibri"/>
                <a:cs typeface="Calibri"/>
              </a:rPr>
              <a:t>dans</a:t>
            </a:r>
            <a:r>
              <a:rPr sz="2000" spc="229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une</a:t>
            </a:r>
            <a:r>
              <a:rPr sz="2000" spc="16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70" dirty="0">
                <a:solidFill>
                  <a:srgbClr val="127079"/>
                </a:solidFill>
                <a:latin typeface="Calibri"/>
                <a:cs typeface="Calibri"/>
              </a:rPr>
              <a:t>DevOps</a:t>
            </a:r>
            <a:r>
              <a:rPr sz="2000" spc="2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Toolchain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Calibri"/>
              <a:cs typeface="Calibri"/>
            </a:endParaRPr>
          </a:p>
          <a:p>
            <a:pPr marL="387350" marR="42545" indent="-375285">
              <a:lnSpc>
                <a:spcPct val="100000"/>
              </a:lnSpc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85" dirty="0">
                <a:latin typeface="Calibri"/>
                <a:cs typeface="Calibri"/>
              </a:rPr>
              <a:t>Le</a:t>
            </a:r>
            <a:r>
              <a:rPr sz="2300" spc="5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pipeline</a:t>
            </a:r>
            <a:r>
              <a:rPr sz="2300" spc="4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4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déploiement</a:t>
            </a:r>
            <a:r>
              <a:rPr sz="2300" spc="400" dirty="0">
                <a:latin typeface="Calibri"/>
                <a:cs typeface="Calibri"/>
              </a:rPr>
              <a:t> </a:t>
            </a:r>
            <a:r>
              <a:rPr sz="2300" spc="40" dirty="0">
                <a:latin typeface="Calibri"/>
                <a:cs typeface="Calibri"/>
              </a:rPr>
              <a:t>divise </a:t>
            </a:r>
            <a:r>
              <a:rPr sz="2300" dirty="0">
                <a:latin typeface="Calibri"/>
                <a:cs typeface="Calibri"/>
              </a:rPr>
              <a:t>le</a:t>
            </a:r>
            <a:r>
              <a:rPr sz="2300" spc="220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cycle</a:t>
            </a:r>
            <a:r>
              <a:rPr sz="2300" spc="40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vie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3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livraison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du </a:t>
            </a:r>
            <a:r>
              <a:rPr sz="2300" dirty="0">
                <a:latin typeface="Calibri"/>
                <a:cs typeface="Calibri"/>
              </a:rPr>
              <a:t>logiciel</a:t>
            </a:r>
            <a:r>
              <a:rPr sz="2300" spc="3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en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spc="70" dirty="0">
                <a:latin typeface="Calibri"/>
                <a:cs typeface="Calibri"/>
              </a:rPr>
              <a:t>étapes</a:t>
            </a:r>
            <a:r>
              <a:rPr sz="2300" spc="405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logiques</a:t>
            </a:r>
            <a:endParaRPr sz="2300">
              <a:latin typeface="Calibri"/>
              <a:cs typeface="Calibri"/>
            </a:endParaRPr>
          </a:p>
          <a:p>
            <a:pPr marL="387350" indent="-374650">
              <a:lnSpc>
                <a:spcPct val="100000"/>
              </a:lnSpc>
              <a:spcBef>
                <a:spcPts val="13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05" dirty="0">
                <a:latin typeface="Calibri"/>
                <a:cs typeface="Calibri"/>
              </a:rPr>
              <a:t>Chaque</a:t>
            </a:r>
            <a:r>
              <a:rPr sz="2300" spc="3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étape</a:t>
            </a:r>
            <a:r>
              <a:rPr sz="2300" spc="3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fournit</a:t>
            </a:r>
            <a:r>
              <a:rPr sz="2300" spc="204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879475" marR="5080" lvl="1" indent="-315595">
              <a:lnSpc>
                <a:spcPct val="101200"/>
              </a:lnSpc>
              <a:spcBef>
                <a:spcPts val="420"/>
              </a:spcBef>
              <a:buSzPct val="95238"/>
              <a:buFont typeface="Arial MT"/>
              <a:buChar char="–"/>
              <a:tabLst>
                <a:tab pos="879475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l'occasion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1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vérifier</a:t>
            </a:r>
            <a:r>
              <a:rPr sz="2100" spc="1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11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qualité</a:t>
            </a:r>
            <a:r>
              <a:rPr sz="21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des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nouvelles</a:t>
            </a:r>
            <a:r>
              <a:rPr sz="2100" spc="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fonctionnalités</a:t>
            </a:r>
            <a:r>
              <a:rPr sz="2100" spc="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sous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un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angle</a:t>
            </a:r>
            <a:r>
              <a:rPr sz="2100" spc="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différent</a:t>
            </a:r>
            <a:r>
              <a:rPr sz="2100" spc="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79475" lvl="1" indent="-315595">
              <a:lnSpc>
                <a:spcPct val="100000"/>
              </a:lnSpc>
              <a:spcBef>
                <a:spcPts val="580"/>
              </a:spcBef>
              <a:buSzPct val="95238"/>
              <a:buFont typeface="Arial MT"/>
              <a:buChar char="–"/>
              <a:tabLst>
                <a:tab pos="879475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45" dirty="0">
                <a:solidFill>
                  <a:srgbClr val="252D37"/>
                </a:solidFill>
                <a:latin typeface="Calibri"/>
                <a:cs typeface="Calibri"/>
              </a:rPr>
              <a:t>feedback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rapide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l’équipe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79475" marR="495300" lvl="1" indent="-315595">
              <a:lnSpc>
                <a:spcPct val="100000"/>
              </a:lnSpc>
              <a:spcBef>
                <a:spcPts val="500"/>
              </a:spcBef>
              <a:buSzPct val="95238"/>
              <a:buFont typeface="Arial MT"/>
              <a:buChar char="–"/>
              <a:tabLst>
                <a:tab pos="879475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visibilité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quant</a:t>
            </a:r>
            <a:r>
              <a:rPr sz="2100" spc="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au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flux</a:t>
            </a:r>
            <a:r>
              <a:rPr sz="2100" spc="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des </a:t>
            </a:r>
            <a:r>
              <a:rPr sz="2100" spc="35" dirty="0">
                <a:solidFill>
                  <a:srgbClr val="252D37"/>
                </a:solidFill>
                <a:latin typeface="Calibri"/>
                <a:cs typeface="Calibri"/>
              </a:rPr>
              <a:t>changements.</a:t>
            </a:r>
            <a:endParaRPr sz="2100">
              <a:latin typeface="Calibri"/>
              <a:cs typeface="Calibri"/>
            </a:endParaRPr>
          </a:p>
          <a:p>
            <a:pPr marL="387350" marR="191770" indent="-375285">
              <a:lnSpc>
                <a:spcPct val="100000"/>
              </a:lnSpc>
              <a:spcBef>
                <a:spcPts val="129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</a:tabLst>
            </a:pPr>
            <a:r>
              <a:rPr sz="2300" spc="130" dirty="0">
                <a:latin typeface="Calibri"/>
                <a:cs typeface="Calibri"/>
              </a:rPr>
              <a:t>Les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spc="130" dirty="0">
                <a:latin typeface="Calibri"/>
                <a:cs typeface="Calibri"/>
              </a:rPr>
              <a:t>DevOps</a:t>
            </a:r>
            <a:r>
              <a:rPr sz="2300" spc="295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toolchains </a:t>
            </a:r>
            <a:r>
              <a:rPr sz="2300" dirty="0">
                <a:latin typeface="Calibri"/>
                <a:cs typeface="Calibri"/>
              </a:rPr>
              <a:t>fournissent</a:t>
            </a:r>
            <a:r>
              <a:rPr sz="2300" spc="45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les</a:t>
            </a:r>
            <a:r>
              <a:rPr sz="2300" spc="5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fonctionnalités </a:t>
            </a:r>
            <a:r>
              <a:rPr sz="2300" spc="100" dirty="0">
                <a:latin typeface="Calibri"/>
                <a:cs typeface="Calibri"/>
              </a:rPr>
              <a:t>nécessaires</a:t>
            </a:r>
            <a:r>
              <a:rPr sz="2300" spc="3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pour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automatiser</a:t>
            </a:r>
            <a:r>
              <a:rPr sz="2300" spc="2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et </a:t>
            </a:r>
            <a:r>
              <a:rPr sz="2300" spc="60" dirty="0">
                <a:latin typeface="Calibri"/>
                <a:cs typeface="Calibri"/>
              </a:rPr>
              <a:t>accélérer</a:t>
            </a:r>
            <a:r>
              <a:rPr sz="2300" spc="204" dirty="0">
                <a:latin typeface="Calibri"/>
                <a:cs typeface="Calibri"/>
              </a:rPr>
              <a:t> </a:t>
            </a:r>
            <a:r>
              <a:rPr sz="2300" spc="85" dirty="0">
                <a:latin typeface="Calibri"/>
                <a:cs typeface="Calibri"/>
              </a:rPr>
              <a:t>chaque</a:t>
            </a:r>
            <a:r>
              <a:rPr sz="2300" spc="30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étape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81949" y="1544194"/>
            <a:ext cx="4779645" cy="5272405"/>
            <a:chOff x="5681949" y="1544194"/>
            <a:chExt cx="4779645" cy="52724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81949" y="1544194"/>
              <a:ext cx="4779325" cy="52723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11190" y="1553400"/>
              <a:ext cx="4721225" cy="5209540"/>
            </a:xfrm>
            <a:custGeom>
              <a:avLst/>
              <a:gdLst/>
              <a:ahLst/>
              <a:cxnLst/>
              <a:rect l="l" t="t" r="r" b="b"/>
              <a:pathLst>
                <a:path w="4721225" h="5209540">
                  <a:moveTo>
                    <a:pt x="4720844" y="0"/>
                  </a:moveTo>
                  <a:lnTo>
                    <a:pt x="0" y="0"/>
                  </a:lnTo>
                  <a:lnTo>
                    <a:pt x="0" y="5209032"/>
                  </a:lnTo>
                  <a:lnTo>
                    <a:pt x="4720844" y="5209032"/>
                  </a:lnTo>
                  <a:lnTo>
                    <a:pt x="4720844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355"/>
              </a:spcBef>
              <a:buClr>
                <a:srgbClr val="127079"/>
              </a:buClr>
              <a:buSzPct val="86956"/>
              <a:buFont typeface="Arial MT"/>
              <a:buChar char="●"/>
              <a:tabLst>
                <a:tab pos="339725" algn="l"/>
              </a:tabLst>
            </a:pPr>
            <a:r>
              <a:rPr spc="75" dirty="0"/>
              <a:t>Eléments</a:t>
            </a:r>
            <a:r>
              <a:rPr spc="380" dirty="0"/>
              <a:t> </a:t>
            </a:r>
            <a:r>
              <a:rPr dirty="0"/>
              <a:t>Toolchain</a:t>
            </a:r>
            <a:r>
              <a:rPr spc="340" dirty="0"/>
              <a:t> </a:t>
            </a:r>
            <a:r>
              <a:rPr spc="70" dirty="0"/>
              <a:t>typiques</a:t>
            </a:r>
            <a:r>
              <a:rPr spc="360" dirty="0"/>
              <a:t> </a:t>
            </a:r>
            <a:r>
              <a:rPr spc="-50" dirty="0">
                <a:solidFill>
                  <a:srgbClr val="252D37"/>
                </a:solidFill>
              </a:rPr>
              <a:t>:</a:t>
            </a:r>
          </a:p>
          <a:p>
            <a:pPr marL="532130">
              <a:lnSpc>
                <a:spcPct val="100000"/>
              </a:lnSpc>
              <a:spcBef>
                <a:spcPts val="229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dirty="0">
                <a:solidFill>
                  <a:srgbClr val="252D37"/>
                </a:solidFill>
              </a:rPr>
              <a:t>Gestion</a:t>
            </a:r>
            <a:r>
              <a:rPr sz="1900" spc="290" dirty="0">
                <a:solidFill>
                  <a:srgbClr val="252D37"/>
                </a:solidFill>
              </a:rPr>
              <a:t> </a:t>
            </a:r>
            <a:r>
              <a:rPr sz="1900" spc="55" dirty="0">
                <a:solidFill>
                  <a:srgbClr val="252D37"/>
                </a:solidFill>
              </a:rPr>
              <a:t>des</a:t>
            </a:r>
            <a:r>
              <a:rPr sz="1900" spc="38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exigences</a:t>
            </a:r>
            <a:r>
              <a:rPr sz="1900" spc="385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532130">
              <a:lnSpc>
                <a:spcPct val="100000"/>
              </a:lnSpc>
              <a:spcBef>
                <a:spcPts val="300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dirty="0">
                <a:solidFill>
                  <a:srgbClr val="252D37"/>
                </a:solidFill>
              </a:rPr>
              <a:t>Orchestration</a:t>
            </a:r>
            <a:r>
              <a:rPr sz="1900" spc="9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et</a:t>
            </a:r>
            <a:r>
              <a:rPr sz="1900" spc="75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visualisation</a:t>
            </a:r>
            <a:r>
              <a:rPr sz="1900" spc="105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532130">
              <a:lnSpc>
                <a:spcPct val="100000"/>
              </a:lnSpc>
              <a:spcBef>
                <a:spcPts val="300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dirty="0">
                <a:solidFill>
                  <a:srgbClr val="252D37"/>
                </a:solidFill>
              </a:rPr>
              <a:t>Gestion</a:t>
            </a:r>
            <a:r>
              <a:rPr sz="1900" spc="229" dirty="0">
                <a:solidFill>
                  <a:srgbClr val="252D37"/>
                </a:solidFill>
              </a:rPr>
              <a:t> </a:t>
            </a:r>
            <a:r>
              <a:rPr sz="1900" spc="55" dirty="0">
                <a:solidFill>
                  <a:srgbClr val="252D37"/>
                </a:solidFill>
              </a:rPr>
              <a:t>des</a:t>
            </a:r>
            <a:r>
              <a:rPr sz="1900" spc="295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versions</a:t>
            </a:r>
            <a:r>
              <a:rPr sz="1900" spc="235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532130">
              <a:lnSpc>
                <a:spcPct val="100000"/>
              </a:lnSpc>
              <a:spcBef>
                <a:spcPts val="300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dirty="0">
                <a:solidFill>
                  <a:srgbClr val="252D37"/>
                </a:solidFill>
              </a:rPr>
              <a:t>Intégration</a:t>
            </a:r>
            <a:r>
              <a:rPr sz="1900" spc="85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continue</a:t>
            </a:r>
            <a:r>
              <a:rPr sz="1900" spc="8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et</a:t>
            </a:r>
            <a:r>
              <a:rPr sz="1900" spc="65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versions</a:t>
            </a:r>
            <a:r>
              <a:rPr sz="1900" spc="85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532130">
              <a:lnSpc>
                <a:spcPct val="100000"/>
              </a:lnSpc>
              <a:spcBef>
                <a:spcPts val="300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dirty="0">
                <a:solidFill>
                  <a:srgbClr val="252D37"/>
                </a:solidFill>
              </a:rPr>
              <a:t>Gestion</a:t>
            </a:r>
            <a:r>
              <a:rPr sz="1900" spc="185" dirty="0">
                <a:solidFill>
                  <a:srgbClr val="252D37"/>
                </a:solidFill>
              </a:rPr>
              <a:t> </a:t>
            </a:r>
            <a:r>
              <a:rPr sz="1900" spc="55" dirty="0">
                <a:solidFill>
                  <a:srgbClr val="252D37"/>
                </a:solidFill>
              </a:rPr>
              <a:t>des</a:t>
            </a:r>
            <a:r>
              <a:rPr sz="1900" spc="27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artéfacts</a:t>
            </a:r>
            <a:r>
              <a:rPr sz="1900" spc="180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532130">
              <a:lnSpc>
                <a:spcPts val="2315"/>
              </a:lnSpc>
              <a:spcBef>
                <a:spcPts val="300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spc="-10" dirty="0">
                <a:solidFill>
                  <a:srgbClr val="252D37"/>
                </a:solidFill>
              </a:rPr>
              <a:t>Virtualisation</a:t>
            </a:r>
            <a:r>
              <a:rPr sz="1900" spc="114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de</a:t>
            </a:r>
            <a:r>
              <a:rPr sz="1900" spc="13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conteneurs</a:t>
            </a:r>
            <a:r>
              <a:rPr sz="1900" spc="9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et</a:t>
            </a:r>
            <a:r>
              <a:rPr sz="1900" spc="85" dirty="0">
                <a:solidFill>
                  <a:srgbClr val="252D37"/>
                </a:solidFill>
              </a:rPr>
              <a:t> </a:t>
            </a:r>
            <a:r>
              <a:rPr sz="1900" spc="-25" dirty="0">
                <a:solidFill>
                  <a:srgbClr val="252D37"/>
                </a:solidFill>
              </a:rPr>
              <a:t>de</a:t>
            </a:r>
            <a:endParaRPr sz="1900"/>
          </a:p>
          <a:p>
            <a:pPr marL="875030">
              <a:lnSpc>
                <a:spcPts val="2195"/>
              </a:lnSpc>
            </a:pPr>
            <a:r>
              <a:rPr sz="1900" spc="45" dirty="0">
                <a:solidFill>
                  <a:srgbClr val="252D37"/>
                </a:solidFill>
              </a:rPr>
              <a:t>systèmes</a:t>
            </a:r>
            <a:r>
              <a:rPr sz="1900" spc="9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d'exploitation</a:t>
            </a:r>
            <a:r>
              <a:rPr sz="1900" spc="105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875030" marR="295910" indent="-342900">
              <a:lnSpc>
                <a:spcPts val="2120"/>
              </a:lnSpc>
              <a:spcBef>
                <a:spcPts val="505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dirty="0">
                <a:solidFill>
                  <a:srgbClr val="252D37"/>
                </a:solidFill>
              </a:rPr>
              <a:t>Automatisation</a:t>
            </a:r>
            <a:r>
              <a:rPr sz="1900" spc="125" dirty="0">
                <a:solidFill>
                  <a:srgbClr val="252D37"/>
                </a:solidFill>
              </a:rPr>
              <a:t> </a:t>
            </a:r>
            <a:r>
              <a:rPr sz="1900" spc="55" dirty="0">
                <a:solidFill>
                  <a:srgbClr val="252D37"/>
                </a:solidFill>
              </a:rPr>
              <a:t>des</a:t>
            </a:r>
            <a:r>
              <a:rPr sz="1900" spc="175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tests</a:t>
            </a:r>
            <a:r>
              <a:rPr sz="1900" spc="10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et</a:t>
            </a:r>
            <a:r>
              <a:rPr sz="1900" spc="105" dirty="0">
                <a:solidFill>
                  <a:srgbClr val="252D37"/>
                </a:solidFill>
              </a:rPr>
              <a:t> </a:t>
            </a:r>
            <a:r>
              <a:rPr sz="1900" spc="-25" dirty="0">
                <a:solidFill>
                  <a:srgbClr val="252D37"/>
                </a:solidFill>
              </a:rPr>
              <a:t>de </a:t>
            </a:r>
            <a:r>
              <a:rPr sz="1900" dirty="0">
                <a:solidFill>
                  <a:srgbClr val="252D37"/>
                </a:solidFill>
              </a:rPr>
              <a:t>l'environnement</a:t>
            </a:r>
            <a:r>
              <a:rPr sz="1900" spc="-20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875030" marR="142875" indent="-342900">
              <a:lnSpc>
                <a:spcPts val="2120"/>
              </a:lnSpc>
              <a:spcBef>
                <a:spcPts val="450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dirty="0">
                <a:solidFill>
                  <a:srgbClr val="252D37"/>
                </a:solidFill>
              </a:rPr>
              <a:t>Configuration</a:t>
            </a:r>
            <a:r>
              <a:rPr sz="1900" spc="95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et</a:t>
            </a:r>
            <a:r>
              <a:rPr sz="1900" spc="5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déploiement</a:t>
            </a:r>
            <a:r>
              <a:rPr sz="1900" spc="95" dirty="0">
                <a:solidFill>
                  <a:srgbClr val="252D37"/>
                </a:solidFill>
              </a:rPr>
              <a:t> </a:t>
            </a:r>
            <a:r>
              <a:rPr sz="1900" spc="-25" dirty="0">
                <a:solidFill>
                  <a:srgbClr val="252D37"/>
                </a:solidFill>
              </a:rPr>
              <a:t>du </a:t>
            </a:r>
            <a:r>
              <a:rPr sz="1900" dirty="0">
                <a:solidFill>
                  <a:srgbClr val="252D37"/>
                </a:solidFill>
              </a:rPr>
              <a:t>serveur</a:t>
            </a:r>
            <a:r>
              <a:rPr sz="1900" spc="170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875030" marR="354330" indent="-342900">
              <a:lnSpc>
                <a:spcPts val="2120"/>
              </a:lnSpc>
              <a:spcBef>
                <a:spcPts val="470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dirty="0">
                <a:solidFill>
                  <a:srgbClr val="252D37"/>
                </a:solidFill>
              </a:rPr>
              <a:t>Gestion</a:t>
            </a:r>
            <a:r>
              <a:rPr sz="1900" spc="114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de</a:t>
            </a:r>
            <a:r>
              <a:rPr sz="1900" spc="17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la</a:t>
            </a:r>
            <a:r>
              <a:rPr sz="1900" spc="12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configuration</a:t>
            </a:r>
            <a:r>
              <a:rPr sz="1900" spc="140" dirty="0">
                <a:solidFill>
                  <a:srgbClr val="252D37"/>
                </a:solidFill>
              </a:rPr>
              <a:t> </a:t>
            </a:r>
            <a:r>
              <a:rPr sz="1900" spc="-25" dirty="0">
                <a:solidFill>
                  <a:srgbClr val="252D37"/>
                </a:solidFill>
              </a:rPr>
              <a:t>du </a:t>
            </a:r>
            <a:r>
              <a:rPr sz="1900" dirty="0">
                <a:solidFill>
                  <a:srgbClr val="252D37"/>
                </a:solidFill>
              </a:rPr>
              <a:t>système</a:t>
            </a:r>
            <a:r>
              <a:rPr sz="1900" spc="390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532130">
              <a:lnSpc>
                <a:spcPct val="100000"/>
              </a:lnSpc>
              <a:spcBef>
                <a:spcPts val="145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dirty="0">
                <a:solidFill>
                  <a:srgbClr val="252D37"/>
                </a:solidFill>
              </a:rPr>
              <a:t>Alertes</a:t>
            </a:r>
            <a:r>
              <a:rPr sz="1900" spc="11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et</a:t>
            </a:r>
            <a:r>
              <a:rPr sz="1900" spc="100" dirty="0">
                <a:solidFill>
                  <a:srgbClr val="252D37"/>
                </a:solidFill>
              </a:rPr>
              <a:t> </a:t>
            </a:r>
            <a:r>
              <a:rPr sz="1900" dirty="0">
                <a:solidFill>
                  <a:srgbClr val="252D37"/>
                </a:solidFill>
              </a:rPr>
              <a:t>alarmes</a:t>
            </a:r>
            <a:r>
              <a:rPr sz="1900" spc="100" dirty="0">
                <a:solidFill>
                  <a:srgbClr val="252D37"/>
                </a:solidFill>
              </a:rPr>
              <a:t> </a:t>
            </a:r>
            <a:r>
              <a:rPr sz="1900" spc="-50" dirty="0">
                <a:solidFill>
                  <a:srgbClr val="252D37"/>
                </a:solidFill>
              </a:rPr>
              <a:t>;</a:t>
            </a:r>
            <a:endParaRPr sz="1900"/>
          </a:p>
          <a:p>
            <a:pPr marL="532130">
              <a:lnSpc>
                <a:spcPct val="100000"/>
              </a:lnSpc>
              <a:spcBef>
                <a:spcPts val="300"/>
              </a:spcBef>
              <a:tabLst>
                <a:tab pos="875030" algn="l"/>
              </a:tabLst>
            </a:pPr>
            <a:r>
              <a:rPr sz="2000" spc="-50" dirty="0">
                <a:solidFill>
                  <a:srgbClr val="252D37"/>
                </a:solidFill>
              </a:rPr>
              <a:t>−</a:t>
            </a:r>
            <a:r>
              <a:rPr sz="2000" dirty="0">
                <a:solidFill>
                  <a:srgbClr val="252D37"/>
                </a:solidFill>
              </a:rPr>
              <a:t>	</a:t>
            </a:r>
            <a:r>
              <a:rPr sz="1900" spc="-10" dirty="0">
                <a:solidFill>
                  <a:srgbClr val="252D37"/>
                </a:solidFill>
              </a:rPr>
              <a:t>Monitoring.</a:t>
            </a:r>
            <a:endParaRPr sz="19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233" y="760552"/>
            <a:ext cx="85610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60" dirty="0">
                <a:solidFill>
                  <a:srgbClr val="127079"/>
                </a:solidFill>
                <a:latin typeface="Calibri"/>
                <a:cs typeface="Calibri"/>
              </a:rPr>
              <a:t>Des</a:t>
            </a:r>
            <a:r>
              <a:rPr sz="2000" spc="29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applications</a:t>
            </a:r>
            <a:r>
              <a:rPr sz="2000" spc="19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professionnelles</a:t>
            </a:r>
            <a:r>
              <a:rPr sz="2000" spc="20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multiples</a:t>
            </a:r>
            <a:r>
              <a:rPr sz="2000" spc="22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nécessitent</a:t>
            </a:r>
            <a:r>
              <a:rPr sz="2000" spc="229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127079"/>
                </a:solidFill>
                <a:latin typeface="Calibri"/>
                <a:cs typeface="Calibri"/>
              </a:rPr>
              <a:t>des</a:t>
            </a:r>
            <a:r>
              <a:rPr sz="2000" spc="2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toolchains</a:t>
            </a:r>
            <a:r>
              <a:rPr sz="2000" spc="20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multiples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0453" y="2051977"/>
            <a:ext cx="9049385" cy="2842895"/>
            <a:chOff x="430453" y="2051977"/>
            <a:chExt cx="9049385" cy="28428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050" y="2106494"/>
              <a:ext cx="5167047" cy="698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453" y="2051977"/>
              <a:ext cx="5096637" cy="6282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7429" y="2758097"/>
              <a:ext cx="5198237" cy="7298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428" y="2719108"/>
              <a:ext cx="5096637" cy="62823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9750" y="3447580"/>
              <a:ext cx="5198236" cy="72983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761" y="3408464"/>
              <a:ext cx="5096637" cy="62823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566" y="4162895"/>
              <a:ext cx="5198236" cy="73168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5578" y="4123906"/>
              <a:ext cx="5096637" cy="63008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4348" y="2274961"/>
              <a:ext cx="2163296" cy="1053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309612" y="2307717"/>
              <a:ext cx="1969770" cy="0"/>
            </a:xfrm>
            <a:custGeom>
              <a:avLst/>
              <a:gdLst/>
              <a:ahLst/>
              <a:cxnLst/>
              <a:rect l="l" t="t" r="r" b="b"/>
              <a:pathLst>
                <a:path w="1969770">
                  <a:moveTo>
                    <a:pt x="0" y="0"/>
                  </a:moveTo>
                  <a:lnTo>
                    <a:pt x="1969643" y="0"/>
                  </a:lnTo>
                </a:path>
              </a:pathLst>
            </a:custGeom>
            <a:ln w="2539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6554" y="2253021"/>
              <a:ext cx="140665" cy="10930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79816" y="2938409"/>
              <a:ext cx="1685554" cy="1053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805039" y="2971165"/>
              <a:ext cx="1492250" cy="0"/>
            </a:xfrm>
            <a:custGeom>
              <a:avLst/>
              <a:gdLst/>
              <a:ahLst/>
              <a:cxnLst/>
              <a:rect l="l" t="t" r="r" b="b"/>
              <a:pathLst>
                <a:path w="1492250">
                  <a:moveTo>
                    <a:pt x="0" y="0"/>
                  </a:moveTo>
                  <a:lnTo>
                    <a:pt x="1491868" y="0"/>
                  </a:lnTo>
                </a:path>
              </a:pathLst>
            </a:custGeom>
            <a:ln w="2539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84207" y="2916467"/>
              <a:ext cx="140665" cy="1093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29889" y="3600079"/>
              <a:ext cx="1222298" cy="1053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255127" y="3632708"/>
              <a:ext cx="1024255" cy="0"/>
            </a:xfrm>
            <a:custGeom>
              <a:avLst/>
              <a:gdLst/>
              <a:ahLst/>
              <a:cxnLst/>
              <a:rect l="l" t="t" r="r" b="b"/>
              <a:pathLst>
                <a:path w="1024254">
                  <a:moveTo>
                    <a:pt x="0" y="0"/>
                  </a:moveTo>
                  <a:lnTo>
                    <a:pt x="1024127" y="0"/>
                  </a:lnTo>
                </a:path>
              </a:pathLst>
            </a:custGeom>
            <a:ln w="2539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6554" y="3578138"/>
              <a:ext cx="140665" cy="1093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22930" y="4393269"/>
              <a:ext cx="556526" cy="10875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948039" y="4425950"/>
              <a:ext cx="358775" cy="2540"/>
            </a:xfrm>
            <a:custGeom>
              <a:avLst/>
              <a:gdLst/>
              <a:ahLst/>
              <a:cxnLst/>
              <a:rect l="l" t="t" r="r" b="b"/>
              <a:pathLst>
                <a:path w="358775" h="2539">
                  <a:moveTo>
                    <a:pt x="0" y="0"/>
                  </a:moveTo>
                  <a:lnTo>
                    <a:pt x="358520" y="2286"/>
                  </a:lnTo>
                </a:path>
              </a:pathLst>
            </a:custGeom>
            <a:ln w="2539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93478" y="4373666"/>
              <a:ext cx="140944" cy="10930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750600" y="2681986"/>
            <a:ext cx="287655" cy="133159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145"/>
              </a:lnSpc>
            </a:pPr>
            <a:r>
              <a:rPr sz="1850" b="1" spc="-10" dirty="0">
                <a:solidFill>
                  <a:srgbClr val="7E7E7E"/>
                </a:solidFill>
                <a:latin typeface="Arial"/>
                <a:cs typeface="Arial"/>
              </a:rPr>
              <a:t>Self-service</a:t>
            </a:r>
            <a:endParaRPr sz="185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7699437" y="3951224"/>
            <a:ext cx="422275" cy="3810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z="2800" b="1" spc="-50" dirty="0"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80709" y="2213229"/>
            <a:ext cx="2446655" cy="1610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Application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400">
              <a:latin typeface="Arial"/>
              <a:cs typeface="Arial"/>
            </a:endParaRPr>
          </a:p>
          <a:p>
            <a:pPr marL="594360">
              <a:lnSpc>
                <a:spcPct val="100000"/>
              </a:lnSpc>
            </a:pPr>
            <a:r>
              <a:rPr sz="1400" b="1" spc="-10" dirty="0">
                <a:latin typeface="Arial"/>
                <a:cs typeface="Arial"/>
              </a:rPr>
              <a:t>Application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400">
              <a:latin typeface="Arial"/>
              <a:cs typeface="Arial"/>
            </a:endParaRPr>
          </a:p>
          <a:p>
            <a:pPr marL="1299210">
              <a:lnSpc>
                <a:spcPct val="100000"/>
              </a:lnSpc>
            </a:pPr>
            <a:r>
              <a:rPr sz="1400" b="1" spc="-10" dirty="0">
                <a:latin typeface="Arial"/>
                <a:cs typeface="Arial"/>
              </a:rPr>
              <a:t>Application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64630" y="4350258"/>
            <a:ext cx="2477135" cy="82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109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Application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50" spc="-125" dirty="0">
                <a:latin typeface="Arial MT"/>
                <a:cs typeface="Arial MT"/>
              </a:rPr>
              <a:t>Source</a:t>
            </a:r>
            <a:r>
              <a:rPr sz="1550" spc="-12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:</a:t>
            </a:r>
            <a:r>
              <a:rPr sz="1550" spc="480" dirty="0">
                <a:latin typeface="Arial MT"/>
                <a:cs typeface="Arial MT"/>
              </a:rPr>
              <a:t> </a:t>
            </a:r>
            <a:r>
              <a:rPr sz="1550" spc="-110" dirty="0">
                <a:latin typeface="Arial MT"/>
                <a:cs typeface="Arial MT"/>
              </a:rPr>
              <a:t>Sanjeev</a:t>
            </a:r>
            <a:r>
              <a:rPr sz="1550" spc="-60" dirty="0">
                <a:latin typeface="Arial MT"/>
                <a:cs typeface="Arial MT"/>
              </a:rPr>
              <a:t> </a:t>
            </a:r>
            <a:r>
              <a:rPr sz="1550" spc="-105" dirty="0">
                <a:latin typeface="Arial MT"/>
                <a:cs typeface="Arial MT"/>
              </a:rPr>
              <a:t>Sharma,</a:t>
            </a:r>
            <a:r>
              <a:rPr sz="1550" spc="-75" dirty="0">
                <a:latin typeface="Arial MT"/>
                <a:cs typeface="Arial MT"/>
              </a:rPr>
              <a:t> </a:t>
            </a:r>
            <a:r>
              <a:rPr sz="1550" spc="-25" dirty="0">
                <a:latin typeface="Arial MT"/>
                <a:cs typeface="Arial MT"/>
              </a:rPr>
              <a:t>IBM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1219" y="5457063"/>
            <a:ext cx="9061450" cy="78549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41275" rIns="0" bIns="0" rtlCol="0">
            <a:spAutoFit/>
          </a:bodyPr>
          <a:lstStyle/>
          <a:p>
            <a:pPr marL="2464435" marR="654685" indent="-1863089">
              <a:lnSpc>
                <a:spcPts val="2600"/>
              </a:lnSpc>
              <a:spcBef>
                <a:spcPts val="325"/>
              </a:spcBef>
            </a:pP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Éviter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2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créer</a:t>
            </a:r>
            <a:r>
              <a:rPr sz="22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davantage</a:t>
            </a:r>
            <a:r>
              <a:rPr sz="22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silos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entre</a:t>
            </a:r>
            <a:r>
              <a:rPr sz="2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les</a:t>
            </a:r>
            <a:r>
              <a:rPr sz="22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pipelines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adoptant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une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approche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d’architecture</a:t>
            </a:r>
            <a:r>
              <a:rPr sz="22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d’entreprise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5"/>
              </a:spcBef>
            </a:pPr>
            <a:r>
              <a:rPr sz="3250" spc="114" dirty="0"/>
              <a:t>Standardisation</a:t>
            </a:r>
            <a:r>
              <a:rPr sz="3250" spc="350" dirty="0"/>
              <a:t> </a:t>
            </a:r>
            <a:r>
              <a:rPr sz="3250" spc="50" dirty="0"/>
              <a:t>du</a:t>
            </a:r>
            <a:r>
              <a:rPr sz="3250" spc="315" dirty="0"/>
              <a:t> </a:t>
            </a:r>
            <a:r>
              <a:rPr sz="3250" spc="105" dirty="0"/>
              <a:t>provisioning</a:t>
            </a:r>
            <a:endParaRPr sz="325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3" name="object 3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103" y="-4764"/>
            <a:ext cx="3519170" cy="7566025"/>
            <a:chOff x="-6103" y="-4764"/>
            <a:chExt cx="3519170" cy="7566025"/>
          </a:xfrm>
        </p:grpSpPr>
        <p:sp>
          <p:nvSpPr>
            <p:cNvPr id="6" name="object 6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391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3509391" y="7556500"/>
                  </a:lnTo>
                  <a:lnTo>
                    <a:pt x="350939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7556500"/>
                  </a:moveTo>
                  <a:lnTo>
                    <a:pt x="3509391" y="7556500"/>
                  </a:lnTo>
                  <a:lnTo>
                    <a:pt x="3509391" y="0"/>
                  </a:lnTo>
                  <a:lnTo>
                    <a:pt x="0" y="0"/>
                  </a:lnTo>
                  <a:lnTo>
                    <a:pt x="0" y="7556500"/>
                  </a:lnTo>
                  <a:close/>
                </a:path>
              </a:pathLst>
            </a:custGeom>
            <a:ln w="9525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461" y="0"/>
                  </a:moveTo>
                  <a:lnTo>
                    <a:pt x="0" y="0"/>
                  </a:lnTo>
                  <a:lnTo>
                    <a:pt x="3509461" y="7556498"/>
                  </a:lnTo>
                  <a:lnTo>
                    <a:pt x="350946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0"/>
                  </a:moveTo>
                  <a:lnTo>
                    <a:pt x="3509461" y="0"/>
                  </a:lnTo>
                  <a:lnTo>
                    <a:pt x="3509461" y="7556498"/>
                  </a:lnTo>
                </a:path>
                <a:path w="350964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2696" y="1088517"/>
            <a:ext cx="1403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2665" algn="l"/>
              </a:tabLst>
            </a:pPr>
            <a:r>
              <a:rPr sz="4000" dirty="0">
                <a:solidFill>
                  <a:srgbClr val="FFFFFF"/>
                </a:solidFill>
              </a:rPr>
              <a:t>//</a:t>
            </a:r>
            <a:r>
              <a:rPr sz="4000" spc="5" dirty="0">
                <a:solidFill>
                  <a:srgbClr val="FFFFFF"/>
                </a:solidFill>
              </a:rPr>
              <a:t> </a:t>
            </a:r>
            <a:r>
              <a:rPr sz="6000" b="1" spc="-75" baseline="1388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6000" b="1" baseline="1388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4000" spc="-25" dirty="0">
                <a:solidFill>
                  <a:srgbClr val="FFFFFF"/>
                </a:solidFill>
              </a:rPr>
              <a:t>//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292" y="1945005"/>
            <a:ext cx="2415540" cy="1248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829"/>
              </a:lnSpc>
              <a:spcBef>
                <a:spcPts val="105"/>
              </a:spcBef>
              <a:tabLst>
                <a:tab pos="1934210" algn="l"/>
              </a:tabLst>
            </a:pPr>
            <a:r>
              <a:rPr sz="3200" b="1" spc="290" dirty="0">
                <a:solidFill>
                  <a:srgbClr val="FFFFFF"/>
                </a:solidFill>
                <a:latin typeface="Calibri"/>
                <a:cs typeface="Calibri"/>
              </a:rPr>
              <a:t>MODULE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	3</a:t>
            </a:r>
            <a:r>
              <a:rPr sz="3200" b="1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3200">
              <a:latin typeface="Calibri"/>
              <a:cs typeface="Calibri"/>
            </a:endParaRPr>
          </a:p>
          <a:p>
            <a:pPr marL="12700" marR="248285" indent="95885">
              <a:lnSpc>
                <a:spcPts val="2920"/>
              </a:lnSpc>
              <a:spcBef>
                <a:spcPts val="50"/>
              </a:spcBef>
            </a:pPr>
            <a:r>
              <a:rPr sz="2400" b="1" spc="10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2400" b="1" spc="4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165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400" b="1" spc="4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9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2400" b="1" spc="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7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2400" b="1" spc="180" dirty="0">
                <a:solidFill>
                  <a:srgbClr val="FFFFFF"/>
                </a:solidFill>
                <a:latin typeface="Calibri"/>
                <a:cs typeface="Calibri"/>
              </a:rPr>
              <a:t>virtualisation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4020" y="1844167"/>
            <a:ext cx="459549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75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500" b="1" spc="2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5" dirty="0">
                <a:solidFill>
                  <a:srgbClr val="164052"/>
                </a:solidFill>
                <a:latin typeface="Calibri"/>
                <a:cs typeface="Calibri"/>
              </a:rPr>
              <a:t>apports</a:t>
            </a:r>
            <a:r>
              <a:rPr sz="2500" b="1" spc="2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500" b="1" spc="2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5" dirty="0">
                <a:solidFill>
                  <a:srgbClr val="164052"/>
                </a:solidFill>
                <a:latin typeface="Calibri"/>
                <a:cs typeface="Calibri"/>
              </a:rPr>
              <a:t>infrastructures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Cloud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74631" y="2004250"/>
            <a:ext cx="462915" cy="462915"/>
            <a:chOff x="3274631" y="2004250"/>
            <a:chExt cx="462915" cy="462915"/>
          </a:xfrm>
        </p:grpSpPr>
        <p:sp>
          <p:nvSpPr>
            <p:cNvPr id="14" name="object 14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79"/>
                  </a:lnTo>
                  <a:lnTo>
                    <a:pt x="22097" y="121538"/>
                  </a:lnTo>
                  <a:lnTo>
                    <a:pt x="5714" y="167258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7" y="312546"/>
                  </a:lnTo>
                  <a:lnTo>
                    <a:pt x="47751" y="352805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370"/>
                  </a:lnTo>
                  <a:lnTo>
                    <a:pt x="217042" y="434086"/>
                  </a:lnTo>
                  <a:lnTo>
                    <a:pt x="266826" y="428370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805"/>
                  </a:lnTo>
                  <a:lnTo>
                    <a:pt x="412114" y="312546"/>
                  </a:lnTo>
                  <a:lnTo>
                    <a:pt x="428370" y="266826"/>
                  </a:lnTo>
                  <a:lnTo>
                    <a:pt x="434213" y="217042"/>
                  </a:lnTo>
                  <a:lnTo>
                    <a:pt x="429894" y="174498"/>
                  </a:lnTo>
                  <a:lnTo>
                    <a:pt x="417575" y="133984"/>
                  </a:lnTo>
                  <a:lnTo>
                    <a:pt x="397636" y="96646"/>
                  </a:lnTo>
                  <a:lnTo>
                    <a:pt x="370585" y="63626"/>
                  </a:lnTo>
                  <a:lnTo>
                    <a:pt x="337565" y="36449"/>
                  </a:lnTo>
                  <a:lnTo>
                    <a:pt x="300100" y="16509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8"/>
                  </a:lnTo>
                  <a:lnTo>
                    <a:pt x="22097" y="121538"/>
                  </a:lnTo>
                  <a:lnTo>
                    <a:pt x="47751" y="81279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09"/>
                  </a:lnTo>
                  <a:lnTo>
                    <a:pt x="337565" y="36449"/>
                  </a:lnTo>
                  <a:lnTo>
                    <a:pt x="370585" y="63626"/>
                  </a:lnTo>
                  <a:lnTo>
                    <a:pt x="397636" y="96646"/>
                  </a:lnTo>
                  <a:lnTo>
                    <a:pt x="417575" y="133984"/>
                  </a:lnTo>
                  <a:lnTo>
                    <a:pt x="429894" y="174498"/>
                  </a:lnTo>
                  <a:lnTo>
                    <a:pt x="434213" y="217042"/>
                  </a:lnTo>
                  <a:lnTo>
                    <a:pt x="428370" y="266826"/>
                  </a:lnTo>
                  <a:lnTo>
                    <a:pt x="412114" y="312546"/>
                  </a:lnTo>
                  <a:lnTo>
                    <a:pt x="386460" y="352805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370"/>
                  </a:lnTo>
                  <a:lnTo>
                    <a:pt x="217042" y="434086"/>
                  </a:lnTo>
                  <a:lnTo>
                    <a:pt x="167258" y="428370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805"/>
                  </a:lnTo>
                  <a:lnTo>
                    <a:pt x="22097" y="312546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23030" y="2048637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74631" y="3123247"/>
            <a:ext cx="462915" cy="462915"/>
            <a:chOff x="3274631" y="3123247"/>
            <a:chExt cx="462915" cy="462915"/>
          </a:xfrm>
        </p:grpSpPr>
        <p:sp>
          <p:nvSpPr>
            <p:cNvPr id="18" name="object 18"/>
            <p:cNvSpPr/>
            <p:nvPr/>
          </p:nvSpPr>
          <p:spPr>
            <a:xfrm>
              <a:off x="3288919" y="313753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842"/>
                  </a:lnTo>
                  <a:lnTo>
                    <a:pt x="121665" y="22098"/>
                  </a:lnTo>
                  <a:lnTo>
                    <a:pt x="81279" y="47752"/>
                  </a:lnTo>
                  <a:lnTo>
                    <a:pt x="47751" y="81407"/>
                  </a:lnTo>
                  <a:lnTo>
                    <a:pt x="22097" y="121666"/>
                  </a:lnTo>
                  <a:lnTo>
                    <a:pt x="5714" y="167386"/>
                  </a:lnTo>
                  <a:lnTo>
                    <a:pt x="0" y="217170"/>
                  </a:lnTo>
                  <a:lnTo>
                    <a:pt x="5714" y="266954"/>
                  </a:lnTo>
                  <a:lnTo>
                    <a:pt x="22097" y="312547"/>
                  </a:lnTo>
                  <a:lnTo>
                    <a:pt x="47751" y="352933"/>
                  </a:lnTo>
                  <a:lnTo>
                    <a:pt x="81279" y="386461"/>
                  </a:lnTo>
                  <a:lnTo>
                    <a:pt x="121665" y="412115"/>
                  </a:lnTo>
                  <a:lnTo>
                    <a:pt x="167258" y="428498"/>
                  </a:lnTo>
                  <a:lnTo>
                    <a:pt x="217042" y="434213"/>
                  </a:lnTo>
                  <a:lnTo>
                    <a:pt x="266826" y="428498"/>
                  </a:lnTo>
                  <a:lnTo>
                    <a:pt x="312546" y="412115"/>
                  </a:lnTo>
                  <a:lnTo>
                    <a:pt x="352805" y="386461"/>
                  </a:lnTo>
                  <a:lnTo>
                    <a:pt x="386460" y="352933"/>
                  </a:lnTo>
                  <a:lnTo>
                    <a:pt x="412114" y="312547"/>
                  </a:lnTo>
                  <a:lnTo>
                    <a:pt x="428370" y="266954"/>
                  </a:lnTo>
                  <a:lnTo>
                    <a:pt x="434213" y="217170"/>
                  </a:lnTo>
                  <a:lnTo>
                    <a:pt x="429894" y="174625"/>
                  </a:lnTo>
                  <a:lnTo>
                    <a:pt x="417575" y="134112"/>
                  </a:lnTo>
                  <a:lnTo>
                    <a:pt x="397636" y="96647"/>
                  </a:lnTo>
                  <a:lnTo>
                    <a:pt x="370585" y="63627"/>
                  </a:lnTo>
                  <a:lnTo>
                    <a:pt x="337565" y="36576"/>
                  </a:lnTo>
                  <a:lnTo>
                    <a:pt x="300100" y="16637"/>
                  </a:lnTo>
                  <a:lnTo>
                    <a:pt x="259587" y="4318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88919" y="313753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170"/>
                  </a:moveTo>
                  <a:lnTo>
                    <a:pt x="5714" y="167386"/>
                  </a:lnTo>
                  <a:lnTo>
                    <a:pt x="22097" y="121666"/>
                  </a:lnTo>
                  <a:lnTo>
                    <a:pt x="47751" y="81407"/>
                  </a:lnTo>
                  <a:lnTo>
                    <a:pt x="81279" y="47752"/>
                  </a:lnTo>
                  <a:lnTo>
                    <a:pt x="121665" y="22098"/>
                  </a:lnTo>
                  <a:lnTo>
                    <a:pt x="167258" y="5842"/>
                  </a:lnTo>
                  <a:lnTo>
                    <a:pt x="217042" y="0"/>
                  </a:lnTo>
                  <a:lnTo>
                    <a:pt x="259587" y="4318"/>
                  </a:lnTo>
                  <a:lnTo>
                    <a:pt x="300100" y="16637"/>
                  </a:lnTo>
                  <a:lnTo>
                    <a:pt x="337565" y="36576"/>
                  </a:lnTo>
                  <a:lnTo>
                    <a:pt x="370585" y="63627"/>
                  </a:lnTo>
                  <a:lnTo>
                    <a:pt x="397636" y="96647"/>
                  </a:lnTo>
                  <a:lnTo>
                    <a:pt x="417575" y="134112"/>
                  </a:lnTo>
                  <a:lnTo>
                    <a:pt x="429894" y="174625"/>
                  </a:lnTo>
                  <a:lnTo>
                    <a:pt x="434213" y="217170"/>
                  </a:lnTo>
                  <a:lnTo>
                    <a:pt x="428370" y="266954"/>
                  </a:lnTo>
                  <a:lnTo>
                    <a:pt x="412114" y="312547"/>
                  </a:lnTo>
                  <a:lnTo>
                    <a:pt x="386460" y="352933"/>
                  </a:lnTo>
                  <a:lnTo>
                    <a:pt x="352805" y="386461"/>
                  </a:lnTo>
                  <a:lnTo>
                    <a:pt x="312546" y="412115"/>
                  </a:lnTo>
                  <a:lnTo>
                    <a:pt x="266826" y="428498"/>
                  </a:lnTo>
                  <a:lnTo>
                    <a:pt x="217042" y="434213"/>
                  </a:lnTo>
                  <a:lnTo>
                    <a:pt x="167258" y="428498"/>
                  </a:lnTo>
                  <a:lnTo>
                    <a:pt x="121665" y="412115"/>
                  </a:lnTo>
                  <a:lnTo>
                    <a:pt x="81279" y="386461"/>
                  </a:lnTo>
                  <a:lnTo>
                    <a:pt x="47751" y="352933"/>
                  </a:lnTo>
                  <a:lnTo>
                    <a:pt x="22097" y="312547"/>
                  </a:lnTo>
                  <a:lnTo>
                    <a:pt x="5714" y="266954"/>
                  </a:lnTo>
                  <a:lnTo>
                    <a:pt x="0" y="217170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23030" y="3167888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26814" y="876681"/>
            <a:ext cx="29292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solidFill>
                  <a:srgbClr val="164052"/>
                </a:solidFill>
                <a:latin typeface="Calibri"/>
                <a:cs typeface="Calibri"/>
              </a:rPr>
              <a:t>Le</a:t>
            </a:r>
            <a:r>
              <a:rPr sz="2500" b="1" spc="3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Cloud</a:t>
            </a:r>
            <a:r>
              <a:rPr sz="2500" b="1" spc="34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Computing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6814" y="3121228"/>
            <a:ext cx="5217160" cy="788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120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5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avantages</a:t>
            </a:r>
            <a:r>
              <a:rPr sz="2500" b="1" spc="3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5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5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70" dirty="0">
                <a:solidFill>
                  <a:srgbClr val="164052"/>
                </a:solidFill>
                <a:latin typeface="Calibri"/>
                <a:cs typeface="Calibri"/>
              </a:rPr>
              <a:t>virtualisation </a:t>
            </a:r>
            <a:r>
              <a:rPr sz="2500" b="1" spc="155" dirty="0">
                <a:solidFill>
                  <a:srgbClr val="164052"/>
                </a:solidFill>
                <a:latin typeface="Calibri"/>
                <a:cs typeface="Calibri"/>
              </a:rPr>
              <a:t>hardware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90125" y="881951"/>
            <a:ext cx="462915" cy="462915"/>
            <a:chOff x="3290125" y="881951"/>
            <a:chExt cx="462915" cy="462915"/>
          </a:xfrm>
        </p:grpSpPr>
        <p:sp>
          <p:nvSpPr>
            <p:cNvPr id="24" name="object 24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170" y="0"/>
                  </a:moveTo>
                  <a:lnTo>
                    <a:pt x="167386" y="5842"/>
                  </a:lnTo>
                  <a:lnTo>
                    <a:pt x="121665" y="22098"/>
                  </a:lnTo>
                  <a:lnTo>
                    <a:pt x="81407" y="47751"/>
                  </a:lnTo>
                  <a:lnTo>
                    <a:pt x="47751" y="81406"/>
                  </a:lnTo>
                  <a:lnTo>
                    <a:pt x="22098" y="121666"/>
                  </a:lnTo>
                  <a:lnTo>
                    <a:pt x="5841" y="167386"/>
                  </a:lnTo>
                  <a:lnTo>
                    <a:pt x="0" y="217169"/>
                  </a:lnTo>
                  <a:lnTo>
                    <a:pt x="5841" y="266826"/>
                  </a:lnTo>
                  <a:lnTo>
                    <a:pt x="22098" y="312547"/>
                  </a:lnTo>
                  <a:lnTo>
                    <a:pt x="47751" y="352932"/>
                  </a:lnTo>
                  <a:lnTo>
                    <a:pt x="81407" y="386461"/>
                  </a:lnTo>
                  <a:lnTo>
                    <a:pt x="121665" y="412114"/>
                  </a:lnTo>
                  <a:lnTo>
                    <a:pt x="167386" y="428498"/>
                  </a:lnTo>
                  <a:lnTo>
                    <a:pt x="217170" y="434213"/>
                  </a:lnTo>
                  <a:lnTo>
                    <a:pt x="266953" y="428498"/>
                  </a:lnTo>
                  <a:lnTo>
                    <a:pt x="312547" y="412114"/>
                  </a:lnTo>
                  <a:lnTo>
                    <a:pt x="352933" y="386461"/>
                  </a:lnTo>
                  <a:lnTo>
                    <a:pt x="386461" y="352932"/>
                  </a:lnTo>
                  <a:lnTo>
                    <a:pt x="412114" y="312547"/>
                  </a:lnTo>
                  <a:lnTo>
                    <a:pt x="428498" y="266826"/>
                  </a:lnTo>
                  <a:lnTo>
                    <a:pt x="434213" y="217169"/>
                  </a:lnTo>
                  <a:lnTo>
                    <a:pt x="430022" y="174625"/>
                  </a:lnTo>
                  <a:lnTo>
                    <a:pt x="417702" y="133984"/>
                  </a:lnTo>
                  <a:lnTo>
                    <a:pt x="397763" y="96647"/>
                  </a:lnTo>
                  <a:lnTo>
                    <a:pt x="370586" y="63626"/>
                  </a:lnTo>
                  <a:lnTo>
                    <a:pt x="337565" y="36575"/>
                  </a:lnTo>
                  <a:lnTo>
                    <a:pt x="300227" y="16509"/>
                  </a:lnTo>
                  <a:lnTo>
                    <a:pt x="259714" y="4318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69"/>
                  </a:moveTo>
                  <a:lnTo>
                    <a:pt x="5841" y="167386"/>
                  </a:lnTo>
                  <a:lnTo>
                    <a:pt x="22098" y="121666"/>
                  </a:lnTo>
                  <a:lnTo>
                    <a:pt x="47751" y="81406"/>
                  </a:lnTo>
                  <a:lnTo>
                    <a:pt x="81407" y="47751"/>
                  </a:lnTo>
                  <a:lnTo>
                    <a:pt x="121665" y="22098"/>
                  </a:lnTo>
                  <a:lnTo>
                    <a:pt x="167386" y="5842"/>
                  </a:lnTo>
                  <a:lnTo>
                    <a:pt x="217170" y="0"/>
                  </a:lnTo>
                  <a:lnTo>
                    <a:pt x="259714" y="4318"/>
                  </a:lnTo>
                  <a:lnTo>
                    <a:pt x="300227" y="16509"/>
                  </a:lnTo>
                  <a:lnTo>
                    <a:pt x="337565" y="36575"/>
                  </a:lnTo>
                  <a:lnTo>
                    <a:pt x="370586" y="63626"/>
                  </a:lnTo>
                  <a:lnTo>
                    <a:pt x="397763" y="96647"/>
                  </a:lnTo>
                  <a:lnTo>
                    <a:pt x="417702" y="133984"/>
                  </a:lnTo>
                  <a:lnTo>
                    <a:pt x="430022" y="174625"/>
                  </a:lnTo>
                  <a:lnTo>
                    <a:pt x="434213" y="217169"/>
                  </a:lnTo>
                  <a:lnTo>
                    <a:pt x="428498" y="266826"/>
                  </a:lnTo>
                  <a:lnTo>
                    <a:pt x="412114" y="312547"/>
                  </a:lnTo>
                  <a:lnTo>
                    <a:pt x="386461" y="352932"/>
                  </a:lnTo>
                  <a:lnTo>
                    <a:pt x="352933" y="386461"/>
                  </a:lnTo>
                  <a:lnTo>
                    <a:pt x="312547" y="412114"/>
                  </a:lnTo>
                  <a:lnTo>
                    <a:pt x="266953" y="428498"/>
                  </a:lnTo>
                  <a:lnTo>
                    <a:pt x="217170" y="434213"/>
                  </a:lnTo>
                  <a:lnTo>
                    <a:pt x="167386" y="428498"/>
                  </a:lnTo>
                  <a:lnTo>
                    <a:pt x="121665" y="412114"/>
                  </a:lnTo>
                  <a:lnTo>
                    <a:pt x="81407" y="386461"/>
                  </a:lnTo>
                  <a:lnTo>
                    <a:pt x="47751" y="352932"/>
                  </a:lnTo>
                  <a:lnTo>
                    <a:pt x="22098" y="312547"/>
                  </a:lnTo>
                  <a:lnTo>
                    <a:pt x="5841" y="266826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38525" y="926084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74632" y="4245547"/>
            <a:ext cx="462915" cy="462915"/>
            <a:chOff x="3274632" y="4245547"/>
            <a:chExt cx="462915" cy="462915"/>
          </a:xfrm>
        </p:grpSpPr>
        <p:sp>
          <p:nvSpPr>
            <p:cNvPr id="28" name="object 28"/>
            <p:cNvSpPr/>
            <p:nvPr/>
          </p:nvSpPr>
          <p:spPr>
            <a:xfrm>
              <a:off x="3288919" y="425983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5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80"/>
                  </a:lnTo>
                  <a:lnTo>
                    <a:pt x="22097" y="121539"/>
                  </a:lnTo>
                  <a:lnTo>
                    <a:pt x="5714" y="167259"/>
                  </a:lnTo>
                  <a:lnTo>
                    <a:pt x="0" y="217043"/>
                  </a:lnTo>
                  <a:lnTo>
                    <a:pt x="5714" y="266827"/>
                  </a:lnTo>
                  <a:lnTo>
                    <a:pt x="22097" y="312547"/>
                  </a:lnTo>
                  <a:lnTo>
                    <a:pt x="47751" y="352806"/>
                  </a:lnTo>
                  <a:lnTo>
                    <a:pt x="81279" y="386461"/>
                  </a:lnTo>
                  <a:lnTo>
                    <a:pt x="121665" y="412115"/>
                  </a:lnTo>
                  <a:lnTo>
                    <a:pt x="167258" y="428371"/>
                  </a:lnTo>
                  <a:lnTo>
                    <a:pt x="217042" y="434086"/>
                  </a:lnTo>
                  <a:lnTo>
                    <a:pt x="266826" y="428371"/>
                  </a:lnTo>
                  <a:lnTo>
                    <a:pt x="312546" y="412115"/>
                  </a:lnTo>
                  <a:lnTo>
                    <a:pt x="352805" y="386461"/>
                  </a:lnTo>
                  <a:lnTo>
                    <a:pt x="386460" y="352806"/>
                  </a:lnTo>
                  <a:lnTo>
                    <a:pt x="412114" y="312547"/>
                  </a:lnTo>
                  <a:lnTo>
                    <a:pt x="428370" y="266827"/>
                  </a:lnTo>
                  <a:lnTo>
                    <a:pt x="434213" y="217043"/>
                  </a:lnTo>
                  <a:lnTo>
                    <a:pt x="429894" y="174498"/>
                  </a:lnTo>
                  <a:lnTo>
                    <a:pt x="417575" y="133985"/>
                  </a:lnTo>
                  <a:lnTo>
                    <a:pt x="397636" y="96647"/>
                  </a:lnTo>
                  <a:lnTo>
                    <a:pt x="370585" y="63627"/>
                  </a:lnTo>
                  <a:lnTo>
                    <a:pt x="337565" y="36449"/>
                  </a:lnTo>
                  <a:lnTo>
                    <a:pt x="300100" y="16510"/>
                  </a:lnTo>
                  <a:lnTo>
                    <a:pt x="259587" y="4191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88919" y="425983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3"/>
                  </a:moveTo>
                  <a:lnTo>
                    <a:pt x="5714" y="167259"/>
                  </a:lnTo>
                  <a:lnTo>
                    <a:pt x="22097" y="121539"/>
                  </a:lnTo>
                  <a:lnTo>
                    <a:pt x="47751" y="81280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5"/>
                  </a:lnTo>
                  <a:lnTo>
                    <a:pt x="217042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565" y="36449"/>
                  </a:lnTo>
                  <a:lnTo>
                    <a:pt x="370585" y="63627"/>
                  </a:lnTo>
                  <a:lnTo>
                    <a:pt x="397636" y="96647"/>
                  </a:lnTo>
                  <a:lnTo>
                    <a:pt x="417575" y="133985"/>
                  </a:lnTo>
                  <a:lnTo>
                    <a:pt x="429894" y="174498"/>
                  </a:lnTo>
                  <a:lnTo>
                    <a:pt x="434213" y="217043"/>
                  </a:lnTo>
                  <a:lnTo>
                    <a:pt x="428370" y="266827"/>
                  </a:lnTo>
                  <a:lnTo>
                    <a:pt x="412114" y="312547"/>
                  </a:lnTo>
                  <a:lnTo>
                    <a:pt x="386460" y="352806"/>
                  </a:lnTo>
                  <a:lnTo>
                    <a:pt x="352805" y="386461"/>
                  </a:lnTo>
                  <a:lnTo>
                    <a:pt x="312546" y="412115"/>
                  </a:lnTo>
                  <a:lnTo>
                    <a:pt x="266826" y="428371"/>
                  </a:lnTo>
                  <a:lnTo>
                    <a:pt x="217042" y="434086"/>
                  </a:lnTo>
                  <a:lnTo>
                    <a:pt x="167258" y="428371"/>
                  </a:lnTo>
                  <a:lnTo>
                    <a:pt x="121665" y="412115"/>
                  </a:lnTo>
                  <a:lnTo>
                    <a:pt x="81279" y="386461"/>
                  </a:lnTo>
                  <a:lnTo>
                    <a:pt x="47751" y="352806"/>
                  </a:lnTo>
                  <a:lnTo>
                    <a:pt x="22097" y="312547"/>
                  </a:lnTo>
                  <a:lnTo>
                    <a:pt x="5714" y="266827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23030" y="4289882"/>
            <a:ext cx="15176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4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657" rIns="0" bIns="0" rtlCol="0">
            <a:spAutoFit/>
          </a:bodyPr>
          <a:lstStyle/>
          <a:p>
            <a:pPr marL="120014">
              <a:lnSpc>
                <a:spcPts val="1240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4208526" y="4244086"/>
            <a:ext cx="3548379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120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500" b="1" spc="41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nouveaux</a:t>
            </a:r>
            <a:r>
              <a:rPr sz="25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0" dirty="0">
                <a:solidFill>
                  <a:srgbClr val="164052"/>
                </a:solidFill>
                <a:latin typeface="Calibri"/>
                <a:cs typeface="Calibri"/>
              </a:rPr>
              <a:t>outils</a:t>
            </a:r>
            <a:r>
              <a:rPr sz="25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de </a:t>
            </a:r>
            <a:r>
              <a:rPr sz="2500" b="1" spc="170" dirty="0">
                <a:solidFill>
                  <a:srgbClr val="164052"/>
                </a:solidFill>
                <a:latin typeface="Calibri"/>
                <a:cs typeface="Calibri"/>
              </a:rPr>
              <a:t>virtualisation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</a:t>
            </a:r>
            <a:r>
              <a:rPr spc="-10" dirty="0"/>
              <a:t> </a:t>
            </a:r>
            <a:r>
              <a:rPr dirty="0"/>
              <a:t>Cloud</a:t>
            </a:r>
            <a:r>
              <a:rPr spc="-15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8445" rIns="0" bIns="0" rtlCol="0">
            <a:spAutoFit/>
          </a:bodyPr>
          <a:lstStyle/>
          <a:p>
            <a:pPr marL="43815">
              <a:lnSpc>
                <a:spcPts val="1614"/>
              </a:lnSpc>
            </a:pPr>
            <a:fld id="{81D60167-4931-47E6-BA6A-407CBD079E47}" type="slidenum">
              <a:rPr sz="1600" spc="-25" dirty="0"/>
              <a:t>55</a:t>
            </a:fld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9034145" cy="4783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Définition:</a:t>
            </a:r>
            <a:endParaRPr sz="2300">
              <a:latin typeface="Calibri"/>
              <a:cs typeface="Calibri"/>
            </a:endParaRPr>
          </a:p>
          <a:p>
            <a:pPr marL="12700" marR="153670" algn="just">
              <a:lnSpc>
                <a:spcPts val="2320"/>
              </a:lnSpc>
              <a:spcBef>
                <a:spcPts val="25"/>
              </a:spcBef>
            </a:pP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18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computing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est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fourniture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demande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puissance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calcul,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stockage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bases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données,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d'applications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d'autres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ressources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informatiques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via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plateforme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services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18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sur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Internet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tarification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l'usage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-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AWS.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7300"/>
              </a:lnSpc>
            </a:pP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termes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simples,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cloud computing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est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fourniture</a:t>
            </a:r>
            <a:r>
              <a:rPr sz="1800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services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informatiques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–</a:t>
            </a:r>
            <a:r>
              <a:rPr sz="18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serveurs, stockage,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bases</a:t>
            </a:r>
            <a:r>
              <a:rPr sz="18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données,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mise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réseau,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logiciels,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analyses,</a:t>
            </a:r>
            <a:r>
              <a:rPr sz="18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encore</a:t>
            </a:r>
            <a:r>
              <a:rPr sz="1800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–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via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Internet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(«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le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»)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–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Microsoft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Azure.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800">
              <a:latin typeface="Calibri"/>
              <a:cs typeface="Calibri"/>
            </a:endParaRPr>
          </a:p>
          <a:p>
            <a:pPr marL="12700" marR="98425">
              <a:lnSpc>
                <a:spcPct val="107300"/>
              </a:lnSpc>
            </a:pP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computing,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souvent</a:t>
            </a:r>
            <a:r>
              <a:rPr sz="18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appelé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simplement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«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»,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est</a:t>
            </a:r>
            <a:r>
              <a:rPr sz="18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fourniture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ressources informatiques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demande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–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allant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applications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aux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centres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données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–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via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Internet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avec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18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tarification</a:t>
            </a:r>
            <a:r>
              <a:rPr sz="18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8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l'usage</a:t>
            </a:r>
            <a:r>
              <a:rPr sz="18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–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IBM.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800">
              <a:latin typeface="Calibri"/>
              <a:cs typeface="Calibri"/>
            </a:endParaRPr>
          </a:p>
          <a:p>
            <a:pPr marL="12700" marR="681990">
              <a:lnSpc>
                <a:spcPct val="107200"/>
              </a:lnSpc>
              <a:spcBef>
                <a:spcPts val="5"/>
              </a:spcBef>
            </a:pP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computing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repose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sur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partage</a:t>
            </a:r>
            <a:r>
              <a:rPr sz="18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ressources</a:t>
            </a:r>
            <a:r>
              <a:rPr sz="18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obtenir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cohérence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18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52D37"/>
                </a:solidFill>
                <a:latin typeface="Calibri"/>
                <a:cs typeface="Calibri"/>
              </a:rPr>
              <a:t>des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économies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d'échelle,</a:t>
            </a:r>
            <a:r>
              <a:rPr sz="1800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similaire</a:t>
            </a:r>
            <a:r>
              <a:rPr sz="18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8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18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utilité</a:t>
            </a:r>
            <a:r>
              <a:rPr sz="1800" spc="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D37"/>
                </a:solidFill>
                <a:latin typeface="Calibri"/>
                <a:cs typeface="Calibri"/>
              </a:rPr>
              <a:t>-</a:t>
            </a:r>
            <a:r>
              <a:rPr sz="18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52D37"/>
                </a:solidFill>
                <a:latin typeface="Calibri"/>
                <a:cs typeface="Calibri"/>
              </a:rPr>
              <a:t>Wikipédia.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140" y="133857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50" dirty="0"/>
              <a:t> </a:t>
            </a:r>
            <a:r>
              <a:rPr dirty="0"/>
              <a:t>caractéristiques</a:t>
            </a:r>
            <a:r>
              <a:rPr spc="-65" dirty="0"/>
              <a:t> </a:t>
            </a:r>
            <a:r>
              <a:rPr dirty="0"/>
              <a:t>principales</a:t>
            </a:r>
            <a:r>
              <a:rPr spc="-75" dirty="0"/>
              <a:t> </a:t>
            </a:r>
            <a:r>
              <a:rPr dirty="0"/>
              <a:t>du</a:t>
            </a:r>
            <a:r>
              <a:rPr spc="-50" dirty="0"/>
              <a:t> </a:t>
            </a:r>
            <a:r>
              <a:rPr spc="-10" dirty="0"/>
              <a:t>cloud: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8445" rIns="0" bIns="0" rtlCol="0">
            <a:spAutoFit/>
          </a:bodyPr>
          <a:lstStyle/>
          <a:p>
            <a:pPr marL="43815">
              <a:lnSpc>
                <a:spcPts val="1614"/>
              </a:lnSpc>
            </a:pPr>
            <a:fld id="{81D60167-4931-47E6-BA6A-407CBD079E47}" type="slidenum">
              <a:rPr sz="1600" spc="-25" dirty="0"/>
              <a:t>56</a:t>
            </a:fld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65200" y="1549026"/>
            <a:ext cx="9103995" cy="55384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47625" indent="-342900">
              <a:lnSpc>
                <a:spcPct val="107300"/>
              </a:lnSpc>
              <a:spcBef>
                <a:spcPts val="110"/>
              </a:spcBef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Accès</a:t>
            </a:r>
            <a:r>
              <a:rPr sz="16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6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6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demande</a:t>
            </a:r>
            <a:r>
              <a:rPr sz="16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(On-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Demand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Self-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Service)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utilisateurs</a:t>
            </a:r>
            <a:r>
              <a:rPr sz="16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peuvent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provisionner</a:t>
            </a:r>
            <a:r>
              <a:rPr sz="16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6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ressources informatiques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(serveurs,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stockage,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applications,</a:t>
            </a:r>
            <a:r>
              <a:rPr sz="16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etc.)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manière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autonome,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sans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intervention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humaine,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à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tout</a:t>
            </a:r>
            <a:r>
              <a:rPr sz="16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moment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selon</a:t>
            </a:r>
            <a:r>
              <a:rPr sz="16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leurs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besoins.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35"/>
              </a:spcBef>
              <a:buClr>
                <a:srgbClr val="252D37"/>
              </a:buClr>
              <a:buFont typeface="Symbol"/>
              <a:buChar char=""/>
            </a:pP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Symbol"/>
              <a:buChar char=""/>
              <a:tabLst>
                <a:tab pos="354965" algn="l"/>
              </a:tabLst>
            </a:pP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Large</a:t>
            </a:r>
            <a:r>
              <a:rPr sz="16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accès</a:t>
            </a:r>
            <a:r>
              <a:rPr sz="1600" b="1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réseau</a:t>
            </a:r>
            <a:r>
              <a:rPr sz="16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(Broad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Network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Access)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16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6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services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sont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accessibles</a:t>
            </a:r>
            <a:r>
              <a:rPr sz="16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via</a:t>
            </a:r>
            <a:r>
              <a:rPr sz="16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Internet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6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partir</a:t>
            </a:r>
            <a:r>
              <a:rPr sz="16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divers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appareils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(ordinateurs,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smartphones,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 tablettes),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garantissant</a:t>
            </a:r>
            <a:r>
              <a:rPr sz="1600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accessibilité</a:t>
            </a:r>
            <a:r>
              <a:rPr sz="16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ubiquitaire.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1600">
              <a:latin typeface="Calibri"/>
              <a:cs typeface="Calibri"/>
            </a:endParaRPr>
          </a:p>
          <a:p>
            <a:pPr marL="355600" marR="5080" indent="-342900">
              <a:lnSpc>
                <a:spcPct val="106900"/>
              </a:lnSpc>
              <a:spcBef>
                <a:spcPts val="5"/>
              </a:spcBef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Mutualisation</a:t>
            </a:r>
            <a:r>
              <a:rPr sz="1600" b="1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6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52D37"/>
                </a:solidFill>
                <a:latin typeface="Calibri"/>
                <a:cs typeface="Calibri"/>
              </a:rPr>
              <a:t>ressources</a:t>
            </a:r>
            <a:r>
              <a:rPr sz="16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(Resource Pooling)</a:t>
            </a:r>
            <a:r>
              <a:rPr sz="16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repose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sur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mutualisation</a:t>
            </a:r>
            <a:r>
              <a:rPr sz="16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ressources,</a:t>
            </a:r>
            <a:r>
              <a:rPr sz="1600" spc="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où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capacités</a:t>
            </a:r>
            <a:r>
              <a:rPr sz="16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calcul</a:t>
            </a:r>
            <a:r>
              <a:rPr sz="16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stockage</a:t>
            </a:r>
            <a:r>
              <a:rPr sz="16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sont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partagées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entre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plusieurs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utilisateurs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via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infrastructure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commune,</a:t>
            </a:r>
            <a:r>
              <a:rPr sz="16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tout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assurant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sécurité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6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séparation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données.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buClr>
                <a:srgbClr val="252D37"/>
              </a:buClr>
              <a:buFont typeface="Symbol"/>
              <a:buChar char=""/>
            </a:pPr>
            <a:endParaRPr sz="1600">
              <a:latin typeface="Calibri"/>
              <a:cs typeface="Calibri"/>
            </a:endParaRPr>
          </a:p>
          <a:p>
            <a:pPr marL="355600" marR="52069" indent="-342900">
              <a:lnSpc>
                <a:spcPct val="106900"/>
              </a:lnSpc>
              <a:buFont typeface="Symbol"/>
              <a:buChar char=""/>
              <a:tabLst>
                <a:tab pos="355600" algn="l"/>
              </a:tabLst>
            </a:pPr>
            <a:r>
              <a:rPr sz="1600" b="1" spc="-10" dirty="0">
                <a:solidFill>
                  <a:srgbClr val="252D37"/>
                </a:solidFill>
                <a:latin typeface="Calibri"/>
                <a:cs typeface="Calibri"/>
              </a:rPr>
              <a:t>Élasticité</a:t>
            </a:r>
            <a:r>
              <a:rPr sz="1600" b="1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52D37"/>
                </a:solidFill>
                <a:latin typeface="Calibri"/>
                <a:cs typeface="Calibri"/>
              </a:rPr>
              <a:t>rapide</a:t>
            </a:r>
            <a:r>
              <a:rPr sz="16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(Rapid</a:t>
            </a:r>
            <a:r>
              <a:rPr sz="16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Elasticity)</a:t>
            </a:r>
            <a:r>
              <a:rPr sz="1600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permet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faire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évoluer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 rapidement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dynamiquement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les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ressources</a:t>
            </a:r>
            <a:r>
              <a:rPr sz="1600" spc="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16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fonction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16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demande.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utilisateurs</a:t>
            </a:r>
            <a:r>
              <a:rPr sz="1600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peuvent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augmenter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ou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diminuer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leurs</a:t>
            </a:r>
            <a:r>
              <a:rPr sz="16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capacités</a:t>
            </a:r>
            <a:r>
              <a:rPr sz="16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de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manière</a:t>
            </a:r>
            <a:r>
              <a:rPr sz="16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flexible,</a:t>
            </a:r>
            <a:r>
              <a:rPr sz="1600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souvent</a:t>
            </a:r>
            <a:r>
              <a:rPr sz="16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6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façon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automatique.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5"/>
              </a:spcBef>
              <a:buClr>
                <a:srgbClr val="252D37"/>
              </a:buClr>
              <a:buFont typeface="Symbol"/>
              <a:buChar char=""/>
            </a:pPr>
            <a:endParaRPr sz="1600">
              <a:latin typeface="Calibri"/>
              <a:cs typeface="Calibri"/>
            </a:endParaRPr>
          </a:p>
          <a:p>
            <a:pPr marL="355600" marR="111125" indent="-342900">
              <a:lnSpc>
                <a:spcPct val="106900"/>
              </a:lnSpc>
              <a:spcBef>
                <a:spcPts val="5"/>
              </a:spcBef>
              <a:buFont typeface="Symbol"/>
              <a:buChar char=""/>
              <a:tabLst>
                <a:tab pos="355600" algn="l"/>
              </a:tabLst>
            </a:pP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Service</a:t>
            </a:r>
            <a:r>
              <a:rPr sz="16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52D37"/>
                </a:solidFill>
                <a:latin typeface="Calibri"/>
                <a:cs typeface="Calibri"/>
              </a:rPr>
              <a:t>mesuré</a:t>
            </a:r>
            <a:r>
              <a:rPr sz="16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(Measured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Service)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ressources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 utilisées</a:t>
            </a:r>
            <a:r>
              <a:rPr sz="1600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sont</a:t>
            </a: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surveillées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16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mesurées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16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précision, offrant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ainsi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modèle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 facturation</a:t>
            </a:r>
            <a:r>
              <a:rPr sz="16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l'usage,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où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16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utilisateurs</a:t>
            </a:r>
            <a:r>
              <a:rPr sz="16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paient</a:t>
            </a:r>
            <a:r>
              <a:rPr sz="16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uniquement</a:t>
            </a:r>
            <a:r>
              <a:rPr sz="16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pour ce</a:t>
            </a:r>
            <a:r>
              <a:rPr sz="16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52D37"/>
                </a:solidFill>
                <a:latin typeface="Calibri"/>
                <a:cs typeface="Calibri"/>
              </a:rPr>
              <a:t>qu'ils consomment.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-51994"/>
            <a:ext cx="6946900" cy="108394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13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apports</a:t>
            </a:r>
            <a:r>
              <a:rPr spc="-30" dirty="0"/>
              <a:t> </a:t>
            </a:r>
            <a:r>
              <a:rPr dirty="0"/>
              <a:t>des</a:t>
            </a:r>
            <a:r>
              <a:rPr spc="-30" dirty="0"/>
              <a:t> </a:t>
            </a:r>
            <a:r>
              <a:rPr dirty="0"/>
              <a:t>infrastructures</a:t>
            </a:r>
            <a:r>
              <a:rPr spc="-60" dirty="0"/>
              <a:t> </a:t>
            </a:r>
            <a:r>
              <a:rPr spc="-10" dirty="0"/>
              <a:t>Cloud</a:t>
            </a: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127079"/>
                </a:solidFill>
              </a:rPr>
              <a:t>Les</a:t>
            </a:r>
            <a:r>
              <a:rPr sz="2000" spc="-45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modèles</a:t>
            </a:r>
            <a:r>
              <a:rPr sz="2000" spc="-35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de</a:t>
            </a:r>
            <a:r>
              <a:rPr sz="2000" spc="-40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services</a:t>
            </a:r>
            <a:r>
              <a:rPr sz="2000" spc="-25" dirty="0">
                <a:solidFill>
                  <a:srgbClr val="127079"/>
                </a:solidFill>
              </a:rPr>
              <a:t> </a:t>
            </a:r>
            <a:r>
              <a:rPr sz="2000" spc="-10" dirty="0">
                <a:solidFill>
                  <a:srgbClr val="127079"/>
                </a:solidFill>
              </a:rPr>
              <a:t>Cloud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450900" y="1549026"/>
            <a:ext cx="4890770" cy="54438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71120" indent="-342900">
              <a:lnSpc>
                <a:spcPct val="107100"/>
              </a:lnSpc>
              <a:spcBef>
                <a:spcPts val="110"/>
              </a:spcBef>
              <a:buFont typeface="Symbol"/>
              <a:buChar char=""/>
              <a:tabLst>
                <a:tab pos="355600" algn="l"/>
              </a:tabLst>
            </a:pPr>
            <a:r>
              <a:rPr sz="1600" dirty="0">
                <a:latin typeface="Calibri"/>
                <a:cs typeface="Calibri"/>
              </a:rPr>
              <a:t>Iaas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computing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infrastructure,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physical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(quite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often)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virtual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machines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 </a:t>
            </a:r>
            <a:r>
              <a:rPr sz="1600" spc="-10" dirty="0">
                <a:latin typeface="Calibri"/>
                <a:cs typeface="Calibri"/>
              </a:rPr>
              <a:t>ressources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virtual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machine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image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library,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block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file-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storage,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firewalls,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load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balancers,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IP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addresses, </a:t>
            </a:r>
            <a:r>
              <a:rPr sz="1600" dirty="0">
                <a:latin typeface="Calibri"/>
                <a:cs typeface="Calibri"/>
              </a:rPr>
              <a:t>virtual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network </a:t>
            </a:r>
            <a:r>
              <a:rPr sz="1600" spc="-25" dirty="0">
                <a:latin typeface="Calibri"/>
                <a:cs typeface="Calibri"/>
              </a:rPr>
              <a:t>etc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sz="1600" b="1" dirty="0">
                <a:latin typeface="Calibri"/>
                <a:cs typeface="Calibri"/>
              </a:rPr>
              <a:t>Examples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Amazon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EC2,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windows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Azure,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Rackspace,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sz="1600" b="1" dirty="0">
                <a:latin typeface="Calibri"/>
                <a:cs typeface="Calibri"/>
              </a:rPr>
              <a:t>Google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Compute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Engine</a:t>
            </a:r>
            <a:endParaRPr sz="1600">
              <a:latin typeface="Calibri"/>
              <a:cs typeface="Calibri"/>
            </a:endParaRPr>
          </a:p>
          <a:p>
            <a:pPr marL="355600" marR="23495" indent="-342900">
              <a:lnSpc>
                <a:spcPct val="107000"/>
              </a:lnSpc>
              <a:spcBef>
                <a:spcPts val="1800"/>
              </a:spcBef>
              <a:buFont typeface="Symbol"/>
              <a:buChar char=""/>
              <a:tabLst>
                <a:tab pos="355600" algn="l"/>
              </a:tabLst>
            </a:pPr>
            <a:r>
              <a:rPr sz="1600" dirty="0">
                <a:latin typeface="Calibri"/>
                <a:cs typeface="Calibri"/>
              </a:rPr>
              <a:t>Paas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computing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platforms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typically </a:t>
            </a:r>
            <a:r>
              <a:rPr sz="1600" dirty="0">
                <a:latin typeface="Calibri"/>
                <a:cs typeface="Calibri"/>
              </a:rPr>
              <a:t>includes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operating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programming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language </a:t>
            </a:r>
            <a:r>
              <a:rPr sz="1600" dirty="0">
                <a:latin typeface="Calibri"/>
                <a:cs typeface="Calibri"/>
              </a:rPr>
              <a:t>execution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environment,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web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etc </a:t>
            </a:r>
            <a:r>
              <a:rPr sz="1600" b="1" dirty="0">
                <a:latin typeface="Calibri"/>
                <a:cs typeface="Calibri"/>
              </a:rPr>
              <a:t>Example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AWS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Elastic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Beanstalk,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windows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Azure, </a:t>
            </a:r>
            <a:r>
              <a:rPr sz="1600" b="1" dirty="0">
                <a:latin typeface="Calibri"/>
                <a:cs typeface="Calibri"/>
              </a:rPr>
              <a:t>Heroku,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Force.com,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Google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App</a:t>
            </a:r>
            <a:r>
              <a:rPr sz="1600" b="1" spc="-10" dirty="0">
                <a:latin typeface="Calibri"/>
                <a:cs typeface="Calibri"/>
              </a:rPr>
              <a:t> Engine</a:t>
            </a:r>
            <a:endParaRPr sz="1600">
              <a:latin typeface="Calibri"/>
              <a:cs typeface="Calibri"/>
            </a:endParaRPr>
          </a:p>
          <a:p>
            <a:pPr marL="355600" marR="334645" indent="-342900">
              <a:lnSpc>
                <a:spcPct val="106900"/>
              </a:lnSpc>
              <a:spcBef>
                <a:spcPts val="1800"/>
              </a:spcBef>
              <a:buFont typeface="Symbol"/>
              <a:buChar char=""/>
              <a:tabLst>
                <a:tab pos="355600" algn="l"/>
              </a:tabLst>
            </a:pPr>
            <a:r>
              <a:rPr sz="1600" dirty="0">
                <a:latin typeface="Calibri"/>
                <a:cs typeface="Calibri"/>
              </a:rPr>
              <a:t>Saas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application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software </a:t>
            </a:r>
            <a:r>
              <a:rPr sz="1600" dirty="0">
                <a:latin typeface="Calibri"/>
                <a:cs typeface="Calibri"/>
              </a:rPr>
              <a:t>often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referred 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«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on-</a:t>
            </a:r>
            <a:r>
              <a:rPr sz="1600" dirty="0">
                <a:latin typeface="Calibri"/>
                <a:cs typeface="Calibri"/>
              </a:rPr>
              <a:t>demand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software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».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You</a:t>
            </a:r>
            <a:endParaRPr sz="1600">
              <a:latin typeface="Calibri"/>
              <a:cs typeface="Calibri"/>
            </a:endParaRPr>
          </a:p>
          <a:p>
            <a:pPr marL="355600" marR="156210">
              <a:lnSpc>
                <a:spcPct val="106900"/>
              </a:lnSpc>
            </a:pPr>
            <a:r>
              <a:rPr sz="1600" dirty="0">
                <a:latin typeface="Calibri"/>
                <a:cs typeface="Calibri"/>
              </a:rPr>
              <a:t>don’t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worry about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installation,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setup</a:t>
            </a:r>
            <a:r>
              <a:rPr sz="1600" spc="-25" dirty="0">
                <a:latin typeface="Calibri"/>
                <a:cs typeface="Calibri"/>
              </a:rPr>
              <a:t> and </a:t>
            </a:r>
            <a:r>
              <a:rPr sz="1600" dirty="0">
                <a:latin typeface="Calibri"/>
                <a:cs typeface="Calibri"/>
              </a:rPr>
              <a:t>running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application.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do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you.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just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10" dirty="0">
                <a:latin typeface="Calibri"/>
                <a:cs typeface="Calibri"/>
              </a:rPr>
              <a:t> throught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5"/>
              </a:spcBef>
            </a:pPr>
            <a:r>
              <a:rPr sz="1600" dirty="0">
                <a:latin typeface="Calibri"/>
                <a:cs typeface="Calibri"/>
              </a:rPr>
              <a:t>some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client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30"/>
              </a:spcBef>
            </a:pPr>
            <a:r>
              <a:rPr sz="1600" b="1" dirty="0">
                <a:latin typeface="Calibri"/>
                <a:cs typeface="Calibri"/>
              </a:rPr>
              <a:t>Example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Google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Apps,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Microsoft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office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365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0350" y="2330450"/>
            <a:ext cx="4574286" cy="30232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600" spc="-25" dirty="0"/>
              <a:t>57</a:t>
            </a:fld>
            <a:endParaRPr sz="1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175" y="1397000"/>
            <a:ext cx="8896350" cy="4762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3" y="-51994"/>
            <a:ext cx="6946900" cy="108394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13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apports</a:t>
            </a:r>
            <a:r>
              <a:rPr spc="-30" dirty="0"/>
              <a:t> </a:t>
            </a:r>
            <a:r>
              <a:rPr dirty="0"/>
              <a:t>des</a:t>
            </a:r>
            <a:r>
              <a:rPr spc="-30" dirty="0"/>
              <a:t> </a:t>
            </a:r>
            <a:r>
              <a:rPr dirty="0"/>
              <a:t>infrastructures</a:t>
            </a:r>
            <a:r>
              <a:rPr spc="-60" dirty="0"/>
              <a:t> </a:t>
            </a:r>
            <a:r>
              <a:rPr spc="-10" dirty="0"/>
              <a:t>Cloud</a:t>
            </a: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127079"/>
                </a:solidFill>
              </a:rPr>
              <a:t>Les</a:t>
            </a:r>
            <a:r>
              <a:rPr sz="2000" spc="-45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modèles</a:t>
            </a:r>
            <a:r>
              <a:rPr sz="2000" spc="-35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de</a:t>
            </a:r>
            <a:r>
              <a:rPr sz="2000" spc="-40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services</a:t>
            </a:r>
            <a:r>
              <a:rPr sz="2000" spc="-25" dirty="0">
                <a:solidFill>
                  <a:srgbClr val="127079"/>
                </a:solidFill>
              </a:rPr>
              <a:t> </a:t>
            </a:r>
            <a:r>
              <a:rPr sz="2000" spc="-10" dirty="0">
                <a:solidFill>
                  <a:srgbClr val="127079"/>
                </a:solidFill>
              </a:rPr>
              <a:t>Cloud</a:t>
            </a:r>
            <a:endParaRPr sz="2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600" spc="-25" dirty="0"/>
              <a:t>58</a:t>
            </a:fld>
            <a:endParaRPr sz="1600"/>
          </a:p>
        </p:txBody>
      </p:sp>
      <p:sp>
        <p:nvSpPr>
          <p:cNvPr id="4" name="object 4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2750" y="1340104"/>
            <a:ext cx="6953884" cy="48761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3" y="-51994"/>
            <a:ext cx="6946900" cy="108394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13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apports</a:t>
            </a:r>
            <a:r>
              <a:rPr spc="-30" dirty="0"/>
              <a:t> </a:t>
            </a:r>
            <a:r>
              <a:rPr dirty="0"/>
              <a:t>des</a:t>
            </a:r>
            <a:r>
              <a:rPr spc="-30" dirty="0"/>
              <a:t> </a:t>
            </a:r>
            <a:r>
              <a:rPr dirty="0"/>
              <a:t>infrastructures</a:t>
            </a:r>
            <a:r>
              <a:rPr spc="-60" dirty="0"/>
              <a:t> </a:t>
            </a:r>
            <a:r>
              <a:rPr spc="-10" dirty="0"/>
              <a:t>Cloud</a:t>
            </a: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127079"/>
                </a:solidFill>
              </a:rPr>
              <a:t>Les</a:t>
            </a:r>
            <a:r>
              <a:rPr sz="2000" spc="-30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modèles</a:t>
            </a:r>
            <a:r>
              <a:rPr sz="2000" spc="-15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de</a:t>
            </a:r>
            <a:r>
              <a:rPr sz="2000" spc="-25" dirty="0">
                <a:solidFill>
                  <a:srgbClr val="127079"/>
                </a:solidFill>
              </a:rPr>
              <a:t> </a:t>
            </a:r>
            <a:r>
              <a:rPr sz="2000" spc="-10" dirty="0">
                <a:solidFill>
                  <a:srgbClr val="127079"/>
                </a:solidFill>
              </a:rPr>
              <a:t>déploiement</a:t>
            </a:r>
            <a:endParaRPr sz="2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600" spc="-25" dirty="0"/>
              <a:t>59</a:t>
            </a:fld>
            <a:endParaRPr sz="1600"/>
          </a:p>
        </p:txBody>
      </p:sp>
      <p:sp>
        <p:nvSpPr>
          <p:cNvPr id="4" name="object 4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0900" y="1273277"/>
            <a:ext cx="9515475" cy="552640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60"/>
              </a:spcBef>
              <a:buClr>
                <a:srgbClr val="252D37"/>
              </a:buClr>
              <a:buFont typeface="Calibri"/>
              <a:buAutoNum type="arabicPeriod"/>
              <a:tabLst>
                <a:tab pos="354965" algn="l"/>
              </a:tabLst>
            </a:pP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2000" b="1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privé</a:t>
            </a:r>
            <a:r>
              <a:rPr sz="20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(Private</a:t>
            </a:r>
            <a:r>
              <a:rPr sz="20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Cloud)</a:t>
            </a:r>
            <a:r>
              <a:rPr sz="2000" b="1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756285" marR="306070" lvl="1" indent="-287020">
              <a:lnSpc>
                <a:spcPct val="107000"/>
              </a:lnSpc>
              <a:spcBef>
                <a:spcPts val="790"/>
              </a:spcBef>
              <a:buSzPct val="50000"/>
              <a:buFont typeface="Courier New"/>
              <a:buChar char="o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Description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L’infrastructure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utilisée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exclusivement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seule organisation.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être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hébergée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localement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centre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données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tiers.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modèle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meilleur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contrôle,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sécurité,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personnalisation, </a:t>
            </a:r>
            <a:r>
              <a:rPr sz="2000" dirty="0">
                <a:latin typeface="Calibri"/>
                <a:cs typeface="Calibri"/>
              </a:rPr>
              <a:t>souvent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préféré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entreprises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ayant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besoins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spécifiques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matière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conformité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confidentialité.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969"/>
              </a:spcBef>
              <a:buSzPct val="50000"/>
              <a:buFont typeface="Courier New"/>
              <a:buChar char="o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Exemples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internes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d’entreprise,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privés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hébergés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fournisseurs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175"/>
              </a:spcBef>
            </a:pPr>
            <a:r>
              <a:rPr sz="2000" dirty="0">
                <a:latin typeface="Calibri"/>
                <a:cs typeface="Calibri"/>
              </a:rPr>
              <a:t>spécialisés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(VMware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vSphere,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OpenStack).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69"/>
              </a:spcBef>
              <a:buAutoNum type="arabicPeriod" startAt="2"/>
              <a:tabLst>
                <a:tab pos="354965" algn="l"/>
              </a:tabLst>
            </a:pP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2000" b="1" spc="-10" dirty="0">
                <a:solidFill>
                  <a:srgbClr val="252D37"/>
                </a:solidFill>
                <a:latin typeface="Calibri"/>
                <a:cs typeface="Calibri"/>
              </a:rPr>
              <a:t> communautaire</a:t>
            </a:r>
            <a:r>
              <a:rPr sz="20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(Community</a:t>
            </a:r>
            <a:r>
              <a:rPr sz="20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Cloud)</a:t>
            </a:r>
            <a:r>
              <a:rPr sz="2000" b="1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756285" marR="5080" lvl="1" indent="-287020">
              <a:lnSpc>
                <a:spcPct val="107000"/>
              </a:lnSpc>
              <a:spcBef>
                <a:spcPts val="790"/>
              </a:spcBef>
              <a:buSzPct val="50000"/>
              <a:buFont typeface="Courier New"/>
              <a:buChar char="o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Description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Partagé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plusieurs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organisations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avec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besoins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communs,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comme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objectifs,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exigences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sécurité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règles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conformité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similaires.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Les </a:t>
            </a:r>
            <a:r>
              <a:rPr sz="2000" dirty="0">
                <a:latin typeface="Calibri"/>
                <a:cs typeface="Calibri"/>
              </a:rPr>
              <a:t>coûts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l'infrastructure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partagés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participants,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restent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limités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à </a:t>
            </a:r>
            <a:r>
              <a:rPr sz="2000" dirty="0">
                <a:latin typeface="Calibri"/>
                <a:cs typeface="Calibri"/>
              </a:rPr>
              <a:t>cette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communauté.</a:t>
            </a:r>
            <a:endParaRPr sz="2000">
              <a:latin typeface="Calibri"/>
              <a:cs typeface="Calibri"/>
            </a:endParaRPr>
          </a:p>
          <a:p>
            <a:pPr marL="756285" marR="144145" lvl="1" indent="-287020">
              <a:lnSpc>
                <a:spcPct val="107000"/>
              </a:lnSpc>
              <a:spcBef>
                <a:spcPts val="805"/>
              </a:spcBef>
              <a:buSzPct val="50000"/>
              <a:buFont typeface="Courier New"/>
              <a:buChar char="o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Exemples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pour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gouvernements,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institutions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académiques,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industries </a:t>
            </a:r>
            <a:r>
              <a:rPr sz="2000" dirty="0">
                <a:latin typeface="Calibri"/>
                <a:cs typeface="Calibri"/>
              </a:rPr>
              <a:t>spécifiques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santé.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600" spc="-25" dirty="0"/>
              <a:t>60</a:t>
            </a:fld>
            <a:endParaRPr sz="16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3" y="-51994"/>
            <a:ext cx="6946900" cy="108394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13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apports</a:t>
            </a:r>
            <a:r>
              <a:rPr spc="-30" dirty="0"/>
              <a:t> </a:t>
            </a:r>
            <a:r>
              <a:rPr dirty="0"/>
              <a:t>des</a:t>
            </a:r>
            <a:r>
              <a:rPr spc="-30" dirty="0"/>
              <a:t> </a:t>
            </a:r>
            <a:r>
              <a:rPr dirty="0"/>
              <a:t>infrastructures</a:t>
            </a:r>
            <a:r>
              <a:rPr spc="-60" dirty="0"/>
              <a:t> </a:t>
            </a:r>
            <a:r>
              <a:rPr spc="-10" dirty="0"/>
              <a:t>Cloud</a:t>
            </a: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127079"/>
                </a:solidFill>
              </a:rPr>
              <a:t>Les</a:t>
            </a:r>
            <a:r>
              <a:rPr sz="2000" spc="-30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modèles</a:t>
            </a:r>
            <a:r>
              <a:rPr sz="2000" spc="-15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de</a:t>
            </a:r>
            <a:r>
              <a:rPr sz="2000" spc="-25" dirty="0">
                <a:solidFill>
                  <a:srgbClr val="127079"/>
                </a:solidFill>
              </a:rPr>
              <a:t> </a:t>
            </a:r>
            <a:r>
              <a:rPr sz="2000" spc="-10" dirty="0">
                <a:solidFill>
                  <a:srgbClr val="127079"/>
                </a:solidFill>
              </a:rPr>
              <a:t>déploiement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0900" y="1317472"/>
            <a:ext cx="9745345" cy="487743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70"/>
              </a:spcBef>
              <a:buClr>
                <a:srgbClr val="252D37"/>
              </a:buClr>
              <a:buFont typeface="Calibri"/>
              <a:buAutoNum type="arabicPeriod" startAt="3"/>
              <a:tabLst>
                <a:tab pos="354965" algn="l"/>
              </a:tabLst>
            </a:pP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2000" b="1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public</a:t>
            </a:r>
            <a:r>
              <a:rPr sz="20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(Public</a:t>
            </a:r>
            <a:r>
              <a:rPr sz="20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Cloud)</a:t>
            </a:r>
            <a:r>
              <a:rPr sz="2000" b="1" spc="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756285" marR="5080" lvl="1" indent="-287020">
              <a:lnSpc>
                <a:spcPct val="107000"/>
              </a:lnSpc>
              <a:spcBef>
                <a:spcPts val="805"/>
              </a:spcBef>
              <a:buSzPct val="50000"/>
              <a:buFont typeface="Courier New"/>
              <a:buChar char="o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Description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L’infrastructure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ouverte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public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exploitée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un </a:t>
            </a:r>
            <a:r>
              <a:rPr sz="2000" spc="-10" dirty="0">
                <a:latin typeface="Calibri"/>
                <a:cs typeface="Calibri"/>
              </a:rPr>
              <a:t>fournisseur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services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tiers.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modèle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plus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courant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grande </a:t>
            </a:r>
            <a:r>
              <a:rPr sz="2000" dirty="0">
                <a:latin typeface="Calibri"/>
                <a:cs typeface="Calibri"/>
              </a:rPr>
              <a:t>évolutivité,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ressources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partagées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d'autres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utilisateurs.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coûts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sont </a:t>
            </a:r>
            <a:r>
              <a:rPr sz="2000" dirty="0">
                <a:latin typeface="Calibri"/>
                <a:cs typeface="Calibri"/>
              </a:rPr>
              <a:t>plus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faibles,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l'infrastructure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mutualisée.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969"/>
              </a:spcBef>
              <a:buSzPct val="50000"/>
              <a:buFont typeface="Courier New"/>
              <a:buChar char="o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Exemples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Amazon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Web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Services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(AWS),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Microsoft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Azure,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Google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Cloud.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AutoNum type="arabicPeriod" startAt="3"/>
              <a:tabLst>
                <a:tab pos="354965" algn="l"/>
              </a:tabLst>
            </a:pP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Cloud</a:t>
            </a:r>
            <a:r>
              <a:rPr sz="20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hybride</a:t>
            </a:r>
            <a:r>
              <a:rPr sz="20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(Hybrid</a:t>
            </a:r>
            <a:r>
              <a:rPr sz="20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D37"/>
                </a:solidFill>
                <a:latin typeface="Calibri"/>
                <a:cs typeface="Calibri"/>
              </a:rPr>
              <a:t>Cloud)</a:t>
            </a:r>
            <a:r>
              <a:rPr sz="20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756285" marR="107314" lvl="1" indent="-287020">
              <a:lnSpc>
                <a:spcPct val="107000"/>
              </a:lnSpc>
              <a:spcBef>
                <a:spcPts val="810"/>
              </a:spcBef>
              <a:buSzPct val="50000"/>
              <a:buFont typeface="Courier New"/>
              <a:buChar char="o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Description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Combinaison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d'un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privé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d'un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public,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permettant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aux </a:t>
            </a:r>
            <a:r>
              <a:rPr sz="2000" spc="-10" dirty="0">
                <a:latin typeface="Calibri"/>
                <a:cs typeface="Calibri"/>
              </a:rPr>
              <a:t>organisations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conserver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données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sensibles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privé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tout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tirant </a:t>
            </a:r>
            <a:r>
              <a:rPr sz="2000" dirty="0">
                <a:latin typeface="Calibri"/>
                <a:cs typeface="Calibri"/>
              </a:rPr>
              <a:t>parti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flexibilité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scalabilité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public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pour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d'autres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opérations.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Cette </a:t>
            </a:r>
            <a:r>
              <a:rPr sz="2000" dirty="0">
                <a:latin typeface="Calibri"/>
                <a:cs typeface="Calibri"/>
              </a:rPr>
              <a:t>approche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coûts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sécurité.</a:t>
            </a:r>
            <a:endParaRPr sz="2000">
              <a:latin typeface="Calibri"/>
              <a:cs typeface="Calibri"/>
            </a:endParaRPr>
          </a:p>
          <a:p>
            <a:pPr marL="756285" marR="61594" lvl="1" indent="-287020">
              <a:lnSpc>
                <a:spcPct val="107000"/>
              </a:lnSpc>
              <a:spcBef>
                <a:spcPts val="805"/>
              </a:spcBef>
              <a:buSzPct val="50000"/>
              <a:buFont typeface="Courier New"/>
              <a:buChar char="o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Exemples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entreprise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utilisant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privé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pour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données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critiques, </a:t>
            </a:r>
            <a:r>
              <a:rPr sz="2000" dirty="0">
                <a:latin typeface="Calibri"/>
                <a:cs typeface="Calibri"/>
              </a:rPr>
              <a:t>mais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public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AWS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pour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pics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charge.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600" spc="-25" dirty="0"/>
              <a:t>61</a:t>
            </a:fld>
            <a:endParaRPr sz="16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3" y="-51994"/>
            <a:ext cx="6946900" cy="108394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130"/>
              </a:spcBef>
            </a:pPr>
            <a:r>
              <a:rPr dirty="0"/>
              <a:t>Les</a:t>
            </a:r>
            <a:r>
              <a:rPr spc="-35" dirty="0"/>
              <a:t> </a:t>
            </a:r>
            <a:r>
              <a:rPr dirty="0"/>
              <a:t>apports</a:t>
            </a:r>
            <a:r>
              <a:rPr spc="-30" dirty="0"/>
              <a:t> </a:t>
            </a:r>
            <a:r>
              <a:rPr dirty="0"/>
              <a:t>des</a:t>
            </a:r>
            <a:r>
              <a:rPr spc="-30" dirty="0"/>
              <a:t> </a:t>
            </a:r>
            <a:r>
              <a:rPr dirty="0"/>
              <a:t>infrastructures</a:t>
            </a:r>
            <a:r>
              <a:rPr spc="-60" dirty="0"/>
              <a:t> </a:t>
            </a:r>
            <a:r>
              <a:rPr spc="-10" dirty="0"/>
              <a:t>Cloud</a:t>
            </a: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127079"/>
                </a:solidFill>
              </a:rPr>
              <a:t>Les</a:t>
            </a:r>
            <a:r>
              <a:rPr sz="2000" spc="-30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modèles</a:t>
            </a:r>
            <a:r>
              <a:rPr sz="2000" spc="-15" dirty="0">
                <a:solidFill>
                  <a:srgbClr val="127079"/>
                </a:solidFill>
              </a:rPr>
              <a:t> </a:t>
            </a:r>
            <a:r>
              <a:rPr sz="2000" dirty="0">
                <a:solidFill>
                  <a:srgbClr val="127079"/>
                </a:solidFill>
              </a:rPr>
              <a:t>de</a:t>
            </a:r>
            <a:r>
              <a:rPr sz="2000" spc="-25" dirty="0">
                <a:solidFill>
                  <a:srgbClr val="127079"/>
                </a:solidFill>
              </a:rPr>
              <a:t> </a:t>
            </a:r>
            <a:r>
              <a:rPr sz="2000" spc="-10" dirty="0">
                <a:solidFill>
                  <a:srgbClr val="127079"/>
                </a:solidFill>
              </a:rPr>
              <a:t>déploiement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30" dirty="0"/>
              <a:t> </a:t>
            </a:r>
            <a:r>
              <a:rPr dirty="0"/>
              <a:t>avantages</a:t>
            </a:r>
            <a:r>
              <a:rPr spc="-4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dirty="0"/>
              <a:t>virtualisation</a:t>
            </a:r>
            <a:r>
              <a:rPr spc="-60" dirty="0"/>
              <a:t> </a:t>
            </a:r>
            <a:r>
              <a:rPr spc="-10" dirty="0"/>
              <a:t>hardware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087" y="1652271"/>
            <a:ext cx="1501237" cy="12650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2158" y="1667510"/>
            <a:ext cx="1257378" cy="12879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3525" y="1804685"/>
            <a:ext cx="1409803" cy="10821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5573" y="4022091"/>
            <a:ext cx="1249775" cy="12955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08864" y="4067819"/>
            <a:ext cx="914456" cy="12345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96214" y="4098303"/>
            <a:ext cx="1394556" cy="10440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8100" y="3113913"/>
            <a:ext cx="9550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Paiement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à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l’utilisation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600" spc="-25" dirty="0"/>
              <a:t>62</a:t>
            </a:fld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4352925" y="3113913"/>
            <a:ext cx="1715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Importantes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économies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d’échelle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45730" y="3113913"/>
            <a:ext cx="16262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Maîtrise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la </a:t>
            </a:r>
            <a:r>
              <a:rPr sz="1600" dirty="0">
                <a:latin typeface="Calibri"/>
                <a:cs typeface="Calibri"/>
              </a:rPr>
              <a:t>capacité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nécessaire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3320" y="5571236"/>
            <a:ext cx="17087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Augmentation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la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vitesse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l’agilité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8625" y="5571236"/>
            <a:ext cx="1690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Réduction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coûts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1508" y="5571236"/>
            <a:ext cx="149606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Déploiement </a:t>
            </a:r>
            <a:r>
              <a:rPr sz="1600" dirty="0">
                <a:latin typeface="Calibri"/>
                <a:cs typeface="Calibri"/>
              </a:rPr>
              <a:t>international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en </a:t>
            </a:r>
            <a:r>
              <a:rPr sz="1600" dirty="0">
                <a:latin typeface="Calibri"/>
                <a:cs typeface="Calibri"/>
              </a:rPr>
              <a:t>quelques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minutes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536" y="1695577"/>
            <a:ext cx="4275455" cy="2810510"/>
            <a:chOff x="44536" y="1695577"/>
            <a:chExt cx="4275455" cy="2810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9308" y="4141076"/>
              <a:ext cx="648233" cy="36462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36" y="1695577"/>
              <a:ext cx="4275455" cy="255079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77316" y="2362962"/>
            <a:ext cx="266255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500" spc="-95" dirty="0">
                <a:latin typeface="Arial MT"/>
                <a:cs typeface="Arial MT"/>
              </a:rPr>
              <a:t>Cloud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5" dirty="0">
                <a:latin typeface="Arial MT"/>
                <a:cs typeface="Arial MT"/>
              </a:rPr>
              <a:t>computing</a:t>
            </a:r>
            <a:r>
              <a:rPr sz="1500" spc="-8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pratique </a:t>
            </a:r>
            <a:r>
              <a:rPr sz="1500" spc="-114" dirty="0">
                <a:latin typeface="Arial MT"/>
                <a:cs typeface="Arial MT"/>
              </a:rPr>
              <a:t>consistant</a:t>
            </a:r>
            <a:r>
              <a:rPr sz="1500" spc="-1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à</a:t>
            </a:r>
            <a:r>
              <a:rPr sz="1500" spc="60" dirty="0">
                <a:latin typeface="Arial MT"/>
                <a:cs typeface="Arial MT"/>
              </a:rPr>
              <a:t> </a:t>
            </a:r>
            <a:r>
              <a:rPr sz="1500" spc="-60" dirty="0">
                <a:latin typeface="Arial MT"/>
                <a:cs typeface="Arial MT"/>
              </a:rPr>
              <a:t>utiliser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des </a:t>
            </a:r>
            <a:r>
              <a:rPr sz="1500" spc="-10" dirty="0">
                <a:latin typeface="Arial MT"/>
                <a:cs typeface="Arial MT"/>
              </a:rPr>
              <a:t>serveurs </a:t>
            </a:r>
            <a:r>
              <a:rPr sz="1500" spc="-90" dirty="0">
                <a:latin typeface="Arial MT"/>
                <a:cs typeface="Arial MT"/>
              </a:rPr>
              <a:t>distants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hébergés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10" dirty="0">
                <a:latin typeface="Arial MT"/>
                <a:cs typeface="Arial MT"/>
              </a:rPr>
              <a:t>sur</a:t>
            </a:r>
            <a:r>
              <a:rPr sz="1500" spc="-90" dirty="0">
                <a:latin typeface="Arial MT"/>
                <a:cs typeface="Arial MT"/>
              </a:rPr>
              <a:t> </a:t>
            </a:r>
            <a:r>
              <a:rPr sz="1500" spc="-70" dirty="0">
                <a:latin typeface="Arial MT"/>
                <a:cs typeface="Arial MT"/>
              </a:rPr>
              <a:t>Internet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pour </a:t>
            </a:r>
            <a:r>
              <a:rPr sz="1500" spc="-60" dirty="0">
                <a:latin typeface="Arial MT"/>
                <a:cs typeface="Arial MT"/>
              </a:rPr>
              <a:t>héberger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des</a:t>
            </a:r>
            <a:r>
              <a:rPr sz="1500" spc="-85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applications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plutôt </a:t>
            </a:r>
            <a:r>
              <a:rPr sz="1500" spc="-70" dirty="0">
                <a:latin typeface="Arial MT"/>
                <a:cs typeface="Arial MT"/>
              </a:rPr>
              <a:t>que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des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spc="-114" dirty="0">
                <a:latin typeface="Arial MT"/>
                <a:cs typeface="Arial MT"/>
              </a:rPr>
              <a:t>serveurs</a:t>
            </a:r>
            <a:r>
              <a:rPr sz="1500" spc="-95" dirty="0">
                <a:latin typeface="Arial MT"/>
                <a:cs typeface="Arial MT"/>
              </a:rPr>
              <a:t> </a:t>
            </a:r>
            <a:r>
              <a:rPr sz="1500" spc="-70" dirty="0">
                <a:latin typeface="Arial MT"/>
                <a:cs typeface="Arial MT"/>
              </a:rPr>
              <a:t>locaux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95" dirty="0">
                <a:latin typeface="Arial MT"/>
                <a:cs typeface="Arial MT"/>
              </a:rPr>
              <a:t>dans</a:t>
            </a:r>
            <a:r>
              <a:rPr sz="1500" spc="-8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un </a:t>
            </a:r>
            <a:r>
              <a:rPr sz="1500" spc="-80" dirty="0">
                <a:latin typeface="Arial MT"/>
                <a:cs typeface="Arial MT"/>
              </a:rPr>
              <a:t>centre</a:t>
            </a:r>
            <a:r>
              <a:rPr sz="1500" spc="-114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données</a:t>
            </a:r>
            <a:r>
              <a:rPr sz="1500" spc="-1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privé.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5"/>
              </a:spcBef>
            </a:pPr>
            <a:r>
              <a:rPr sz="3250" dirty="0"/>
              <a:t>Les</a:t>
            </a:r>
            <a:r>
              <a:rPr sz="3250" spc="-110" dirty="0"/>
              <a:t> </a:t>
            </a:r>
            <a:r>
              <a:rPr sz="3250" spc="-10" dirty="0"/>
              <a:t>nouveaux</a:t>
            </a:r>
            <a:r>
              <a:rPr sz="3250" spc="-75" dirty="0"/>
              <a:t> </a:t>
            </a:r>
            <a:r>
              <a:rPr sz="3250" dirty="0"/>
              <a:t>outils</a:t>
            </a:r>
            <a:r>
              <a:rPr sz="3250" spc="-80" dirty="0"/>
              <a:t> </a:t>
            </a:r>
            <a:r>
              <a:rPr sz="3250" dirty="0"/>
              <a:t>de</a:t>
            </a:r>
            <a:r>
              <a:rPr sz="3250" spc="-95" dirty="0"/>
              <a:t> </a:t>
            </a:r>
            <a:r>
              <a:rPr sz="3250" spc="-10" dirty="0"/>
              <a:t>virtualisation</a:t>
            </a:r>
            <a:endParaRPr sz="3250"/>
          </a:p>
        </p:txBody>
      </p:sp>
      <p:sp>
        <p:nvSpPr>
          <p:cNvPr id="7" name="object 7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6233" y="760552"/>
            <a:ext cx="37604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5" dirty="0">
                <a:solidFill>
                  <a:srgbClr val="127079"/>
                </a:solidFill>
                <a:latin typeface="Calibri"/>
                <a:cs typeface="Calibri"/>
              </a:rPr>
              <a:t>Cloud,</a:t>
            </a:r>
            <a:r>
              <a:rPr sz="2000" spc="22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conteneurs</a:t>
            </a:r>
            <a:r>
              <a:rPr sz="2000" spc="16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et</a:t>
            </a:r>
            <a:r>
              <a:rPr sz="2000" spc="19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microservices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9760" y="4204284"/>
            <a:ext cx="2378710" cy="1050925"/>
            <a:chOff x="219760" y="4204284"/>
            <a:chExt cx="2378710" cy="10509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88" y="4293641"/>
              <a:ext cx="494842" cy="2969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6569" y="4204284"/>
              <a:ext cx="831342" cy="2412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760" y="4442028"/>
              <a:ext cx="966889" cy="812977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89676" y="4753762"/>
            <a:ext cx="1379220" cy="71257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703823" y="5332603"/>
            <a:ext cx="4584065" cy="119634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2837815">
              <a:lnSpc>
                <a:spcPct val="103000"/>
              </a:lnSpc>
              <a:spcBef>
                <a:spcPts val="45"/>
              </a:spcBef>
            </a:pPr>
            <a:r>
              <a:rPr sz="1500" spc="-85" dirty="0">
                <a:latin typeface="Arial MT"/>
                <a:cs typeface="Arial MT"/>
              </a:rPr>
              <a:t>est</a:t>
            </a:r>
            <a:r>
              <a:rPr sz="1500" spc="-95" dirty="0">
                <a:latin typeface="Arial MT"/>
                <a:cs typeface="Arial MT"/>
              </a:rPr>
              <a:t> </a:t>
            </a:r>
            <a:r>
              <a:rPr sz="1500" spc="-105" dirty="0">
                <a:latin typeface="Arial MT"/>
                <a:cs typeface="Arial MT"/>
              </a:rPr>
              <a:t>un</a:t>
            </a:r>
            <a:r>
              <a:rPr sz="1500" spc="-150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système</a:t>
            </a:r>
            <a:r>
              <a:rPr sz="1500" spc="-10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open </a:t>
            </a:r>
            <a:r>
              <a:rPr sz="1500" spc="-120" dirty="0">
                <a:latin typeface="Arial MT"/>
                <a:cs typeface="Arial MT"/>
              </a:rPr>
              <a:t>source</a:t>
            </a:r>
            <a:r>
              <a:rPr sz="1500" spc="-150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permettant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gérer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des</a:t>
            </a:r>
            <a:r>
              <a:rPr sz="1500" spc="-110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applications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conteneurisées </a:t>
            </a:r>
            <a:r>
              <a:rPr sz="1500" spc="-110" dirty="0">
                <a:latin typeface="Arial MT"/>
                <a:cs typeface="Arial MT"/>
              </a:rPr>
              <a:t>sur</a:t>
            </a:r>
            <a:r>
              <a:rPr sz="1500" spc="-95" dirty="0">
                <a:latin typeface="Arial MT"/>
                <a:cs typeface="Arial MT"/>
              </a:rPr>
              <a:t> </a:t>
            </a:r>
            <a:r>
              <a:rPr sz="1500" spc="-114" dirty="0">
                <a:latin typeface="Arial MT"/>
                <a:cs typeface="Arial MT"/>
              </a:rPr>
              <a:t>plusieurs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5" dirty="0">
                <a:latin typeface="Arial MT"/>
                <a:cs typeface="Arial MT"/>
              </a:rPr>
              <a:t>hôtes,</a:t>
            </a:r>
            <a:r>
              <a:rPr sz="1500" spc="-110" dirty="0">
                <a:latin typeface="Arial MT"/>
                <a:cs typeface="Arial MT"/>
              </a:rPr>
              <a:t> </a:t>
            </a:r>
            <a:r>
              <a:rPr sz="1500" spc="-105" dirty="0">
                <a:latin typeface="Arial MT"/>
                <a:cs typeface="Arial MT"/>
              </a:rPr>
              <a:t>fournissant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des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155" dirty="0">
                <a:latin typeface="Arial MT"/>
                <a:cs typeface="Arial MT"/>
              </a:rPr>
              <a:t>mécanismes</a:t>
            </a:r>
            <a:r>
              <a:rPr sz="1500" spc="-1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8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base</a:t>
            </a:r>
            <a:r>
              <a:rPr sz="1500" spc="500" dirty="0">
                <a:latin typeface="Arial MT"/>
                <a:cs typeface="Arial MT"/>
              </a:rPr>
              <a:t> </a:t>
            </a:r>
            <a:r>
              <a:rPr sz="1500" spc="-55" dirty="0">
                <a:latin typeface="Arial MT"/>
                <a:cs typeface="Arial MT"/>
              </a:rPr>
              <a:t>pour</a:t>
            </a:r>
            <a:r>
              <a:rPr sz="1500" spc="-10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75" dirty="0">
                <a:latin typeface="Arial MT"/>
                <a:cs typeface="Arial MT"/>
              </a:rPr>
              <a:t>déploiement,</a:t>
            </a:r>
            <a:r>
              <a:rPr sz="1500" spc="-1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 </a:t>
            </a:r>
            <a:r>
              <a:rPr sz="1500" spc="-110" dirty="0">
                <a:latin typeface="Arial MT"/>
                <a:cs typeface="Arial MT"/>
              </a:rPr>
              <a:t>maintenance</a:t>
            </a:r>
            <a:r>
              <a:rPr sz="1500" spc="-1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et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30" dirty="0">
                <a:latin typeface="Arial MT"/>
                <a:cs typeface="Arial MT"/>
              </a:rPr>
              <a:t>mise</a:t>
            </a:r>
            <a:r>
              <a:rPr sz="1500" spc="-1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à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l'échelle </a:t>
            </a:r>
            <a:r>
              <a:rPr sz="1500" spc="-90" dirty="0">
                <a:latin typeface="Arial MT"/>
                <a:cs typeface="Arial MT"/>
              </a:rPr>
              <a:t>des</a:t>
            </a:r>
            <a:r>
              <a:rPr sz="1500" spc="-10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applications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7599" y="4982718"/>
            <a:ext cx="4749165" cy="15125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962660">
              <a:lnSpc>
                <a:spcPct val="102000"/>
              </a:lnSpc>
              <a:spcBef>
                <a:spcPts val="55"/>
              </a:spcBef>
            </a:pPr>
            <a:r>
              <a:rPr sz="1600" spc="-100" dirty="0">
                <a:latin typeface="Arial MT"/>
                <a:cs typeface="Arial MT"/>
              </a:rPr>
              <a:t>est</a:t>
            </a:r>
            <a:r>
              <a:rPr sz="1600" spc="-120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un</a:t>
            </a:r>
            <a:r>
              <a:rPr sz="1600" spc="-185" dirty="0">
                <a:latin typeface="Arial MT"/>
                <a:cs typeface="Arial MT"/>
              </a:rPr>
              <a:t> </a:t>
            </a:r>
            <a:r>
              <a:rPr sz="1600" spc="-55" dirty="0">
                <a:latin typeface="Arial MT"/>
                <a:cs typeface="Arial MT"/>
              </a:rPr>
              <a:t>outil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55" dirty="0">
                <a:latin typeface="Arial MT"/>
                <a:cs typeface="Arial MT"/>
              </a:rPr>
              <a:t>conçu</a:t>
            </a:r>
            <a:r>
              <a:rPr sz="1600" spc="-180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pour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faciliter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création,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le </a:t>
            </a:r>
            <a:r>
              <a:rPr sz="1600" spc="-90" dirty="0">
                <a:latin typeface="Arial MT"/>
                <a:cs typeface="Arial MT"/>
              </a:rPr>
              <a:t>déploiement</a:t>
            </a:r>
            <a:r>
              <a:rPr sz="1600" spc="-1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l'exécution</a:t>
            </a:r>
            <a:r>
              <a:rPr sz="1600" spc="-120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d'applications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à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l'aide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de </a:t>
            </a:r>
            <a:r>
              <a:rPr sz="1600" spc="-140" dirty="0">
                <a:latin typeface="Arial MT"/>
                <a:cs typeface="Arial MT"/>
              </a:rPr>
              <a:t>conteneurs.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60" dirty="0">
                <a:latin typeface="Arial MT"/>
                <a:cs typeface="Arial MT"/>
              </a:rPr>
              <a:t>Les</a:t>
            </a:r>
            <a:r>
              <a:rPr sz="1600" spc="-190" dirty="0">
                <a:latin typeface="Arial MT"/>
                <a:cs typeface="Arial MT"/>
              </a:rPr>
              <a:t> </a:t>
            </a:r>
            <a:r>
              <a:rPr sz="1600" spc="-135" dirty="0">
                <a:latin typeface="Arial MT"/>
                <a:cs typeface="Arial MT"/>
              </a:rPr>
              <a:t>conteneurs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permettent</a:t>
            </a:r>
            <a:r>
              <a:rPr sz="1600" dirty="0">
                <a:latin typeface="Arial MT"/>
                <a:cs typeface="Arial MT"/>
              </a:rPr>
              <a:t> à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un</a:t>
            </a:r>
            <a:r>
              <a:rPr sz="1600" spc="-1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développeur </a:t>
            </a:r>
            <a:r>
              <a:rPr sz="1600" spc="-65" dirty="0">
                <a:latin typeface="Arial MT"/>
                <a:cs typeface="Arial MT"/>
              </a:rPr>
              <a:t>d’embarquer </a:t>
            </a:r>
            <a:r>
              <a:rPr sz="1600" spc="-120" dirty="0">
                <a:latin typeface="Arial MT"/>
                <a:cs typeface="Arial MT"/>
              </a:rPr>
              <a:t>une </a:t>
            </a:r>
            <a:r>
              <a:rPr sz="1600" spc="-55" dirty="0">
                <a:latin typeface="Arial MT"/>
                <a:cs typeface="Arial MT"/>
              </a:rPr>
              <a:t>application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95" dirty="0">
                <a:latin typeface="Arial MT"/>
                <a:cs typeface="Arial MT"/>
              </a:rPr>
              <a:t>avec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spc="-114" dirty="0">
                <a:latin typeface="Arial MT"/>
                <a:cs typeface="Arial MT"/>
              </a:rPr>
              <a:t>toutes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95" dirty="0">
                <a:latin typeface="Arial MT"/>
                <a:cs typeface="Arial MT"/>
              </a:rPr>
              <a:t>les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parties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65" dirty="0">
                <a:latin typeface="Arial MT"/>
                <a:cs typeface="Arial MT"/>
              </a:rPr>
              <a:t>dont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il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besoin,</a:t>
            </a:r>
            <a:r>
              <a:rPr sz="1600" spc="-114" dirty="0">
                <a:latin typeface="Arial MT"/>
                <a:cs typeface="Arial MT"/>
              </a:rPr>
              <a:t> </a:t>
            </a:r>
            <a:r>
              <a:rPr sz="1600" spc="-75" dirty="0">
                <a:latin typeface="Arial MT"/>
                <a:cs typeface="Arial MT"/>
              </a:rPr>
              <a:t>telles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75" dirty="0">
                <a:latin typeface="Arial MT"/>
                <a:cs typeface="Arial MT"/>
              </a:rPr>
              <a:t>que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des</a:t>
            </a:r>
            <a:r>
              <a:rPr sz="1600" spc="-110" dirty="0">
                <a:latin typeface="Arial MT"/>
                <a:cs typeface="Arial MT"/>
              </a:rPr>
              <a:t> </a:t>
            </a:r>
            <a:r>
              <a:rPr sz="1600" spc="-70" dirty="0">
                <a:latin typeface="Arial MT"/>
                <a:cs typeface="Arial MT"/>
              </a:rPr>
              <a:t>bibliothèques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 </a:t>
            </a:r>
            <a:r>
              <a:rPr sz="1600" spc="-10" dirty="0">
                <a:latin typeface="Arial MT"/>
                <a:cs typeface="Arial MT"/>
              </a:rPr>
              <a:t>autres </a:t>
            </a:r>
            <a:r>
              <a:rPr sz="1600" spc="-114" dirty="0">
                <a:latin typeface="Arial MT"/>
                <a:cs typeface="Arial MT"/>
              </a:rPr>
              <a:t>dépendances,</a:t>
            </a:r>
            <a:r>
              <a:rPr sz="1600" spc="-1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75" dirty="0">
                <a:latin typeface="Arial MT"/>
                <a:cs typeface="Arial MT"/>
              </a:rPr>
              <a:t>l’envoyer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dans</a:t>
            </a:r>
            <a:r>
              <a:rPr sz="1600" spc="-114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un</a:t>
            </a:r>
            <a:r>
              <a:rPr sz="1600" spc="-200" dirty="0">
                <a:latin typeface="Arial MT"/>
                <a:cs typeface="Arial MT"/>
              </a:rPr>
              <a:t> </a:t>
            </a:r>
            <a:r>
              <a:rPr sz="1600" spc="-114" dirty="0">
                <a:latin typeface="Arial MT"/>
                <a:cs typeface="Arial MT"/>
              </a:rPr>
              <a:t>seul</a:t>
            </a:r>
            <a:r>
              <a:rPr sz="1600" spc="-1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package.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46521" y="4642866"/>
            <a:ext cx="744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latin typeface="Arial MT"/>
                <a:cs typeface="Arial MT"/>
              </a:rPr>
              <a:t>Monolithic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34324" y="2949475"/>
            <a:ext cx="2170430" cy="1695450"/>
            <a:chOff x="4734324" y="2949475"/>
            <a:chExt cx="2170430" cy="169545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34324" y="2949475"/>
              <a:ext cx="2170137" cy="169501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65293" y="2957576"/>
              <a:ext cx="2108200" cy="1633220"/>
            </a:xfrm>
            <a:custGeom>
              <a:avLst/>
              <a:gdLst/>
              <a:ahLst/>
              <a:cxnLst/>
              <a:rect l="l" t="t" r="r" b="b"/>
              <a:pathLst>
                <a:path w="2108200" h="1633220">
                  <a:moveTo>
                    <a:pt x="1835911" y="0"/>
                  </a:moveTo>
                  <a:lnTo>
                    <a:pt x="272288" y="0"/>
                  </a:lnTo>
                  <a:lnTo>
                    <a:pt x="223265" y="4317"/>
                  </a:lnTo>
                  <a:lnTo>
                    <a:pt x="177291" y="17017"/>
                  </a:lnTo>
                  <a:lnTo>
                    <a:pt x="134873" y="37083"/>
                  </a:lnTo>
                  <a:lnTo>
                    <a:pt x="96900" y="64007"/>
                  </a:lnTo>
                  <a:lnTo>
                    <a:pt x="64007" y="96774"/>
                  </a:lnTo>
                  <a:lnTo>
                    <a:pt x="37210" y="134746"/>
                  </a:lnTo>
                  <a:lnTo>
                    <a:pt x="17144" y="177164"/>
                  </a:lnTo>
                  <a:lnTo>
                    <a:pt x="4444" y="223138"/>
                  </a:lnTo>
                  <a:lnTo>
                    <a:pt x="0" y="272161"/>
                  </a:lnTo>
                  <a:lnTo>
                    <a:pt x="0" y="1360804"/>
                  </a:lnTo>
                  <a:lnTo>
                    <a:pt x="4444" y="1409699"/>
                  </a:lnTo>
                  <a:lnTo>
                    <a:pt x="17144" y="1455673"/>
                  </a:lnTo>
                  <a:lnTo>
                    <a:pt x="37210" y="1498091"/>
                  </a:lnTo>
                  <a:lnTo>
                    <a:pt x="64007" y="1536064"/>
                  </a:lnTo>
                  <a:lnTo>
                    <a:pt x="96900" y="1568958"/>
                  </a:lnTo>
                  <a:lnTo>
                    <a:pt x="134873" y="1595754"/>
                  </a:lnTo>
                  <a:lnTo>
                    <a:pt x="177291" y="1615947"/>
                  </a:lnTo>
                  <a:lnTo>
                    <a:pt x="223265" y="1628520"/>
                  </a:lnTo>
                  <a:lnTo>
                    <a:pt x="272288" y="1632965"/>
                  </a:lnTo>
                  <a:lnTo>
                    <a:pt x="1835911" y="1632965"/>
                  </a:lnTo>
                  <a:lnTo>
                    <a:pt x="1884806" y="1628520"/>
                  </a:lnTo>
                  <a:lnTo>
                    <a:pt x="1930907" y="1615947"/>
                  </a:lnTo>
                  <a:lnTo>
                    <a:pt x="1973326" y="1595754"/>
                  </a:lnTo>
                  <a:lnTo>
                    <a:pt x="2011299" y="1568958"/>
                  </a:lnTo>
                  <a:lnTo>
                    <a:pt x="2044064" y="1536064"/>
                  </a:lnTo>
                  <a:lnTo>
                    <a:pt x="2070988" y="1498091"/>
                  </a:lnTo>
                  <a:lnTo>
                    <a:pt x="2091054" y="1455673"/>
                  </a:lnTo>
                  <a:lnTo>
                    <a:pt x="2103754" y="1409699"/>
                  </a:lnTo>
                  <a:lnTo>
                    <a:pt x="2108073" y="1360804"/>
                  </a:lnTo>
                  <a:lnTo>
                    <a:pt x="2108073" y="272161"/>
                  </a:lnTo>
                  <a:lnTo>
                    <a:pt x="2102865" y="218820"/>
                  </a:lnTo>
                  <a:lnTo>
                    <a:pt x="2087372" y="168020"/>
                  </a:lnTo>
                  <a:lnTo>
                    <a:pt x="2062352" y="121157"/>
                  </a:lnTo>
                  <a:lnTo>
                    <a:pt x="2028316" y="79628"/>
                  </a:lnTo>
                  <a:lnTo>
                    <a:pt x="1986914" y="45719"/>
                  </a:lnTo>
                  <a:lnTo>
                    <a:pt x="1940052" y="20700"/>
                  </a:lnTo>
                  <a:lnTo>
                    <a:pt x="1889252" y="5206"/>
                  </a:lnTo>
                  <a:lnTo>
                    <a:pt x="1835911" y="0"/>
                  </a:lnTo>
                  <a:close/>
                </a:path>
              </a:pathLst>
            </a:custGeom>
            <a:solidFill>
              <a:srgbClr val="F0F0F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65293" y="2957576"/>
              <a:ext cx="2108200" cy="1633220"/>
            </a:xfrm>
            <a:custGeom>
              <a:avLst/>
              <a:gdLst/>
              <a:ahLst/>
              <a:cxnLst/>
              <a:rect l="l" t="t" r="r" b="b"/>
              <a:pathLst>
                <a:path w="2108200" h="1633220">
                  <a:moveTo>
                    <a:pt x="0" y="272161"/>
                  </a:moveTo>
                  <a:lnTo>
                    <a:pt x="4444" y="223138"/>
                  </a:lnTo>
                  <a:lnTo>
                    <a:pt x="17144" y="177164"/>
                  </a:lnTo>
                  <a:lnTo>
                    <a:pt x="37210" y="134746"/>
                  </a:lnTo>
                  <a:lnTo>
                    <a:pt x="64007" y="96774"/>
                  </a:lnTo>
                  <a:lnTo>
                    <a:pt x="96900" y="64007"/>
                  </a:lnTo>
                  <a:lnTo>
                    <a:pt x="134873" y="37083"/>
                  </a:lnTo>
                  <a:lnTo>
                    <a:pt x="177291" y="17017"/>
                  </a:lnTo>
                  <a:lnTo>
                    <a:pt x="223265" y="4317"/>
                  </a:lnTo>
                  <a:lnTo>
                    <a:pt x="272288" y="0"/>
                  </a:lnTo>
                  <a:lnTo>
                    <a:pt x="1835911" y="0"/>
                  </a:lnTo>
                  <a:lnTo>
                    <a:pt x="1889252" y="5206"/>
                  </a:lnTo>
                  <a:lnTo>
                    <a:pt x="1940052" y="20700"/>
                  </a:lnTo>
                  <a:lnTo>
                    <a:pt x="1986914" y="45719"/>
                  </a:lnTo>
                  <a:lnTo>
                    <a:pt x="2028316" y="79628"/>
                  </a:lnTo>
                  <a:lnTo>
                    <a:pt x="2062352" y="121157"/>
                  </a:lnTo>
                  <a:lnTo>
                    <a:pt x="2087372" y="168020"/>
                  </a:lnTo>
                  <a:lnTo>
                    <a:pt x="2102865" y="218820"/>
                  </a:lnTo>
                  <a:lnTo>
                    <a:pt x="2108073" y="272161"/>
                  </a:lnTo>
                  <a:lnTo>
                    <a:pt x="2108073" y="1360804"/>
                  </a:lnTo>
                  <a:lnTo>
                    <a:pt x="2103754" y="1409699"/>
                  </a:lnTo>
                  <a:lnTo>
                    <a:pt x="2091054" y="1455673"/>
                  </a:lnTo>
                  <a:lnTo>
                    <a:pt x="2070988" y="1498091"/>
                  </a:lnTo>
                  <a:lnTo>
                    <a:pt x="2044064" y="1536064"/>
                  </a:lnTo>
                  <a:lnTo>
                    <a:pt x="2011299" y="1568958"/>
                  </a:lnTo>
                  <a:lnTo>
                    <a:pt x="1973326" y="1595754"/>
                  </a:lnTo>
                  <a:lnTo>
                    <a:pt x="1930907" y="1615947"/>
                  </a:lnTo>
                  <a:lnTo>
                    <a:pt x="1884806" y="1628520"/>
                  </a:lnTo>
                  <a:lnTo>
                    <a:pt x="1835911" y="1632965"/>
                  </a:lnTo>
                  <a:lnTo>
                    <a:pt x="272288" y="1632965"/>
                  </a:lnTo>
                  <a:lnTo>
                    <a:pt x="223265" y="1628520"/>
                  </a:lnTo>
                  <a:lnTo>
                    <a:pt x="177291" y="1615947"/>
                  </a:lnTo>
                  <a:lnTo>
                    <a:pt x="134873" y="1595754"/>
                  </a:lnTo>
                  <a:lnTo>
                    <a:pt x="96900" y="1568958"/>
                  </a:lnTo>
                  <a:lnTo>
                    <a:pt x="64007" y="1536064"/>
                  </a:lnTo>
                  <a:lnTo>
                    <a:pt x="37210" y="1498091"/>
                  </a:lnTo>
                  <a:lnTo>
                    <a:pt x="17144" y="1455673"/>
                  </a:lnTo>
                  <a:lnTo>
                    <a:pt x="4444" y="1409699"/>
                  </a:lnTo>
                  <a:lnTo>
                    <a:pt x="0" y="1360804"/>
                  </a:lnTo>
                  <a:lnTo>
                    <a:pt x="0" y="272161"/>
                  </a:lnTo>
                  <a:close/>
                </a:path>
              </a:pathLst>
            </a:custGeom>
            <a:ln w="95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3192" y="3120860"/>
              <a:ext cx="1707261" cy="23752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973192" y="3120771"/>
              <a:ext cx="1707514" cy="238125"/>
            </a:xfrm>
            <a:custGeom>
              <a:avLst/>
              <a:gdLst/>
              <a:ahLst/>
              <a:cxnLst/>
              <a:rect l="l" t="t" r="r" b="b"/>
              <a:pathLst>
                <a:path w="1707515" h="238125">
                  <a:moveTo>
                    <a:pt x="0" y="39624"/>
                  </a:moveTo>
                  <a:lnTo>
                    <a:pt x="3048" y="24257"/>
                  </a:lnTo>
                  <a:lnTo>
                    <a:pt x="11557" y="11684"/>
                  </a:lnTo>
                  <a:lnTo>
                    <a:pt x="24130" y="3175"/>
                  </a:lnTo>
                  <a:lnTo>
                    <a:pt x="39624" y="0"/>
                  </a:lnTo>
                  <a:lnTo>
                    <a:pt x="1667637" y="0"/>
                  </a:lnTo>
                  <a:lnTo>
                    <a:pt x="1704213" y="24511"/>
                  </a:lnTo>
                  <a:lnTo>
                    <a:pt x="1707261" y="39624"/>
                  </a:lnTo>
                  <a:lnTo>
                    <a:pt x="1707261" y="197993"/>
                  </a:lnTo>
                  <a:lnTo>
                    <a:pt x="1704086" y="213360"/>
                  </a:lnTo>
                  <a:lnTo>
                    <a:pt x="1695577" y="225933"/>
                  </a:lnTo>
                  <a:lnTo>
                    <a:pt x="1683004" y="234442"/>
                  </a:lnTo>
                  <a:lnTo>
                    <a:pt x="1667637" y="237617"/>
                  </a:lnTo>
                  <a:lnTo>
                    <a:pt x="39624" y="237617"/>
                  </a:lnTo>
                  <a:lnTo>
                    <a:pt x="24130" y="234442"/>
                  </a:lnTo>
                  <a:lnTo>
                    <a:pt x="11557" y="225933"/>
                  </a:lnTo>
                  <a:lnTo>
                    <a:pt x="3048" y="213360"/>
                  </a:lnTo>
                  <a:lnTo>
                    <a:pt x="0" y="197993"/>
                  </a:lnTo>
                  <a:lnTo>
                    <a:pt x="0" y="39624"/>
                  </a:lnTo>
                  <a:close/>
                </a:path>
              </a:pathLst>
            </a:custGeom>
            <a:ln w="9523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73192" y="3402838"/>
              <a:ext cx="1707514" cy="238125"/>
            </a:xfrm>
            <a:custGeom>
              <a:avLst/>
              <a:gdLst/>
              <a:ahLst/>
              <a:cxnLst/>
              <a:rect l="l" t="t" r="r" b="b"/>
              <a:pathLst>
                <a:path w="1707515" h="238125">
                  <a:moveTo>
                    <a:pt x="1667637" y="0"/>
                  </a:moveTo>
                  <a:lnTo>
                    <a:pt x="39624" y="0"/>
                  </a:lnTo>
                  <a:lnTo>
                    <a:pt x="24130" y="3175"/>
                  </a:lnTo>
                  <a:lnTo>
                    <a:pt x="11557" y="11683"/>
                  </a:lnTo>
                  <a:lnTo>
                    <a:pt x="3048" y="24256"/>
                  </a:lnTo>
                  <a:lnTo>
                    <a:pt x="0" y="39624"/>
                  </a:lnTo>
                  <a:lnTo>
                    <a:pt x="0" y="197992"/>
                  </a:lnTo>
                  <a:lnTo>
                    <a:pt x="3048" y="213359"/>
                  </a:lnTo>
                  <a:lnTo>
                    <a:pt x="11557" y="225932"/>
                  </a:lnTo>
                  <a:lnTo>
                    <a:pt x="24130" y="234441"/>
                  </a:lnTo>
                  <a:lnTo>
                    <a:pt x="39624" y="237616"/>
                  </a:lnTo>
                  <a:lnTo>
                    <a:pt x="1667637" y="237616"/>
                  </a:lnTo>
                  <a:lnTo>
                    <a:pt x="1683004" y="234441"/>
                  </a:lnTo>
                  <a:lnTo>
                    <a:pt x="1695577" y="225932"/>
                  </a:lnTo>
                  <a:lnTo>
                    <a:pt x="1704086" y="213359"/>
                  </a:lnTo>
                  <a:lnTo>
                    <a:pt x="1707261" y="197992"/>
                  </a:lnTo>
                  <a:lnTo>
                    <a:pt x="1707261" y="39624"/>
                  </a:lnTo>
                  <a:lnTo>
                    <a:pt x="1704213" y="24511"/>
                  </a:lnTo>
                  <a:lnTo>
                    <a:pt x="1667637" y="0"/>
                  </a:lnTo>
                  <a:close/>
                </a:path>
              </a:pathLst>
            </a:custGeom>
            <a:solidFill>
              <a:srgbClr val="F6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73192" y="3402838"/>
              <a:ext cx="1707514" cy="238125"/>
            </a:xfrm>
            <a:custGeom>
              <a:avLst/>
              <a:gdLst/>
              <a:ahLst/>
              <a:cxnLst/>
              <a:rect l="l" t="t" r="r" b="b"/>
              <a:pathLst>
                <a:path w="1707515" h="238125">
                  <a:moveTo>
                    <a:pt x="0" y="39624"/>
                  </a:moveTo>
                  <a:lnTo>
                    <a:pt x="3048" y="24256"/>
                  </a:lnTo>
                  <a:lnTo>
                    <a:pt x="11557" y="11683"/>
                  </a:lnTo>
                  <a:lnTo>
                    <a:pt x="24130" y="3175"/>
                  </a:lnTo>
                  <a:lnTo>
                    <a:pt x="39624" y="0"/>
                  </a:lnTo>
                  <a:lnTo>
                    <a:pt x="1667637" y="0"/>
                  </a:lnTo>
                  <a:lnTo>
                    <a:pt x="1704213" y="24511"/>
                  </a:lnTo>
                  <a:lnTo>
                    <a:pt x="1707261" y="39624"/>
                  </a:lnTo>
                  <a:lnTo>
                    <a:pt x="1707261" y="197992"/>
                  </a:lnTo>
                  <a:lnTo>
                    <a:pt x="1704086" y="213359"/>
                  </a:lnTo>
                  <a:lnTo>
                    <a:pt x="1695577" y="225932"/>
                  </a:lnTo>
                  <a:lnTo>
                    <a:pt x="1683004" y="234441"/>
                  </a:lnTo>
                  <a:lnTo>
                    <a:pt x="1667637" y="237616"/>
                  </a:lnTo>
                  <a:lnTo>
                    <a:pt x="39624" y="237616"/>
                  </a:lnTo>
                  <a:lnTo>
                    <a:pt x="24130" y="234441"/>
                  </a:lnTo>
                  <a:lnTo>
                    <a:pt x="11557" y="225932"/>
                  </a:lnTo>
                  <a:lnTo>
                    <a:pt x="3048" y="213359"/>
                  </a:lnTo>
                  <a:lnTo>
                    <a:pt x="0" y="197992"/>
                  </a:lnTo>
                  <a:lnTo>
                    <a:pt x="0" y="39624"/>
                  </a:lnTo>
                  <a:close/>
                </a:path>
              </a:pathLst>
            </a:custGeom>
            <a:ln w="9523">
              <a:solidFill>
                <a:srgbClr val="F6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73192" y="3684905"/>
              <a:ext cx="1707514" cy="238125"/>
            </a:xfrm>
            <a:custGeom>
              <a:avLst/>
              <a:gdLst/>
              <a:ahLst/>
              <a:cxnLst/>
              <a:rect l="l" t="t" r="r" b="b"/>
              <a:pathLst>
                <a:path w="1707515" h="238125">
                  <a:moveTo>
                    <a:pt x="1667637" y="0"/>
                  </a:moveTo>
                  <a:lnTo>
                    <a:pt x="39624" y="0"/>
                  </a:lnTo>
                  <a:lnTo>
                    <a:pt x="24130" y="3175"/>
                  </a:lnTo>
                  <a:lnTo>
                    <a:pt x="11557" y="11684"/>
                  </a:lnTo>
                  <a:lnTo>
                    <a:pt x="3048" y="24257"/>
                  </a:lnTo>
                  <a:lnTo>
                    <a:pt x="0" y="39624"/>
                  </a:lnTo>
                  <a:lnTo>
                    <a:pt x="0" y="197992"/>
                  </a:lnTo>
                  <a:lnTo>
                    <a:pt x="3048" y="213360"/>
                  </a:lnTo>
                  <a:lnTo>
                    <a:pt x="11557" y="225933"/>
                  </a:lnTo>
                  <a:lnTo>
                    <a:pt x="24130" y="234441"/>
                  </a:lnTo>
                  <a:lnTo>
                    <a:pt x="39624" y="237616"/>
                  </a:lnTo>
                  <a:lnTo>
                    <a:pt x="1667637" y="237616"/>
                  </a:lnTo>
                  <a:lnTo>
                    <a:pt x="1683004" y="234441"/>
                  </a:lnTo>
                  <a:lnTo>
                    <a:pt x="1695577" y="225933"/>
                  </a:lnTo>
                  <a:lnTo>
                    <a:pt x="1704086" y="213360"/>
                  </a:lnTo>
                  <a:lnTo>
                    <a:pt x="1707261" y="197992"/>
                  </a:lnTo>
                  <a:lnTo>
                    <a:pt x="1707261" y="39624"/>
                  </a:lnTo>
                  <a:lnTo>
                    <a:pt x="1704213" y="24511"/>
                  </a:lnTo>
                  <a:lnTo>
                    <a:pt x="1667637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73192" y="3684905"/>
              <a:ext cx="1707514" cy="238125"/>
            </a:xfrm>
            <a:custGeom>
              <a:avLst/>
              <a:gdLst/>
              <a:ahLst/>
              <a:cxnLst/>
              <a:rect l="l" t="t" r="r" b="b"/>
              <a:pathLst>
                <a:path w="1707515" h="238125">
                  <a:moveTo>
                    <a:pt x="0" y="39624"/>
                  </a:moveTo>
                  <a:lnTo>
                    <a:pt x="3048" y="24257"/>
                  </a:lnTo>
                  <a:lnTo>
                    <a:pt x="11557" y="11684"/>
                  </a:lnTo>
                  <a:lnTo>
                    <a:pt x="24130" y="3175"/>
                  </a:lnTo>
                  <a:lnTo>
                    <a:pt x="39624" y="0"/>
                  </a:lnTo>
                  <a:lnTo>
                    <a:pt x="1667637" y="0"/>
                  </a:lnTo>
                  <a:lnTo>
                    <a:pt x="1704213" y="24511"/>
                  </a:lnTo>
                  <a:lnTo>
                    <a:pt x="1707261" y="39624"/>
                  </a:lnTo>
                  <a:lnTo>
                    <a:pt x="1707261" y="197992"/>
                  </a:lnTo>
                  <a:lnTo>
                    <a:pt x="1704086" y="213360"/>
                  </a:lnTo>
                  <a:lnTo>
                    <a:pt x="1695577" y="225933"/>
                  </a:lnTo>
                  <a:lnTo>
                    <a:pt x="1683004" y="234441"/>
                  </a:lnTo>
                  <a:lnTo>
                    <a:pt x="1667637" y="237616"/>
                  </a:lnTo>
                  <a:lnTo>
                    <a:pt x="39624" y="237616"/>
                  </a:lnTo>
                  <a:lnTo>
                    <a:pt x="24130" y="234441"/>
                  </a:lnTo>
                  <a:lnTo>
                    <a:pt x="11557" y="225933"/>
                  </a:lnTo>
                  <a:lnTo>
                    <a:pt x="3048" y="213360"/>
                  </a:lnTo>
                  <a:lnTo>
                    <a:pt x="0" y="197992"/>
                  </a:lnTo>
                  <a:lnTo>
                    <a:pt x="0" y="39624"/>
                  </a:lnTo>
                  <a:close/>
                </a:path>
              </a:pathLst>
            </a:custGeom>
            <a:ln w="9523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73192" y="4249039"/>
              <a:ext cx="1707514" cy="238125"/>
            </a:xfrm>
            <a:custGeom>
              <a:avLst/>
              <a:gdLst/>
              <a:ahLst/>
              <a:cxnLst/>
              <a:rect l="l" t="t" r="r" b="b"/>
              <a:pathLst>
                <a:path w="1707515" h="238125">
                  <a:moveTo>
                    <a:pt x="1667637" y="0"/>
                  </a:moveTo>
                  <a:lnTo>
                    <a:pt x="39624" y="0"/>
                  </a:lnTo>
                  <a:lnTo>
                    <a:pt x="24130" y="3175"/>
                  </a:lnTo>
                  <a:lnTo>
                    <a:pt x="11557" y="11683"/>
                  </a:lnTo>
                  <a:lnTo>
                    <a:pt x="3048" y="24256"/>
                  </a:lnTo>
                  <a:lnTo>
                    <a:pt x="0" y="39624"/>
                  </a:lnTo>
                  <a:lnTo>
                    <a:pt x="0" y="197992"/>
                  </a:lnTo>
                  <a:lnTo>
                    <a:pt x="3048" y="213359"/>
                  </a:lnTo>
                  <a:lnTo>
                    <a:pt x="11557" y="225932"/>
                  </a:lnTo>
                  <a:lnTo>
                    <a:pt x="24130" y="234441"/>
                  </a:lnTo>
                  <a:lnTo>
                    <a:pt x="39624" y="237616"/>
                  </a:lnTo>
                  <a:lnTo>
                    <a:pt x="1667637" y="237616"/>
                  </a:lnTo>
                  <a:lnTo>
                    <a:pt x="1683004" y="234441"/>
                  </a:lnTo>
                  <a:lnTo>
                    <a:pt x="1695577" y="225932"/>
                  </a:lnTo>
                  <a:lnTo>
                    <a:pt x="1704086" y="213359"/>
                  </a:lnTo>
                  <a:lnTo>
                    <a:pt x="1707261" y="197992"/>
                  </a:lnTo>
                  <a:lnTo>
                    <a:pt x="1707261" y="39624"/>
                  </a:lnTo>
                  <a:lnTo>
                    <a:pt x="1704213" y="24511"/>
                  </a:lnTo>
                  <a:lnTo>
                    <a:pt x="1667637" y="0"/>
                  </a:lnTo>
                  <a:close/>
                </a:path>
              </a:pathLst>
            </a:custGeom>
            <a:solidFill>
              <a:srgbClr val="A4A4A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73192" y="4249039"/>
              <a:ext cx="1707514" cy="238125"/>
            </a:xfrm>
            <a:custGeom>
              <a:avLst/>
              <a:gdLst/>
              <a:ahLst/>
              <a:cxnLst/>
              <a:rect l="l" t="t" r="r" b="b"/>
              <a:pathLst>
                <a:path w="1707515" h="238125">
                  <a:moveTo>
                    <a:pt x="0" y="39624"/>
                  </a:moveTo>
                  <a:lnTo>
                    <a:pt x="3048" y="24256"/>
                  </a:lnTo>
                  <a:lnTo>
                    <a:pt x="11557" y="11683"/>
                  </a:lnTo>
                  <a:lnTo>
                    <a:pt x="24130" y="3175"/>
                  </a:lnTo>
                  <a:lnTo>
                    <a:pt x="39624" y="0"/>
                  </a:lnTo>
                  <a:lnTo>
                    <a:pt x="1667637" y="0"/>
                  </a:lnTo>
                  <a:lnTo>
                    <a:pt x="1704213" y="24511"/>
                  </a:lnTo>
                  <a:lnTo>
                    <a:pt x="1707261" y="39624"/>
                  </a:lnTo>
                  <a:lnTo>
                    <a:pt x="1707261" y="197992"/>
                  </a:lnTo>
                  <a:lnTo>
                    <a:pt x="1704086" y="213359"/>
                  </a:lnTo>
                  <a:lnTo>
                    <a:pt x="1695577" y="225932"/>
                  </a:lnTo>
                  <a:lnTo>
                    <a:pt x="1683004" y="234441"/>
                  </a:lnTo>
                  <a:lnTo>
                    <a:pt x="1667637" y="237616"/>
                  </a:lnTo>
                  <a:lnTo>
                    <a:pt x="39624" y="237616"/>
                  </a:lnTo>
                  <a:lnTo>
                    <a:pt x="24130" y="234441"/>
                  </a:lnTo>
                  <a:lnTo>
                    <a:pt x="11557" y="225932"/>
                  </a:lnTo>
                  <a:lnTo>
                    <a:pt x="3048" y="213359"/>
                  </a:lnTo>
                  <a:lnTo>
                    <a:pt x="0" y="197992"/>
                  </a:lnTo>
                  <a:lnTo>
                    <a:pt x="0" y="39624"/>
                  </a:lnTo>
                  <a:close/>
                </a:path>
              </a:pathLst>
            </a:custGeom>
            <a:ln w="9523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73192" y="3966972"/>
              <a:ext cx="1707514" cy="238125"/>
            </a:xfrm>
            <a:custGeom>
              <a:avLst/>
              <a:gdLst/>
              <a:ahLst/>
              <a:cxnLst/>
              <a:rect l="l" t="t" r="r" b="b"/>
              <a:pathLst>
                <a:path w="1707515" h="238125">
                  <a:moveTo>
                    <a:pt x="1667637" y="0"/>
                  </a:moveTo>
                  <a:lnTo>
                    <a:pt x="39624" y="0"/>
                  </a:lnTo>
                  <a:lnTo>
                    <a:pt x="24130" y="3175"/>
                  </a:lnTo>
                  <a:lnTo>
                    <a:pt x="11557" y="11684"/>
                  </a:lnTo>
                  <a:lnTo>
                    <a:pt x="3048" y="24257"/>
                  </a:lnTo>
                  <a:lnTo>
                    <a:pt x="0" y="39624"/>
                  </a:lnTo>
                  <a:lnTo>
                    <a:pt x="0" y="197993"/>
                  </a:lnTo>
                  <a:lnTo>
                    <a:pt x="3048" y="213360"/>
                  </a:lnTo>
                  <a:lnTo>
                    <a:pt x="11557" y="225933"/>
                  </a:lnTo>
                  <a:lnTo>
                    <a:pt x="24130" y="234442"/>
                  </a:lnTo>
                  <a:lnTo>
                    <a:pt x="39624" y="237617"/>
                  </a:lnTo>
                  <a:lnTo>
                    <a:pt x="1667637" y="237617"/>
                  </a:lnTo>
                  <a:lnTo>
                    <a:pt x="1683004" y="234442"/>
                  </a:lnTo>
                  <a:lnTo>
                    <a:pt x="1695577" y="225933"/>
                  </a:lnTo>
                  <a:lnTo>
                    <a:pt x="1704086" y="213360"/>
                  </a:lnTo>
                  <a:lnTo>
                    <a:pt x="1707261" y="197993"/>
                  </a:lnTo>
                  <a:lnTo>
                    <a:pt x="1707261" y="39624"/>
                  </a:lnTo>
                  <a:lnTo>
                    <a:pt x="1704213" y="24511"/>
                  </a:lnTo>
                  <a:lnTo>
                    <a:pt x="1667637" y="0"/>
                  </a:lnTo>
                  <a:close/>
                </a:path>
              </a:pathLst>
            </a:custGeom>
            <a:solidFill>
              <a:srgbClr val="F9BD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73192" y="3966972"/>
              <a:ext cx="1707514" cy="238125"/>
            </a:xfrm>
            <a:custGeom>
              <a:avLst/>
              <a:gdLst/>
              <a:ahLst/>
              <a:cxnLst/>
              <a:rect l="l" t="t" r="r" b="b"/>
              <a:pathLst>
                <a:path w="1707515" h="238125">
                  <a:moveTo>
                    <a:pt x="0" y="39624"/>
                  </a:moveTo>
                  <a:lnTo>
                    <a:pt x="3048" y="24257"/>
                  </a:lnTo>
                  <a:lnTo>
                    <a:pt x="11557" y="11684"/>
                  </a:lnTo>
                  <a:lnTo>
                    <a:pt x="24130" y="3175"/>
                  </a:lnTo>
                  <a:lnTo>
                    <a:pt x="39624" y="0"/>
                  </a:lnTo>
                  <a:lnTo>
                    <a:pt x="1667637" y="0"/>
                  </a:lnTo>
                  <a:lnTo>
                    <a:pt x="1704213" y="24511"/>
                  </a:lnTo>
                  <a:lnTo>
                    <a:pt x="1707261" y="39624"/>
                  </a:lnTo>
                  <a:lnTo>
                    <a:pt x="1707261" y="197993"/>
                  </a:lnTo>
                  <a:lnTo>
                    <a:pt x="1704086" y="213360"/>
                  </a:lnTo>
                  <a:lnTo>
                    <a:pt x="1695577" y="225933"/>
                  </a:lnTo>
                  <a:lnTo>
                    <a:pt x="1683004" y="234442"/>
                  </a:lnTo>
                  <a:lnTo>
                    <a:pt x="1667637" y="237617"/>
                  </a:lnTo>
                  <a:lnTo>
                    <a:pt x="39624" y="237617"/>
                  </a:lnTo>
                  <a:lnTo>
                    <a:pt x="24130" y="234442"/>
                  </a:lnTo>
                  <a:lnTo>
                    <a:pt x="11557" y="225933"/>
                  </a:lnTo>
                  <a:lnTo>
                    <a:pt x="3048" y="213360"/>
                  </a:lnTo>
                  <a:lnTo>
                    <a:pt x="0" y="197993"/>
                  </a:lnTo>
                  <a:lnTo>
                    <a:pt x="0" y="39624"/>
                  </a:lnTo>
                  <a:close/>
                </a:path>
              </a:pathLst>
            </a:custGeom>
            <a:ln w="9523">
              <a:solidFill>
                <a:srgbClr val="F9BD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005772" y="3605975"/>
            <a:ext cx="611505" cy="440690"/>
            <a:chOff x="7005772" y="3605975"/>
            <a:chExt cx="611505" cy="440690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05772" y="3607296"/>
              <a:ext cx="611223" cy="43892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036689" y="3610737"/>
              <a:ext cx="549275" cy="386080"/>
            </a:xfrm>
            <a:custGeom>
              <a:avLst/>
              <a:gdLst/>
              <a:ahLst/>
              <a:cxnLst/>
              <a:rect l="l" t="t" r="r" b="b"/>
              <a:pathLst>
                <a:path w="549275" h="386079">
                  <a:moveTo>
                    <a:pt x="356234" y="0"/>
                  </a:moveTo>
                  <a:lnTo>
                    <a:pt x="356234" y="96519"/>
                  </a:lnTo>
                  <a:lnTo>
                    <a:pt x="0" y="96519"/>
                  </a:lnTo>
                  <a:lnTo>
                    <a:pt x="0" y="289432"/>
                  </a:lnTo>
                  <a:lnTo>
                    <a:pt x="356234" y="289432"/>
                  </a:lnTo>
                  <a:lnTo>
                    <a:pt x="356234" y="385952"/>
                  </a:lnTo>
                  <a:lnTo>
                    <a:pt x="549275" y="192912"/>
                  </a:lnTo>
                  <a:lnTo>
                    <a:pt x="356234" y="0"/>
                  </a:lnTo>
                  <a:close/>
                </a:path>
              </a:pathLst>
            </a:custGeom>
            <a:solidFill>
              <a:srgbClr val="7E7E7E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36689" y="3610737"/>
              <a:ext cx="549275" cy="386080"/>
            </a:xfrm>
            <a:custGeom>
              <a:avLst/>
              <a:gdLst/>
              <a:ahLst/>
              <a:cxnLst/>
              <a:rect l="l" t="t" r="r" b="b"/>
              <a:pathLst>
                <a:path w="549275" h="386079">
                  <a:moveTo>
                    <a:pt x="0" y="96519"/>
                  </a:moveTo>
                  <a:lnTo>
                    <a:pt x="356234" y="96519"/>
                  </a:lnTo>
                  <a:lnTo>
                    <a:pt x="356234" y="0"/>
                  </a:lnTo>
                  <a:lnTo>
                    <a:pt x="549275" y="192912"/>
                  </a:lnTo>
                  <a:lnTo>
                    <a:pt x="356234" y="385952"/>
                  </a:lnTo>
                  <a:lnTo>
                    <a:pt x="356234" y="289432"/>
                  </a:lnTo>
                  <a:lnTo>
                    <a:pt x="0" y="289432"/>
                  </a:lnTo>
                  <a:lnTo>
                    <a:pt x="0" y="96519"/>
                  </a:lnTo>
                  <a:close/>
                </a:path>
              </a:pathLst>
            </a:custGeom>
            <a:ln w="9523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356472" y="4553204"/>
            <a:ext cx="971550" cy="45593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240" marR="5080" indent="-3175">
              <a:lnSpc>
                <a:spcPct val="101400"/>
              </a:lnSpc>
              <a:spcBef>
                <a:spcPts val="80"/>
              </a:spcBef>
            </a:pPr>
            <a:r>
              <a:rPr sz="1400" spc="-120" dirty="0">
                <a:latin typeface="Arial MT"/>
                <a:cs typeface="Arial MT"/>
              </a:rPr>
              <a:t>Conteneurs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&amp; </a:t>
            </a:r>
            <a:r>
              <a:rPr sz="1400" spc="-95" dirty="0">
                <a:latin typeface="Arial MT"/>
                <a:cs typeface="Arial MT"/>
              </a:rPr>
              <a:t>Microservices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743190" y="2860428"/>
            <a:ext cx="2164715" cy="1786255"/>
            <a:chOff x="7743190" y="2860428"/>
            <a:chExt cx="2164715" cy="1786255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43190" y="4084853"/>
              <a:ext cx="2164588" cy="56131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808595" y="4130294"/>
              <a:ext cx="2033905" cy="430530"/>
            </a:xfrm>
            <a:custGeom>
              <a:avLst/>
              <a:gdLst/>
              <a:ahLst/>
              <a:cxnLst/>
              <a:rect l="l" t="t" r="r" b="b"/>
              <a:pathLst>
                <a:path w="2033904" h="430529">
                  <a:moveTo>
                    <a:pt x="2033904" y="0"/>
                  </a:moveTo>
                  <a:lnTo>
                    <a:pt x="2033270" y="77343"/>
                  </a:lnTo>
                  <a:lnTo>
                    <a:pt x="2031619" y="150240"/>
                  </a:lnTo>
                  <a:lnTo>
                    <a:pt x="2028952" y="217297"/>
                  </a:lnTo>
                  <a:lnTo>
                    <a:pt x="2025396" y="277368"/>
                  </a:lnTo>
                  <a:lnTo>
                    <a:pt x="2021077" y="329311"/>
                  </a:lnTo>
                  <a:lnTo>
                    <a:pt x="2016125" y="371729"/>
                  </a:lnTo>
                  <a:lnTo>
                    <a:pt x="2004440" y="423545"/>
                  </a:lnTo>
                  <a:lnTo>
                    <a:pt x="1997963" y="430530"/>
                  </a:lnTo>
                  <a:lnTo>
                    <a:pt x="35940" y="430530"/>
                  </a:lnTo>
                  <a:lnTo>
                    <a:pt x="17779" y="371729"/>
                  </a:lnTo>
                  <a:lnTo>
                    <a:pt x="12826" y="329311"/>
                  </a:lnTo>
                  <a:lnTo>
                    <a:pt x="8508" y="277368"/>
                  </a:lnTo>
                  <a:lnTo>
                    <a:pt x="4952" y="217297"/>
                  </a:lnTo>
                  <a:lnTo>
                    <a:pt x="2285" y="150240"/>
                  </a:lnTo>
                  <a:lnTo>
                    <a:pt x="634" y="77343"/>
                  </a:lnTo>
                  <a:lnTo>
                    <a:pt x="0" y="0"/>
                  </a:lnTo>
                </a:path>
              </a:pathLst>
            </a:custGeom>
            <a:ln w="50798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56931" y="3692842"/>
              <a:ext cx="831786" cy="83178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001635" y="3714623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618490" y="0"/>
                  </a:moveTo>
                  <a:lnTo>
                    <a:pt x="123698" y="0"/>
                  </a:lnTo>
                  <a:lnTo>
                    <a:pt x="75565" y="9779"/>
                  </a:lnTo>
                  <a:lnTo>
                    <a:pt x="36195" y="36195"/>
                  </a:lnTo>
                  <a:lnTo>
                    <a:pt x="9779" y="75565"/>
                  </a:lnTo>
                  <a:lnTo>
                    <a:pt x="0" y="123698"/>
                  </a:lnTo>
                  <a:lnTo>
                    <a:pt x="0" y="618617"/>
                  </a:lnTo>
                  <a:lnTo>
                    <a:pt x="9779" y="666750"/>
                  </a:lnTo>
                  <a:lnTo>
                    <a:pt x="36195" y="705993"/>
                  </a:lnTo>
                  <a:lnTo>
                    <a:pt x="75565" y="732536"/>
                  </a:lnTo>
                  <a:lnTo>
                    <a:pt x="123698" y="742315"/>
                  </a:lnTo>
                  <a:lnTo>
                    <a:pt x="618490" y="742315"/>
                  </a:lnTo>
                  <a:lnTo>
                    <a:pt x="666750" y="732536"/>
                  </a:lnTo>
                  <a:lnTo>
                    <a:pt x="705993" y="705993"/>
                  </a:lnTo>
                  <a:lnTo>
                    <a:pt x="732536" y="666750"/>
                  </a:lnTo>
                  <a:lnTo>
                    <a:pt x="742315" y="618617"/>
                  </a:lnTo>
                  <a:lnTo>
                    <a:pt x="742315" y="123698"/>
                  </a:lnTo>
                  <a:lnTo>
                    <a:pt x="732790" y="76327"/>
                  </a:lnTo>
                  <a:lnTo>
                    <a:pt x="705993" y="36195"/>
                  </a:lnTo>
                  <a:lnTo>
                    <a:pt x="665861" y="9398"/>
                  </a:lnTo>
                  <a:lnTo>
                    <a:pt x="618490" y="0"/>
                  </a:lnTo>
                  <a:close/>
                </a:path>
              </a:pathLst>
            </a:custGeom>
            <a:solidFill>
              <a:srgbClr val="F0F0F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01635" y="3714623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0" y="123698"/>
                  </a:moveTo>
                  <a:lnTo>
                    <a:pt x="9779" y="75565"/>
                  </a:lnTo>
                  <a:lnTo>
                    <a:pt x="36195" y="36195"/>
                  </a:lnTo>
                  <a:lnTo>
                    <a:pt x="75565" y="9779"/>
                  </a:lnTo>
                  <a:lnTo>
                    <a:pt x="123698" y="0"/>
                  </a:lnTo>
                  <a:lnTo>
                    <a:pt x="618490" y="0"/>
                  </a:lnTo>
                  <a:lnTo>
                    <a:pt x="665861" y="9398"/>
                  </a:lnTo>
                  <a:lnTo>
                    <a:pt x="705993" y="36195"/>
                  </a:lnTo>
                  <a:lnTo>
                    <a:pt x="732790" y="76327"/>
                  </a:lnTo>
                  <a:lnTo>
                    <a:pt x="742315" y="123698"/>
                  </a:lnTo>
                  <a:lnTo>
                    <a:pt x="742315" y="618617"/>
                  </a:lnTo>
                  <a:lnTo>
                    <a:pt x="732536" y="666750"/>
                  </a:lnTo>
                  <a:lnTo>
                    <a:pt x="705993" y="705993"/>
                  </a:lnTo>
                  <a:lnTo>
                    <a:pt x="666750" y="732536"/>
                  </a:lnTo>
                  <a:lnTo>
                    <a:pt x="618490" y="742315"/>
                  </a:lnTo>
                  <a:lnTo>
                    <a:pt x="123698" y="742315"/>
                  </a:lnTo>
                  <a:lnTo>
                    <a:pt x="75565" y="732536"/>
                  </a:lnTo>
                  <a:lnTo>
                    <a:pt x="36195" y="705993"/>
                  </a:lnTo>
                  <a:lnTo>
                    <a:pt x="9779" y="666750"/>
                  </a:lnTo>
                  <a:lnTo>
                    <a:pt x="0" y="618617"/>
                  </a:lnTo>
                  <a:lnTo>
                    <a:pt x="0" y="123698"/>
                  </a:lnTo>
                  <a:close/>
                </a:path>
              </a:pathLst>
            </a:custGeom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075803" y="3788829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59385" y="0"/>
                  </a:moveTo>
                  <a:lnTo>
                    <a:pt x="0" y="0"/>
                  </a:lnTo>
                  <a:lnTo>
                    <a:pt x="0" y="593813"/>
                  </a:lnTo>
                  <a:lnTo>
                    <a:pt x="59385" y="593813"/>
                  </a:lnTo>
                  <a:lnTo>
                    <a:pt x="59385" y="0"/>
                  </a:lnTo>
                  <a:close/>
                </a:path>
                <a:path w="594359" h="594360">
                  <a:moveTo>
                    <a:pt x="192989" y="0"/>
                  </a:moveTo>
                  <a:lnTo>
                    <a:pt x="133604" y="0"/>
                  </a:lnTo>
                  <a:lnTo>
                    <a:pt x="133604" y="593813"/>
                  </a:lnTo>
                  <a:lnTo>
                    <a:pt x="192989" y="593813"/>
                  </a:lnTo>
                  <a:lnTo>
                    <a:pt x="192989" y="0"/>
                  </a:lnTo>
                  <a:close/>
                </a:path>
                <a:path w="594359" h="594360">
                  <a:moveTo>
                    <a:pt x="326567" y="0"/>
                  </a:moveTo>
                  <a:lnTo>
                    <a:pt x="267208" y="0"/>
                  </a:lnTo>
                  <a:lnTo>
                    <a:pt x="267208" y="593813"/>
                  </a:lnTo>
                  <a:lnTo>
                    <a:pt x="326567" y="593813"/>
                  </a:lnTo>
                  <a:lnTo>
                    <a:pt x="326567" y="0"/>
                  </a:lnTo>
                  <a:close/>
                </a:path>
                <a:path w="594359" h="594360">
                  <a:moveTo>
                    <a:pt x="460197" y="0"/>
                  </a:moveTo>
                  <a:lnTo>
                    <a:pt x="400812" y="0"/>
                  </a:lnTo>
                  <a:lnTo>
                    <a:pt x="400812" y="593813"/>
                  </a:lnTo>
                  <a:lnTo>
                    <a:pt x="460197" y="593813"/>
                  </a:lnTo>
                  <a:lnTo>
                    <a:pt x="460197" y="0"/>
                  </a:lnTo>
                  <a:close/>
                </a:path>
                <a:path w="594359" h="594360">
                  <a:moveTo>
                    <a:pt x="593801" y="0"/>
                  </a:moveTo>
                  <a:lnTo>
                    <a:pt x="534416" y="0"/>
                  </a:lnTo>
                  <a:lnTo>
                    <a:pt x="534416" y="593813"/>
                  </a:lnTo>
                  <a:lnTo>
                    <a:pt x="593801" y="593813"/>
                  </a:lnTo>
                  <a:lnTo>
                    <a:pt x="593801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62441" y="3692842"/>
              <a:ext cx="831786" cy="83178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907145" y="3714623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618616" y="0"/>
                  </a:moveTo>
                  <a:lnTo>
                    <a:pt x="123825" y="0"/>
                  </a:lnTo>
                  <a:lnTo>
                    <a:pt x="75564" y="9779"/>
                  </a:lnTo>
                  <a:lnTo>
                    <a:pt x="36322" y="36195"/>
                  </a:lnTo>
                  <a:lnTo>
                    <a:pt x="9778" y="75565"/>
                  </a:lnTo>
                  <a:lnTo>
                    <a:pt x="0" y="123698"/>
                  </a:lnTo>
                  <a:lnTo>
                    <a:pt x="0" y="618617"/>
                  </a:lnTo>
                  <a:lnTo>
                    <a:pt x="9778" y="666750"/>
                  </a:lnTo>
                  <a:lnTo>
                    <a:pt x="36322" y="705993"/>
                  </a:lnTo>
                  <a:lnTo>
                    <a:pt x="75564" y="732536"/>
                  </a:lnTo>
                  <a:lnTo>
                    <a:pt x="123825" y="742315"/>
                  </a:lnTo>
                  <a:lnTo>
                    <a:pt x="618616" y="742315"/>
                  </a:lnTo>
                  <a:lnTo>
                    <a:pt x="665987" y="732917"/>
                  </a:lnTo>
                  <a:lnTo>
                    <a:pt x="706120" y="705993"/>
                  </a:lnTo>
                  <a:lnTo>
                    <a:pt x="732916" y="665861"/>
                  </a:lnTo>
                  <a:lnTo>
                    <a:pt x="742314" y="618617"/>
                  </a:lnTo>
                  <a:lnTo>
                    <a:pt x="742314" y="123698"/>
                  </a:lnTo>
                  <a:lnTo>
                    <a:pt x="732535" y="75565"/>
                  </a:lnTo>
                  <a:lnTo>
                    <a:pt x="706120" y="36195"/>
                  </a:lnTo>
                  <a:lnTo>
                    <a:pt x="666750" y="9779"/>
                  </a:lnTo>
                  <a:lnTo>
                    <a:pt x="618616" y="0"/>
                  </a:lnTo>
                  <a:close/>
                </a:path>
              </a:pathLst>
            </a:custGeom>
            <a:solidFill>
              <a:srgbClr val="F0F0F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907145" y="3714623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618616" y="0"/>
                  </a:moveTo>
                  <a:lnTo>
                    <a:pt x="666750" y="9779"/>
                  </a:lnTo>
                  <a:lnTo>
                    <a:pt x="706120" y="36195"/>
                  </a:lnTo>
                  <a:lnTo>
                    <a:pt x="732535" y="75565"/>
                  </a:lnTo>
                  <a:lnTo>
                    <a:pt x="742314" y="123698"/>
                  </a:lnTo>
                  <a:lnTo>
                    <a:pt x="742314" y="618617"/>
                  </a:lnTo>
                  <a:lnTo>
                    <a:pt x="732916" y="665861"/>
                  </a:lnTo>
                  <a:lnTo>
                    <a:pt x="706120" y="705993"/>
                  </a:lnTo>
                  <a:lnTo>
                    <a:pt x="665987" y="732917"/>
                  </a:lnTo>
                  <a:lnTo>
                    <a:pt x="618616" y="742315"/>
                  </a:lnTo>
                  <a:lnTo>
                    <a:pt x="123825" y="742315"/>
                  </a:lnTo>
                  <a:lnTo>
                    <a:pt x="75564" y="732536"/>
                  </a:lnTo>
                  <a:lnTo>
                    <a:pt x="36322" y="705993"/>
                  </a:lnTo>
                  <a:lnTo>
                    <a:pt x="9778" y="666750"/>
                  </a:lnTo>
                  <a:lnTo>
                    <a:pt x="0" y="618617"/>
                  </a:lnTo>
                  <a:lnTo>
                    <a:pt x="0" y="123698"/>
                  </a:lnTo>
                  <a:lnTo>
                    <a:pt x="9778" y="75565"/>
                  </a:lnTo>
                  <a:lnTo>
                    <a:pt x="36322" y="36195"/>
                  </a:lnTo>
                  <a:lnTo>
                    <a:pt x="75564" y="9779"/>
                  </a:lnTo>
                  <a:lnTo>
                    <a:pt x="123825" y="0"/>
                  </a:lnTo>
                  <a:lnTo>
                    <a:pt x="618616" y="0"/>
                  </a:lnTo>
                  <a:close/>
                </a:path>
              </a:pathLst>
            </a:custGeom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81440" y="3788854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593813" y="534403"/>
                  </a:moveTo>
                  <a:lnTo>
                    <a:pt x="0" y="534403"/>
                  </a:lnTo>
                  <a:lnTo>
                    <a:pt x="0" y="593788"/>
                  </a:lnTo>
                  <a:lnTo>
                    <a:pt x="593813" y="593788"/>
                  </a:lnTo>
                  <a:lnTo>
                    <a:pt x="593813" y="534403"/>
                  </a:lnTo>
                  <a:close/>
                </a:path>
                <a:path w="594359" h="594360">
                  <a:moveTo>
                    <a:pt x="593813" y="400812"/>
                  </a:moveTo>
                  <a:lnTo>
                    <a:pt x="0" y="400812"/>
                  </a:lnTo>
                  <a:lnTo>
                    <a:pt x="0" y="460184"/>
                  </a:lnTo>
                  <a:lnTo>
                    <a:pt x="593813" y="460184"/>
                  </a:lnTo>
                  <a:lnTo>
                    <a:pt x="593813" y="400812"/>
                  </a:lnTo>
                  <a:close/>
                </a:path>
                <a:path w="594359" h="594360">
                  <a:moveTo>
                    <a:pt x="593813" y="267195"/>
                  </a:moveTo>
                  <a:lnTo>
                    <a:pt x="0" y="267195"/>
                  </a:lnTo>
                  <a:lnTo>
                    <a:pt x="0" y="326580"/>
                  </a:lnTo>
                  <a:lnTo>
                    <a:pt x="593813" y="326580"/>
                  </a:lnTo>
                  <a:lnTo>
                    <a:pt x="593813" y="267195"/>
                  </a:lnTo>
                  <a:close/>
                </a:path>
                <a:path w="594359" h="594360">
                  <a:moveTo>
                    <a:pt x="593813" y="133591"/>
                  </a:moveTo>
                  <a:lnTo>
                    <a:pt x="0" y="133591"/>
                  </a:lnTo>
                  <a:lnTo>
                    <a:pt x="0" y="192976"/>
                  </a:lnTo>
                  <a:lnTo>
                    <a:pt x="593813" y="192976"/>
                  </a:lnTo>
                  <a:lnTo>
                    <a:pt x="593813" y="133591"/>
                  </a:lnTo>
                  <a:close/>
                </a:path>
                <a:path w="594359" h="594360">
                  <a:moveTo>
                    <a:pt x="593813" y="0"/>
                  </a:moveTo>
                  <a:lnTo>
                    <a:pt x="0" y="0"/>
                  </a:lnTo>
                  <a:lnTo>
                    <a:pt x="0" y="59372"/>
                  </a:lnTo>
                  <a:lnTo>
                    <a:pt x="593813" y="59372"/>
                  </a:lnTo>
                  <a:lnTo>
                    <a:pt x="593813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876227" y="2860428"/>
              <a:ext cx="804213" cy="80421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907145" y="2868422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618616" y="0"/>
                  </a:moveTo>
                  <a:lnTo>
                    <a:pt x="123825" y="0"/>
                  </a:lnTo>
                  <a:lnTo>
                    <a:pt x="75564" y="9779"/>
                  </a:lnTo>
                  <a:lnTo>
                    <a:pt x="36322" y="36322"/>
                  </a:lnTo>
                  <a:lnTo>
                    <a:pt x="9778" y="75565"/>
                  </a:lnTo>
                  <a:lnTo>
                    <a:pt x="0" y="123698"/>
                  </a:lnTo>
                  <a:lnTo>
                    <a:pt x="0" y="618617"/>
                  </a:lnTo>
                  <a:lnTo>
                    <a:pt x="9778" y="666750"/>
                  </a:lnTo>
                  <a:lnTo>
                    <a:pt x="36322" y="706120"/>
                  </a:lnTo>
                  <a:lnTo>
                    <a:pt x="75564" y="732536"/>
                  </a:lnTo>
                  <a:lnTo>
                    <a:pt x="123825" y="742315"/>
                  </a:lnTo>
                  <a:lnTo>
                    <a:pt x="618616" y="742315"/>
                  </a:lnTo>
                  <a:lnTo>
                    <a:pt x="666750" y="732536"/>
                  </a:lnTo>
                  <a:lnTo>
                    <a:pt x="706120" y="706120"/>
                  </a:lnTo>
                  <a:lnTo>
                    <a:pt x="732535" y="666750"/>
                  </a:lnTo>
                  <a:lnTo>
                    <a:pt x="742314" y="618617"/>
                  </a:lnTo>
                  <a:lnTo>
                    <a:pt x="742314" y="123698"/>
                  </a:lnTo>
                  <a:lnTo>
                    <a:pt x="732916" y="76454"/>
                  </a:lnTo>
                  <a:lnTo>
                    <a:pt x="706120" y="36322"/>
                  </a:lnTo>
                  <a:lnTo>
                    <a:pt x="665987" y="9398"/>
                  </a:lnTo>
                  <a:lnTo>
                    <a:pt x="618616" y="0"/>
                  </a:lnTo>
                  <a:close/>
                </a:path>
              </a:pathLst>
            </a:custGeom>
            <a:solidFill>
              <a:srgbClr val="F0F0F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907145" y="2868422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0" y="123698"/>
                  </a:moveTo>
                  <a:lnTo>
                    <a:pt x="9778" y="75565"/>
                  </a:lnTo>
                  <a:lnTo>
                    <a:pt x="36322" y="36322"/>
                  </a:lnTo>
                  <a:lnTo>
                    <a:pt x="75564" y="9779"/>
                  </a:lnTo>
                  <a:lnTo>
                    <a:pt x="123825" y="0"/>
                  </a:lnTo>
                  <a:lnTo>
                    <a:pt x="618616" y="0"/>
                  </a:lnTo>
                  <a:lnTo>
                    <a:pt x="665987" y="9398"/>
                  </a:lnTo>
                  <a:lnTo>
                    <a:pt x="706120" y="36322"/>
                  </a:lnTo>
                  <a:lnTo>
                    <a:pt x="732916" y="76454"/>
                  </a:lnTo>
                  <a:lnTo>
                    <a:pt x="742314" y="123698"/>
                  </a:lnTo>
                  <a:lnTo>
                    <a:pt x="742314" y="618617"/>
                  </a:lnTo>
                  <a:lnTo>
                    <a:pt x="732535" y="666750"/>
                  </a:lnTo>
                  <a:lnTo>
                    <a:pt x="706120" y="706120"/>
                  </a:lnTo>
                  <a:lnTo>
                    <a:pt x="666750" y="732536"/>
                  </a:lnTo>
                  <a:lnTo>
                    <a:pt x="618616" y="742315"/>
                  </a:lnTo>
                  <a:lnTo>
                    <a:pt x="123825" y="742315"/>
                  </a:lnTo>
                  <a:lnTo>
                    <a:pt x="75564" y="732536"/>
                  </a:lnTo>
                  <a:lnTo>
                    <a:pt x="36322" y="706120"/>
                  </a:lnTo>
                  <a:lnTo>
                    <a:pt x="9778" y="666750"/>
                  </a:lnTo>
                  <a:lnTo>
                    <a:pt x="0" y="618617"/>
                  </a:lnTo>
                  <a:lnTo>
                    <a:pt x="0" y="123698"/>
                  </a:lnTo>
                  <a:close/>
                </a:path>
              </a:pathLst>
            </a:custGeom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981440" y="2942628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59385" y="0"/>
                  </a:moveTo>
                  <a:lnTo>
                    <a:pt x="0" y="0"/>
                  </a:lnTo>
                  <a:lnTo>
                    <a:pt x="0" y="593813"/>
                  </a:lnTo>
                  <a:lnTo>
                    <a:pt x="59385" y="593813"/>
                  </a:lnTo>
                  <a:lnTo>
                    <a:pt x="59385" y="0"/>
                  </a:lnTo>
                  <a:close/>
                </a:path>
                <a:path w="594359" h="594360">
                  <a:moveTo>
                    <a:pt x="192976" y="0"/>
                  </a:moveTo>
                  <a:lnTo>
                    <a:pt x="133604" y="0"/>
                  </a:lnTo>
                  <a:lnTo>
                    <a:pt x="133604" y="593813"/>
                  </a:lnTo>
                  <a:lnTo>
                    <a:pt x="192976" y="593813"/>
                  </a:lnTo>
                  <a:lnTo>
                    <a:pt x="192976" y="0"/>
                  </a:lnTo>
                  <a:close/>
                </a:path>
                <a:path w="594359" h="594360">
                  <a:moveTo>
                    <a:pt x="326593" y="0"/>
                  </a:moveTo>
                  <a:lnTo>
                    <a:pt x="267208" y="0"/>
                  </a:lnTo>
                  <a:lnTo>
                    <a:pt x="267208" y="593813"/>
                  </a:lnTo>
                  <a:lnTo>
                    <a:pt x="326593" y="593813"/>
                  </a:lnTo>
                  <a:lnTo>
                    <a:pt x="326593" y="0"/>
                  </a:lnTo>
                  <a:close/>
                </a:path>
                <a:path w="594359" h="594360">
                  <a:moveTo>
                    <a:pt x="460197" y="0"/>
                  </a:moveTo>
                  <a:lnTo>
                    <a:pt x="400812" y="0"/>
                  </a:lnTo>
                  <a:lnTo>
                    <a:pt x="400812" y="593813"/>
                  </a:lnTo>
                  <a:lnTo>
                    <a:pt x="460197" y="593813"/>
                  </a:lnTo>
                  <a:lnTo>
                    <a:pt x="460197" y="0"/>
                  </a:lnTo>
                  <a:close/>
                </a:path>
                <a:path w="594359" h="594360">
                  <a:moveTo>
                    <a:pt x="593775" y="0"/>
                  </a:moveTo>
                  <a:lnTo>
                    <a:pt x="534416" y="0"/>
                  </a:lnTo>
                  <a:lnTo>
                    <a:pt x="534416" y="593813"/>
                  </a:lnTo>
                  <a:lnTo>
                    <a:pt x="593775" y="593813"/>
                  </a:lnTo>
                  <a:lnTo>
                    <a:pt x="593775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55858" y="2860428"/>
              <a:ext cx="804213" cy="80421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986776" y="2868422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618617" y="0"/>
                  </a:moveTo>
                  <a:lnTo>
                    <a:pt x="123698" y="0"/>
                  </a:lnTo>
                  <a:lnTo>
                    <a:pt x="75565" y="9779"/>
                  </a:lnTo>
                  <a:lnTo>
                    <a:pt x="36195" y="36322"/>
                  </a:lnTo>
                  <a:lnTo>
                    <a:pt x="9778" y="75565"/>
                  </a:lnTo>
                  <a:lnTo>
                    <a:pt x="0" y="123698"/>
                  </a:lnTo>
                  <a:lnTo>
                    <a:pt x="0" y="618617"/>
                  </a:lnTo>
                  <a:lnTo>
                    <a:pt x="9778" y="666750"/>
                  </a:lnTo>
                  <a:lnTo>
                    <a:pt x="36195" y="706120"/>
                  </a:lnTo>
                  <a:lnTo>
                    <a:pt x="75565" y="732536"/>
                  </a:lnTo>
                  <a:lnTo>
                    <a:pt x="123698" y="742315"/>
                  </a:lnTo>
                  <a:lnTo>
                    <a:pt x="618617" y="742315"/>
                  </a:lnTo>
                  <a:lnTo>
                    <a:pt x="665860" y="732917"/>
                  </a:lnTo>
                  <a:lnTo>
                    <a:pt x="705993" y="706120"/>
                  </a:lnTo>
                  <a:lnTo>
                    <a:pt x="732917" y="665988"/>
                  </a:lnTo>
                  <a:lnTo>
                    <a:pt x="742315" y="618617"/>
                  </a:lnTo>
                  <a:lnTo>
                    <a:pt x="742315" y="123698"/>
                  </a:lnTo>
                  <a:lnTo>
                    <a:pt x="732535" y="75565"/>
                  </a:lnTo>
                  <a:lnTo>
                    <a:pt x="705993" y="36322"/>
                  </a:lnTo>
                  <a:lnTo>
                    <a:pt x="666750" y="9779"/>
                  </a:lnTo>
                  <a:lnTo>
                    <a:pt x="618617" y="0"/>
                  </a:lnTo>
                  <a:close/>
                </a:path>
              </a:pathLst>
            </a:custGeom>
            <a:solidFill>
              <a:srgbClr val="F0F0F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986776" y="2868422"/>
              <a:ext cx="742315" cy="742315"/>
            </a:xfrm>
            <a:custGeom>
              <a:avLst/>
              <a:gdLst/>
              <a:ahLst/>
              <a:cxnLst/>
              <a:rect l="l" t="t" r="r" b="b"/>
              <a:pathLst>
                <a:path w="742315" h="742314">
                  <a:moveTo>
                    <a:pt x="618617" y="0"/>
                  </a:moveTo>
                  <a:lnTo>
                    <a:pt x="666750" y="9779"/>
                  </a:lnTo>
                  <a:lnTo>
                    <a:pt x="705993" y="36322"/>
                  </a:lnTo>
                  <a:lnTo>
                    <a:pt x="732535" y="75565"/>
                  </a:lnTo>
                  <a:lnTo>
                    <a:pt x="742315" y="123698"/>
                  </a:lnTo>
                  <a:lnTo>
                    <a:pt x="742315" y="618617"/>
                  </a:lnTo>
                  <a:lnTo>
                    <a:pt x="732917" y="665988"/>
                  </a:lnTo>
                  <a:lnTo>
                    <a:pt x="705993" y="706120"/>
                  </a:lnTo>
                  <a:lnTo>
                    <a:pt x="665860" y="732917"/>
                  </a:lnTo>
                  <a:lnTo>
                    <a:pt x="618617" y="742315"/>
                  </a:lnTo>
                  <a:lnTo>
                    <a:pt x="123698" y="742315"/>
                  </a:lnTo>
                  <a:lnTo>
                    <a:pt x="75565" y="732536"/>
                  </a:lnTo>
                  <a:lnTo>
                    <a:pt x="36195" y="706120"/>
                  </a:lnTo>
                  <a:lnTo>
                    <a:pt x="9778" y="666750"/>
                  </a:lnTo>
                  <a:lnTo>
                    <a:pt x="0" y="618617"/>
                  </a:lnTo>
                  <a:lnTo>
                    <a:pt x="0" y="123698"/>
                  </a:lnTo>
                  <a:lnTo>
                    <a:pt x="9778" y="75565"/>
                  </a:lnTo>
                  <a:lnTo>
                    <a:pt x="36195" y="36322"/>
                  </a:lnTo>
                  <a:lnTo>
                    <a:pt x="75565" y="9779"/>
                  </a:lnTo>
                  <a:lnTo>
                    <a:pt x="123698" y="0"/>
                  </a:lnTo>
                  <a:lnTo>
                    <a:pt x="618617" y="0"/>
                  </a:lnTo>
                  <a:close/>
                </a:path>
              </a:pathLst>
            </a:custGeom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060944" y="294264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593813" y="534416"/>
                  </a:moveTo>
                  <a:lnTo>
                    <a:pt x="0" y="534416"/>
                  </a:lnTo>
                  <a:lnTo>
                    <a:pt x="0" y="593801"/>
                  </a:lnTo>
                  <a:lnTo>
                    <a:pt x="593813" y="593801"/>
                  </a:lnTo>
                  <a:lnTo>
                    <a:pt x="593813" y="534416"/>
                  </a:lnTo>
                  <a:close/>
                </a:path>
                <a:path w="594359" h="594360">
                  <a:moveTo>
                    <a:pt x="593813" y="400824"/>
                  </a:moveTo>
                  <a:lnTo>
                    <a:pt x="0" y="400824"/>
                  </a:lnTo>
                  <a:lnTo>
                    <a:pt x="0" y="460197"/>
                  </a:lnTo>
                  <a:lnTo>
                    <a:pt x="593813" y="460197"/>
                  </a:lnTo>
                  <a:lnTo>
                    <a:pt x="593813" y="400824"/>
                  </a:lnTo>
                  <a:close/>
                </a:path>
                <a:path w="594359" h="594360">
                  <a:moveTo>
                    <a:pt x="593813" y="267220"/>
                  </a:moveTo>
                  <a:lnTo>
                    <a:pt x="0" y="267220"/>
                  </a:lnTo>
                  <a:lnTo>
                    <a:pt x="0" y="326593"/>
                  </a:lnTo>
                  <a:lnTo>
                    <a:pt x="593813" y="326593"/>
                  </a:lnTo>
                  <a:lnTo>
                    <a:pt x="593813" y="267220"/>
                  </a:lnTo>
                  <a:close/>
                </a:path>
                <a:path w="594359" h="594360">
                  <a:moveTo>
                    <a:pt x="593813" y="133604"/>
                  </a:moveTo>
                  <a:lnTo>
                    <a:pt x="0" y="133604"/>
                  </a:lnTo>
                  <a:lnTo>
                    <a:pt x="0" y="192989"/>
                  </a:lnTo>
                  <a:lnTo>
                    <a:pt x="593813" y="192989"/>
                  </a:lnTo>
                  <a:lnTo>
                    <a:pt x="593813" y="133604"/>
                  </a:lnTo>
                  <a:close/>
                </a:path>
                <a:path w="594359" h="594360">
                  <a:moveTo>
                    <a:pt x="593813" y="0"/>
                  </a:moveTo>
                  <a:lnTo>
                    <a:pt x="0" y="0"/>
                  </a:lnTo>
                  <a:lnTo>
                    <a:pt x="0" y="59385"/>
                  </a:lnTo>
                  <a:lnTo>
                    <a:pt x="593813" y="59385"/>
                  </a:lnTo>
                  <a:lnTo>
                    <a:pt x="593813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090662" y="3848227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218948" y="0"/>
                  </a:moveTo>
                  <a:lnTo>
                    <a:pt x="63119" y="0"/>
                  </a:lnTo>
                  <a:lnTo>
                    <a:pt x="0" y="126237"/>
                  </a:lnTo>
                  <a:lnTo>
                    <a:pt x="63119" y="252349"/>
                  </a:lnTo>
                  <a:lnTo>
                    <a:pt x="218948" y="252349"/>
                  </a:lnTo>
                  <a:lnTo>
                    <a:pt x="282067" y="126237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F6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090662" y="3848227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0" y="126237"/>
                  </a:moveTo>
                  <a:lnTo>
                    <a:pt x="63119" y="0"/>
                  </a:lnTo>
                  <a:lnTo>
                    <a:pt x="218948" y="0"/>
                  </a:lnTo>
                  <a:lnTo>
                    <a:pt x="282067" y="126237"/>
                  </a:lnTo>
                  <a:lnTo>
                    <a:pt x="218948" y="252349"/>
                  </a:lnTo>
                  <a:lnTo>
                    <a:pt x="63119" y="252349"/>
                  </a:lnTo>
                  <a:lnTo>
                    <a:pt x="0" y="126237"/>
                  </a:lnTo>
                  <a:close/>
                </a:path>
              </a:pathLst>
            </a:custGeom>
            <a:ln w="9523">
              <a:solidFill>
                <a:srgbClr val="F6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966581" y="3254375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218948" y="0"/>
                  </a:moveTo>
                  <a:lnTo>
                    <a:pt x="63119" y="0"/>
                  </a:lnTo>
                  <a:lnTo>
                    <a:pt x="0" y="126237"/>
                  </a:lnTo>
                  <a:lnTo>
                    <a:pt x="63119" y="252475"/>
                  </a:lnTo>
                  <a:lnTo>
                    <a:pt x="218948" y="252475"/>
                  </a:lnTo>
                  <a:lnTo>
                    <a:pt x="282067" y="126237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966581" y="3254375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0" y="126237"/>
                  </a:moveTo>
                  <a:lnTo>
                    <a:pt x="63119" y="0"/>
                  </a:lnTo>
                  <a:lnTo>
                    <a:pt x="218948" y="0"/>
                  </a:lnTo>
                  <a:lnTo>
                    <a:pt x="282067" y="126237"/>
                  </a:lnTo>
                  <a:lnTo>
                    <a:pt x="218948" y="252475"/>
                  </a:lnTo>
                  <a:lnTo>
                    <a:pt x="63119" y="252475"/>
                  </a:lnTo>
                  <a:lnTo>
                    <a:pt x="0" y="126237"/>
                  </a:lnTo>
                  <a:close/>
                </a:path>
              </a:pathLst>
            </a:custGeom>
            <a:ln w="9523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68843" y="3120872"/>
              <a:ext cx="282054" cy="252374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268843" y="3120771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0" y="126237"/>
                  </a:moveTo>
                  <a:lnTo>
                    <a:pt x="63118" y="0"/>
                  </a:lnTo>
                  <a:lnTo>
                    <a:pt x="218948" y="0"/>
                  </a:lnTo>
                  <a:lnTo>
                    <a:pt x="282066" y="126237"/>
                  </a:lnTo>
                  <a:lnTo>
                    <a:pt x="218948" y="252475"/>
                  </a:lnTo>
                  <a:lnTo>
                    <a:pt x="63118" y="252475"/>
                  </a:lnTo>
                  <a:lnTo>
                    <a:pt x="0" y="126237"/>
                  </a:lnTo>
                  <a:close/>
                </a:path>
              </a:pathLst>
            </a:custGeom>
            <a:ln w="9523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031353" y="2957576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30">
                  <a:moveTo>
                    <a:pt x="218948" y="0"/>
                  </a:moveTo>
                  <a:lnTo>
                    <a:pt x="63119" y="0"/>
                  </a:lnTo>
                  <a:lnTo>
                    <a:pt x="0" y="126111"/>
                  </a:lnTo>
                  <a:lnTo>
                    <a:pt x="63119" y="252349"/>
                  </a:lnTo>
                  <a:lnTo>
                    <a:pt x="218948" y="252349"/>
                  </a:lnTo>
                  <a:lnTo>
                    <a:pt x="282067" y="126111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031353" y="2957576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30">
                  <a:moveTo>
                    <a:pt x="0" y="126111"/>
                  </a:moveTo>
                  <a:lnTo>
                    <a:pt x="63119" y="0"/>
                  </a:lnTo>
                  <a:lnTo>
                    <a:pt x="218948" y="0"/>
                  </a:lnTo>
                  <a:lnTo>
                    <a:pt x="282067" y="126111"/>
                  </a:lnTo>
                  <a:lnTo>
                    <a:pt x="218948" y="252349"/>
                  </a:lnTo>
                  <a:lnTo>
                    <a:pt x="63119" y="252349"/>
                  </a:lnTo>
                  <a:lnTo>
                    <a:pt x="0" y="126111"/>
                  </a:lnTo>
                  <a:close/>
                </a:path>
              </a:pathLst>
            </a:custGeom>
            <a:ln w="9523">
              <a:solidFill>
                <a:srgbClr val="BDBD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81440" y="3818610"/>
              <a:ext cx="282054" cy="25237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8981440" y="3818509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0" y="126237"/>
                  </a:moveTo>
                  <a:lnTo>
                    <a:pt x="63118" y="0"/>
                  </a:lnTo>
                  <a:lnTo>
                    <a:pt x="218948" y="0"/>
                  </a:lnTo>
                  <a:lnTo>
                    <a:pt x="282066" y="126237"/>
                  </a:lnTo>
                  <a:lnTo>
                    <a:pt x="218948" y="252475"/>
                  </a:lnTo>
                  <a:lnTo>
                    <a:pt x="63118" y="252475"/>
                  </a:lnTo>
                  <a:lnTo>
                    <a:pt x="0" y="126237"/>
                  </a:lnTo>
                  <a:close/>
                </a:path>
              </a:pathLst>
            </a:custGeom>
            <a:ln w="9523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81440" y="2957550"/>
              <a:ext cx="282054" cy="25237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8981440" y="2957576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30">
                  <a:moveTo>
                    <a:pt x="0" y="126111"/>
                  </a:moveTo>
                  <a:lnTo>
                    <a:pt x="63118" y="0"/>
                  </a:lnTo>
                  <a:lnTo>
                    <a:pt x="218948" y="0"/>
                  </a:lnTo>
                  <a:lnTo>
                    <a:pt x="282066" y="126111"/>
                  </a:lnTo>
                  <a:lnTo>
                    <a:pt x="218948" y="252349"/>
                  </a:lnTo>
                  <a:lnTo>
                    <a:pt x="63118" y="252349"/>
                  </a:lnTo>
                  <a:lnTo>
                    <a:pt x="0" y="126111"/>
                  </a:lnTo>
                  <a:close/>
                </a:path>
              </a:pathLst>
            </a:custGeom>
            <a:ln w="9523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328279" y="4026408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218948" y="0"/>
                  </a:moveTo>
                  <a:lnTo>
                    <a:pt x="62992" y="0"/>
                  </a:lnTo>
                  <a:lnTo>
                    <a:pt x="0" y="126111"/>
                  </a:lnTo>
                  <a:lnTo>
                    <a:pt x="62992" y="252349"/>
                  </a:lnTo>
                  <a:lnTo>
                    <a:pt x="218948" y="252349"/>
                  </a:lnTo>
                  <a:lnTo>
                    <a:pt x="282067" y="126111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328279" y="4026408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0" y="126111"/>
                  </a:moveTo>
                  <a:lnTo>
                    <a:pt x="62992" y="0"/>
                  </a:lnTo>
                  <a:lnTo>
                    <a:pt x="218948" y="0"/>
                  </a:lnTo>
                  <a:lnTo>
                    <a:pt x="282067" y="126111"/>
                  </a:lnTo>
                  <a:lnTo>
                    <a:pt x="218948" y="252349"/>
                  </a:lnTo>
                  <a:lnTo>
                    <a:pt x="62992" y="252349"/>
                  </a:lnTo>
                  <a:lnTo>
                    <a:pt x="0" y="126111"/>
                  </a:lnTo>
                  <a:close/>
                </a:path>
              </a:pathLst>
            </a:custGeom>
            <a:ln w="9523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218930" y="3120771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218948" y="0"/>
                  </a:moveTo>
                  <a:lnTo>
                    <a:pt x="63119" y="0"/>
                  </a:lnTo>
                  <a:lnTo>
                    <a:pt x="0" y="126237"/>
                  </a:lnTo>
                  <a:lnTo>
                    <a:pt x="63119" y="252475"/>
                  </a:lnTo>
                  <a:lnTo>
                    <a:pt x="218948" y="252475"/>
                  </a:lnTo>
                  <a:lnTo>
                    <a:pt x="282067" y="126237"/>
                  </a:lnTo>
                  <a:lnTo>
                    <a:pt x="218948" y="0"/>
                  </a:lnTo>
                  <a:close/>
                </a:path>
              </a:pathLst>
            </a:custGeom>
            <a:solidFill>
              <a:srgbClr val="F6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218930" y="3120771"/>
              <a:ext cx="282575" cy="252729"/>
            </a:xfrm>
            <a:custGeom>
              <a:avLst/>
              <a:gdLst/>
              <a:ahLst/>
              <a:cxnLst/>
              <a:rect l="l" t="t" r="r" b="b"/>
              <a:pathLst>
                <a:path w="282575" h="252729">
                  <a:moveTo>
                    <a:pt x="0" y="126237"/>
                  </a:moveTo>
                  <a:lnTo>
                    <a:pt x="63119" y="0"/>
                  </a:lnTo>
                  <a:lnTo>
                    <a:pt x="218948" y="0"/>
                  </a:lnTo>
                  <a:lnTo>
                    <a:pt x="282067" y="126237"/>
                  </a:lnTo>
                  <a:lnTo>
                    <a:pt x="218948" y="252475"/>
                  </a:lnTo>
                  <a:lnTo>
                    <a:pt x="63119" y="252475"/>
                  </a:lnTo>
                  <a:lnTo>
                    <a:pt x="0" y="126237"/>
                  </a:lnTo>
                  <a:close/>
                </a:path>
              </a:pathLst>
            </a:custGeom>
            <a:ln w="9523">
              <a:solidFill>
                <a:srgbClr val="F6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320790" y="1245362"/>
            <a:ext cx="3749040" cy="1446530"/>
          </a:xfrm>
          <a:prstGeom prst="rect">
            <a:avLst/>
          </a:prstGeom>
          <a:solidFill>
            <a:srgbClr val="FFA62F"/>
          </a:solidFill>
        </p:spPr>
        <p:txBody>
          <a:bodyPr vert="horz" wrap="square" lIns="0" tIns="20320" rIns="0" bIns="0" rtlCol="0">
            <a:spAutoFit/>
          </a:bodyPr>
          <a:lstStyle/>
          <a:p>
            <a:pPr marL="133985" marR="118110" indent="3810" algn="ctr">
              <a:lnSpc>
                <a:spcPct val="98500"/>
              </a:lnSpc>
              <a:spcBef>
                <a:spcPts val="160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Les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équipes</a:t>
            </a:r>
            <a:r>
              <a:rPr sz="2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qui</a:t>
            </a:r>
            <a:r>
              <a:rPr sz="2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adoptent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les 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caractéristiques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essentielles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du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ont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EDEBE0"/>
                </a:solidFill>
                <a:latin typeface="Calibri"/>
                <a:cs typeface="Calibri"/>
              </a:rPr>
              <a:t>24</a:t>
            </a:r>
            <a:r>
              <a:rPr sz="2200" spc="-45" dirty="0">
                <a:solidFill>
                  <a:srgbClr val="EDEBE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EDEBE0"/>
                </a:solidFill>
                <a:latin typeface="Calibri"/>
                <a:cs typeface="Calibri"/>
              </a:rPr>
              <a:t>fois</a:t>
            </a:r>
            <a:r>
              <a:rPr sz="2200" spc="-45" dirty="0">
                <a:solidFill>
                  <a:srgbClr val="EDEBE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plus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chances</a:t>
            </a:r>
            <a:r>
              <a:rPr sz="2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d’être</a:t>
            </a:r>
            <a:r>
              <a:rPr sz="2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élites.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72" name="object 7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426330" y="1257554"/>
            <a:ext cx="1871726" cy="1434211"/>
          </a:xfrm>
          <a:prstGeom prst="rect">
            <a:avLst/>
          </a:prstGeom>
        </p:spPr>
      </p:pic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19380">
              <a:lnSpc>
                <a:spcPts val="1365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3" name="object 3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103" y="-4764"/>
            <a:ext cx="3519170" cy="7566025"/>
            <a:chOff x="-6103" y="-4764"/>
            <a:chExt cx="3519170" cy="7566025"/>
          </a:xfrm>
        </p:grpSpPr>
        <p:sp>
          <p:nvSpPr>
            <p:cNvPr id="6" name="object 6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391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3509391" y="7556500"/>
                  </a:lnTo>
                  <a:lnTo>
                    <a:pt x="350939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7556500"/>
                  </a:moveTo>
                  <a:lnTo>
                    <a:pt x="3509391" y="7556500"/>
                  </a:lnTo>
                  <a:lnTo>
                    <a:pt x="3509391" y="0"/>
                  </a:lnTo>
                  <a:lnTo>
                    <a:pt x="0" y="0"/>
                  </a:lnTo>
                  <a:lnTo>
                    <a:pt x="0" y="7556500"/>
                  </a:lnTo>
                  <a:close/>
                </a:path>
              </a:pathLst>
            </a:custGeom>
            <a:ln w="9525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461" y="0"/>
                  </a:moveTo>
                  <a:lnTo>
                    <a:pt x="0" y="0"/>
                  </a:lnTo>
                  <a:lnTo>
                    <a:pt x="3509461" y="7556498"/>
                  </a:lnTo>
                  <a:lnTo>
                    <a:pt x="350946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0"/>
                  </a:moveTo>
                  <a:lnTo>
                    <a:pt x="3509461" y="0"/>
                  </a:lnTo>
                  <a:lnTo>
                    <a:pt x="3509461" y="7556498"/>
                  </a:lnTo>
                </a:path>
                <a:path w="350964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2696" y="1091565"/>
            <a:ext cx="1364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4510" algn="l"/>
                <a:tab pos="1002665" algn="l"/>
              </a:tabLst>
            </a:pPr>
            <a:r>
              <a:rPr spc="-25" dirty="0">
                <a:solidFill>
                  <a:srgbClr val="FFFFFF"/>
                </a:solidFill>
              </a:rPr>
              <a:t>//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sz="5400" b="1" spc="-75" baseline="1543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5400" b="1" baseline="154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600" spc="-25" dirty="0">
                <a:solidFill>
                  <a:srgbClr val="FFFFFF"/>
                </a:solidFill>
              </a:rPr>
              <a:t>//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292" y="1888617"/>
            <a:ext cx="2233930" cy="1372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60"/>
              </a:lnSpc>
              <a:spcBef>
                <a:spcPts val="95"/>
              </a:spcBef>
              <a:tabLst>
                <a:tab pos="1733550" algn="l"/>
                <a:tab pos="2042795" algn="l"/>
              </a:tabLst>
            </a:pP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8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00" b="1" spc="-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00" b="1" spc="-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2800">
              <a:latin typeface="Calibri"/>
              <a:cs typeface="Calibri"/>
            </a:endParaRPr>
          </a:p>
          <a:p>
            <a:pPr marL="96520">
              <a:lnSpc>
                <a:spcPts val="2400"/>
              </a:lnSpc>
            </a:pP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2000" b="1" spc="4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180" dirty="0">
                <a:solidFill>
                  <a:srgbClr val="FFFFFF"/>
                </a:solidFill>
                <a:latin typeface="Calibri"/>
                <a:cs typeface="Calibri"/>
              </a:rPr>
              <a:t>virtualisation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11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180" dirty="0">
                <a:solidFill>
                  <a:srgbClr val="FFFFFF"/>
                </a:solidFill>
                <a:latin typeface="Calibri"/>
                <a:cs typeface="Calibri"/>
              </a:rPr>
              <a:t>environnements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4020" y="1844167"/>
            <a:ext cx="2812415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114" dirty="0">
                <a:solidFill>
                  <a:srgbClr val="164052"/>
                </a:solidFill>
                <a:latin typeface="Calibri"/>
                <a:cs typeface="Calibri"/>
              </a:rPr>
              <a:t>Présentation</a:t>
            </a:r>
            <a:r>
              <a:rPr sz="2500" b="1" spc="2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55" dirty="0">
                <a:solidFill>
                  <a:srgbClr val="164052"/>
                </a:solidFill>
                <a:latin typeface="Calibri"/>
                <a:cs typeface="Calibri"/>
              </a:rPr>
              <a:t>des </a:t>
            </a:r>
            <a:r>
              <a:rPr sz="2500" b="1" spc="110" dirty="0">
                <a:solidFill>
                  <a:srgbClr val="164052"/>
                </a:solidFill>
                <a:latin typeface="Calibri"/>
                <a:cs typeface="Calibri"/>
              </a:rPr>
              <a:t>différents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0" dirty="0">
                <a:solidFill>
                  <a:srgbClr val="164052"/>
                </a:solidFill>
                <a:latin typeface="Calibri"/>
                <a:cs typeface="Calibri"/>
              </a:rPr>
              <a:t>types</a:t>
            </a:r>
            <a:r>
              <a:rPr sz="2500" b="1" spc="3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35" dirty="0">
                <a:solidFill>
                  <a:srgbClr val="164052"/>
                </a:solidFill>
                <a:latin typeface="Calibri"/>
                <a:cs typeface="Calibri"/>
              </a:rPr>
              <a:t>de </a:t>
            </a:r>
            <a:r>
              <a:rPr sz="2500" b="1" spc="105" dirty="0">
                <a:solidFill>
                  <a:srgbClr val="164052"/>
                </a:solidFill>
                <a:latin typeface="Calibri"/>
                <a:cs typeface="Calibri"/>
              </a:rPr>
              <a:t>virtualisation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74631" y="2004250"/>
            <a:ext cx="462915" cy="462915"/>
            <a:chOff x="3274631" y="2004250"/>
            <a:chExt cx="462915" cy="462915"/>
          </a:xfrm>
        </p:grpSpPr>
        <p:sp>
          <p:nvSpPr>
            <p:cNvPr id="14" name="object 14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79"/>
                  </a:lnTo>
                  <a:lnTo>
                    <a:pt x="22097" y="121538"/>
                  </a:lnTo>
                  <a:lnTo>
                    <a:pt x="5714" y="167258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7" y="312546"/>
                  </a:lnTo>
                  <a:lnTo>
                    <a:pt x="47751" y="352805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370"/>
                  </a:lnTo>
                  <a:lnTo>
                    <a:pt x="217042" y="434086"/>
                  </a:lnTo>
                  <a:lnTo>
                    <a:pt x="266826" y="428370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805"/>
                  </a:lnTo>
                  <a:lnTo>
                    <a:pt x="412114" y="312546"/>
                  </a:lnTo>
                  <a:lnTo>
                    <a:pt x="428370" y="266826"/>
                  </a:lnTo>
                  <a:lnTo>
                    <a:pt x="434213" y="217042"/>
                  </a:lnTo>
                  <a:lnTo>
                    <a:pt x="429894" y="174498"/>
                  </a:lnTo>
                  <a:lnTo>
                    <a:pt x="417575" y="133984"/>
                  </a:lnTo>
                  <a:lnTo>
                    <a:pt x="397636" y="96646"/>
                  </a:lnTo>
                  <a:lnTo>
                    <a:pt x="370585" y="63626"/>
                  </a:lnTo>
                  <a:lnTo>
                    <a:pt x="337565" y="36449"/>
                  </a:lnTo>
                  <a:lnTo>
                    <a:pt x="300100" y="16509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8"/>
                  </a:lnTo>
                  <a:lnTo>
                    <a:pt x="22097" y="121538"/>
                  </a:lnTo>
                  <a:lnTo>
                    <a:pt x="47751" y="81279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09"/>
                  </a:lnTo>
                  <a:lnTo>
                    <a:pt x="337565" y="36449"/>
                  </a:lnTo>
                  <a:lnTo>
                    <a:pt x="370585" y="63626"/>
                  </a:lnTo>
                  <a:lnTo>
                    <a:pt x="397636" y="96646"/>
                  </a:lnTo>
                  <a:lnTo>
                    <a:pt x="417575" y="133984"/>
                  </a:lnTo>
                  <a:lnTo>
                    <a:pt x="429894" y="174498"/>
                  </a:lnTo>
                  <a:lnTo>
                    <a:pt x="434213" y="217042"/>
                  </a:lnTo>
                  <a:lnTo>
                    <a:pt x="428370" y="266826"/>
                  </a:lnTo>
                  <a:lnTo>
                    <a:pt x="412114" y="312546"/>
                  </a:lnTo>
                  <a:lnTo>
                    <a:pt x="386460" y="352805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370"/>
                  </a:lnTo>
                  <a:lnTo>
                    <a:pt x="217042" y="434086"/>
                  </a:lnTo>
                  <a:lnTo>
                    <a:pt x="167258" y="428370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805"/>
                  </a:lnTo>
                  <a:lnTo>
                    <a:pt x="22097" y="312546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23030" y="2048637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74631" y="3467671"/>
            <a:ext cx="462915" cy="462915"/>
            <a:chOff x="3274631" y="3467671"/>
            <a:chExt cx="462915" cy="462915"/>
          </a:xfrm>
        </p:grpSpPr>
        <p:sp>
          <p:nvSpPr>
            <p:cNvPr id="18" name="object 18"/>
            <p:cNvSpPr/>
            <p:nvPr/>
          </p:nvSpPr>
          <p:spPr>
            <a:xfrm>
              <a:off x="3288919" y="348195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842"/>
                  </a:lnTo>
                  <a:lnTo>
                    <a:pt x="121665" y="22098"/>
                  </a:lnTo>
                  <a:lnTo>
                    <a:pt x="81279" y="47752"/>
                  </a:lnTo>
                  <a:lnTo>
                    <a:pt x="47751" y="81407"/>
                  </a:lnTo>
                  <a:lnTo>
                    <a:pt x="22097" y="121666"/>
                  </a:lnTo>
                  <a:lnTo>
                    <a:pt x="5714" y="167386"/>
                  </a:lnTo>
                  <a:lnTo>
                    <a:pt x="0" y="217170"/>
                  </a:lnTo>
                  <a:lnTo>
                    <a:pt x="5714" y="266954"/>
                  </a:lnTo>
                  <a:lnTo>
                    <a:pt x="22097" y="312547"/>
                  </a:lnTo>
                  <a:lnTo>
                    <a:pt x="47751" y="352933"/>
                  </a:lnTo>
                  <a:lnTo>
                    <a:pt x="81279" y="386461"/>
                  </a:lnTo>
                  <a:lnTo>
                    <a:pt x="121665" y="412115"/>
                  </a:lnTo>
                  <a:lnTo>
                    <a:pt x="167258" y="428498"/>
                  </a:lnTo>
                  <a:lnTo>
                    <a:pt x="217042" y="434213"/>
                  </a:lnTo>
                  <a:lnTo>
                    <a:pt x="266826" y="428498"/>
                  </a:lnTo>
                  <a:lnTo>
                    <a:pt x="312546" y="412115"/>
                  </a:lnTo>
                  <a:lnTo>
                    <a:pt x="352805" y="386461"/>
                  </a:lnTo>
                  <a:lnTo>
                    <a:pt x="386460" y="352933"/>
                  </a:lnTo>
                  <a:lnTo>
                    <a:pt x="412114" y="312547"/>
                  </a:lnTo>
                  <a:lnTo>
                    <a:pt x="428370" y="266954"/>
                  </a:lnTo>
                  <a:lnTo>
                    <a:pt x="434213" y="217170"/>
                  </a:lnTo>
                  <a:lnTo>
                    <a:pt x="429894" y="174625"/>
                  </a:lnTo>
                  <a:lnTo>
                    <a:pt x="417575" y="134112"/>
                  </a:lnTo>
                  <a:lnTo>
                    <a:pt x="397636" y="96647"/>
                  </a:lnTo>
                  <a:lnTo>
                    <a:pt x="370585" y="63627"/>
                  </a:lnTo>
                  <a:lnTo>
                    <a:pt x="337565" y="36575"/>
                  </a:lnTo>
                  <a:lnTo>
                    <a:pt x="300100" y="16637"/>
                  </a:lnTo>
                  <a:lnTo>
                    <a:pt x="259587" y="4318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88919" y="348195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170"/>
                  </a:moveTo>
                  <a:lnTo>
                    <a:pt x="5714" y="167386"/>
                  </a:lnTo>
                  <a:lnTo>
                    <a:pt x="22097" y="121666"/>
                  </a:lnTo>
                  <a:lnTo>
                    <a:pt x="47751" y="81407"/>
                  </a:lnTo>
                  <a:lnTo>
                    <a:pt x="81279" y="47752"/>
                  </a:lnTo>
                  <a:lnTo>
                    <a:pt x="121665" y="22098"/>
                  </a:lnTo>
                  <a:lnTo>
                    <a:pt x="167258" y="5842"/>
                  </a:lnTo>
                  <a:lnTo>
                    <a:pt x="217042" y="0"/>
                  </a:lnTo>
                  <a:lnTo>
                    <a:pt x="259587" y="4318"/>
                  </a:lnTo>
                  <a:lnTo>
                    <a:pt x="300100" y="16637"/>
                  </a:lnTo>
                  <a:lnTo>
                    <a:pt x="337565" y="36575"/>
                  </a:lnTo>
                  <a:lnTo>
                    <a:pt x="370585" y="63627"/>
                  </a:lnTo>
                  <a:lnTo>
                    <a:pt x="397636" y="96647"/>
                  </a:lnTo>
                  <a:lnTo>
                    <a:pt x="417575" y="134112"/>
                  </a:lnTo>
                  <a:lnTo>
                    <a:pt x="429894" y="174625"/>
                  </a:lnTo>
                  <a:lnTo>
                    <a:pt x="434213" y="217170"/>
                  </a:lnTo>
                  <a:lnTo>
                    <a:pt x="428370" y="266954"/>
                  </a:lnTo>
                  <a:lnTo>
                    <a:pt x="412114" y="312547"/>
                  </a:lnTo>
                  <a:lnTo>
                    <a:pt x="386460" y="352933"/>
                  </a:lnTo>
                  <a:lnTo>
                    <a:pt x="352805" y="386461"/>
                  </a:lnTo>
                  <a:lnTo>
                    <a:pt x="312546" y="412115"/>
                  </a:lnTo>
                  <a:lnTo>
                    <a:pt x="266826" y="428498"/>
                  </a:lnTo>
                  <a:lnTo>
                    <a:pt x="217042" y="434213"/>
                  </a:lnTo>
                  <a:lnTo>
                    <a:pt x="167258" y="428498"/>
                  </a:lnTo>
                  <a:lnTo>
                    <a:pt x="121665" y="412115"/>
                  </a:lnTo>
                  <a:lnTo>
                    <a:pt x="81279" y="386461"/>
                  </a:lnTo>
                  <a:lnTo>
                    <a:pt x="47751" y="352933"/>
                  </a:lnTo>
                  <a:lnTo>
                    <a:pt x="22097" y="312547"/>
                  </a:lnTo>
                  <a:lnTo>
                    <a:pt x="5714" y="266954"/>
                  </a:lnTo>
                  <a:lnTo>
                    <a:pt x="0" y="217170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23030" y="3512312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26814" y="876681"/>
            <a:ext cx="23774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500" b="1" spc="3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virtualisation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6814" y="3433648"/>
            <a:ext cx="6102985" cy="1169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17545" algn="l"/>
              </a:tabLst>
            </a:pPr>
            <a:r>
              <a:rPr sz="2500" b="1" spc="13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5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5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45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5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14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r>
              <a:rPr sz="2500" b="1" dirty="0">
                <a:solidFill>
                  <a:srgbClr val="164052"/>
                </a:solidFill>
                <a:latin typeface="Calibri"/>
                <a:cs typeface="Calibri"/>
              </a:rPr>
              <a:t>	</a:t>
            </a: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Vagrant</a:t>
            </a:r>
            <a:r>
              <a:rPr sz="25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25" dirty="0">
                <a:solidFill>
                  <a:srgbClr val="164052"/>
                </a:solidFill>
                <a:latin typeface="Calibri"/>
                <a:cs typeface="Calibri"/>
              </a:rPr>
              <a:t>pour</a:t>
            </a:r>
            <a:endParaRPr sz="2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500" b="1" spc="170" dirty="0">
                <a:solidFill>
                  <a:srgbClr val="164052"/>
                </a:solidFill>
                <a:latin typeface="Calibri"/>
                <a:cs typeface="Calibri"/>
              </a:rPr>
              <a:t>faciliter</a:t>
            </a:r>
            <a:r>
              <a:rPr sz="25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5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gestion</a:t>
            </a:r>
            <a:r>
              <a:rPr sz="25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25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5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environnements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5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développement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90125" y="881951"/>
            <a:ext cx="462915" cy="462915"/>
            <a:chOff x="3290125" y="881951"/>
            <a:chExt cx="462915" cy="462915"/>
          </a:xfrm>
        </p:grpSpPr>
        <p:sp>
          <p:nvSpPr>
            <p:cNvPr id="24" name="object 24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170" y="0"/>
                  </a:moveTo>
                  <a:lnTo>
                    <a:pt x="167386" y="5842"/>
                  </a:lnTo>
                  <a:lnTo>
                    <a:pt x="121665" y="22098"/>
                  </a:lnTo>
                  <a:lnTo>
                    <a:pt x="81407" y="47751"/>
                  </a:lnTo>
                  <a:lnTo>
                    <a:pt x="47751" y="81406"/>
                  </a:lnTo>
                  <a:lnTo>
                    <a:pt x="22098" y="121666"/>
                  </a:lnTo>
                  <a:lnTo>
                    <a:pt x="5841" y="167386"/>
                  </a:lnTo>
                  <a:lnTo>
                    <a:pt x="0" y="217169"/>
                  </a:lnTo>
                  <a:lnTo>
                    <a:pt x="5841" y="266826"/>
                  </a:lnTo>
                  <a:lnTo>
                    <a:pt x="22098" y="312547"/>
                  </a:lnTo>
                  <a:lnTo>
                    <a:pt x="47751" y="352932"/>
                  </a:lnTo>
                  <a:lnTo>
                    <a:pt x="81407" y="386461"/>
                  </a:lnTo>
                  <a:lnTo>
                    <a:pt x="121665" y="412114"/>
                  </a:lnTo>
                  <a:lnTo>
                    <a:pt x="167386" y="428498"/>
                  </a:lnTo>
                  <a:lnTo>
                    <a:pt x="217170" y="434213"/>
                  </a:lnTo>
                  <a:lnTo>
                    <a:pt x="266953" y="428498"/>
                  </a:lnTo>
                  <a:lnTo>
                    <a:pt x="312547" y="412114"/>
                  </a:lnTo>
                  <a:lnTo>
                    <a:pt x="352933" y="386461"/>
                  </a:lnTo>
                  <a:lnTo>
                    <a:pt x="386461" y="352932"/>
                  </a:lnTo>
                  <a:lnTo>
                    <a:pt x="412114" y="312547"/>
                  </a:lnTo>
                  <a:lnTo>
                    <a:pt x="428498" y="266826"/>
                  </a:lnTo>
                  <a:lnTo>
                    <a:pt x="434213" y="217169"/>
                  </a:lnTo>
                  <a:lnTo>
                    <a:pt x="430022" y="174625"/>
                  </a:lnTo>
                  <a:lnTo>
                    <a:pt x="417702" y="133984"/>
                  </a:lnTo>
                  <a:lnTo>
                    <a:pt x="397763" y="96647"/>
                  </a:lnTo>
                  <a:lnTo>
                    <a:pt x="370586" y="63626"/>
                  </a:lnTo>
                  <a:lnTo>
                    <a:pt x="337565" y="36575"/>
                  </a:lnTo>
                  <a:lnTo>
                    <a:pt x="300227" y="16509"/>
                  </a:lnTo>
                  <a:lnTo>
                    <a:pt x="259714" y="4318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69"/>
                  </a:moveTo>
                  <a:lnTo>
                    <a:pt x="5841" y="167386"/>
                  </a:lnTo>
                  <a:lnTo>
                    <a:pt x="22098" y="121666"/>
                  </a:lnTo>
                  <a:lnTo>
                    <a:pt x="47751" y="81406"/>
                  </a:lnTo>
                  <a:lnTo>
                    <a:pt x="81407" y="47751"/>
                  </a:lnTo>
                  <a:lnTo>
                    <a:pt x="121665" y="22098"/>
                  </a:lnTo>
                  <a:lnTo>
                    <a:pt x="167386" y="5842"/>
                  </a:lnTo>
                  <a:lnTo>
                    <a:pt x="217170" y="0"/>
                  </a:lnTo>
                  <a:lnTo>
                    <a:pt x="259714" y="4318"/>
                  </a:lnTo>
                  <a:lnTo>
                    <a:pt x="300227" y="16509"/>
                  </a:lnTo>
                  <a:lnTo>
                    <a:pt x="337565" y="36575"/>
                  </a:lnTo>
                  <a:lnTo>
                    <a:pt x="370586" y="63626"/>
                  </a:lnTo>
                  <a:lnTo>
                    <a:pt x="397763" y="96647"/>
                  </a:lnTo>
                  <a:lnTo>
                    <a:pt x="417702" y="133984"/>
                  </a:lnTo>
                  <a:lnTo>
                    <a:pt x="430022" y="174625"/>
                  </a:lnTo>
                  <a:lnTo>
                    <a:pt x="434213" y="217169"/>
                  </a:lnTo>
                  <a:lnTo>
                    <a:pt x="428498" y="266826"/>
                  </a:lnTo>
                  <a:lnTo>
                    <a:pt x="412114" y="312547"/>
                  </a:lnTo>
                  <a:lnTo>
                    <a:pt x="386461" y="352932"/>
                  </a:lnTo>
                  <a:lnTo>
                    <a:pt x="352933" y="386461"/>
                  </a:lnTo>
                  <a:lnTo>
                    <a:pt x="312547" y="412114"/>
                  </a:lnTo>
                  <a:lnTo>
                    <a:pt x="266953" y="428498"/>
                  </a:lnTo>
                  <a:lnTo>
                    <a:pt x="217170" y="434213"/>
                  </a:lnTo>
                  <a:lnTo>
                    <a:pt x="167386" y="428498"/>
                  </a:lnTo>
                  <a:lnTo>
                    <a:pt x="121665" y="412114"/>
                  </a:lnTo>
                  <a:lnTo>
                    <a:pt x="81407" y="386461"/>
                  </a:lnTo>
                  <a:lnTo>
                    <a:pt x="47751" y="352932"/>
                  </a:lnTo>
                  <a:lnTo>
                    <a:pt x="22098" y="312547"/>
                  </a:lnTo>
                  <a:lnTo>
                    <a:pt x="5841" y="266826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38525" y="926084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74632" y="5067872"/>
            <a:ext cx="462915" cy="462915"/>
            <a:chOff x="3274632" y="5067872"/>
            <a:chExt cx="462915" cy="462915"/>
          </a:xfrm>
        </p:grpSpPr>
        <p:sp>
          <p:nvSpPr>
            <p:cNvPr id="28" name="object 28"/>
            <p:cNvSpPr/>
            <p:nvPr/>
          </p:nvSpPr>
          <p:spPr>
            <a:xfrm>
              <a:off x="3288919" y="508215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841"/>
                  </a:lnTo>
                  <a:lnTo>
                    <a:pt x="121665" y="22097"/>
                  </a:lnTo>
                  <a:lnTo>
                    <a:pt x="81279" y="47751"/>
                  </a:lnTo>
                  <a:lnTo>
                    <a:pt x="47751" y="81406"/>
                  </a:lnTo>
                  <a:lnTo>
                    <a:pt x="22097" y="121665"/>
                  </a:lnTo>
                  <a:lnTo>
                    <a:pt x="5714" y="167385"/>
                  </a:lnTo>
                  <a:lnTo>
                    <a:pt x="0" y="217169"/>
                  </a:lnTo>
                  <a:lnTo>
                    <a:pt x="5714" y="266953"/>
                  </a:lnTo>
                  <a:lnTo>
                    <a:pt x="22097" y="312546"/>
                  </a:lnTo>
                  <a:lnTo>
                    <a:pt x="47751" y="352932"/>
                  </a:lnTo>
                  <a:lnTo>
                    <a:pt x="81279" y="386460"/>
                  </a:lnTo>
                  <a:lnTo>
                    <a:pt x="121665" y="412114"/>
                  </a:lnTo>
                  <a:lnTo>
                    <a:pt x="167258" y="428497"/>
                  </a:lnTo>
                  <a:lnTo>
                    <a:pt x="217042" y="434212"/>
                  </a:lnTo>
                  <a:lnTo>
                    <a:pt x="266826" y="428497"/>
                  </a:lnTo>
                  <a:lnTo>
                    <a:pt x="312546" y="412114"/>
                  </a:lnTo>
                  <a:lnTo>
                    <a:pt x="352805" y="386460"/>
                  </a:lnTo>
                  <a:lnTo>
                    <a:pt x="386460" y="352932"/>
                  </a:lnTo>
                  <a:lnTo>
                    <a:pt x="412114" y="312546"/>
                  </a:lnTo>
                  <a:lnTo>
                    <a:pt x="428370" y="266953"/>
                  </a:lnTo>
                  <a:lnTo>
                    <a:pt x="434213" y="217169"/>
                  </a:lnTo>
                  <a:lnTo>
                    <a:pt x="429894" y="174624"/>
                  </a:lnTo>
                  <a:lnTo>
                    <a:pt x="417575" y="134111"/>
                  </a:lnTo>
                  <a:lnTo>
                    <a:pt x="397636" y="96646"/>
                  </a:lnTo>
                  <a:lnTo>
                    <a:pt x="370585" y="63626"/>
                  </a:lnTo>
                  <a:lnTo>
                    <a:pt x="337565" y="36575"/>
                  </a:lnTo>
                  <a:lnTo>
                    <a:pt x="300100" y="16636"/>
                  </a:lnTo>
                  <a:lnTo>
                    <a:pt x="259587" y="4317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88919" y="508215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169"/>
                  </a:moveTo>
                  <a:lnTo>
                    <a:pt x="5714" y="167385"/>
                  </a:lnTo>
                  <a:lnTo>
                    <a:pt x="22097" y="121665"/>
                  </a:lnTo>
                  <a:lnTo>
                    <a:pt x="47751" y="81406"/>
                  </a:lnTo>
                  <a:lnTo>
                    <a:pt x="81279" y="47751"/>
                  </a:lnTo>
                  <a:lnTo>
                    <a:pt x="121665" y="22097"/>
                  </a:lnTo>
                  <a:lnTo>
                    <a:pt x="167258" y="5841"/>
                  </a:lnTo>
                  <a:lnTo>
                    <a:pt x="217042" y="0"/>
                  </a:lnTo>
                  <a:lnTo>
                    <a:pt x="259587" y="4317"/>
                  </a:lnTo>
                  <a:lnTo>
                    <a:pt x="300100" y="16636"/>
                  </a:lnTo>
                  <a:lnTo>
                    <a:pt x="337565" y="36575"/>
                  </a:lnTo>
                  <a:lnTo>
                    <a:pt x="370585" y="63626"/>
                  </a:lnTo>
                  <a:lnTo>
                    <a:pt x="397636" y="96646"/>
                  </a:lnTo>
                  <a:lnTo>
                    <a:pt x="417575" y="134111"/>
                  </a:lnTo>
                  <a:lnTo>
                    <a:pt x="429894" y="174624"/>
                  </a:lnTo>
                  <a:lnTo>
                    <a:pt x="434213" y="217169"/>
                  </a:lnTo>
                  <a:lnTo>
                    <a:pt x="428370" y="266953"/>
                  </a:lnTo>
                  <a:lnTo>
                    <a:pt x="412114" y="312546"/>
                  </a:lnTo>
                  <a:lnTo>
                    <a:pt x="386460" y="352932"/>
                  </a:lnTo>
                  <a:lnTo>
                    <a:pt x="352805" y="386460"/>
                  </a:lnTo>
                  <a:lnTo>
                    <a:pt x="312546" y="412114"/>
                  </a:lnTo>
                  <a:lnTo>
                    <a:pt x="266826" y="428497"/>
                  </a:lnTo>
                  <a:lnTo>
                    <a:pt x="217042" y="434212"/>
                  </a:lnTo>
                  <a:lnTo>
                    <a:pt x="167258" y="428497"/>
                  </a:lnTo>
                  <a:lnTo>
                    <a:pt x="121665" y="412114"/>
                  </a:lnTo>
                  <a:lnTo>
                    <a:pt x="81279" y="386460"/>
                  </a:lnTo>
                  <a:lnTo>
                    <a:pt x="47751" y="352932"/>
                  </a:lnTo>
                  <a:lnTo>
                    <a:pt x="22097" y="312546"/>
                  </a:lnTo>
                  <a:lnTo>
                    <a:pt x="5714" y="266953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23030" y="5112766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4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19380">
              <a:lnSpc>
                <a:spcPts val="1365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4230370" y="5034229"/>
            <a:ext cx="490029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500" b="1" spc="2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0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500" b="1" spc="31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r>
              <a:rPr sz="2500" b="1" spc="31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5" dirty="0">
                <a:solidFill>
                  <a:srgbClr val="164052"/>
                </a:solidFill>
                <a:latin typeface="Calibri"/>
                <a:cs typeface="Calibri"/>
              </a:rPr>
              <a:t>Docker</a:t>
            </a:r>
            <a:r>
              <a:rPr sz="2500" b="1" spc="31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0" dirty="0">
                <a:solidFill>
                  <a:srgbClr val="164052"/>
                </a:solidFill>
                <a:latin typeface="Calibri"/>
                <a:cs typeface="Calibri"/>
              </a:rPr>
              <a:t>pour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b="1" spc="120" dirty="0">
                <a:solidFill>
                  <a:srgbClr val="164052"/>
                </a:solidFill>
                <a:latin typeface="Calibri"/>
                <a:cs typeface="Calibri"/>
              </a:rPr>
              <a:t>faciliter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500" b="1" spc="2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10" dirty="0">
                <a:solidFill>
                  <a:srgbClr val="164052"/>
                </a:solidFill>
                <a:latin typeface="Calibri"/>
                <a:cs typeface="Calibri"/>
              </a:rPr>
              <a:t>gestion</a:t>
            </a:r>
            <a:r>
              <a:rPr sz="2500" b="1" spc="3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socles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</a:t>
            </a:r>
            <a:r>
              <a:rPr spc="-5" dirty="0"/>
              <a:t> </a:t>
            </a:r>
            <a:r>
              <a:rPr spc="-10" dirty="0"/>
              <a:t>virtualisation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z="1600" spc="-25" dirty="0"/>
              <a:t>65</a:t>
            </a:fld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65200" y="1569796"/>
            <a:ext cx="9048750" cy="3796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SzPct val="60000"/>
              <a:buChar char="●"/>
              <a:tabLst>
                <a:tab pos="354965" algn="l"/>
              </a:tabLst>
            </a:pP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La</a:t>
            </a:r>
            <a:r>
              <a:rPr sz="2000" spc="-12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virtualisation</a:t>
            </a:r>
            <a:r>
              <a:rPr sz="20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consiste</a:t>
            </a:r>
            <a:r>
              <a:rPr sz="2000" spc="-6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à</a:t>
            </a:r>
            <a:r>
              <a:rPr sz="2000" spc="-114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exécuter</a:t>
            </a:r>
            <a:r>
              <a:rPr sz="2000" spc="-6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sur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une</a:t>
            </a:r>
            <a:r>
              <a:rPr sz="20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machine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hôte,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dans</a:t>
            </a:r>
            <a:r>
              <a:rPr sz="20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un</a:t>
            </a:r>
            <a:endParaRPr sz="200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environnement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isolé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des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systèmes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d’exploitation</a:t>
            </a:r>
            <a:r>
              <a:rPr sz="20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ou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des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applications.</a:t>
            </a:r>
            <a:endParaRPr sz="200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1000"/>
              </a:lnSpc>
              <a:spcBef>
                <a:spcPts val="840"/>
              </a:spcBef>
              <a:buSzPct val="60000"/>
              <a:buChar char="●"/>
              <a:tabLst>
                <a:tab pos="355600" algn="l"/>
              </a:tabLst>
            </a:pP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La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virtualisation</a:t>
            </a:r>
            <a:r>
              <a:rPr sz="2000" spc="-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permet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d’optimiser</a:t>
            </a:r>
            <a:r>
              <a:rPr sz="2000" spc="-10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l’utilisation</a:t>
            </a:r>
            <a:r>
              <a:rPr sz="2000" spc="-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des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machines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physiques</a:t>
            </a:r>
            <a:r>
              <a:rPr sz="20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et</a:t>
            </a:r>
            <a:r>
              <a:rPr sz="2000" spc="-31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rend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la</a:t>
            </a:r>
            <a:r>
              <a:rPr sz="2000" spc="-1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gestion</a:t>
            </a:r>
            <a:r>
              <a:rPr sz="2000" spc="-114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des</a:t>
            </a:r>
            <a:r>
              <a:rPr sz="2000" spc="-12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serveurs</a:t>
            </a:r>
            <a:r>
              <a:rPr sz="2000" spc="-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plus</a:t>
            </a:r>
            <a:r>
              <a:rPr sz="2000" spc="-1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souples.</a:t>
            </a:r>
            <a:endParaRPr sz="20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065"/>
              </a:spcBef>
              <a:buSzPct val="60000"/>
              <a:buChar char="●"/>
              <a:tabLst>
                <a:tab pos="354965" algn="l"/>
              </a:tabLst>
            </a:pP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Chaque</a:t>
            </a:r>
            <a:r>
              <a:rPr sz="2000" spc="-12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outil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de</a:t>
            </a:r>
            <a:r>
              <a:rPr sz="2000" spc="-6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virtualisation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peut</a:t>
            </a:r>
            <a:r>
              <a:rPr sz="2000" spc="-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mettre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en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œuvre</a:t>
            </a:r>
            <a:r>
              <a:rPr sz="2000" spc="-1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spcBef>
                <a:spcPts val="1585"/>
              </a:spcBef>
              <a:buSzPct val="66666"/>
              <a:buChar char="●"/>
              <a:tabLst>
                <a:tab pos="756285" algn="l"/>
              </a:tabLst>
            </a:pPr>
            <a:r>
              <a:rPr sz="1800" dirty="0">
                <a:latin typeface="Microsoft Sans Serif"/>
                <a:cs typeface="Microsoft Sans Serif"/>
              </a:rPr>
              <a:t>Couche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d’abstraction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matérielle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SzPct val="66666"/>
              <a:buChar char="●"/>
              <a:tabLst>
                <a:tab pos="756285" algn="l"/>
              </a:tabLst>
            </a:pPr>
            <a:r>
              <a:rPr sz="1800" spc="-30" dirty="0">
                <a:latin typeface="Microsoft Sans Serif"/>
                <a:cs typeface="Microsoft Sans Serif"/>
              </a:rPr>
              <a:t>Partitionnement,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isolation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et/ou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partage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des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ressources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SzPct val="66666"/>
              <a:buChar char="●"/>
              <a:tabLst>
                <a:tab pos="756285" algn="l"/>
              </a:tabLst>
            </a:pPr>
            <a:r>
              <a:rPr sz="1800" spc="-25" dirty="0">
                <a:latin typeface="Microsoft Sans Serif"/>
                <a:cs typeface="Microsoft Sans Serif"/>
              </a:rPr>
              <a:t>Images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systèmes</a:t>
            </a:r>
            <a:r>
              <a:rPr sz="1800" spc="-130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manipulables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démarrage,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arrêt,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clonage,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migration,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sauvegarde…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SzPct val="66666"/>
              <a:buChar char="●"/>
              <a:tabLst>
                <a:tab pos="756285" algn="l"/>
              </a:tabLst>
            </a:pPr>
            <a:r>
              <a:rPr sz="1800" spc="-25" dirty="0">
                <a:latin typeface="Microsoft Sans Serif"/>
                <a:cs typeface="Microsoft Sans Serif"/>
              </a:rPr>
              <a:t>Réseau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virtuel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30" dirty="0">
                <a:latin typeface="Microsoft Sans Serif"/>
                <a:cs typeface="Microsoft Sans Serif"/>
              </a:rPr>
              <a:t>entre</a:t>
            </a:r>
            <a:r>
              <a:rPr sz="1800" spc="-12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hôte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invités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25" dirty="0"/>
              <a:t> </a:t>
            </a:r>
            <a:r>
              <a:rPr dirty="0"/>
              <a:t>différents</a:t>
            </a:r>
            <a:r>
              <a:rPr spc="-50" dirty="0"/>
              <a:t> </a:t>
            </a:r>
            <a:r>
              <a:rPr dirty="0"/>
              <a:t>types</a:t>
            </a:r>
            <a:r>
              <a:rPr spc="-3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vitualisation.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z="1600" spc="-25" dirty="0"/>
              <a:t>66</a:t>
            </a:fld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65200" y="1483482"/>
            <a:ext cx="8253730" cy="36144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SzPct val="60000"/>
              <a:buChar char="●"/>
              <a:tabLst>
                <a:tab pos="354965" algn="l"/>
              </a:tabLst>
            </a:pP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Différentes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approches</a:t>
            </a:r>
            <a:r>
              <a:rPr sz="20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de</a:t>
            </a:r>
            <a:r>
              <a:rPr sz="20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virtualisation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existent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spcBef>
                <a:spcPts val="610"/>
              </a:spcBef>
              <a:buSzPct val="66666"/>
              <a:buChar char="●"/>
              <a:tabLst>
                <a:tab pos="756285" algn="l"/>
              </a:tabLst>
            </a:pPr>
            <a:r>
              <a:rPr sz="1800" spc="-25" dirty="0">
                <a:latin typeface="Microsoft Sans Serif"/>
                <a:cs typeface="Microsoft Sans Serif"/>
              </a:rPr>
              <a:t>Hyperviseur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type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SzPct val="66666"/>
              <a:buChar char="●"/>
              <a:tabLst>
                <a:tab pos="756285" algn="l"/>
              </a:tabLst>
            </a:pPr>
            <a:r>
              <a:rPr sz="1800" spc="-25" dirty="0">
                <a:latin typeface="Microsoft Sans Serif"/>
                <a:cs typeface="Microsoft Sans Serif"/>
              </a:rPr>
              <a:t>Hyperviseur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type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SzPct val="66666"/>
              <a:buChar char="●"/>
              <a:tabLst>
                <a:tab pos="756285" algn="l"/>
              </a:tabLst>
            </a:pPr>
            <a:r>
              <a:rPr sz="1800" spc="-20" dirty="0">
                <a:latin typeface="Microsoft Sans Serif"/>
                <a:cs typeface="Microsoft Sans Serif"/>
              </a:rPr>
              <a:t>Noyau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espace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utilisateur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SzPct val="66666"/>
              <a:buChar char="●"/>
              <a:tabLst>
                <a:tab pos="75628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Isolateur</a:t>
            </a: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1135"/>
              </a:spcBef>
              <a:buFont typeface="Microsoft Sans Serif"/>
              <a:buChar char="●"/>
            </a:pPr>
            <a:endParaRPr sz="1800">
              <a:latin typeface="Microsoft Sans Serif"/>
              <a:cs typeface="Microsoft Sans Serif"/>
            </a:endParaRPr>
          </a:p>
          <a:p>
            <a:pPr marL="355600" marR="5080" indent="-342900" algn="just">
              <a:lnSpc>
                <a:spcPct val="105000"/>
              </a:lnSpc>
              <a:buSzPct val="60000"/>
              <a:buChar char="●"/>
              <a:tabLst>
                <a:tab pos="355600" algn="l"/>
                <a:tab pos="359410" algn="l"/>
              </a:tabLst>
            </a:pP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	La</a:t>
            </a:r>
            <a:r>
              <a:rPr sz="2000" spc="12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virtualisation</a:t>
            </a:r>
            <a:r>
              <a:rPr sz="2000" spc="1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peut</a:t>
            </a:r>
            <a:r>
              <a:rPr sz="2000" spc="1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être</a:t>
            </a:r>
            <a:r>
              <a:rPr sz="2000" spc="1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intégrée</a:t>
            </a:r>
            <a:r>
              <a:rPr sz="2000" spc="1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ou</a:t>
            </a:r>
            <a:r>
              <a:rPr sz="2000" spc="1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assistée</a:t>
            </a:r>
            <a:r>
              <a:rPr sz="2000" spc="1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par</a:t>
            </a:r>
            <a:r>
              <a:rPr sz="2000" spc="1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le</a:t>
            </a:r>
            <a:r>
              <a:rPr sz="2000" spc="13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processeur</a:t>
            </a:r>
            <a:r>
              <a:rPr sz="2000" spc="1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(ex: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virtualiser</a:t>
            </a:r>
            <a:r>
              <a:rPr sz="2000" spc="2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la</a:t>
            </a:r>
            <a:r>
              <a:rPr sz="2000" spc="2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mémoire,</a:t>
            </a:r>
            <a:r>
              <a:rPr sz="2000" spc="2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…).</a:t>
            </a:r>
            <a:r>
              <a:rPr sz="2000" spc="2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Cela</a:t>
            </a:r>
            <a:r>
              <a:rPr sz="2000" spc="2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permet</a:t>
            </a:r>
            <a:r>
              <a:rPr sz="2000" spc="2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de</a:t>
            </a:r>
            <a:r>
              <a:rPr sz="2000" spc="2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limiter</a:t>
            </a:r>
            <a:r>
              <a:rPr sz="2000" spc="254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la</a:t>
            </a:r>
            <a:r>
              <a:rPr sz="2000" spc="2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dégradation</a:t>
            </a:r>
            <a:r>
              <a:rPr sz="2000" spc="254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des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performances.</a:t>
            </a:r>
            <a:endParaRPr sz="2000">
              <a:latin typeface="Microsoft Sans Serif"/>
              <a:cs typeface="Microsoft Sans Serif"/>
            </a:endParaRPr>
          </a:p>
          <a:p>
            <a:pPr marL="359410" indent="-346710" algn="just">
              <a:lnSpc>
                <a:spcPct val="100000"/>
              </a:lnSpc>
              <a:spcBef>
                <a:spcPts val="990"/>
              </a:spcBef>
              <a:buSzPct val="60000"/>
              <a:buChar char="●"/>
              <a:tabLst>
                <a:tab pos="359410" algn="l"/>
              </a:tabLst>
            </a:pP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Ex: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AMD-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v,</a:t>
            </a:r>
            <a:r>
              <a:rPr sz="20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Intel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VT,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hyperviseur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IBM</a:t>
            </a:r>
            <a:r>
              <a:rPr sz="20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Power,</a:t>
            </a:r>
            <a:r>
              <a:rPr sz="2000" spc="-11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Mainframes,</a:t>
            </a:r>
            <a:r>
              <a:rPr sz="20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…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Hyperviseur</a:t>
            </a:r>
            <a:r>
              <a:rPr spc="-5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dirty="0"/>
              <a:t>type</a:t>
            </a:r>
            <a:r>
              <a:rPr spc="-5" dirty="0"/>
              <a:t> </a:t>
            </a:r>
            <a:r>
              <a:rPr spc="-50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409" y="1552956"/>
            <a:ext cx="2933954" cy="22252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2906" y="1569796"/>
            <a:ext cx="8686800" cy="520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44950" indent="-342900">
              <a:lnSpc>
                <a:spcPct val="100000"/>
              </a:lnSpc>
              <a:spcBef>
                <a:spcPts val="105"/>
              </a:spcBef>
              <a:buSzPct val="60000"/>
              <a:buChar char="●"/>
              <a:tabLst>
                <a:tab pos="4044950" algn="l"/>
              </a:tabLst>
            </a:pP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Logiciel</a:t>
            </a:r>
            <a:r>
              <a:rPr sz="2000" spc="-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qui</a:t>
            </a:r>
            <a:r>
              <a:rPr sz="2000" spc="-12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tourne</a:t>
            </a:r>
            <a:r>
              <a:rPr sz="2000" spc="-1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sur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5" dirty="0">
                <a:solidFill>
                  <a:srgbClr val="11395F"/>
                </a:solidFill>
                <a:latin typeface="Microsoft Sans Serif"/>
                <a:cs typeface="Microsoft Sans Serif"/>
              </a:rPr>
              <a:t>l’OS</a:t>
            </a:r>
            <a:r>
              <a:rPr sz="2000" spc="-204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hôte,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il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permet</a:t>
            </a:r>
            <a:endParaRPr sz="2000">
              <a:latin typeface="Microsoft Sans Serif"/>
              <a:cs typeface="Microsoft Sans Serif"/>
            </a:endParaRPr>
          </a:p>
          <a:p>
            <a:pPr marL="4044950">
              <a:lnSpc>
                <a:spcPct val="100000"/>
              </a:lnSpc>
              <a:spcBef>
                <a:spcPts val="5"/>
              </a:spcBef>
            </a:pP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de</a:t>
            </a:r>
            <a:endParaRPr sz="2000">
              <a:latin typeface="Microsoft Sans Serif"/>
              <a:cs typeface="Microsoft Sans Serif"/>
            </a:endParaRPr>
          </a:p>
          <a:p>
            <a:pPr marL="393065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lancer</a:t>
            </a:r>
            <a:r>
              <a:rPr sz="2000" spc="-12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un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ou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plusieurs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OS</a:t>
            </a:r>
            <a:r>
              <a:rPr sz="20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invités.</a:t>
            </a:r>
            <a:endParaRPr sz="2000">
              <a:latin typeface="Microsoft Sans Serif"/>
              <a:cs typeface="Microsoft Sans Serif"/>
            </a:endParaRPr>
          </a:p>
          <a:p>
            <a:pPr marL="4044950" marR="5080" indent="-342900">
              <a:lnSpc>
                <a:spcPct val="105000"/>
              </a:lnSpc>
              <a:spcBef>
                <a:spcPts val="815"/>
              </a:spcBef>
              <a:buSzPct val="60000"/>
              <a:buChar char="●"/>
              <a:tabLst>
                <a:tab pos="4044950" algn="l"/>
              </a:tabLst>
            </a:pP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Le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matériel</a:t>
            </a:r>
            <a:r>
              <a:rPr sz="2000" spc="-10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est</a:t>
            </a:r>
            <a:r>
              <a:rPr sz="20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virtualisé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et/ou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émulé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pour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les</a:t>
            </a:r>
            <a:r>
              <a:rPr sz="20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OS</a:t>
            </a:r>
            <a:r>
              <a:rPr sz="2000" spc="-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invités</a:t>
            </a:r>
            <a:r>
              <a:rPr sz="20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(en</a:t>
            </a:r>
            <a:r>
              <a:rPr sz="2000" spc="-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virtualisation,</a:t>
            </a:r>
            <a:r>
              <a:rPr sz="20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le</a:t>
            </a:r>
            <a:r>
              <a:rPr sz="2000" spc="-1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CPU,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la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RAM</a:t>
            </a:r>
            <a:r>
              <a:rPr sz="2000" spc="-1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et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le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stockage</a:t>
            </a:r>
            <a:r>
              <a:rPr sz="2000" spc="-1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sont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accessible directement).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354965" marR="773430" indent="-342900">
              <a:lnSpc>
                <a:spcPct val="107000"/>
              </a:lnSpc>
              <a:buSzPct val="60000"/>
              <a:buChar char="●"/>
              <a:tabLst>
                <a:tab pos="354965" algn="l"/>
              </a:tabLst>
            </a:pP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Isole</a:t>
            </a:r>
            <a:r>
              <a:rPr sz="2000" spc="-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bien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les</a:t>
            </a:r>
            <a:r>
              <a:rPr sz="2000" spc="-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OS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invités,</a:t>
            </a:r>
            <a:r>
              <a:rPr sz="20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mais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a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un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coût</a:t>
            </a:r>
            <a:r>
              <a:rPr sz="20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en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performance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(surtout</a:t>
            </a:r>
            <a:r>
              <a:rPr sz="2000" spc="-11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si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le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CPU</a:t>
            </a:r>
            <a:r>
              <a:rPr sz="2000" spc="-11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est</a:t>
            </a:r>
            <a:r>
              <a:rPr sz="2000" spc="-3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émulé).</a:t>
            </a:r>
            <a:endParaRPr sz="2000">
              <a:latin typeface="Microsoft Sans Serif"/>
              <a:cs typeface="Microsoft Sans Serif"/>
            </a:endParaRPr>
          </a:p>
          <a:p>
            <a:pPr marL="354965" marR="614045" indent="-342900">
              <a:lnSpc>
                <a:spcPct val="100000"/>
              </a:lnSpc>
              <a:spcBef>
                <a:spcPts val="1095"/>
              </a:spcBef>
              <a:buSzPct val="60000"/>
              <a:buChar char="●"/>
              <a:tabLst>
                <a:tab pos="354965" algn="l"/>
              </a:tabLst>
            </a:pP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On</a:t>
            </a:r>
            <a:r>
              <a:rPr sz="2000" spc="-114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peut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faire</a:t>
            </a:r>
            <a:r>
              <a:rPr sz="2000" spc="-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cohabiter</a:t>
            </a:r>
            <a:r>
              <a:rPr sz="2000" spc="-10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des</a:t>
            </a:r>
            <a:r>
              <a:rPr sz="2000" spc="-114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OS</a:t>
            </a:r>
            <a:r>
              <a:rPr sz="2000" spc="-1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hétérogènes</a:t>
            </a:r>
            <a:r>
              <a:rPr sz="20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et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les</a:t>
            </a:r>
            <a:r>
              <a:rPr sz="2000" spc="-6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faires</a:t>
            </a:r>
            <a:r>
              <a:rPr sz="2000" spc="-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communiquer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via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le</a:t>
            </a:r>
            <a:endParaRPr sz="200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réseau.</a:t>
            </a:r>
            <a:endParaRPr sz="2000">
              <a:latin typeface="Microsoft Sans Serif"/>
              <a:cs typeface="Microsoft Sans Serif"/>
            </a:endParaRPr>
          </a:p>
          <a:p>
            <a:pPr marL="354965" marR="974090" indent="-342900">
              <a:lnSpc>
                <a:spcPct val="100000"/>
              </a:lnSpc>
              <a:spcBef>
                <a:spcPts val="900"/>
              </a:spcBef>
              <a:buSzPct val="60000"/>
              <a:buChar char="●"/>
              <a:tabLst>
                <a:tab pos="354965" algn="l"/>
              </a:tabLst>
            </a:pP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Ex:</a:t>
            </a:r>
            <a:r>
              <a:rPr sz="2000" spc="-1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Vmware</a:t>
            </a:r>
            <a:r>
              <a:rPr sz="20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Fusion,</a:t>
            </a:r>
            <a:r>
              <a:rPr sz="2000" spc="-6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Oracle</a:t>
            </a:r>
            <a:r>
              <a:rPr sz="2000" spc="-1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Virtualbox, </a:t>
            </a:r>
            <a:r>
              <a:rPr sz="2000" spc="-35" dirty="0">
                <a:solidFill>
                  <a:srgbClr val="11395F"/>
                </a:solidFill>
                <a:latin typeface="Microsoft Sans Serif"/>
                <a:cs typeface="Microsoft Sans Serif"/>
              </a:rPr>
              <a:t>Parallels</a:t>
            </a:r>
            <a:r>
              <a:rPr sz="2000" spc="-1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Desktop,</a:t>
            </a:r>
            <a:r>
              <a:rPr sz="20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Microsoft 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VirtualPC</a:t>
            </a:r>
            <a:r>
              <a:rPr sz="18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,</a:t>
            </a:r>
            <a:r>
              <a:rPr sz="1800" spc="-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…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z="1600" spc="-25" dirty="0"/>
              <a:t>67</a:t>
            </a:fld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Hyperviseur</a:t>
            </a:r>
            <a:r>
              <a:rPr spc="-5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dirty="0"/>
              <a:t>type</a:t>
            </a:r>
            <a:r>
              <a:rPr spc="-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2906" y="1545680"/>
            <a:ext cx="8174990" cy="386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44950" marR="5080" indent="-342900" algn="just">
              <a:lnSpc>
                <a:spcPct val="106100"/>
              </a:lnSpc>
              <a:spcBef>
                <a:spcPts val="100"/>
              </a:spcBef>
              <a:buSzPct val="60000"/>
              <a:buChar char="●"/>
              <a:tabLst>
                <a:tab pos="4044950" algn="l"/>
                <a:tab pos="4049395" algn="l"/>
              </a:tabLst>
            </a:pP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	Noyau</a:t>
            </a:r>
            <a:r>
              <a:rPr sz="2000" spc="-10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système</a:t>
            </a:r>
            <a:r>
              <a:rPr sz="20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très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léger</a:t>
            </a:r>
            <a:r>
              <a:rPr sz="20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et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optimisé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pour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gérerles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accès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des</a:t>
            </a:r>
            <a:r>
              <a:rPr sz="2000" spc="-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OS</a:t>
            </a:r>
            <a:r>
              <a:rPr sz="2000" spc="-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invités</a:t>
            </a:r>
            <a:r>
              <a:rPr sz="2000" spc="-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à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l’architecture</a:t>
            </a:r>
            <a:r>
              <a:rPr sz="2000" spc="-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matérielle</a:t>
            </a:r>
            <a:r>
              <a:rPr sz="2000" spc="-21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hôte.</a:t>
            </a:r>
            <a:endParaRPr sz="2000">
              <a:latin typeface="Microsoft Sans Serif"/>
              <a:cs typeface="Microsoft Sans Serif"/>
            </a:endParaRPr>
          </a:p>
          <a:p>
            <a:pPr marL="4044950" marR="142240" indent="-342900">
              <a:lnSpc>
                <a:spcPct val="105000"/>
              </a:lnSpc>
              <a:spcBef>
                <a:spcPts val="910"/>
              </a:spcBef>
              <a:buSzPct val="60000"/>
              <a:buChar char="●"/>
              <a:tabLst>
                <a:tab pos="4044950" algn="l"/>
              </a:tabLst>
            </a:pP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On</a:t>
            </a:r>
            <a:r>
              <a:rPr sz="2000" spc="-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parle</a:t>
            </a:r>
            <a:r>
              <a:rPr sz="2000" spc="-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de</a:t>
            </a:r>
            <a:r>
              <a:rPr sz="2000" spc="-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«</a:t>
            </a:r>
            <a:r>
              <a:rPr sz="2000" spc="-4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para-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virtualisation</a:t>
            </a:r>
            <a:r>
              <a:rPr sz="20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»</a:t>
            </a:r>
            <a:r>
              <a:rPr sz="2000" spc="-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si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les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OS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invités</a:t>
            </a:r>
            <a:r>
              <a:rPr sz="2000" spc="-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ont</a:t>
            </a:r>
            <a:r>
              <a:rPr sz="2000" spc="-6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conscience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d’être virtualisés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et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 sontoptimisés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en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conséquence.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354965" marR="1661795" indent="-342900">
              <a:lnSpc>
                <a:spcPct val="105000"/>
              </a:lnSpc>
              <a:buSzPct val="60000"/>
              <a:buChar char="●"/>
              <a:tabLst>
                <a:tab pos="354965" algn="l"/>
              </a:tabLst>
            </a:pP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C’est</a:t>
            </a:r>
            <a:r>
              <a:rPr sz="2000" spc="-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la</a:t>
            </a:r>
            <a:r>
              <a:rPr sz="20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méthode</a:t>
            </a:r>
            <a:r>
              <a:rPr sz="2000" spc="-10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de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virtualisation</a:t>
            </a:r>
            <a:r>
              <a:rPr sz="20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d’infrastructure</a:t>
            </a:r>
            <a:r>
              <a:rPr sz="2000" spc="-1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la</a:t>
            </a:r>
            <a:r>
              <a:rPr sz="20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plus performante</a:t>
            </a:r>
            <a:r>
              <a:rPr sz="2000" spc="-13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mais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elle</a:t>
            </a:r>
            <a:r>
              <a:rPr sz="2000" spc="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est</a:t>
            </a:r>
            <a:r>
              <a:rPr sz="20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onéreuse.</a:t>
            </a:r>
            <a:endParaRPr sz="20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985"/>
              </a:spcBef>
              <a:buSzPct val="60000"/>
              <a:buChar char="●"/>
              <a:tabLst>
                <a:tab pos="354965" algn="l"/>
              </a:tabLst>
            </a:pP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Ex:</a:t>
            </a:r>
            <a:r>
              <a:rPr sz="2000" spc="-1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Citrix</a:t>
            </a:r>
            <a:r>
              <a:rPr sz="2000" spc="2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Xen</a:t>
            </a:r>
            <a:r>
              <a:rPr sz="2000" spc="-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Server,</a:t>
            </a:r>
            <a:r>
              <a:rPr sz="2000" spc="-10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Vmware</a:t>
            </a:r>
            <a:r>
              <a:rPr sz="20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vSphere,</a:t>
            </a:r>
            <a:r>
              <a:rPr sz="2000" spc="-12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Microsoft</a:t>
            </a:r>
            <a:r>
              <a:rPr sz="2000" spc="-1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Hyper-</a:t>
            </a:r>
            <a:r>
              <a:rPr sz="2000" dirty="0">
                <a:solidFill>
                  <a:srgbClr val="11395F"/>
                </a:solidFill>
                <a:latin typeface="Microsoft Sans Serif"/>
                <a:cs typeface="Microsoft Sans Serif"/>
              </a:rPr>
              <a:t>V</a:t>
            </a:r>
            <a:r>
              <a:rPr sz="20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Server,</a:t>
            </a:r>
            <a:r>
              <a:rPr sz="2000" spc="-114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……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350" y="1720850"/>
            <a:ext cx="2949194" cy="19432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z="1600" spc="-25" dirty="0"/>
              <a:t>68</a:t>
            </a:fld>
            <a:endParaRPr sz="16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Isolateur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2484" y="1548117"/>
            <a:ext cx="4693285" cy="187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6200"/>
              </a:lnSpc>
              <a:spcBef>
                <a:spcPts val="100"/>
              </a:spcBef>
              <a:buSzPct val="66666"/>
              <a:buChar char="●"/>
              <a:tabLst>
                <a:tab pos="355600" algn="l"/>
              </a:tabLst>
            </a:pPr>
            <a:r>
              <a:rPr sz="18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Logiciel</a:t>
            </a:r>
            <a:r>
              <a:rPr sz="1800" spc="-6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permettant</a:t>
            </a:r>
            <a:r>
              <a:rPr sz="18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d’isoler</a:t>
            </a:r>
            <a:r>
              <a:rPr sz="18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des</a:t>
            </a:r>
            <a:r>
              <a:rPr sz="18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applications </a:t>
            </a:r>
            <a:r>
              <a:rPr sz="1800" spc="-15" dirty="0">
                <a:solidFill>
                  <a:srgbClr val="11395F"/>
                </a:solidFill>
                <a:latin typeface="Microsoft Sans Serif"/>
                <a:cs typeface="Microsoft Sans Serif"/>
              </a:rPr>
              <a:t>dans</a:t>
            </a:r>
            <a:r>
              <a:rPr sz="1800" spc="-32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des</a:t>
            </a:r>
            <a:r>
              <a:rPr sz="1800" spc="-11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«</a:t>
            </a:r>
            <a:r>
              <a:rPr sz="1800" spc="-1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contextes</a:t>
            </a:r>
            <a:r>
              <a:rPr sz="18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»</a:t>
            </a:r>
            <a:r>
              <a:rPr sz="1800" spc="-12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ou</a:t>
            </a:r>
            <a:r>
              <a:rPr sz="18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«</a:t>
            </a:r>
            <a:r>
              <a:rPr sz="1800" spc="-1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zones </a:t>
            </a:r>
            <a:r>
              <a:rPr sz="18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d’exécution</a:t>
            </a:r>
            <a:r>
              <a:rPr sz="1800" spc="-1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».</a:t>
            </a:r>
            <a:endParaRPr sz="1800">
              <a:latin typeface="Microsoft Sans Serif"/>
              <a:cs typeface="Microsoft Sans Serif"/>
            </a:endParaRPr>
          </a:p>
          <a:p>
            <a:pPr marL="355600" marR="412115" indent="-342900">
              <a:lnSpc>
                <a:spcPct val="105000"/>
              </a:lnSpc>
              <a:spcBef>
                <a:spcPts val="900"/>
              </a:spcBef>
              <a:buSzPct val="66666"/>
              <a:buChar char="●"/>
              <a:tabLst>
                <a:tab pos="355600" algn="l"/>
              </a:tabLst>
            </a:pPr>
            <a:r>
              <a:rPr sz="18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Solution</a:t>
            </a:r>
            <a:r>
              <a:rPr sz="1800" spc="-6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très</a:t>
            </a:r>
            <a:r>
              <a:rPr sz="18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performante</a:t>
            </a:r>
            <a:r>
              <a:rPr sz="1800" spc="-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car</a:t>
            </a:r>
            <a:r>
              <a:rPr sz="18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peu</a:t>
            </a:r>
            <a:r>
              <a:rPr sz="18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d’</a:t>
            </a:r>
            <a:r>
              <a:rPr sz="18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«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overhead</a:t>
            </a:r>
            <a:r>
              <a:rPr sz="1800" spc="-10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»</a:t>
            </a:r>
            <a:r>
              <a:rPr sz="1800" spc="-32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mais</a:t>
            </a:r>
            <a:r>
              <a:rPr sz="1800" spc="-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les</a:t>
            </a:r>
            <a:r>
              <a:rPr sz="18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environnements</a:t>
            </a:r>
            <a:r>
              <a:rPr sz="1800" spc="-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ne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sont</a:t>
            </a:r>
            <a:r>
              <a:rPr sz="1800" spc="-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pas</a:t>
            </a:r>
            <a:r>
              <a:rPr sz="1800" spc="-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complétement</a:t>
            </a:r>
            <a:r>
              <a:rPr sz="18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isolés.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2906" y="4329430"/>
            <a:ext cx="6991350" cy="9842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4965" marR="5080" indent="-342900">
              <a:lnSpc>
                <a:spcPts val="2270"/>
              </a:lnSpc>
              <a:spcBef>
                <a:spcPts val="85"/>
              </a:spcBef>
              <a:buSzPct val="66666"/>
              <a:buChar char="●"/>
              <a:tabLst>
                <a:tab pos="354965" algn="l"/>
              </a:tabLst>
            </a:pP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Liés</a:t>
            </a:r>
            <a:r>
              <a:rPr sz="18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aux</a:t>
            </a:r>
            <a:r>
              <a:rPr sz="18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systèmes</a:t>
            </a:r>
            <a:r>
              <a:rPr sz="1800" spc="-9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Linux,</a:t>
            </a:r>
            <a:r>
              <a:rPr sz="1800" spc="-8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les</a:t>
            </a:r>
            <a:r>
              <a:rPr sz="18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isolateurs</a:t>
            </a:r>
            <a:r>
              <a:rPr sz="1800" spc="-7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sont</a:t>
            </a:r>
            <a:r>
              <a:rPr sz="18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composés</a:t>
            </a:r>
            <a:r>
              <a:rPr sz="1800" spc="-8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de</a:t>
            </a:r>
            <a:r>
              <a:rPr sz="1800" spc="-6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plusieurs </a:t>
            </a:r>
            <a:r>
              <a:rPr sz="18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éléments</a:t>
            </a:r>
            <a:r>
              <a:rPr sz="180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11395F"/>
                </a:solidFill>
                <a:latin typeface="Microsoft Sans Serif"/>
                <a:cs typeface="Microsoft Sans Serif"/>
              </a:rPr>
              <a:t>et</a:t>
            </a:r>
            <a:r>
              <a:rPr sz="1800" spc="-31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peuvent</a:t>
            </a:r>
            <a:r>
              <a:rPr sz="18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prendre</a:t>
            </a:r>
            <a:r>
              <a:rPr sz="1800" spc="-12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plusieurs</a:t>
            </a:r>
            <a:r>
              <a:rPr sz="1800" spc="-4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1395F"/>
                </a:solidFill>
                <a:latin typeface="Microsoft Sans Serif"/>
                <a:cs typeface="Microsoft Sans Serif"/>
              </a:rPr>
              <a:t>formes.</a:t>
            </a:r>
            <a:endParaRPr sz="1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SzPct val="66666"/>
              <a:buChar char="●"/>
              <a:tabLst>
                <a:tab pos="354965" algn="l"/>
              </a:tabLst>
            </a:pPr>
            <a:r>
              <a:rPr sz="1800" spc="-35" dirty="0">
                <a:solidFill>
                  <a:srgbClr val="11395F"/>
                </a:solidFill>
                <a:latin typeface="Microsoft Sans Serif"/>
                <a:cs typeface="Microsoft Sans Serif"/>
              </a:rPr>
              <a:t>Ex:</a:t>
            </a:r>
            <a:r>
              <a:rPr sz="1800" spc="-1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Linux-</a:t>
            </a:r>
            <a:r>
              <a:rPr sz="1800" spc="-20" dirty="0">
                <a:solidFill>
                  <a:srgbClr val="11395F"/>
                </a:solidFill>
                <a:latin typeface="Microsoft Sans Serif"/>
                <a:cs typeface="Microsoft Sans Serif"/>
              </a:rPr>
              <a:t>Vserver,</a:t>
            </a:r>
            <a:r>
              <a:rPr sz="1800" spc="1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11395F"/>
                </a:solidFill>
                <a:latin typeface="Microsoft Sans Serif"/>
                <a:cs typeface="Microsoft Sans Serif"/>
              </a:rPr>
              <a:t>chroot,</a:t>
            </a:r>
            <a:r>
              <a:rPr sz="18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11395F"/>
                </a:solidFill>
                <a:latin typeface="Microsoft Sans Serif"/>
                <a:cs typeface="Microsoft Sans Serif"/>
              </a:rPr>
              <a:t>BSD</a:t>
            </a:r>
            <a:r>
              <a:rPr sz="1800" spc="-15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11395F"/>
                </a:solidFill>
                <a:latin typeface="Microsoft Sans Serif"/>
                <a:cs typeface="Microsoft Sans Serif"/>
              </a:rPr>
              <a:t>Jail,</a:t>
            </a:r>
            <a:r>
              <a:rPr sz="1800" spc="-10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11395F"/>
                </a:solidFill>
                <a:latin typeface="Microsoft Sans Serif"/>
                <a:cs typeface="Microsoft Sans Serif"/>
              </a:rPr>
              <a:t>OpenVZ,</a:t>
            </a:r>
            <a:r>
              <a:rPr sz="1800" spc="-1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11395F"/>
                </a:solidFill>
                <a:latin typeface="Microsoft Sans Serif"/>
                <a:cs typeface="Microsoft Sans Serif"/>
              </a:rPr>
              <a:t>LXC,</a:t>
            </a:r>
            <a:r>
              <a:rPr sz="1800" spc="-9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11395F"/>
                </a:solidFill>
                <a:latin typeface="Microsoft Sans Serif"/>
                <a:cs typeface="Microsoft Sans Serif"/>
              </a:rPr>
              <a:t>Docker,</a:t>
            </a:r>
            <a:r>
              <a:rPr sz="1800" spc="-75" dirty="0">
                <a:solidFill>
                  <a:srgbClr val="11395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11395F"/>
                </a:solidFill>
                <a:latin typeface="Microsoft Sans Serif"/>
                <a:cs typeface="Microsoft Sans Serif"/>
              </a:rPr>
              <a:t>…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350" y="1644650"/>
            <a:ext cx="2956814" cy="18898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z="1600" spc="-25" dirty="0"/>
              <a:t>69</a:t>
            </a:fld>
            <a:endParaRPr sz="16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5855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gestion</a:t>
            </a:r>
            <a:r>
              <a:rPr spc="-60" dirty="0"/>
              <a:t> </a:t>
            </a:r>
            <a:r>
              <a:rPr dirty="0"/>
              <a:t>des</a:t>
            </a:r>
            <a:r>
              <a:rPr spc="-60" dirty="0"/>
              <a:t> </a:t>
            </a:r>
            <a:r>
              <a:rPr dirty="0"/>
              <a:t>environnements</a:t>
            </a:r>
            <a:r>
              <a:rPr spc="-85" dirty="0"/>
              <a:t> </a:t>
            </a:r>
            <a:r>
              <a:rPr spc="-25" dirty="0"/>
              <a:t>de </a:t>
            </a:r>
            <a:r>
              <a:rPr dirty="0"/>
              <a:t>développement</a:t>
            </a:r>
            <a:r>
              <a:rPr spc="-90" dirty="0"/>
              <a:t> </a:t>
            </a:r>
            <a:r>
              <a:rPr dirty="0"/>
              <a:t>avec</a:t>
            </a:r>
            <a:r>
              <a:rPr spc="-25" dirty="0"/>
              <a:t> </a:t>
            </a:r>
            <a:r>
              <a:rPr spc="-10" dirty="0"/>
              <a:t>Vagrant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7432" y="318781"/>
            <a:ext cx="1394577" cy="12878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6140" y="1564640"/>
            <a:ext cx="572897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C’est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quoi?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Outil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gestion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d’environnements </a:t>
            </a:r>
            <a:r>
              <a:rPr sz="1800" spc="-10" dirty="0">
                <a:latin typeface="Arial MT"/>
                <a:cs typeface="Arial MT"/>
              </a:rPr>
              <a:t>virtuels.</a:t>
            </a:r>
            <a:endParaRPr sz="1800">
              <a:latin typeface="Arial MT"/>
              <a:cs typeface="Arial MT"/>
            </a:endParaRPr>
          </a:p>
          <a:p>
            <a:pPr marL="12700" marR="1060450" indent="-1016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	Automatisation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création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configuration </a:t>
            </a:r>
            <a:r>
              <a:rPr sz="1800" dirty="0">
                <a:latin typeface="Arial MT"/>
                <a:cs typeface="Arial MT"/>
              </a:rPr>
              <a:t>d'environnements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développement.</a:t>
            </a:r>
            <a:endParaRPr sz="1800">
              <a:latin typeface="Arial MT"/>
              <a:cs typeface="Arial MT"/>
            </a:endParaRPr>
          </a:p>
          <a:p>
            <a:pPr marL="12700" marR="112395" indent="-1016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	Supporte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plusieurs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hyperviseurs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VirtualBox,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VMware, </a:t>
            </a:r>
            <a:r>
              <a:rPr sz="1800" spc="-20" dirty="0">
                <a:latin typeface="Arial MT"/>
                <a:cs typeface="Arial MT"/>
              </a:rPr>
              <a:t>Hyper-</a:t>
            </a:r>
            <a:r>
              <a:rPr sz="1800" dirty="0">
                <a:latin typeface="Arial MT"/>
                <a:cs typeface="Arial MT"/>
              </a:rPr>
              <a:t>V,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Docker.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Objectifs: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299085" marR="1003300" indent="-287020">
              <a:lnSpc>
                <a:spcPct val="100000"/>
              </a:lnSpc>
              <a:buSzPct val="94444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Simplifier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gestion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environnements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spc="-10" dirty="0">
                <a:latin typeface="Arial MT"/>
                <a:cs typeface="Arial MT"/>
              </a:rPr>
              <a:t>développement.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SzPct val="94444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Automatiser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standardiser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configurations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via</a:t>
            </a:r>
            <a:r>
              <a:rPr sz="1800" spc="-25" dirty="0">
                <a:latin typeface="Arial MT"/>
                <a:cs typeface="Arial MT"/>
              </a:rPr>
              <a:t> un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fichier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configuration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(Vagrantfile).</a:t>
            </a:r>
            <a:endParaRPr sz="1800">
              <a:latin typeface="Arial MT"/>
              <a:cs typeface="Arial MT"/>
            </a:endParaRPr>
          </a:p>
          <a:p>
            <a:pPr marL="299085" marR="890269" indent="-287020">
              <a:lnSpc>
                <a:spcPct val="100000"/>
              </a:lnSpc>
              <a:buSzPct val="94444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Faciliter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portabilité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collaboration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entre développeurs.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29314" y="3027761"/>
            <a:ext cx="740855" cy="318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3137" y="3146473"/>
            <a:ext cx="503495" cy="4051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38101" y="3146424"/>
            <a:ext cx="700111" cy="3297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73977" y="3778212"/>
            <a:ext cx="868112" cy="2777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15257" y="3636555"/>
            <a:ext cx="538103" cy="42243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49950" y="5754852"/>
            <a:ext cx="393534" cy="3066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68465" y="5754852"/>
            <a:ext cx="393534" cy="3066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18221" y="5754852"/>
            <a:ext cx="393534" cy="30665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z="1600" spc="-25" dirty="0"/>
              <a:t>70</a:t>
            </a:fld>
            <a:endParaRPr sz="16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5855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gestion</a:t>
            </a:r>
            <a:r>
              <a:rPr spc="-60" dirty="0"/>
              <a:t> </a:t>
            </a:r>
            <a:r>
              <a:rPr dirty="0"/>
              <a:t>des</a:t>
            </a:r>
            <a:r>
              <a:rPr spc="-60" dirty="0"/>
              <a:t> </a:t>
            </a:r>
            <a:r>
              <a:rPr dirty="0"/>
              <a:t>environnements</a:t>
            </a:r>
            <a:r>
              <a:rPr spc="-85" dirty="0"/>
              <a:t> </a:t>
            </a:r>
            <a:r>
              <a:rPr spc="-25" dirty="0"/>
              <a:t>de </a:t>
            </a:r>
            <a:r>
              <a:rPr dirty="0"/>
              <a:t>développement</a:t>
            </a:r>
            <a:r>
              <a:rPr spc="-90" dirty="0"/>
              <a:t> </a:t>
            </a:r>
            <a:r>
              <a:rPr dirty="0"/>
              <a:t>avec</a:t>
            </a:r>
            <a:r>
              <a:rPr spc="-25" dirty="0"/>
              <a:t> </a:t>
            </a:r>
            <a:r>
              <a:rPr spc="-10" dirty="0"/>
              <a:t>Vagrant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6512" y="394981"/>
            <a:ext cx="1394577" cy="12878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6140" y="1838960"/>
            <a:ext cx="579247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Fonctionnalités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clés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Création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machines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virtuelles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(VMs)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containers.</a:t>
            </a:r>
            <a:endParaRPr sz="1800">
              <a:latin typeface="Arial MT"/>
              <a:cs typeface="Arial MT"/>
            </a:endParaRPr>
          </a:p>
          <a:p>
            <a:pPr marL="12700" marR="5080" indent="-1016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	Provisionnement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automatique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avec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Shell,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Ansible,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Chef, </a:t>
            </a:r>
            <a:r>
              <a:rPr sz="1800" spc="-20" dirty="0"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Partage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d’environnement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vagrant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share.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Snapshots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rollbacks.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Workflow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SzPct val="94444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vagrant init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Créer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Vagrantfile.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SzPct val="94444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vagrant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Démarrer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machine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virtuelle.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SzPct val="94444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vagrant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ssh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connecter à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via</a:t>
            </a:r>
            <a:r>
              <a:rPr sz="1800" spc="-20" dirty="0">
                <a:latin typeface="Arial MT"/>
                <a:cs typeface="Arial MT"/>
              </a:rPr>
              <a:t> SSH.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SzPct val="94444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vagrant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halt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Arrêter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VM.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SzPct val="94444"/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vagrant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destroy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Supprimer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VM.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z="1600" spc="-25" dirty="0"/>
              <a:t>71</a:t>
            </a:fld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5855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gestion</a:t>
            </a:r>
            <a:r>
              <a:rPr spc="-60" dirty="0"/>
              <a:t> </a:t>
            </a:r>
            <a:r>
              <a:rPr dirty="0"/>
              <a:t>des</a:t>
            </a:r>
            <a:r>
              <a:rPr spc="-60" dirty="0"/>
              <a:t> </a:t>
            </a:r>
            <a:r>
              <a:rPr dirty="0"/>
              <a:t>environnements</a:t>
            </a:r>
            <a:r>
              <a:rPr spc="-85" dirty="0"/>
              <a:t> </a:t>
            </a:r>
            <a:r>
              <a:rPr spc="-25" dirty="0"/>
              <a:t>de </a:t>
            </a:r>
            <a:r>
              <a:rPr dirty="0"/>
              <a:t>développement</a:t>
            </a:r>
            <a:r>
              <a:rPr spc="-90" dirty="0"/>
              <a:t> </a:t>
            </a:r>
            <a:r>
              <a:rPr dirty="0"/>
              <a:t>avec</a:t>
            </a:r>
            <a:r>
              <a:rPr spc="-25" dirty="0"/>
              <a:t> </a:t>
            </a:r>
            <a:r>
              <a:rPr spc="-10" dirty="0"/>
              <a:t>Vagrant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540" y="1627759"/>
            <a:ext cx="594995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Vagrantfile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Fichier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configuration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central.</a:t>
            </a:r>
            <a:endParaRPr sz="18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Définit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box,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ressources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(CPU,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RAM),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réseau,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et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scripts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 </a:t>
            </a:r>
            <a:r>
              <a:rPr sz="1800" spc="-10" dirty="0">
                <a:latin typeface="Arial MT"/>
                <a:cs typeface="Arial MT"/>
              </a:rPr>
              <a:t>provisionnement.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Exemple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550" y="3168650"/>
            <a:ext cx="5223383" cy="2743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6512" y="394981"/>
            <a:ext cx="1394577" cy="12878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z="1600" spc="-25" dirty="0"/>
              <a:t>72</a:t>
            </a:fld>
            <a:endParaRPr sz="16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5855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gestion</a:t>
            </a:r>
            <a:r>
              <a:rPr spc="-60" dirty="0"/>
              <a:t> </a:t>
            </a:r>
            <a:r>
              <a:rPr dirty="0"/>
              <a:t>des</a:t>
            </a:r>
            <a:r>
              <a:rPr spc="-60" dirty="0"/>
              <a:t> </a:t>
            </a:r>
            <a:r>
              <a:rPr dirty="0"/>
              <a:t>environnements</a:t>
            </a:r>
            <a:r>
              <a:rPr spc="-85" dirty="0"/>
              <a:t> </a:t>
            </a:r>
            <a:r>
              <a:rPr spc="-25" dirty="0"/>
              <a:t>de </a:t>
            </a:r>
            <a:r>
              <a:rPr dirty="0"/>
              <a:t>développement</a:t>
            </a:r>
            <a:r>
              <a:rPr spc="-90" dirty="0"/>
              <a:t> </a:t>
            </a:r>
            <a:r>
              <a:rPr dirty="0"/>
              <a:t>avec</a:t>
            </a:r>
            <a:r>
              <a:rPr spc="-25" dirty="0"/>
              <a:t> </a:t>
            </a:r>
            <a:r>
              <a:rPr spc="-10" dirty="0"/>
              <a:t>Vagrant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540" y="1702435"/>
            <a:ext cx="592328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Avantages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Portabilité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environnements.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Productivité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Environnements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rapidement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réplicables.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Réduction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conflits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configuration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machines.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Support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multiplateforme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Windows,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Linux,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macOS.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Cas</a:t>
            </a:r>
            <a:r>
              <a:rPr sz="1800" b="1" spc="-10" dirty="0">
                <a:latin typeface="Arial"/>
                <a:cs typeface="Arial"/>
              </a:rPr>
              <a:t> d’utilisation</a:t>
            </a:r>
            <a:endParaRPr sz="1800">
              <a:latin typeface="Arial"/>
              <a:cs typeface="Arial"/>
            </a:endParaRPr>
          </a:p>
          <a:p>
            <a:pPr marL="299085" marR="635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Développement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équipe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Environnements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identiques </a:t>
            </a:r>
            <a:r>
              <a:rPr sz="1800" dirty="0">
                <a:latin typeface="Arial MT"/>
                <a:cs typeface="Arial MT"/>
              </a:rPr>
              <a:t>pour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tous.</a:t>
            </a:r>
            <a:endParaRPr sz="1800">
              <a:latin typeface="Arial MT"/>
              <a:cs typeface="Arial MT"/>
            </a:endParaRPr>
          </a:p>
          <a:p>
            <a:pPr marL="299085" marR="570230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Tests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d'infrastructure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Simulation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systèmes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spc="-10" dirty="0">
                <a:latin typeface="Arial MT"/>
                <a:cs typeface="Arial MT"/>
              </a:rPr>
              <a:t>production.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Formations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Création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laboratoires</a:t>
            </a:r>
            <a:r>
              <a:rPr sz="1800" spc="-10" dirty="0">
                <a:latin typeface="Arial MT"/>
                <a:cs typeface="Arial MT"/>
              </a:rPr>
              <a:t> reproductibles.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5366" y="2711399"/>
            <a:ext cx="514897" cy="6133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7350" y="2819354"/>
            <a:ext cx="1111147" cy="5324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73950" y="2439441"/>
            <a:ext cx="1226876" cy="2720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fld id="{81D60167-4931-47E6-BA6A-407CBD079E47}" type="slidenum">
              <a:rPr sz="1600" spc="-25" dirty="0"/>
              <a:t>73</a:t>
            </a:fld>
            <a:endParaRPr sz="16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029" y="911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87" y="255397"/>
                </a:lnTo>
                <a:lnTo>
                  <a:pt x="15544" y="208533"/>
                </a:lnTo>
                <a:lnTo>
                  <a:pt x="34023" y="164719"/>
                </a:lnTo>
                <a:lnTo>
                  <a:pt x="58813" y="124840"/>
                </a:lnTo>
                <a:lnTo>
                  <a:pt x="89268" y="89280"/>
                </a:lnTo>
                <a:lnTo>
                  <a:pt x="124790" y="58800"/>
                </a:lnTo>
                <a:lnTo>
                  <a:pt x="164731" y="34035"/>
                </a:lnTo>
                <a:lnTo>
                  <a:pt x="208457" y="15494"/>
                </a:lnTo>
                <a:lnTo>
                  <a:pt x="255358" y="4063"/>
                </a:lnTo>
                <a:lnTo>
                  <a:pt x="304800" y="0"/>
                </a:lnTo>
                <a:lnTo>
                  <a:pt x="352767" y="3809"/>
                </a:lnTo>
                <a:lnTo>
                  <a:pt x="399122" y="14985"/>
                </a:lnTo>
                <a:lnTo>
                  <a:pt x="443052" y="33147"/>
                </a:lnTo>
                <a:lnTo>
                  <a:pt x="483717" y="58038"/>
                </a:lnTo>
                <a:lnTo>
                  <a:pt x="520331" y="89280"/>
                </a:lnTo>
                <a:lnTo>
                  <a:pt x="551561" y="125856"/>
                </a:lnTo>
                <a:lnTo>
                  <a:pt x="576440" y="166624"/>
                </a:lnTo>
                <a:lnTo>
                  <a:pt x="594639" y="210438"/>
                </a:lnTo>
                <a:lnTo>
                  <a:pt x="605802" y="256794"/>
                </a:lnTo>
                <a:lnTo>
                  <a:pt x="609600" y="304800"/>
                </a:lnTo>
                <a:lnTo>
                  <a:pt x="605612" y="354202"/>
                </a:lnTo>
                <a:lnTo>
                  <a:pt x="594067" y="401192"/>
                </a:lnTo>
                <a:lnTo>
                  <a:pt x="575576" y="444880"/>
                </a:lnTo>
                <a:lnTo>
                  <a:pt x="550786" y="484758"/>
                </a:lnTo>
                <a:lnTo>
                  <a:pt x="520331" y="520319"/>
                </a:lnTo>
                <a:lnTo>
                  <a:pt x="484809" y="550799"/>
                </a:lnTo>
                <a:lnTo>
                  <a:pt x="444868" y="575563"/>
                </a:lnTo>
                <a:lnTo>
                  <a:pt x="401142" y="594105"/>
                </a:lnTo>
                <a:lnTo>
                  <a:pt x="354241" y="605662"/>
                </a:lnTo>
                <a:lnTo>
                  <a:pt x="304800" y="609600"/>
                </a:lnTo>
                <a:lnTo>
                  <a:pt x="255358" y="605662"/>
                </a:lnTo>
                <a:lnTo>
                  <a:pt x="208457" y="594105"/>
                </a:lnTo>
                <a:lnTo>
                  <a:pt x="164731" y="575563"/>
                </a:lnTo>
                <a:lnTo>
                  <a:pt x="124790" y="550799"/>
                </a:lnTo>
                <a:lnTo>
                  <a:pt x="89268" y="520319"/>
                </a:lnTo>
                <a:lnTo>
                  <a:pt x="58813" y="484758"/>
                </a:lnTo>
                <a:lnTo>
                  <a:pt x="34023" y="444880"/>
                </a:lnTo>
                <a:lnTo>
                  <a:pt x="15544" y="401192"/>
                </a:lnTo>
                <a:lnTo>
                  <a:pt x="3987" y="354202"/>
                </a:lnTo>
                <a:lnTo>
                  <a:pt x="0" y="304800"/>
                </a:lnTo>
                <a:close/>
              </a:path>
            </a:pathLst>
          </a:custGeom>
          <a:ln w="28573">
            <a:solidFill>
              <a:srgbClr val="1640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1923" y="2558817"/>
            <a:ext cx="2218241" cy="21194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57071" y="1655191"/>
            <a:ext cx="25368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Mise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en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pratique Vagrant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66140" y="133350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164052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80740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latin typeface="Calibri"/>
                <a:cs typeface="Calibri"/>
              </a:rPr>
              <a:t>Introduction</a:t>
            </a:r>
            <a:r>
              <a:rPr b="1" spc="3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à</a:t>
            </a:r>
            <a:r>
              <a:rPr b="1" spc="254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la</a:t>
            </a:r>
            <a:r>
              <a:rPr b="1" spc="265" dirty="0">
                <a:latin typeface="Calibri"/>
                <a:cs typeface="Calibri"/>
              </a:rPr>
              <a:t> </a:t>
            </a:r>
            <a:r>
              <a:rPr b="1" spc="95" dirty="0">
                <a:latin typeface="Calibri"/>
                <a:cs typeface="Calibri"/>
              </a:rPr>
              <a:t>conteneurisation</a:t>
            </a:r>
            <a:r>
              <a:rPr b="1" spc="315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avec </a:t>
            </a:r>
            <a:r>
              <a:rPr b="1" spc="70" dirty="0">
                <a:latin typeface="Calibri"/>
                <a:cs typeface="Calibri"/>
              </a:rPr>
              <a:t>Docker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659" y="1873214"/>
            <a:ext cx="9810597" cy="42199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80740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latin typeface="Calibri"/>
                <a:cs typeface="Calibri"/>
              </a:rPr>
              <a:t>Introduction</a:t>
            </a:r>
            <a:r>
              <a:rPr b="1" spc="3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à</a:t>
            </a:r>
            <a:r>
              <a:rPr b="1" spc="254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la</a:t>
            </a:r>
            <a:r>
              <a:rPr b="1" spc="265" dirty="0">
                <a:latin typeface="Calibri"/>
                <a:cs typeface="Calibri"/>
              </a:rPr>
              <a:t> </a:t>
            </a:r>
            <a:r>
              <a:rPr b="1" spc="95" dirty="0">
                <a:latin typeface="Calibri"/>
                <a:cs typeface="Calibri"/>
              </a:rPr>
              <a:t>conteneurisation</a:t>
            </a:r>
            <a:r>
              <a:rPr b="1" spc="315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avec </a:t>
            </a:r>
            <a:r>
              <a:rPr b="1" spc="70" dirty="0">
                <a:latin typeface="Calibri"/>
                <a:cs typeface="Calibri"/>
              </a:rPr>
              <a:t>Docker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550" y="1720850"/>
            <a:ext cx="6743700" cy="4495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90407" y="2871597"/>
            <a:ext cx="2091055" cy="2155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latin typeface="Calibri"/>
                <a:cs typeface="Calibri"/>
              </a:rPr>
              <a:t>BUILD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20" dirty="0">
                <a:latin typeface="Calibri"/>
                <a:cs typeface="Calibri"/>
              </a:rPr>
              <a:t>SHIP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25" dirty="0">
                <a:latin typeface="Calibri"/>
                <a:cs typeface="Calibri"/>
              </a:rPr>
              <a:t>RUN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ANY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APP,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ANYWHERE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8074025" cy="161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latin typeface="Calibri"/>
                <a:cs typeface="Calibri"/>
              </a:rPr>
              <a:t>Introduction</a:t>
            </a:r>
            <a:r>
              <a:rPr b="1" spc="3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à</a:t>
            </a:r>
            <a:r>
              <a:rPr b="1" spc="254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la</a:t>
            </a:r>
            <a:r>
              <a:rPr b="1" spc="265" dirty="0">
                <a:latin typeface="Calibri"/>
                <a:cs typeface="Calibri"/>
              </a:rPr>
              <a:t> </a:t>
            </a:r>
            <a:r>
              <a:rPr b="1" spc="95" dirty="0">
                <a:latin typeface="Calibri"/>
                <a:cs typeface="Calibri"/>
              </a:rPr>
              <a:t>conteneurisation</a:t>
            </a:r>
            <a:r>
              <a:rPr b="1" spc="315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avec </a:t>
            </a:r>
            <a:r>
              <a:rPr b="1" spc="70" dirty="0">
                <a:latin typeface="Calibri"/>
                <a:cs typeface="Calibri"/>
              </a:rPr>
              <a:t>Docker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200" dirty="0"/>
              <a:t>Retour</a:t>
            </a:r>
            <a:r>
              <a:rPr sz="3200" spc="-35" dirty="0"/>
              <a:t> </a:t>
            </a:r>
            <a:r>
              <a:rPr sz="3200" dirty="0"/>
              <a:t>sur</a:t>
            </a:r>
            <a:r>
              <a:rPr sz="3200" spc="-15" dirty="0"/>
              <a:t> </a:t>
            </a:r>
            <a:r>
              <a:rPr sz="3200" dirty="0"/>
              <a:t>les</a:t>
            </a:r>
            <a:r>
              <a:rPr sz="3200" spc="-25" dirty="0"/>
              <a:t> </a:t>
            </a:r>
            <a:r>
              <a:rPr sz="3200" dirty="0"/>
              <a:t>technologies</a:t>
            </a:r>
            <a:r>
              <a:rPr sz="3200" spc="-15" dirty="0"/>
              <a:t> </a:t>
            </a:r>
            <a:r>
              <a:rPr sz="3200" dirty="0"/>
              <a:t>de</a:t>
            </a:r>
            <a:r>
              <a:rPr sz="3200" spc="-15" dirty="0"/>
              <a:t> </a:t>
            </a:r>
            <a:r>
              <a:rPr sz="3200" spc="-10" dirty="0"/>
              <a:t>virtualisation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550" y="2330510"/>
            <a:ext cx="9393127" cy="42324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8074025" cy="161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latin typeface="Calibri"/>
                <a:cs typeface="Calibri"/>
              </a:rPr>
              <a:t>Introduction</a:t>
            </a:r>
            <a:r>
              <a:rPr b="1" spc="3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à</a:t>
            </a:r>
            <a:r>
              <a:rPr b="1" spc="254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la</a:t>
            </a:r>
            <a:r>
              <a:rPr b="1" spc="265" dirty="0">
                <a:latin typeface="Calibri"/>
                <a:cs typeface="Calibri"/>
              </a:rPr>
              <a:t> </a:t>
            </a:r>
            <a:r>
              <a:rPr b="1" spc="95" dirty="0">
                <a:latin typeface="Calibri"/>
                <a:cs typeface="Calibri"/>
              </a:rPr>
              <a:t>conteneurisation</a:t>
            </a:r>
            <a:r>
              <a:rPr b="1" spc="315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avec </a:t>
            </a:r>
            <a:r>
              <a:rPr b="1" spc="70" dirty="0">
                <a:latin typeface="Calibri"/>
                <a:cs typeface="Calibri"/>
              </a:rPr>
              <a:t>Docker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200" dirty="0"/>
              <a:t>Retour</a:t>
            </a:r>
            <a:r>
              <a:rPr sz="3200" spc="-35" dirty="0"/>
              <a:t> </a:t>
            </a:r>
            <a:r>
              <a:rPr sz="3200" dirty="0"/>
              <a:t>sur</a:t>
            </a:r>
            <a:r>
              <a:rPr sz="3200" spc="-15" dirty="0"/>
              <a:t> </a:t>
            </a:r>
            <a:r>
              <a:rPr sz="3200" dirty="0"/>
              <a:t>les</a:t>
            </a:r>
            <a:r>
              <a:rPr sz="3200" spc="-25" dirty="0"/>
              <a:t> </a:t>
            </a:r>
            <a:r>
              <a:rPr sz="3200" dirty="0"/>
              <a:t>technologies</a:t>
            </a:r>
            <a:r>
              <a:rPr sz="3200" spc="-15" dirty="0"/>
              <a:t> </a:t>
            </a:r>
            <a:r>
              <a:rPr sz="3200" dirty="0"/>
              <a:t>de</a:t>
            </a:r>
            <a:r>
              <a:rPr sz="3200" spc="-15" dirty="0"/>
              <a:t> </a:t>
            </a:r>
            <a:r>
              <a:rPr sz="3200" spc="-10" dirty="0"/>
              <a:t>virtualisation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433" y="2254250"/>
            <a:ext cx="7799832" cy="38998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80740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latin typeface="Calibri"/>
                <a:cs typeface="Calibri"/>
              </a:rPr>
              <a:t>Introduction</a:t>
            </a:r>
            <a:r>
              <a:rPr b="1" spc="3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à</a:t>
            </a:r>
            <a:r>
              <a:rPr b="1" spc="254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la</a:t>
            </a:r>
            <a:r>
              <a:rPr b="1" spc="265" dirty="0">
                <a:latin typeface="Calibri"/>
                <a:cs typeface="Calibri"/>
              </a:rPr>
              <a:t> </a:t>
            </a:r>
            <a:r>
              <a:rPr b="1" spc="95" dirty="0">
                <a:latin typeface="Calibri"/>
                <a:cs typeface="Calibri"/>
              </a:rPr>
              <a:t>conteneurisation</a:t>
            </a:r>
            <a:r>
              <a:rPr b="1" spc="315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avec </a:t>
            </a:r>
            <a:r>
              <a:rPr b="1" spc="70" dirty="0">
                <a:latin typeface="Calibri"/>
                <a:cs typeface="Calibri"/>
              </a:rPr>
              <a:t>Docker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550" y="1568450"/>
            <a:ext cx="6074329" cy="49528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82306" y="2795397"/>
            <a:ext cx="209105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latin typeface="Calibri"/>
                <a:cs typeface="Calibri"/>
              </a:rPr>
              <a:t>Isolation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latin typeface="Calibri"/>
                <a:cs typeface="Calibri"/>
              </a:rPr>
              <a:t>Sécurité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2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Même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noyau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de </a:t>
            </a:r>
            <a:r>
              <a:rPr sz="2000" b="1" spc="-10" dirty="0">
                <a:latin typeface="Calibri"/>
                <a:cs typeface="Calibri"/>
              </a:rPr>
              <a:t>système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400"/>
              </a:spcBef>
            </a:pPr>
            <a:r>
              <a:rPr sz="2000" b="1" spc="-10" dirty="0">
                <a:latin typeface="Calibri"/>
                <a:cs typeface="Calibri"/>
              </a:rPr>
              <a:t>d’exploitation.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8307705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876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latin typeface="Calibri"/>
                <a:cs typeface="Calibri"/>
              </a:rPr>
              <a:t>Introduction</a:t>
            </a:r>
            <a:r>
              <a:rPr b="1" spc="3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à</a:t>
            </a:r>
            <a:r>
              <a:rPr b="1" spc="254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la</a:t>
            </a:r>
            <a:r>
              <a:rPr b="1" spc="265" dirty="0">
                <a:latin typeface="Calibri"/>
                <a:cs typeface="Calibri"/>
              </a:rPr>
              <a:t> </a:t>
            </a:r>
            <a:r>
              <a:rPr b="1" spc="95" dirty="0">
                <a:latin typeface="Calibri"/>
                <a:cs typeface="Calibri"/>
              </a:rPr>
              <a:t>conteneurisation</a:t>
            </a:r>
            <a:r>
              <a:rPr b="1" spc="315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avec </a:t>
            </a:r>
            <a:r>
              <a:rPr b="1" spc="70" dirty="0">
                <a:latin typeface="Calibri"/>
                <a:cs typeface="Calibri"/>
              </a:rPr>
              <a:t>Docker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00" dirty="0"/>
              <a:t>Visualiser</a:t>
            </a:r>
            <a:r>
              <a:rPr sz="2400" spc="-45" dirty="0"/>
              <a:t> </a:t>
            </a:r>
            <a:r>
              <a:rPr sz="2400" dirty="0"/>
              <a:t>l’architecture</a:t>
            </a:r>
            <a:r>
              <a:rPr sz="2400" spc="-70" dirty="0"/>
              <a:t> </a:t>
            </a:r>
            <a:r>
              <a:rPr sz="2400" dirty="0"/>
              <a:t>Docker</a:t>
            </a:r>
            <a:r>
              <a:rPr sz="2400" spc="-45" dirty="0"/>
              <a:t> </a:t>
            </a:r>
            <a:r>
              <a:rPr sz="2400" dirty="0"/>
              <a:t>:</a:t>
            </a:r>
            <a:r>
              <a:rPr sz="2400" spc="-45" dirty="0"/>
              <a:t> </a:t>
            </a:r>
            <a:r>
              <a:rPr sz="2400" dirty="0"/>
              <a:t>daemon,</a:t>
            </a:r>
            <a:r>
              <a:rPr sz="2400" spc="-35" dirty="0"/>
              <a:t> </a:t>
            </a:r>
            <a:r>
              <a:rPr sz="2400" dirty="0"/>
              <a:t>client,</a:t>
            </a:r>
            <a:r>
              <a:rPr sz="2400" spc="-60" dirty="0"/>
              <a:t> </a:t>
            </a:r>
            <a:r>
              <a:rPr sz="2400" dirty="0"/>
              <a:t>images,</a:t>
            </a:r>
            <a:r>
              <a:rPr sz="2400" spc="-55" dirty="0"/>
              <a:t> </a:t>
            </a:r>
            <a:r>
              <a:rPr sz="2400" spc="-10" dirty="0"/>
              <a:t>services…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350" y="2025774"/>
            <a:ext cx="8477232" cy="47368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8301355" cy="186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241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latin typeface="Calibri"/>
                <a:cs typeface="Calibri"/>
              </a:rPr>
              <a:t>Introduction</a:t>
            </a:r>
            <a:r>
              <a:rPr b="1" spc="3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à</a:t>
            </a:r>
            <a:r>
              <a:rPr b="1" spc="254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la</a:t>
            </a:r>
            <a:r>
              <a:rPr b="1" spc="265" dirty="0">
                <a:latin typeface="Calibri"/>
                <a:cs typeface="Calibri"/>
              </a:rPr>
              <a:t> </a:t>
            </a:r>
            <a:r>
              <a:rPr b="1" spc="95" dirty="0">
                <a:latin typeface="Calibri"/>
                <a:cs typeface="Calibri"/>
              </a:rPr>
              <a:t>conteneurisation</a:t>
            </a:r>
            <a:r>
              <a:rPr b="1" spc="315" dirty="0">
                <a:latin typeface="Calibri"/>
                <a:cs typeface="Calibri"/>
              </a:rPr>
              <a:t> </a:t>
            </a:r>
            <a:r>
              <a:rPr b="1" spc="55" dirty="0">
                <a:latin typeface="Calibri"/>
                <a:cs typeface="Calibri"/>
              </a:rPr>
              <a:t>avec </a:t>
            </a:r>
            <a:r>
              <a:rPr b="1" spc="70" dirty="0">
                <a:latin typeface="Calibri"/>
                <a:cs typeface="Calibri"/>
              </a:rPr>
              <a:t>Docker</a:t>
            </a:r>
          </a:p>
          <a:p>
            <a:pPr marL="12700" marR="5080">
              <a:lnSpc>
                <a:spcPct val="100000"/>
              </a:lnSpc>
              <a:spcBef>
                <a:spcPts val="75"/>
              </a:spcBef>
            </a:pPr>
            <a:r>
              <a:rPr sz="2400" dirty="0"/>
              <a:t>Découverte</a:t>
            </a:r>
            <a:r>
              <a:rPr sz="2400" spc="-30" dirty="0"/>
              <a:t> </a:t>
            </a:r>
            <a:r>
              <a:rPr sz="2400" dirty="0"/>
              <a:t>du</a:t>
            </a:r>
            <a:r>
              <a:rPr sz="2400" spc="-35" dirty="0"/>
              <a:t> </a:t>
            </a:r>
            <a:r>
              <a:rPr sz="2400" dirty="0"/>
              <a:t>Docker</a:t>
            </a:r>
            <a:r>
              <a:rPr sz="2400" spc="-40" dirty="0"/>
              <a:t> </a:t>
            </a:r>
            <a:r>
              <a:rPr sz="2400" dirty="0"/>
              <a:t>Hub</a:t>
            </a:r>
            <a:r>
              <a:rPr sz="2400" spc="-35" dirty="0"/>
              <a:t> </a:t>
            </a:r>
            <a:r>
              <a:rPr sz="2400" dirty="0"/>
              <a:t>et</a:t>
            </a:r>
            <a:r>
              <a:rPr sz="2400" spc="-45" dirty="0"/>
              <a:t> </a:t>
            </a:r>
            <a:r>
              <a:rPr sz="2400" dirty="0"/>
              <a:t>Docker</a:t>
            </a:r>
            <a:r>
              <a:rPr sz="2400" spc="-40" dirty="0"/>
              <a:t> </a:t>
            </a:r>
            <a:r>
              <a:rPr sz="2400" dirty="0"/>
              <a:t>Store</a:t>
            </a:r>
            <a:r>
              <a:rPr sz="2400" spc="-40" dirty="0"/>
              <a:t> </a:t>
            </a:r>
            <a:r>
              <a:rPr sz="2400" dirty="0"/>
              <a:t>:</a:t>
            </a:r>
            <a:r>
              <a:rPr sz="2400" spc="-40" dirty="0"/>
              <a:t> </a:t>
            </a:r>
            <a:r>
              <a:rPr sz="2400" dirty="0"/>
              <a:t>télécharger</a:t>
            </a:r>
            <a:r>
              <a:rPr sz="2400" spc="-50" dirty="0"/>
              <a:t> </a:t>
            </a:r>
            <a:r>
              <a:rPr sz="2400" dirty="0"/>
              <a:t>et</a:t>
            </a:r>
            <a:r>
              <a:rPr sz="2400" spc="-40" dirty="0"/>
              <a:t> </a:t>
            </a:r>
            <a:r>
              <a:rPr sz="2400" spc="-10" dirty="0"/>
              <a:t>stocker </a:t>
            </a:r>
            <a:r>
              <a:rPr sz="2400" dirty="0"/>
              <a:t>des</a:t>
            </a:r>
            <a:r>
              <a:rPr sz="2400" spc="-50" dirty="0"/>
              <a:t> </a:t>
            </a:r>
            <a:r>
              <a:rPr sz="2400" spc="-10" dirty="0"/>
              <a:t>images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50" y="2101887"/>
            <a:ext cx="3810000" cy="23090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826" y="4710476"/>
            <a:ext cx="2444155" cy="23727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1150" y="2320773"/>
            <a:ext cx="6451585" cy="43433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6476365" cy="94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Calibri"/>
                <a:cs typeface="Calibri"/>
              </a:rPr>
              <a:t>Création</a:t>
            </a:r>
            <a:r>
              <a:rPr b="1" spc="280" dirty="0">
                <a:latin typeface="Calibri"/>
                <a:cs typeface="Calibri"/>
              </a:rPr>
              <a:t> </a:t>
            </a:r>
            <a:r>
              <a:rPr b="1" spc="100" dirty="0">
                <a:latin typeface="Calibri"/>
                <a:cs typeface="Calibri"/>
              </a:rPr>
              <a:t>d'images</a:t>
            </a:r>
            <a:r>
              <a:rPr b="1" spc="290" dirty="0">
                <a:latin typeface="Calibri"/>
                <a:cs typeface="Calibri"/>
              </a:rPr>
              <a:t> </a:t>
            </a:r>
            <a:r>
              <a:rPr b="1" spc="80" dirty="0">
                <a:latin typeface="Calibri"/>
                <a:cs typeface="Calibri"/>
              </a:rPr>
              <a:t>Docker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400" dirty="0"/>
              <a:t>Gérer</a:t>
            </a:r>
            <a:r>
              <a:rPr sz="2400" spc="-65" dirty="0"/>
              <a:t> </a:t>
            </a:r>
            <a:r>
              <a:rPr sz="2400" dirty="0"/>
              <a:t>les</a:t>
            </a:r>
            <a:r>
              <a:rPr sz="2400" spc="-50" dirty="0"/>
              <a:t> </a:t>
            </a:r>
            <a:r>
              <a:rPr sz="2400" dirty="0"/>
              <a:t>conteneurs</a:t>
            </a:r>
            <a:r>
              <a:rPr sz="2400" spc="-50" dirty="0"/>
              <a:t> </a:t>
            </a:r>
            <a:r>
              <a:rPr sz="2400" dirty="0"/>
              <a:t>:</a:t>
            </a:r>
            <a:r>
              <a:rPr sz="2400" spc="-60" dirty="0"/>
              <a:t> </a:t>
            </a:r>
            <a:r>
              <a:rPr sz="2400" dirty="0"/>
              <a:t>lancement,</a:t>
            </a:r>
            <a:r>
              <a:rPr sz="2400" spc="-65" dirty="0"/>
              <a:t> </a:t>
            </a:r>
            <a:r>
              <a:rPr sz="2400" dirty="0"/>
              <a:t>arrêt,</a:t>
            </a:r>
            <a:r>
              <a:rPr sz="2400" spc="-65" dirty="0"/>
              <a:t> </a:t>
            </a:r>
            <a:r>
              <a:rPr sz="2400" spc="-10" dirty="0"/>
              <a:t>débogage…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522" y="2174912"/>
            <a:ext cx="8497508" cy="38662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1923" y="2558817"/>
            <a:ext cx="2218241" cy="21194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7071" y="1655191"/>
            <a:ext cx="25368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Mise</a:t>
            </a:r>
            <a:r>
              <a:rPr sz="2800" b="1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en</a:t>
            </a:r>
            <a:r>
              <a:rPr sz="2800" b="1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pratique Docker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103" y="-4764"/>
            <a:ext cx="3519170" cy="7566025"/>
            <a:chOff x="-6103" y="-4764"/>
            <a:chExt cx="3519170" cy="7566025"/>
          </a:xfrm>
        </p:grpSpPr>
        <p:sp>
          <p:nvSpPr>
            <p:cNvPr id="3" name="object 3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391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3509391" y="7556500"/>
                  </a:lnTo>
                  <a:lnTo>
                    <a:pt x="350939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7556500"/>
                  </a:moveTo>
                  <a:lnTo>
                    <a:pt x="3509391" y="7556500"/>
                  </a:lnTo>
                  <a:lnTo>
                    <a:pt x="3509391" y="0"/>
                  </a:lnTo>
                  <a:lnTo>
                    <a:pt x="0" y="0"/>
                  </a:lnTo>
                  <a:lnTo>
                    <a:pt x="0" y="7556500"/>
                  </a:lnTo>
                  <a:close/>
                </a:path>
              </a:pathLst>
            </a:custGeom>
            <a:ln w="9525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461" y="0"/>
                  </a:moveTo>
                  <a:lnTo>
                    <a:pt x="0" y="0"/>
                  </a:lnTo>
                  <a:lnTo>
                    <a:pt x="3509461" y="7556498"/>
                  </a:lnTo>
                  <a:lnTo>
                    <a:pt x="350946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0"/>
                  </a:moveTo>
                  <a:lnTo>
                    <a:pt x="3509461" y="0"/>
                  </a:lnTo>
                  <a:lnTo>
                    <a:pt x="3509461" y="7556498"/>
                  </a:lnTo>
                </a:path>
                <a:path w="350964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8292" y="771721"/>
            <a:ext cx="2195195" cy="2797175"/>
          </a:xfrm>
          <a:prstGeom prst="rect">
            <a:avLst/>
          </a:prstGeom>
        </p:spPr>
        <p:txBody>
          <a:bodyPr vert="horz" wrap="square" lIns="0" tIns="33210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2615"/>
              </a:spcBef>
              <a:tabLst>
                <a:tab pos="708660" algn="l"/>
                <a:tab pos="1187450" algn="l"/>
              </a:tabLst>
            </a:pPr>
            <a:r>
              <a:rPr sz="36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5400" b="1" spc="-75" baseline="1543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5400" b="1" baseline="1543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6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3360"/>
              </a:lnSpc>
              <a:spcBef>
                <a:spcPts val="1955"/>
              </a:spcBef>
              <a:tabLst>
                <a:tab pos="1733550" algn="l"/>
                <a:tab pos="2042795" algn="l"/>
              </a:tabLst>
            </a:pP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8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00" b="1" spc="-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800" b="1" spc="-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00" b="1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2800">
              <a:latin typeface="Calibri"/>
              <a:cs typeface="Calibri"/>
            </a:endParaRPr>
          </a:p>
          <a:p>
            <a:pPr marL="181610">
              <a:lnSpc>
                <a:spcPts val="2400"/>
              </a:lnSpc>
            </a:pPr>
            <a:r>
              <a:rPr sz="2000" b="1" spc="185" dirty="0">
                <a:solidFill>
                  <a:srgbClr val="FFFFFF"/>
                </a:solidFill>
                <a:latin typeface="Calibri"/>
                <a:cs typeface="Calibri"/>
              </a:rPr>
              <a:t>Automatisation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105" dirty="0">
                <a:solidFill>
                  <a:srgbClr val="FFFFFF"/>
                </a:solidFill>
                <a:latin typeface="Calibri"/>
                <a:cs typeface="Calibri"/>
              </a:rPr>
              <a:t>du</a:t>
            </a:r>
            <a:r>
              <a:rPr sz="2000" b="1" spc="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185" dirty="0">
                <a:solidFill>
                  <a:srgbClr val="FFFFFF"/>
                </a:solidFill>
                <a:latin typeface="Calibri"/>
                <a:cs typeface="Calibri"/>
              </a:rPr>
              <a:t>provisioning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11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000" b="1" spc="180" dirty="0">
                <a:solidFill>
                  <a:srgbClr val="FFFFFF"/>
                </a:solidFill>
                <a:latin typeface="Calibri"/>
                <a:cs typeface="Calibri"/>
              </a:rPr>
              <a:t>environnements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24020" y="2443353"/>
            <a:ext cx="275780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80" dirty="0">
                <a:solidFill>
                  <a:srgbClr val="164052"/>
                </a:solidFill>
                <a:latin typeface="Calibri"/>
                <a:cs typeface="Calibri"/>
              </a:rPr>
              <a:t>TP:</a:t>
            </a:r>
            <a:r>
              <a:rPr sz="2500" b="1" spc="2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500" b="1" spc="2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500" b="1" spc="2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70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Docker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74631" y="2603182"/>
            <a:ext cx="462915" cy="462915"/>
            <a:chOff x="3274631" y="2603182"/>
            <a:chExt cx="462915" cy="462915"/>
          </a:xfrm>
        </p:grpSpPr>
        <p:sp>
          <p:nvSpPr>
            <p:cNvPr id="10" name="object 10"/>
            <p:cNvSpPr/>
            <p:nvPr/>
          </p:nvSpPr>
          <p:spPr>
            <a:xfrm>
              <a:off x="3288919" y="2617470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842"/>
                  </a:lnTo>
                  <a:lnTo>
                    <a:pt x="121665" y="22098"/>
                  </a:lnTo>
                  <a:lnTo>
                    <a:pt x="81279" y="47751"/>
                  </a:lnTo>
                  <a:lnTo>
                    <a:pt x="47751" y="81407"/>
                  </a:lnTo>
                  <a:lnTo>
                    <a:pt x="22097" y="121666"/>
                  </a:lnTo>
                  <a:lnTo>
                    <a:pt x="5714" y="167386"/>
                  </a:lnTo>
                  <a:lnTo>
                    <a:pt x="0" y="217170"/>
                  </a:lnTo>
                  <a:lnTo>
                    <a:pt x="5714" y="266826"/>
                  </a:lnTo>
                  <a:lnTo>
                    <a:pt x="22097" y="312547"/>
                  </a:lnTo>
                  <a:lnTo>
                    <a:pt x="47751" y="352933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498"/>
                  </a:lnTo>
                  <a:lnTo>
                    <a:pt x="217042" y="434213"/>
                  </a:lnTo>
                  <a:lnTo>
                    <a:pt x="266826" y="428498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933"/>
                  </a:lnTo>
                  <a:lnTo>
                    <a:pt x="412114" y="312547"/>
                  </a:lnTo>
                  <a:lnTo>
                    <a:pt x="428370" y="266826"/>
                  </a:lnTo>
                  <a:lnTo>
                    <a:pt x="434213" y="217170"/>
                  </a:lnTo>
                  <a:lnTo>
                    <a:pt x="429894" y="174625"/>
                  </a:lnTo>
                  <a:lnTo>
                    <a:pt x="417575" y="133985"/>
                  </a:lnTo>
                  <a:lnTo>
                    <a:pt x="397636" y="96647"/>
                  </a:lnTo>
                  <a:lnTo>
                    <a:pt x="370585" y="63626"/>
                  </a:lnTo>
                  <a:lnTo>
                    <a:pt x="337565" y="36575"/>
                  </a:lnTo>
                  <a:lnTo>
                    <a:pt x="300100" y="16510"/>
                  </a:lnTo>
                  <a:lnTo>
                    <a:pt x="259587" y="4318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88919" y="2617470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170"/>
                  </a:moveTo>
                  <a:lnTo>
                    <a:pt x="5714" y="167386"/>
                  </a:lnTo>
                  <a:lnTo>
                    <a:pt x="22097" y="121666"/>
                  </a:lnTo>
                  <a:lnTo>
                    <a:pt x="47751" y="81407"/>
                  </a:lnTo>
                  <a:lnTo>
                    <a:pt x="81279" y="47751"/>
                  </a:lnTo>
                  <a:lnTo>
                    <a:pt x="121665" y="22098"/>
                  </a:lnTo>
                  <a:lnTo>
                    <a:pt x="167258" y="5842"/>
                  </a:lnTo>
                  <a:lnTo>
                    <a:pt x="217042" y="0"/>
                  </a:lnTo>
                  <a:lnTo>
                    <a:pt x="259587" y="4318"/>
                  </a:lnTo>
                  <a:lnTo>
                    <a:pt x="300100" y="16510"/>
                  </a:lnTo>
                  <a:lnTo>
                    <a:pt x="337565" y="36575"/>
                  </a:lnTo>
                  <a:lnTo>
                    <a:pt x="370585" y="63626"/>
                  </a:lnTo>
                  <a:lnTo>
                    <a:pt x="397636" y="96647"/>
                  </a:lnTo>
                  <a:lnTo>
                    <a:pt x="417575" y="133985"/>
                  </a:lnTo>
                  <a:lnTo>
                    <a:pt x="429894" y="174625"/>
                  </a:lnTo>
                  <a:lnTo>
                    <a:pt x="434213" y="217170"/>
                  </a:lnTo>
                  <a:lnTo>
                    <a:pt x="428370" y="266826"/>
                  </a:lnTo>
                  <a:lnTo>
                    <a:pt x="412114" y="312547"/>
                  </a:lnTo>
                  <a:lnTo>
                    <a:pt x="386460" y="352933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498"/>
                  </a:lnTo>
                  <a:lnTo>
                    <a:pt x="217042" y="434213"/>
                  </a:lnTo>
                  <a:lnTo>
                    <a:pt x="167258" y="428498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933"/>
                  </a:lnTo>
                  <a:lnTo>
                    <a:pt x="22097" y="312547"/>
                  </a:lnTo>
                  <a:lnTo>
                    <a:pt x="5714" y="266826"/>
                  </a:lnTo>
                  <a:lnTo>
                    <a:pt x="0" y="217170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23030" y="2647569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74631" y="4197667"/>
            <a:ext cx="462915" cy="462915"/>
            <a:chOff x="3274631" y="4197667"/>
            <a:chExt cx="462915" cy="462915"/>
          </a:xfrm>
        </p:grpSpPr>
        <p:sp>
          <p:nvSpPr>
            <p:cNvPr id="14" name="object 14"/>
            <p:cNvSpPr/>
            <p:nvPr/>
          </p:nvSpPr>
          <p:spPr>
            <a:xfrm>
              <a:off x="3288919" y="421195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2098"/>
                  </a:lnTo>
                  <a:lnTo>
                    <a:pt x="81279" y="47751"/>
                  </a:lnTo>
                  <a:lnTo>
                    <a:pt x="47751" y="81279"/>
                  </a:lnTo>
                  <a:lnTo>
                    <a:pt x="22097" y="121666"/>
                  </a:lnTo>
                  <a:lnTo>
                    <a:pt x="5714" y="167386"/>
                  </a:lnTo>
                  <a:lnTo>
                    <a:pt x="0" y="217043"/>
                  </a:lnTo>
                  <a:lnTo>
                    <a:pt x="5714" y="266826"/>
                  </a:lnTo>
                  <a:lnTo>
                    <a:pt x="22097" y="312547"/>
                  </a:lnTo>
                  <a:lnTo>
                    <a:pt x="47751" y="352806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370"/>
                  </a:lnTo>
                  <a:lnTo>
                    <a:pt x="217042" y="434213"/>
                  </a:lnTo>
                  <a:lnTo>
                    <a:pt x="266826" y="428370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806"/>
                  </a:lnTo>
                  <a:lnTo>
                    <a:pt x="412114" y="312547"/>
                  </a:lnTo>
                  <a:lnTo>
                    <a:pt x="428370" y="266826"/>
                  </a:lnTo>
                  <a:lnTo>
                    <a:pt x="434213" y="217043"/>
                  </a:lnTo>
                  <a:lnTo>
                    <a:pt x="429894" y="174498"/>
                  </a:lnTo>
                  <a:lnTo>
                    <a:pt x="417575" y="133985"/>
                  </a:lnTo>
                  <a:lnTo>
                    <a:pt x="397636" y="96647"/>
                  </a:lnTo>
                  <a:lnTo>
                    <a:pt x="370585" y="63626"/>
                  </a:lnTo>
                  <a:lnTo>
                    <a:pt x="337565" y="36449"/>
                  </a:lnTo>
                  <a:lnTo>
                    <a:pt x="300100" y="16510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8919" y="421195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3"/>
                  </a:moveTo>
                  <a:lnTo>
                    <a:pt x="5714" y="167386"/>
                  </a:lnTo>
                  <a:lnTo>
                    <a:pt x="22097" y="121666"/>
                  </a:lnTo>
                  <a:lnTo>
                    <a:pt x="47751" y="81279"/>
                  </a:lnTo>
                  <a:lnTo>
                    <a:pt x="81279" y="47751"/>
                  </a:lnTo>
                  <a:lnTo>
                    <a:pt x="121665" y="22098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10"/>
                  </a:lnTo>
                  <a:lnTo>
                    <a:pt x="337565" y="36449"/>
                  </a:lnTo>
                  <a:lnTo>
                    <a:pt x="370585" y="63626"/>
                  </a:lnTo>
                  <a:lnTo>
                    <a:pt x="397636" y="96647"/>
                  </a:lnTo>
                  <a:lnTo>
                    <a:pt x="417575" y="133985"/>
                  </a:lnTo>
                  <a:lnTo>
                    <a:pt x="429894" y="174498"/>
                  </a:lnTo>
                  <a:lnTo>
                    <a:pt x="434213" y="217043"/>
                  </a:lnTo>
                  <a:lnTo>
                    <a:pt x="428370" y="266826"/>
                  </a:lnTo>
                  <a:lnTo>
                    <a:pt x="412114" y="312547"/>
                  </a:lnTo>
                  <a:lnTo>
                    <a:pt x="386460" y="352806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370"/>
                  </a:lnTo>
                  <a:lnTo>
                    <a:pt x="217042" y="434213"/>
                  </a:lnTo>
                  <a:lnTo>
                    <a:pt x="167258" y="428370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806"/>
                  </a:lnTo>
                  <a:lnTo>
                    <a:pt x="22097" y="312547"/>
                  </a:lnTo>
                  <a:lnTo>
                    <a:pt x="5714" y="266826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23030" y="4242003"/>
            <a:ext cx="15176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26814" y="876681"/>
            <a:ext cx="473138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Définir</a:t>
            </a:r>
            <a:r>
              <a:rPr sz="2500" b="1" spc="2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un</a:t>
            </a:r>
            <a:r>
              <a:rPr sz="2500" b="1" spc="2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processus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commun</a:t>
            </a:r>
            <a:r>
              <a:rPr sz="2500" b="1" spc="2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25" dirty="0">
                <a:solidFill>
                  <a:srgbClr val="164052"/>
                </a:solidFill>
                <a:latin typeface="Calibri"/>
                <a:cs typeface="Calibri"/>
              </a:rPr>
              <a:t>et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répétable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26814" y="4196334"/>
            <a:ext cx="3688079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125" dirty="0">
                <a:solidFill>
                  <a:srgbClr val="164052"/>
                </a:solidFill>
                <a:latin typeface="Calibri"/>
                <a:cs typeface="Calibri"/>
              </a:rPr>
              <a:t>TP:</a:t>
            </a:r>
            <a:r>
              <a:rPr sz="25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3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5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5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45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500" b="1" spc="41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14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500" b="1" spc="155" dirty="0">
                <a:solidFill>
                  <a:srgbClr val="164052"/>
                </a:solidFill>
                <a:latin typeface="Calibri"/>
                <a:cs typeface="Calibri"/>
              </a:rPr>
              <a:t>Ansible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90126" y="881952"/>
            <a:ext cx="462915" cy="462915"/>
            <a:chOff x="3290126" y="881952"/>
            <a:chExt cx="462915" cy="462915"/>
          </a:xfrm>
        </p:grpSpPr>
        <p:sp>
          <p:nvSpPr>
            <p:cNvPr id="20" name="object 20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170" y="0"/>
                  </a:moveTo>
                  <a:lnTo>
                    <a:pt x="167386" y="5842"/>
                  </a:lnTo>
                  <a:lnTo>
                    <a:pt x="121665" y="22098"/>
                  </a:lnTo>
                  <a:lnTo>
                    <a:pt x="81407" y="47751"/>
                  </a:lnTo>
                  <a:lnTo>
                    <a:pt x="47751" y="81406"/>
                  </a:lnTo>
                  <a:lnTo>
                    <a:pt x="22098" y="121666"/>
                  </a:lnTo>
                  <a:lnTo>
                    <a:pt x="5841" y="167386"/>
                  </a:lnTo>
                  <a:lnTo>
                    <a:pt x="0" y="217169"/>
                  </a:lnTo>
                  <a:lnTo>
                    <a:pt x="5841" y="266826"/>
                  </a:lnTo>
                  <a:lnTo>
                    <a:pt x="22098" y="312547"/>
                  </a:lnTo>
                  <a:lnTo>
                    <a:pt x="47751" y="352932"/>
                  </a:lnTo>
                  <a:lnTo>
                    <a:pt x="81407" y="386461"/>
                  </a:lnTo>
                  <a:lnTo>
                    <a:pt x="121665" y="412114"/>
                  </a:lnTo>
                  <a:lnTo>
                    <a:pt x="167386" y="428498"/>
                  </a:lnTo>
                  <a:lnTo>
                    <a:pt x="217170" y="434213"/>
                  </a:lnTo>
                  <a:lnTo>
                    <a:pt x="266953" y="428498"/>
                  </a:lnTo>
                  <a:lnTo>
                    <a:pt x="312547" y="412114"/>
                  </a:lnTo>
                  <a:lnTo>
                    <a:pt x="352933" y="386461"/>
                  </a:lnTo>
                  <a:lnTo>
                    <a:pt x="386461" y="352932"/>
                  </a:lnTo>
                  <a:lnTo>
                    <a:pt x="412114" y="312547"/>
                  </a:lnTo>
                  <a:lnTo>
                    <a:pt x="428498" y="266826"/>
                  </a:lnTo>
                  <a:lnTo>
                    <a:pt x="434213" y="217169"/>
                  </a:lnTo>
                  <a:lnTo>
                    <a:pt x="430022" y="174625"/>
                  </a:lnTo>
                  <a:lnTo>
                    <a:pt x="417702" y="133984"/>
                  </a:lnTo>
                  <a:lnTo>
                    <a:pt x="397763" y="96647"/>
                  </a:lnTo>
                  <a:lnTo>
                    <a:pt x="370586" y="63626"/>
                  </a:lnTo>
                  <a:lnTo>
                    <a:pt x="337565" y="36575"/>
                  </a:lnTo>
                  <a:lnTo>
                    <a:pt x="300227" y="16509"/>
                  </a:lnTo>
                  <a:lnTo>
                    <a:pt x="259714" y="4318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69"/>
                  </a:moveTo>
                  <a:lnTo>
                    <a:pt x="5841" y="167386"/>
                  </a:lnTo>
                  <a:lnTo>
                    <a:pt x="22098" y="121666"/>
                  </a:lnTo>
                  <a:lnTo>
                    <a:pt x="47751" y="81406"/>
                  </a:lnTo>
                  <a:lnTo>
                    <a:pt x="81407" y="47751"/>
                  </a:lnTo>
                  <a:lnTo>
                    <a:pt x="121665" y="22098"/>
                  </a:lnTo>
                  <a:lnTo>
                    <a:pt x="167386" y="5842"/>
                  </a:lnTo>
                  <a:lnTo>
                    <a:pt x="217170" y="0"/>
                  </a:lnTo>
                  <a:lnTo>
                    <a:pt x="259714" y="4318"/>
                  </a:lnTo>
                  <a:lnTo>
                    <a:pt x="300227" y="16509"/>
                  </a:lnTo>
                  <a:lnTo>
                    <a:pt x="337565" y="36575"/>
                  </a:lnTo>
                  <a:lnTo>
                    <a:pt x="370586" y="63626"/>
                  </a:lnTo>
                  <a:lnTo>
                    <a:pt x="397763" y="96647"/>
                  </a:lnTo>
                  <a:lnTo>
                    <a:pt x="417702" y="133984"/>
                  </a:lnTo>
                  <a:lnTo>
                    <a:pt x="430022" y="174625"/>
                  </a:lnTo>
                  <a:lnTo>
                    <a:pt x="434213" y="217169"/>
                  </a:lnTo>
                  <a:lnTo>
                    <a:pt x="428498" y="266826"/>
                  </a:lnTo>
                  <a:lnTo>
                    <a:pt x="412114" y="312547"/>
                  </a:lnTo>
                  <a:lnTo>
                    <a:pt x="386461" y="352932"/>
                  </a:lnTo>
                  <a:lnTo>
                    <a:pt x="352933" y="386461"/>
                  </a:lnTo>
                  <a:lnTo>
                    <a:pt x="312547" y="412114"/>
                  </a:lnTo>
                  <a:lnTo>
                    <a:pt x="266953" y="428498"/>
                  </a:lnTo>
                  <a:lnTo>
                    <a:pt x="217170" y="434213"/>
                  </a:lnTo>
                  <a:lnTo>
                    <a:pt x="167386" y="428498"/>
                  </a:lnTo>
                  <a:lnTo>
                    <a:pt x="121665" y="412114"/>
                  </a:lnTo>
                  <a:lnTo>
                    <a:pt x="81407" y="386461"/>
                  </a:lnTo>
                  <a:lnTo>
                    <a:pt x="47751" y="352932"/>
                  </a:lnTo>
                  <a:lnTo>
                    <a:pt x="22098" y="312547"/>
                  </a:lnTo>
                  <a:lnTo>
                    <a:pt x="5841" y="266826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38525" y="926084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Définir</a:t>
            </a:r>
            <a:r>
              <a:rPr spc="-45" dirty="0"/>
              <a:t> </a:t>
            </a:r>
            <a:r>
              <a:rPr dirty="0"/>
              <a:t>un</a:t>
            </a:r>
            <a:r>
              <a:rPr spc="-35" dirty="0"/>
              <a:t> </a:t>
            </a:r>
            <a:r>
              <a:rPr dirty="0"/>
              <a:t>processus</a:t>
            </a:r>
            <a:r>
              <a:rPr spc="-25" dirty="0"/>
              <a:t> </a:t>
            </a:r>
            <a:r>
              <a:rPr dirty="0"/>
              <a:t>commun</a:t>
            </a:r>
            <a:r>
              <a:rPr spc="-35" dirty="0"/>
              <a:t> </a:t>
            </a:r>
            <a:r>
              <a:rPr dirty="0"/>
              <a:t>et</a:t>
            </a:r>
            <a:r>
              <a:rPr spc="-35" dirty="0"/>
              <a:t> </a:t>
            </a:r>
            <a:r>
              <a:rPr spc="-10" dirty="0"/>
              <a:t>répétable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1350" y="1797050"/>
            <a:ext cx="6051111" cy="3886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68559" y="7171817"/>
            <a:ext cx="2235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87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6311265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Calibri"/>
                <a:cs typeface="Calibri"/>
              </a:rPr>
              <a:t>livraison</a:t>
            </a:r>
            <a:r>
              <a:rPr b="1" spc="300" dirty="0">
                <a:latin typeface="Calibri"/>
                <a:cs typeface="Calibri"/>
              </a:rPr>
              <a:t> </a:t>
            </a:r>
            <a:r>
              <a:rPr b="1" spc="90" dirty="0">
                <a:latin typeface="Calibri"/>
                <a:cs typeface="Calibri"/>
              </a:rPr>
              <a:t>continue</a:t>
            </a:r>
            <a:r>
              <a:rPr b="1" spc="335" dirty="0">
                <a:latin typeface="Calibri"/>
                <a:cs typeface="Calibri"/>
              </a:rPr>
              <a:t> </a:t>
            </a:r>
            <a:r>
              <a:rPr b="1" spc="85" dirty="0">
                <a:latin typeface="Calibri"/>
                <a:cs typeface="Calibri"/>
              </a:rPr>
              <a:t>avec</a:t>
            </a:r>
            <a:r>
              <a:rPr b="1" spc="280" dirty="0">
                <a:latin typeface="Calibri"/>
                <a:cs typeface="Calibri"/>
              </a:rPr>
              <a:t> </a:t>
            </a:r>
            <a:r>
              <a:rPr b="1" spc="80" dirty="0">
                <a:latin typeface="Calibri"/>
                <a:cs typeface="Calibri"/>
              </a:rPr>
              <a:t>Docker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800" spc="95" dirty="0"/>
              <a:t>Dockerfile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394" y="1465555"/>
            <a:ext cx="9813839" cy="47097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6497955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Calibri"/>
                <a:cs typeface="Calibri"/>
              </a:rPr>
              <a:t>Automatisation</a:t>
            </a:r>
            <a:r>
              <a:rPr b="1" spc="39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</a:t>
            </a:r>
            <a:r>
              <a:rPr b="1" spc="340" dirty="0">
                <a:latin typeface="Calibri"/>
                <a:cs typeface="Calibri"/>
              </a:rPr>
              <a:t> </a:t>
            </a:r>
            <a:r>
              <a:rPr b="1" spc="90" dirty="0">
                <a:latin typeface="Calibri"/>
                <a:cs typeface="Calibri"/>
              </a:rPr>
              <a:t>provisioning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800" spc="75" dirty="0"/>
              <a:t>Puppet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813" y="1708531"/>
            <a:ext cx="8844280" cy="405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72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Puppet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outil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d'automatisation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d'infrastructure </a:t>
            </a:r>
            <a:r>
              <a:rPr sz="1800" dirty="0">
                <a:latin typeface="Calibri"/>
                <a:cs typeface="Calibri"/>
              </a:rPr>
              <a:t>basé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concept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d'</a:t>
            </a:r>
            <a:r>
              <a:rPr sz="1800" b="1" spc="-10" dirty="0">
                <a:latin typeface="Calibri"/>
                <a:cs typeface="Calibri"/>
              </a:rPr>
              <a:t>Infrastructure </a:t>
            </a:r>
            <a:r>
              <a:rPr sz="1800" b="1" dirty="0">
                <a:latin typeface="Calibri"/>
                <a:cs typeface="Calibri"/>
              </a:rPr>
              <a:t>as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Code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(IaC)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permet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gérer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maintenir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configuration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systèmes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grande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échelle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manière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automatisée.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Caractéristiques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principales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Puppet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354965" indent="-342265" algn="just">
              <a:lnSpc>
                <a:spcPct val="100000"/>
              </a:lnSpc>
              <a:spcBef>
                <a:spcPts val="950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b="1" spc="-10" dirty="0">
                <a:latin typeface="Calibri"/>
                <a:cs typeface="Calibri"/>
              </a:rPr>
              <a:t>Déclaratif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utilisateurs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décrivent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ce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qu'ils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veulent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système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fasse,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non</a:t>
            </a:r>
            <a:endParaRPr sz="180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  <a:spcBef>
                <a:spcPts val="155"/>
              </a:spcBef>
            </a:pPr>
            <a:r>
              <a:rPr sz="1800" i="1" dirty="0">
                <a:latin typeface="Calibri"/>
                <a:cs typeface="Calibri"/>
              </a:rPr>
              <a:t>comment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faire.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Puppet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charge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œuvre.</a:t>
            </a:r>
            <a:endParaRPr sz="1800">
              <a:latin typeface="Calibri"/>
              <a:cs typeface="Calibri"/>
            </a:endParaRPr>
          </a:p>
          <a:p>
            <a:pPr marL="354965" indent="-342265" algn="just">
              <a:lnSpc>
                <a:spcPct val="100000"/>
              </a:lnSpc>
              <a:spcBef>
                <a:spcPts val="944"/>
              </a:spcBef>
              <a:buSzPct val="55555"/>
              <a:buFont typeface="Symbol"/>
              <a:buChar char=""/>
              <a:tabLst>
                <a:tab pos="354965" algn="l"/>
              </a:tabLst>
            </a:pPr>
            <a:r>
              <a:rPr sz="1800" b="1" spc="-10" dirty="0">
                <a:latin typeface="Calibri"/>
                <a:cs typeface="Calibri"/>
              </a:rPr>
              <a:t>Architecture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client-</a:t>
            </a:r>
            <a:r>
              <a:rPr sz="1800" b="1" dirty="0">
                <a:latin typeface="Calibri"/>
                <a:cs typeface="Calibri"/>
              </a:rPr>
              <a:t>serveur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serveur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maître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Puppet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distribue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configurations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aux</a:t>
            </a:r>
            <a:endParaRPr sz="180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  <a:spcBef>
                <a:spcPts val="160"/>
              </a:spcBef>
            </a:pPr>
            <a:r>
              <a:rPr sz="1800" dirty="0">
                <a:latin typeface="Calibri"/>
                <a:cs typeface="Calibri"/>
              </a:rPr>
              <a:t>agents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Puppet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installés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chaque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gérer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(nœuds).</a:t>
            </a:r>
            <a:endParaRPr sz="1800">
              <a:latin typeface="Calibri"/>
              <a:cs typeface="Calibri"/>
            </a:endParaRPr>
          </a:p>
          <a:p>
            <a:pPr marL="355600" marR="297815" indent="-342900" algn="just">
              <a:lnSpc>
                <a:spcPct val="106900"/>
              </a:lnSpc>
              <a:spcBef>
                <a:spcPts val="800"/>
              </a:spcBef>
              <a:buSzPct val="55555"/>
              <a:buFont typeface="Symbol"/>
              <a:buChar char=""/>
              <a:tabLst>
                <a:tab pos="355600" algn="l"/>
              </a:tabLst>
            </a:pPr>
            <a:r>
              <a:rPr sz="1800" b="1" spc="-10" dirty="0">
                <a:latin typeface="Calibri"/>
                <a:cs typeface="Calibri"/>
              </a:rPr>
              <a:t>Langage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DSL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Puppet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utilise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langage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spécifique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(DSL)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définir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configurations, </a:t>
            </a:r>
            <a:r>
              <a:rPr sz="1800" dirty="0">
                <a:latin typeface="Calibri"/>
                <a:cs typeface="Calibri"/>
              </a:rPr>
              <a:t>basé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Ruby,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permettant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gérer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fichiers,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packages,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services,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utilisateurs,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autres ressources.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1603" y="56769"/>
            <a:ext cx="6497955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00" dirty="0">
                <a:solidFill>
                  <a:srgbClr val="164052"/>
                </a:solidFill>
                <a:latin typeface="Calibri"/>
                <a:cs typeface="Calibri"/>
              </a:rPr>
              <a:t>Automatisation</a:t>
            </a:r>
            <a:r>
              <a:rPr sz="36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3600" b="1" spc="34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600" b="1" spc="90" dirty="0">
                <a:solidFill>
                  <a:srgbClr val="164052"/>
                </a:solidFill>
                <a:latin typeface="Calibri"/>
                <a:cs typeface="Calibri"/>
              </a:rPr>
              <a:t>provisioning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800" spc="75" dirty="0">
                <a:solidFill>
                  <a:srgbClr val="164052"/>
                </a:solidFill>
                <a:latin typeface="Calibri"/>
                <a:cs typeface="Calibri"/>
              </a:rPr>
              <a:t>Puppet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813" y="1708531"/>
            <a:ext cx="8803640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fichier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configuration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Puppet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appelé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manifest</a:t>
            </a:r>
            <a:r>
              <a:rPr sz="1800" spc="-10" dirty="0">
                <a:latin typeface="Calibri"/>
                <a:cs typeface="Calibri"/>
              </a:rPr>
              <a:t>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Voici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exemple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installe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configure </a:t>
            </a:r>
            <a:r>
              <a:rPr sz="1800" dirty="0">
                <a:latin typeface="Calibri"/>
                <a:cs typeface="Calibri"/>
              </a:rPr>
              <a:t>Apache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HTTP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5150" y="2556065"/>
            <a:ext cx="6629400" cy="4572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6497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Calibri"/>
                <a:cs typeface="Calibri"/>
              </a:rPr>
              <a:t>Automatisation</a:t>
            </a:r>
            <a:r>
              <a:rPr b="1" spc="39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</a:t>
            </a:r>
            <a:r>
              <a:rPr b="1" spc="340" dirty="0">
                <a:latin typeface="Calibri"/>
                <a:cs typeface="Calibri"/>
              </a:rPr>
              <a:t> </a:t>
            </a:r>
            <a:r>
              <a:rPr b="1" spc="90" dirty="0">
                <a:latin typeface="Calibri"/>
                <a:cs typeface="Calibri"/>
              </a:rPr>
              <a:t>provisioning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957" y="611505"/>
            <a:ext cx="8355330" cy="155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0990">
              <a:lnSpc>
                <a:spcPct val="100000"/>
              </a:lnSpc>
              <a:spcBef>
                <a:spcPts val="95"/>
              </a:spcBef>
            </a:pPr>
            <a:r>
              <a:rPr sz="2800" spc="65" dirty="0">
                <a:solidFill>
                  <a:srgbClr val="164052"/>
                </a:solidFill>
                <a:latin typeface="Calibri"/>
                <a:cs typeface="Calibri"/>
              </a:rPr>
              <a:t>Chef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7200"/>
              </a:lnSpc>
              <a:spcBef>
                <a:spcPts val="1720"/>
              </a:spcBef>
            </a:pPr>
            <a:r>
              <a:rPr sz="1800" dirty="0">
                <a:latin typeface="Calibri"/>
                <a:cs typeface="Calibri"/>
              </a:rPr>
              <a:t>Chef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d'automatisation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d'infrastructure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utilisé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pour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gérer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configuration,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le </a:t>
            </a:r>
            <a:r>
              <a:rPr sz="1800" dirty="0">
                <a:latin typeface="Calibri"/>
                <a:cs typeface="Calibri"/>
              </a:rPr>
              <a:t>déploiement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l'administration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serveurs.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modèle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infrastructure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as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code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(IaC), permettant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définir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l'état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souhaité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systèmes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écrit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Ruby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9950" y="2384361"/>
            <a:ext cx="5860923" cy="474370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6497955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00" dirty="0">
                <a:latin typeface="Calibri"/>
                <a:cs typeface="Calibri"/>
              </a:rPr>
              <a:t>Automatisation</a:t>
            </a:r>
            <a:r>
              <a:rPr b="1" spc="39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</a:t>
            </a:r>
            <a:r>
              <a:rPr b="1" spc="340" dirty="0">
                <a:latin typeface="Calibri"/>
                <a:cs typeface="Calibri"/>
              </a:rPr>
              <a:t> </a:t>
            </a:r>
            <a:r>
              <a:rPr b="1" spc="90" dirty="0">
                <a:latin typeface="Calibri"/>
                <a:cs typeface="Calibri"/>
              </a:rPr>
              <a:t>provisioning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800" spc="65" dirty="0"/>
              <a:t>Salt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63092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005" y="1532382"/>
            <a:ext cx="3013075" cy="5310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5"/>
              </a:spcBef>
            </a:pPr>
            <a:r>
              <a:rPr sz="1800" b="1" dirty="0">
                <a:latin typeface="Calibri"/>
                <a:cs typeface="Calibri"/>
              </a:rPr>
              <a:t>SaltStack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(ou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simplement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Salt</a:t>
            </a:r>
            <a:r>
              <a:rPr sz="1800" spc="-10" dirty="0">
                <a:latin typeface="Calibri"/>
                <a:cs typeface="Calibri"/>
              </a:rPr>
              <a:t>) </a:t>
            </a:r>
            <a:r>
              <a:rPr sz="1800" dirty="0">
                <a:latin typeface="Calibri"/>
                <a:cs typeface="Calibri"/>
              </a:rPr>
              <a:t>est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outil </a:t>
            </a:r>
            <a:r>
              <a:rPr sz="1800" spc="-10" dirty="0">
                <a:latin typeface="Calibri"/>
                <a:cs typeface="Calibri"/>
              </a:rPr>
              <a:t>d'automatisation d'infrastructure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configuration.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et </a:t>
            </a:r>
            <a:r>
              <a:rPr sz="1800" dirty="0">
                <a:latin typeface="Calibri"/>
                <a:cs typeface="Calibri"/>
              </a:rPr>
              <a:t>Puppet,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gérer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des </a:t>
            </a:r>
            <a:r>
              <a:rPr sz="1800" dirty="0">
                <a:latin typeface="Calibri"/>
                <a:cs typeface="Calibri"/>
              </a:rPr>
              <a:t>serveurs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grande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échelle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en </a:t>
            </a:r>
            <a:r>
              <a:rPr sz="1800" dirty="0">
                <a:latin typeface="Calibri"/>
                <a:cs typeface="Calibri"/>
              </a:rPr>
              <a:t>définissant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configurations </a:t>
            </a:r>
            <a:r>
              <a:rPr sz="1800" dirty="0">
                <a:latin typeface="Calibri"/>
                <a:cs typeface="Calibri"/>
              </a:rPr>
              <a:t>dans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fichiers,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se </a:t>
            </a:r>
            <a:r>
              <a:rPr sz="1800" dirty="0">
                <a:latin typeface="Calibri"/>
                <a:cs typeface="Calibri"/>
              </a:rPr>
              <a:t>distingue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rapidité,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son </a:t>
            </a:r>
            <a:r>
              <a:rPr sz="1800" dirty="0">
                <a:latin typeface="Calibri"/>
                <a:cs typeface="Calibri"/>
              </a:rPr>
              <a:t>modèle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en </a:t>
            </a:r>
            <a:r>
              <a:rPr sz="1800" dirty="0">
                <a:latin typeface="Calibri"/>
                <a:cs typeface="Calibri"/>
              </a:rPr>
              <a:t>temps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réel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flexibilité.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Salt </a:t>
            </a:r>
            <a:r>
              <a:rPr sz="1800" dirty="0">
                <a:latin typeface="Calibri"/>
                <a:cs typeface="Calibri"/>
              </a:rPr>
              <a:t>est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souvent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utilisé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pour</a:t>
            </a:r>
            <a:r>
              <a:rPr sz="1800" spc="-25" dirty="0">
                <a:latin typeface="Calibri"/>
                <a:cs typeface="Calibri"/>
              </a:rPr>
              <a:t> la </a:t>
            </a:r>
            <a:r>
              <a:rPr sz="1800" dirty="0">
                <a:latin typeface="Calibri"/>
                <a:cs typeface="Calibri"/>
              </a:rPr>
              <a:t>gestion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d'infrastructures </a:t>
            </a:r>
            <a:r>
              <a:rPr sz="1800" dirty="0">
                <a:latin typeface="Calibri"/>
                <a:cs typeface="Calibri"/>
              </a:rPr>
              <a:t>distribuées,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particulier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dans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environnements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nécessitant </a:t>
            </a:r>
            <a:r>
              <a:rPr sz="1800" dirty="0">
                <a:latin typeface="Calibri"/>
                <a:cs typeface="Calibri"/>
              </a:rPr>
              <a:t>une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orchestration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complexe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et </a:t>
            </a:r>
            <a:r>
              <a:rPr sz="1800" dirty="0">
                <a:latin typeface="Calibri"/>
                <a:cs typeface="Calibri"/>
              </a:rPr>
              <a:t>des </a:t>
            </a:r>
            <a:r>
              <a:rPr sz="1800" spc="-10" dirty="0">
                <a:latin typeface="Calibri"/>
                <a:cs typeface="Calibri"/>
              </a:rPr>
              <a:t>déploiements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rapides.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8925" y="1529588"/>
            <a:ext cx="6085713" cy="529666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1923" y="2558817"/>
            <a:ext cx="2218241" cy="21194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7071" y="1655191"/>
            <a:ext cx="2636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Mise</a:t>
            </a:r>
            <a:r>
              <a:rPr sz="2800" b="1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en</a:t>
            </a:r>
            <a:r>
              <a:rPr sz="2800" b="1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pratique: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457071" y="2084654"/>
            <a:ext cx="27774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60" dirty="0">
                <a:solidFill>
                  <a:srgbClr val="164052"/>
                </a:solidFill>
                <a:latin typeface="Calibri"/>
                <a:cs typeface="Calibri"/>
              </a:rPr>
              <a:t>Docker</a:t>
            </a:r>
            <a:r>
              <a:rPr sz="2400" b="1" spc="3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400" b="1" spc="125" dirty="0">
                <a:solidFill>
                  <a:srgbClr val="164052"/>
                </a:solidFill>
                <a:latin typeface="Calibri"/>
                <a:cs typeface="Calibri"/>
              </a:rPr>
              <a:t>File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165" dirty="0">
                <a:solidFill>
                  <a:srgbClr val="164052"/>
                </a:solidFill>
                <a:latin typeface="Calibri"/>
                <a:cs typeface="Calibri"/>
              </a:rPr>
              <a:t>Docker</a:t>
            </a:r>
            <a:r>
              <a:rPr sz="2400" b="1" spc="3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400" b="1" spc="155" dirty="0">
                <a:solidFill>
                  <a:srgbClr val="164052"/>
                </a:solidFill>
                <a:latin typeface="Calibri"/>
                <a:cs typeface="Calibri"/>
              </a:rPr>
              <a:t>Compose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165" dirty="0">
                <a:solidFill>
                  <a:srgbClr val="164052"/>
                </a:solidFill>
                <a:latin typeface="Calibri"/>
                <a:cs typeface="Calibri"/>
              </a:rPr>
              <a:t>Ansible</a:t>
            </a:r>
            <a:r>
              <a:rPr sz="24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400" b="1" spc="165" dirty="0">
                <a:solidFill>
                  <a:srgbClr val="164052"/>
                </a:solidFill>
                <a:latin typeface="Calibri"/>
                <a:cs typeface="Calibri"/>
              </a:rPr>
              <a:t>install</a:t>
            </a:r>
            <a:r>
              <a:rPr sz="24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400" b="1" spc="105" dirty="0">
                <a:solidFill>
                  <a:srgbClr val="164052"/>
                </a:solidFill>
                <a:latin typeface="Calibri"/>
                <a:cs typeface="Calibri"/>
              </a:rPr>
              <a:t>pkg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3" name="object 3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103" y="-4764"/>
            <a:ext cx="3519170" cy="7566025"/>
            <a:chOff x="-6103" y="-4764"/>
            <a:chExt cx="3519170" cy="7566025"/>
          </a:xfrm>
        </p:grpSpPr>
        <p:sp>
          <p:nvSpPr>
            <p:cNvPr id="6" name="object 6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391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3509391" y="7556500"/>
                  </a:lnTo>
                  <a:lnTo>
                    <a:pt x="350939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7556500"/>
                  </a:moveTo>
                  <a:lnTo>
                    <a:pt x="3509391" y="7556500"/>
                  </a:lnTo>
                  <a:lnTo>
                    <a:pt x="3509391" y="0"/>
                  </a:lnTo>
                  <a:lnTo>
                    <a:pt x="0" y="0"/>
                  </a:lnTo>
                  <a:lnTo>
                    <a:pt x="0" y="7556500"/>
                  </a:lnTo>
                  <a:close/>
                </a:path>
              </a:pathLst>
            </a:custGeom>
            <a:ln w="9525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461" y="0"/>
                  </a:moveTo>
                  <a:lnTo>
                    <a:pt x="0" y="0"/>
                  </a:lnTo>
                  <a:lnTo>
                    <a:pt x="3509461" y="7556498"/>
                  </a:lnTo>
                  <a:lnTo>
                    <a:pt x="350946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0"/>
                  </a:moveTo>
                  <a:lnTo>
                    <a:pt x="3509461" y="0"/>
                  </a:lnTo>
                  <a:lnTo>
                    <a:pt x="3509461" y="7556498"/>
                  </a:lnTo>
                </a:path>
                <a:path w="350964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8292" y="1094054"/>
            <a:ext cx="1908810" cy="1128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5"/>
              </a:spcBef>
              <a:tabLst>
                <a:tab pos="708660" algn="l"/>
                <a:tab pos="1187450" algn="l"/>
              </a:tabLst>
            </a:pP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4800" b="1" spc="-75" baseline="1736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800" b="1" baseline="1736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  <a:tabLst>
                <a:tab pos="1532255" algn="l"/>
              </a:tabLst>
            </a:pP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b="1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b="1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6</a:t>
            </a:r>
            <a:r>
              <a:rPr sz="2400" b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292" y="2437257"/>
            <a:ext cx="28632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676910" algn="l"/>
              </a:tabLst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d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4020" y="2514346"/>
            <a:ext cx="273177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Mise</a:t>
            </a:r>
            <a:r>
              <a:rPr sz="2500" b="1" spc="2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500" b="1" spc="2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œuvre</a:t>
            </a:r>
            <a:r>
              <a:rPr sz="2500" b="1" spc="3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50" dirty="0">
                <a:solidFill>
                  <a:srgbClr val="164052"/>
                </a:solidFill>
                <a:latin typeface="Calibri"/>
                <a:cs typeface="Calibri"/>
              </a:rPr>
              <a:t>via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Ansible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74631" y="2674302"/>
            <a:ext cx="462915" cy="462915"/>
            <a:chOff x="3274631" y="2674302"/>
            <a:chExt cx="462915" cy="462915"/>
          </a:xfrm>
        </p:grpSpPr>
        <p:sp>
          <p:nvSpPr>
            <p:cNvPr id="14" name="object 14"/>
            <p:cNvSpPr/>
            <p:nvPr/>
          </p:nvSpPr>
          <p:spPr>
            <a:xfrm>
              <a:off x="3288919" y="2688590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79"/>
                  </a:lnTo>
                  <a:lnTo>
                    <a:pt x="22097" y="121538"/>
                  </a:lnTo>
                  <a:lnTo>
                    <a:pt x="5714" y="167259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7" y="312547"/>
                  </a:lnTo>
                  <a:lnTo>
                    <a:pt x="47751" y="352805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371"/>
                  </a:lnTo>
                  <a:lnTo>
                    <a:pt x="217042" y="434086"/>
                  </a:lnTo>
                  <a:lnTo>
                    <a:pt x="266826" y="428371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805"/>
                  </a:lnTo>
                  <a:lnTo>
                    <a:pt x="412114" y="312547"/>
                  </a:lnTo>
                  <a:lnTo>
                    <a:pt x="428370" y="266826"/>
                  </a:lnTo>
                  <a:lnTo>
                    <a:pt x="434213" y="217042"/>
                  </a:lnTo>
                  <a:lnTo>
                    <a:pt x="429894" y="174498"/>
                  </a:lnTo>
                  <a:lnTo>
                    <a:pt x="417575" y="133985"/>
                  </a:lnTo>
                  <a:lnTo>
                    <a:pt x="397636" y="96647"/>
                  </a:lnTo>
                  <a:lnTo>
                    <a:pt x="370585" y="63626"/>
                  </a:lnTo>
                  <a:lnTo>
                    <a:pt x="337565" y="36449"/>
                  </a:lnTo>
                  <a:lnTo>
                    <a:pt x="300100" y="16510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8919" y="2688590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9"/>
                  </a:lnTo>
                  <a:lnTo>
                    <a:pt x="22097" y="121538"/>
                  </a:lnTo>
                  <a:lnTo>
                    <a:pt x="47751" y="81279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10"/>
                  </a:lnTo>
                  <a:lnTo>
                    <a:pt x="337565" y="36449"/>
                  </a:lnTo>
                  <a:lnTo>
                    <a:pt x="370585" y="63626"/>
                  </a:lnTo>
                  <a:lnTo>
                    <a:pt x="397636" y="96647"/>
                  </a:lnTo>
                  <a:lnTo>
                    <a:pt x="417575" y="133985"/>
                  </a:lnTo>
                  <a:lnTo>
                    <a:pt x="429894" y="174498"/>
                  </a:lnTo>
                  <a:lnTo>
                    <a:pt x="434213" y="217042"/>
                  </a:lnTo>
                  <a:lnTo>
                    <a:pt x="428370" y="266826"/>
                  </a:lnTo>
                  <a:lnTo>
                    <a:pt x="412114" y="312547"/>
                  </a:lnTo>
                  <a:lnTo>
                    <a:pt x="386460" y="352805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371"/>
                  </a:lnTo>
                  <a:lnTo>
                    <a:pt x="217042" y="434086"/>
                  </a:lnTo>
                  <a:lnTo>
                    <a:pt x="167258" y="428371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805"/>
                  </a:lnTo>
                  <a:lnTo>
                    <a:pt x="22097" y="312547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23030" y="2718257"/>
            <a:ext cx="15176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74631" y="4350067"/>
            <a:ext cx="462915" cy="462915"/>
            <a:chOff x="3274631" y="4350067"/>
            <a:chExt cx="462915" cy="462915"/>
          </a:xfrm>
        </p:grpSpPr>
        <p:sp>
          <p:nvSpPr>
            <p:cNvPr id="18" name="object 18"/>
            <p:cNvSpPr/>
            <p:nvPr/>
          </p:nvSpPr>
          <p:spPr>
            <a:xfrm>
              <a:off x="3288919" y="436435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2098"/>
                  </a:lnTo>
                  <a:lnTo>
                    <a:pt x="81279" y="47751"/>
                  </a:lnTo>
                  <a:lnTo>
                    <a:pt x="47751" y="81280"/>
                  </a:lnTo>
                  <a:lnTo>
                    <a:pt x="22097" y="121666"/>
                  </a:lnTo>
                  <a:lnTo>
                    <a:pt x="5714" y="167386"/>
                  </a:lnTo>
                  <a:lnTo>
                    <a:pt x="0" y="217043"/>
                  </a:lnTo>
                  <a:lnTo>
                    <a:pt x="5714" y="266826"/>
                  </a:lnTo>
                  <a:lnTo>
                    <a:pt x="22097" y="312547"/>
                  </a:lnTo>
                  <a:lnTo>
                    <a:pt x="47751" y="352806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370"/>
                  </a:lnTo>
                  <a:lnTo>
                    <a:pt x="217042" y="434213"/>
                  </a:lnTo>
                  <a:lnTo>
                    <a:pt x="266826" y="428370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806"/>
                  </a:lnTo>
                  <a:lnTo>
                    <a:pt x="412114" y="312547"/>
                  </a:lnTo>
                  <a:lnTo>
                    <a:pt x="428370" y="266826"/>
                  </a:lnTo>
                  <a:lnTo>
                    <a:pt x="434213" y="217043"/>
                  </a:lnTo>
                  <a:lnTo>
                    <a:pt x="429894" y="174498"/>
                  </a:lnTo>
                  <a:lnTo>
                    <a:pt x="417575" y="133985"/>
                  </a:lnTo>
                  <a:lnTo>
                    <a:pt x="397636" y="96647"/>
                  </a:lnTo>
                  <a:lnTo>
                    <a:pt x="370585" y="63626"/>
                  </a:lnTo>
                  <a:lnTo>
                    <a:pt x="337565" y="36449"/>
                  </a:lnTo>
                  <a:lnTo>
                    <a:pt x="300100" y="16510"/>
                  </a:lnTo>
                  <a:lnTo>
                    <a:pt x="259587" y="4191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88919" y="436435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3"/>
                  </a:moveTo>
                  <a:lnTo>
                    <a:pt x="5714" y="167386"/>
                  </a:lnTo>
                  <a:lnTo>
                    <a:pt x="22097" y="121666"/>
                  </a:lnTo>
                  <a:lnTo>
                    <a:pt x="47751" y="81280"/>
                  </a:lnTo>
                  <a:lnTo>
                    <a:pt x="81279" y="47751"/>
                  </a:lnTo>
                  <a:lnTo>
                    <a:pt x="121665" y="22098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565" y="36449"/>
                  </a:lnTo>
                  <a:lnTo>
                    <a:pt x="370585" y="63626"/>
                  </a:lnTo>
                  <a:lnTo>
                    <a:pt x="397636" y="96647"/>
                  </a:lnTo>
                  <a:lnTo>
                    <a:pt x="417575" y="133985"/>
                  </a:lnTo>
                  <a:lnTo>
                    <a:pt x="429894" y="174498"/>
                  </a:lnTo>
                  <a:lnTo>
                    <a:pt x="434213" y="217043"/>
                  </a:lnTo>
                  <a:lnTo>
                    <a:pt x="428370" y="266826"/>
                  </a:lnTo>
                  <a:lnTo>
                    <a:pt x="412114" y="312547"/>
                  </a:lnTo>
                  <a:lnTo>
                    <a:pt x="386460" y="352806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370"/>
                  </a:lnTo>
                  <a:lnTo>
                    <a:pt x="217042" y="434213"/>
                  </a:lnTo>
                  <a:lnTo>
                    <a:pt x="167258" y="428370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806"/>
                  </a:lnTo>
                  <a:lnTo>
                    <a:pt x="22097" y="312547"/>
                  </a:lnTo>
                  <a:lnTo>
                    <a:pt x="5714" y="266826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23030" y="4394403"/>
            <a:ext cx="15176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226814" y="876681"/>
            <a:ext cx="498856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100" dirty="0">
                <a:latin typeface="Calibri"/>
                <a:cs typeface="Calibri"/>
              </a:rPr>
              <a:t>Automatisation</a:t>
            </a:r>
            <a:r>
              <a:rPr sz="2500" b="1" spc="315" dirty="0">
                <a:latin typeface="Calibri"/>
                <a:cs typeface="Calibri"/>
              </a:rPr>
              <a:t> </a:t>
            </a:r>
            <a:r>
              <a:rPr sz="2500" b="1" spc="70" dirty="0">
                <a:latin typeface="Calibri"/>
                <a:cs typeface="Calibri"/>
              </a:rPr>
              <a:t>des</a:t>
            </a:r>
            <a:r>
              <a:rPr sz="2500" b="1" spc="280" dirty="0">
                <a:latin typeface="Calibri"/>
                <a:cs typeface="Calibri"/>
              </a:rPr>
              <a:t> </a:t>
            </a:r>
            <a:r>
              <a:rPr sz="2500" b="1" spc="90" dirty="0">
                <a:latin typeface="Calibri"/>
                <a:cs typeface="Calibri"/>
              </a:rPr>
              <a:t>Déploiements Applicatifs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6814" y="4348734"/>
            <a:ext cx="529209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150" dirty="0">
                <a:solidFill>
                  <a:srgbClr val="164052"/>
                </a:solidFill>
                <a:latin typeface="Calibri"/>
                <a:cs typeface="Calibri"/>
              </a:rPr>
              <a:t>Gérer</a:t>
            </a:r>
            <a:r>
              <a:rPr sz="25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25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500" b="1" spc="409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70" dirty="0">
                <a:solidFill>
                  <a:srgbClr val="164052"/>
                </a:solidFill>
                <a:latin typeface="Calibri"/>
                <a:cs typeface="Calibri"/>
              </a:rPr>
              <a:t>évolutions</a:t>
            </a:r>
            <a:r>
              <a:rPr sz="25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500" b="1" spc="4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5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40" dirty="0">
                <a:solidFill>
                  <a:srgbClr val="164052"/>
                </a:solidFill>
                <a:latin typeface="Calibri"/>
                <a:cs typeface="Calibri"/>
              </a:rPr>
              <a:t>base</a:t>
            </a:r>
            <a:r>
              <a:rPr sz="25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70" dirty="0">
                <a:solidFill>
                  <a:srgbClr val="164052"/>
                </a:solidFill>
                <a:latin typeface="Calibri"/>
                <a:cs typeface="Calibri"/>
              </a:rPr>
              <a:t>de </a:t>
            </a: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données</a:t>
            </a:r>
            <a:r>
              <a:rPr sz="25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35" dirty="0">
                <a:solidFill>
                  <a:srgbClr val="164052"/>
                </a:solidFill>
                <a:latin typeface="Calibri"/>
                <a:cs typeface="Calibri"/>
              </a:rPr>
              <a:t>avec</a:t>
            </a:r>
            <a:r>
              <a:rPr sz="2500" b="1" spc="44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0" dirty="0">
                <a:solidFill>
                  <a:srgbClr val="164052"/>
                </a:solidFill>
                <a:latin typeface="Calibri"/>
                <a:cs typeface="Calibri"/>
              </a:rPr>
              <a:t>Liquibase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90126" y="881952"/>
            <a:ext cx="462915" cy="462915"/>
            <a:chOff x="3290126" y="881952"/>
            <a:chExt cx="462915" cy="462915"/>
          </a:xfrm>
        </p:grpSpPr>
        <p:sp>
          <p:nvSpPr>
            <p:cNvPr id="24" name="object 24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170" y="0"/>
                  </a:moveTo>
                  <a:lnTo>
                    <a:pt x="167386" y="5842"/>
                  </a:lnTo>
                  <a:lnTo>
                    <a:pt x="121665" y="22098"/>
                  </a:lnTo>
                  <a:lnTo>
                    <a:pt x="81407" y="47751"/>
                  </a:lnTo>
                  <a:lnTo>
                    <a:pt x="47751" y="81406"/>
                  </a:lnTo>
                  <a:lnTo>
                    <a:pt x="22098" y="121666"/>
                  </a:lnTo>
                  <a:lnTo>
                    <a:pt x="5841" y="167386"/>
                  </a:lnTo>
                  <a:lnTo>
                    <a:pt x="0" y="217169"/>
                  </a:lnTo>
                  <a:lnTo>
                    <a:pt x="5841" y="266826"/>
                  </a:lnTo>
                  <a:lnTo>
                    <a:pt x="22098" y="312547"/>
                  </a:lnTo>
                  <a:lnTo>
                    <a:pt x="47751" y="352932"/>
                  </a:lnTo>
                  <a:lnTo>
                    <a:pt x="81407" y="386461"/>
                  </a:lnTo>
                  <a:lnTo>
                    <a:pt x="121665" y="412114"/>
                  </a:lnTo>
                  <a:lnTo>
                    <a:pt x="167386" y="428498"/>
                  </a:lnTo>
                  <a:lnTo>
                    <a:pt x="217170" y="434213"/>
                  </a:lnTo>
                  <a:lnTo>
                    <a:pt x="266953" y="428498"/>
                  </a:lnTo>
                  <a:lnTo>
                    <a:pt x="312547" y="412114"/>
                  </a:lnTo>
                  <a:lnTo>
                    <a:pt x="352933" y="386461"/>
                  </a:lnTo>
                  <a:lnTo>
                    <a:pt x="386461" y="352932"/>
                  </a:lnTo>
                  <a:lnTo>
                    <a:pt x="412114" y="312547"/>
                  </a:lnTo>
                  <a:lnTo>
                    <a:pt x="428498" y="266826"/>
                  </a:lnTo>
                  <a:lnTo>
                    <a:pt x="434213" y="217169"/>
                  </a:lnTo>
                  <a:lnTo>
                    <a:pt x="430022" y="174625"/>
                  </a:lnTo>
                  <a:lnTo>
                    <a:pt x="417702" y="133984"/>
                  </a:lnTo>
                  <a:lnTo>
                    <a:pt x="397763" y="96647"/>
                  </a:lnTo>
                  <a:lnTo>
                    <a:pt x="370586" y="63626"/>
                  </a:lnTo>
                  <a:lnTo>
                    <a:pt x="337565" y="36575"/>
                  </a:lnTo>
                  <a:lnTo>
                    <a:pt x="300227" y="16509"/>
                  </a:lnTo>
                  <a:lnTo>
                    <a:pt x="259714" y="4318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69"/>
                  </a:moveTo>
                  <a:lnTo>
                    <a:pt x="5841" y="167386"/>
                  </a:lnTo>
                  <a:lnTo>
                    <a:pt x="22098" y="121666"/>
                  </a:lnTo>
                  <a:lnTo>
                    <a:pt x="47751" y="81406"/>
                  </a:lnTo>
                  <a:lnTo>
                    <a:pt x="81407" y="47751"/>
                  </a:lnTo>
                  <a:lnTo>
                    <a:pt x="121665" y="22098"/>
                  </a:lnTo>
                  <a:lnTo>
                    <a:pt x="167386" y="5842"/>
                  </a:lnTo>
                  <a:lnTo>
                    <a:pt x="217170" y="0"/>
                  </a:lnTo>
                  <a:lnTo>
                    <a:pt x="259714" y="4318"/>
                  </a:lnTo>
                  <a:lnTo>
                    <a:pt x="300227" y="16509"/>
                  </a:lnTo>
                  <a:lnTo>
                    <a:pt x="337565" y="36575"/>
                  </a:lnTo>
                  <a:lnTo>
                    <a:pt x="370586" y="63626"/>
                  </a:lnTo>
                  <a:lnTo>
                    <a:pt x="397763" y="96647"/>
                  </a:lnTo>
                  <a:lnTo>
                    <a:pt x="417702" y="133984"/>
                  </a:lnTo>
                  <a:lnTo>
                    <a:pt x="430022" y="174625"/>
                  </a:lnTo>
                  <a:lnTo>
                    <a:pt x="434213" y="217169"/>
                  </a:lnTo>
                  <a:lnTo>
                    <a:pt x="428498" y="266826"/>
                  </a:lnTo>
                  <a:lnTo>
                    <a:pt x="412114" y="312547"/>
                  </a:lnTo>
                  <a:lnTo>
                    <a:pt x="386461" y="352932"/>
                  </a:lnTo>
                  <a:lnTo>
                    <a:pt x="352933" y="386461"/>
                  </a:lnTo>
                  <a:lnTo>
                    <a:pt x="312547" y="412114"/>
                  </a:lnTo>
                  <a:lnTo>
                    <a:pt x="266953" y="428498"/>
                  </a:lnTo>
                  <a:lnTo>
                    <a:pt x="217170" y="434213"/>
                  </a:lnTo>
                  <a:lnTo>
                    <a:pt x="167386" y="428498"/>
                  </a:lnTo>
                  <a:lnTo>
                    <a:pt x="121665" y="412114"/>
                  </a:lnTo>
                  <a:lnTo>
                    <a:pt x="81407" y="386461"/>
                  </a:lnTo>
                  <a:lnTo>
                    <a:pt x="47751" y="352932"/>
                  </a:lnTo>
                  <a:lnTo>
                    <a:pt x="22098" y="312547"/>
                  </a:lnTo>
                  <a:lnTo>
                    <a:pt x="5841" y="266826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38525" y="926084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92</a:t>
            </a:fld>
            <a:endParaRPr spc="-25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Automatisation</a:t>
            </a:r>
            <a:r>
              <a:rPr spc="-75" dirty="0"/>
              <a:t> </a:t>
            </a:r>
            <a:r>
              <a:rPr dirty="0"/>
              <a:t>des</a:t>
            </a:r>
            <a:r>
              <a:rPr spc="-50" dirty="0"/>
              <a:t> </a:t>
            </a:r>
            <a:r>
              <a:rPr dirty="0"/>
              <a:t>Déploiements</a:t>
            </a:r>
            <a:r>
              <a:rPr spc="-70" dirty="0"/>
              <a:t> </a:t>
            </a:r>
            <a:r>
              <a:rPr spc="-10" dirty="0"/>
              <a:t>Applicatifs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43159" y="7171817"/>
            <a:ext cx="319405" cy="262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1885"/>
              </a:lnSpc>
            </a:pPr>
            <a:fld id="{81D60167-4931-47E6-BA6A-407CBD079E47}" type="slidenum"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93</a:t>
            </a:fld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9111615" cy="318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Concepts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clés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12700" marR="948690" indent="-9525">
              <a:lnSpc>
                <a:spcPct val="100000"/>
              </a:lnSpc>
              <a:spcBef>
                <a:spcPts val="5"/>
              </a:spcBef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	Automatisation</a:t>
            </a:r>
            <a:r>
              <a:rPr sz="2300" b="1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Processus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d'exécution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automatique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tâches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de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déploiement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sans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intervention</a:t>
            </a:r>
            <a:r>
              <a:rPr sz="23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manuelle.</a:t>
            </a:r>
            <a:endParaRPr sz="2300">
              <a:latin typeface="Calibri"/>
              <a:cs typeface="Calibri"/>
            </a:endParaRPr>
          </a:p>
          <a:p>
            <a:pPr marL="11430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Orchestration</a:t>
            </a:r>
            <a:r>
              <a:rPr sz="2300" b="1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Coordination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services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ressources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assurer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déploiement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fluide.</a:t>
            </a:r>
            <a:endParaRPr sz="2300">
              <a:latin typeface="Calibri"/>
              <a:cs typeface="Calibri"/>
            </a:endParaRPr>
          </a:p>
          <a:p>
            <a:pPr marL="12700" marR="351155" indent="-95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	Déploiements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continus</a:t>
            </a:r>
            <a:r>
              <a:rPr sz="23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(CD)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Automatisation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mises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jour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logicielles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processus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reproductibles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fiables.</a:t>
            </a:r>
            <a:endParaRPr sz="2300">
              <a:latin typeface="Calibri"/>
              <a:cs typeface="Calibri"/>
            </a:endParaRPr>
          </a:p>
          <a:p>
            <a:pPr marL="12700" marR="5080" indent="-95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	Infrastructure</a:t>
            </a:r>
            <a:r>
              <a:rPr sz="2300" b="1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as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Code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(IaC)</a:t>
            </a:r>
            <a:r>
              <a:rPr sz="23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Définir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gérer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infrastructures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via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code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(scripts),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facilitant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déploiements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cohérents.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Automatisation</a:t>
            </a:r>
            <a:r>
              <a:rPr spc="-75" dirty="0"/>
              <a:t> </a:t>
            </a:r>
            <a:r>
              <a:rPr dirty="0"/>
              <a:t>des</a:t>
            </a:r>
            <a:r>
              <a:rPr spc="-50" dirty="0"/>
              <a:t> </a:t>
            </a:r>
            <a:r>
              <a:rPr dirty="0"/>
              <a:t>Déploiements</a:t>
            </a:r>
            <a:r>
              <a:rPr spc="-70" dirty="0"/>
              <a:t> </a:t>
            </a:r>
            <a:r>
              <a:rPr spc="-10" dirty="0"/>
              <a:t>Applicatifs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43159" y="7171817"/>
            <a:ext cx="319405" cy="262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1885"/>
              </a:lnSpc>
            </a:pPr>
            <a:fld id="{81D60167-4931-47E6-BA6A-407CBD079E47}" type="slidenum"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94</a:t>
            </a:fld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9154795" cy="3883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Bénéfices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l’automatisation</a:t>
            </a:r>
            <a:r>
              <a:rPr sz="2300" b="1" spc="-50" dirty="0">
                <a:solidFill>
                  <a:srgbClr val="252D37"/>
                </a:solidFill>
                <a:latin typeface="Calibri"/>
                <a:cs typeface="Calibri"/>
              </a:rPr>
              <a:t> :</a:t>
            </a:r>
            <a:endParaRPr sz="2300">
              <a:latin typeface="Calibri"/>
              <a:cs typeface="Calibri"/>
            </a:endParaRPr>
          </a:p>
          <a:p>
            <a:pPr marL="12700" marR="263525" indent="-9525">
              <a:lnSpc>
                <a:spcPct val="100000"/>
              </a:lnSpc>
              <a:spcBef>
                <a:spcPts val="5"/>
              </a:spcBef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	Réduction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b="1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erreurs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humaines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Moins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d’interventions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manuelles,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donc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moins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risques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d’erreurs.</a:t>
            </a:r>
            <a:endParaRPr sz="2300">
              <a:latin typeface="Calibri"/>
              <a:cs typeface="Calibri"/>
            </a:endParaRPr>
          </a:p>
          <a:p>
            <a:pPr marL="11430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Amélioration</a:t>
            </a:r>
            <a:r>
              <a:rPr sz="23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300" b="1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rapidité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b="1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300" b="1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fréquence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déploiements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processus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automatisés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permettent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itérations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rapides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sûres.</a:t>
            </a:r>
            <a:endParaRPr sz="2300">
              <a:latin typeface="Calibri"/>
              <a:cs typeface="Calibri"/>
            </a:endParaRPr>
          </a:p>
          <a:p>
            <a:pPr marL="12700" marR="5080" indent="-95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	Cohérence</a:t>
            </a:r>
            <a:r>
              <a:rPr sz="2300" b="1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standardisation</a:t>
            </a:r>
            <a:r>
              <a:rPr sz="2300" b="1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Tous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environnements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sont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configurés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de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manière</a:t>
            </a:r>
            <a:r>
              <a:rPr sz="23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identique,</a:t>
            </a:r>
            <a:r>
              <a:rPr sz="23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réduisant</a:t>
            </a:r>
            <a:r>
              <a:rPr sz="23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divergences</a:t>
            </a:r>
            <a:r>
              <a:rPr sz="23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entre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eux.</a:t>
            </a:r>
            <a:endParaRPr sz="2300">
              <a:latin typeface="Calibri"/>
              <a:cs typeface="Calibri"/>
            </a:endParaRPr>
          </a:p>
          <a:p>
            <a:pPr marL="11430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Scalabilité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Facilité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déployer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sur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grand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nombre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 serveurs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ou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d’environnements.</a:t>
            </a:r>
            <a:endParaRPr sz="2300">
              <a:latin typeface="Calibri"/>
              <a:cs typeface="Calibri"/>
            </a:endParaRPr>
          </a:p>
          <a:p>
            <a:pPr marL="12700" marR="379730" indent="-95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	Traçabilité</a:t>
            </a:r>
            <a:r>
              <a:rPr sz="2300" b="1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historique</a:t>
            </a:r>
            <a:r>
              <a:rPr sz="23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Chaque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étape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déploiement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est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enregistrée,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facilitant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suivi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modifications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gestion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incidents.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Automatisation</a:t>
            </a:r>
            <a:r>
              <a:rPr spc="-75" dirty="0"/>
              <a:t> </a:t>
            </a:r>
            <a:r>
              <a:rPr dirty="0"/>
              <a:t>des</a:t>
            </a:r>
            <a:r>
              <a:rPr spc="-50" dirty="0"/>
              <a:t> </a:t>
            </a:r>
            <a:r>
              <a:rPr dirty="0"/>
              <a:t>Déploiements</a:t>
            </a:r>
            <a:r>
              <a:rPr spc="-70" dirty="0"/>
              <a:t> </a:t>
            </a:r>
            <a:r>
              <a:rPr spc="-10" dirty="0"/>
              <a:t>Applicatifs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43159" y="7171817"/>
            <a:ext cx="319405" cy="262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1885"/>
              </a:lnSpc>
            </a:pPr>
            <a:fld id="{81D60167-4931-47E6-BA6A-407CBD079E47}" type="slidenum"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95</a:t>
            </a:fld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5200" y="850519"/>
            <a:ext cx="8912860" cy="487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64052"/>
                </a:solidFill>
                <a:latin typeface="Calibri"/>
                <a:cs typeface="Calibri"/>
              </a:rPr>
              <a:t>Options</a:t>
            </a:r>
            <a:r>
              <a:rPr sz="2400" spc="-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4052"/>
                </a:solidFill>
                <a:latin typeface="Calibri"/>
                <a:cs typeface="Calibri"/>
              </a:rPr>
              <a:t>pour</a:t>
            </a:r>
            <a:r>
              <a:rPr sz="2400" spc="-4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4052"/>
                </a:solidFill>
                <a:latin typeface="Calibri"/>
                <a:cs typeface="Calibri"/>
              </a:rPr>
              <a:t>l'automatisation</a:t>
            </a:r>
            <a:r>
              <a:rPr sz="2400" spc="-10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400" spc="-5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64052"/>
                </a:solidFill>
                <a:latin typeface="Calibri"/>
                <a:cs typeface="Calibri"/>
              </a:rPr>
              <a:t>déploiements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90"/>
              </a:spcBef>
            </a:pPr>
            <a:endParaRPr sz="2400">
              <a:latin typeface="Calibri"/>
              <a:cs typeface="Calibri"/>
            </a:endParaRPr>
          </a:p>
          <a:p>
            <a:pPr marL="12700" marR="109220" indent="-8255">
              <a:lnSpc>
                <a:spcPct val="100000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solidFill>
                  <a:srgbClr val="252D37"/>
                </a:solidFill>
                <a:latin typeface="Calibri"/>
                <a:cs typeface="Calibri"/>
              </a:rPr>
              <a:t>	Capistrano</a:t>
            </a:r>
            <a:r>
              <a:rPr sz="24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4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Outil</a:t>
            </a:r>
            <a:r>
              <a:rPr sz="24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4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déploiement</a:t>
            </a:r>
            <a:r>
              <a:rPr sz="24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52D37"/>
                </a:solidFill>
                <a:latin typeface="Calibri"/>
                <a:cs typeface="Calibri"/>
              </a:rPr>
              <a:t>open-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source</a:t>
            </a:r>
            <a:r>
              <a:rPr sz="24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écrit</a:t>
            </a:r>
            <a:r>
              <a:rPr sz="24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4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Ruby,</a:t>
            </a:r>
            <a:r>
              <a:rPr sz="24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D37"/>
                </a:solidFill>
                <a:latin typeface="Calibri"/>
                <a:cs typeface="Calibri"/>
              </a:rPr>
              <a:t>souvent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utilisé</a:t>
            </a:r>
            <a:r>
              <a:rPr sz="24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24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4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applications</a:t>
            </a:r>
            <a:r>
              <a:rPr sz="24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D37"/>
                </a:solidFill>
                <a:latin typeface="Calibri"/>
                <a:cs typeface="Calibri"/>
              </a:rPr>
              <a:t>Rails.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ts val="2385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bonne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intégration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Git,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extensibilité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plugins.</a:t>
            </a:r>
            <a:endParaRPr sz="2000">
              <a:latin typeface="Calibri"/>
              <a:cs typeface="Calibri"/>
            </a:endParaRPr>
          </a:p>
          <a:p>
            <a:pPr marL="12700" marR="5080" indent="-8255">
              <a:lnSpc>
                <a:spcPts val="2880"/>
              </a:lnSpc>
              <a:spcBef>
                <a:spcPts val="8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solidFill>
                  <a:srgbClr val="252D37"/>
                </a:solidFill>
                <a:latin typeface="Calibri"/>
                <a:cs typeface="Calibri"/>
              </a:rPr>
              <a:t>	Fabric</a:t>
            </a:r>
            <a:r>
              <a:rPr sz="24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4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Framework</a:t>
            </a:r>
            <a:r>
              <a:rPr sz="24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Python</a:t>
            </a:r>
            <a:r>
              <a:rPr sz="24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4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l'exécution</a:t>
            </a:r>
            <a:r>
              <a:rPr sz="24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4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tâches</a:t>
            </a:r>
            <a:r>
              <a:rPr sz="24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D37"/>
                </a:solidFill>
                <a:latin typeface="Calibri"/>
                <a:cs typeface="Calibri"/>
              </a:rPr>
              <a:t>d'administration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système</a:t>
            </a:r>
            <a:r>
              <a:rPr sz="24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4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4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D37"/>
                </a:solidFill>
                <a:latin typeface="Calibri"/>
                <a:cs typeface="Calibri"/>
              </a:rPr>
              <a:t>déploiement.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ts val="2320"/>
              </a:lnSpc>
              <a:buFont typeface="Arial MT"/>
              <a:buChar char="•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simplicité,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flexibilité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SSH.</a:t>
            </a:r>
            <a:endParaRPr sz="2000">
              <a:latin typeface="Calibri"/>
              <a:cs typeface="Calibri"/>
            </a:endParaRPr>
          </a:p>
          <a:p>
            <a:pPr marL="12700" marR="64769" indent="-8255">
              <a:lnSpc>
                <a:spcPts val="2880"/>
              </a:lnSpc>
              <a:spcBef>
                <a:spcPts val="85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solidFill>
                  <a:srgbClr val="252D37"/>
                </a:solidFill>
                <a:latin typeface="Calibri"/>
                <a:cs typeface="Calibri"/>
              </a:rPr>
              <a:t>	Ansible</a:t>
            </a:r>
            <a:r>
              <a:rPr sz="24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4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Outil</a:t>
            </a:r>
            <a:r>
              <a:rPr sz="24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gestion</a:t>
            </a:r>
            <a:r>
              <a:rPr sz="24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4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configuration</a:t>
            </a:r>
            <a:r>
              <a:rPr sz="2400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4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d'automatisation</a:t>
            </a:r>
            <a:r>
              <a:rPr sz="24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IT,</a:t>
            </a:r>
            <a:r>
              <a:rPr sz="24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D37"/>
                </a:solidFill>
                <a:latin typeface="Calibri"/>
                <a:cs typeface="Calibri"/>
              </a:rPr>
              <a:t>écrit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4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D37"/>
                </a:solidFill>
                <a:latin typeface="Calibri"/>
                <a:cs typeface="Calibri"/>
              </a:rPr>
              <a:t>Python.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ts val="2320"/>
              </a:lnSpc>
              <a:buFont typeface="Arial MT"/>
              <a:buChar char="•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agent,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facile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apprendre,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YAML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pour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playbooks.</a:t>
            </a:r>
            <a:endParaRPr sz="2000">
              <a:latin typeface="Calibri"/>
              <a:cs typeface="Calibri"/>
            </a:endParaRPr>
          </a:p>
          <a:p>
            <a:pPr marL="118745" indent="-114300">
              <a:lnSpc>
                <a:spcPts val="2865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solidFill>
                  <a:srgbClr val="252D37"/>
                </a:solidFill>
                <a:latin typeface="Calibri"/>
                <a:cs typeface="Calibri"/>
              </a:rPr>
              <a:t>SaltStack</a:t>
            </a:r>
            <a:r>
              <a:rPr sz="24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52D37"/>
                </a:solidFill>
                <a:latin typeface="Calibri"/>
                <a:cs typeface="Calibri"/>
              </a:rPr>
              <a:t>(Salt)</a:t>
            </a:r>
            <a:r>
              <a:rPr sz="24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4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Outil</a:t>
            </a:r>
            <a:r>
              <a:rPr sz="24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d'orchestration</a:t>
            </a:r>
            <a:r>
              <a:rPr sz="24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4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4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gestion</a:t>
            </a:r>
            <a:r>
              <a:rPr sz="24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4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52D37"/>
                </a:solidFill>
                <a:latin typeface="Calibri"/>
                <a:cs typeface="Calibri"/>
              </a:rPr>
              <a:t>configuration.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scalabilité,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agent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agent,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gestion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événements.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Mise</a:t>
            </a:r>
            <a:r>
              <a:rPr spc="-15" dirty="0"/>
              <a:t> </a:t>
            </a:r>
            <a:r>
              <a:rPr dirty="0"/>
              <a:t>en</a:t>
            </a:r>
            <a:r>
              <a:rPr spc="-5" dirty="0"/>
              <a:t> </a:t>
            </a:r>
            <a:r>
              <a:rPr dirty="0"/>
              <a:t>œuvre</a:t>
            </a:r>
            <a:r>
              <a:rPr spc="-25" dirty="0"/>
              <a:t> </a:t>
            </a:r>
            <a:r>
              <a:rPr dirty="0"/>
              <a:t>via</a:t>
            </a:r>
            <a:r>
              <a:rPr spc="-5" dirty="0"/>
              <a:t> </a:t>
            </a:r>
            <a:r>
              <a:rPr spc="-10" dirty="0"/>
              <a:t>Ansible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3384" y="964819"/>
            <a:ext cx="7350125" cy="252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Automatisation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 Ansible</a:t>
            </a:r>
            <a:endParaRPr sz="2300">
              <a:latin typeface="Calibri"/>
              <a:cs typeface="Calibri"/>
            </a:endParaRPr>
          </a:p>
          <a:p>
            <a:pPr marL="114300" indent="-111125">
              <a:lnSpc>
                <a:spcPct val="100000"/>
              </a:lnSpc>
              <a:spcBef>
                <a:spcPts val="5"/>
              </a:spcBef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Pourquoi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choisir Ansible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?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Simple,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sans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utilise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SSH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pour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communiquer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avec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serveurs.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ts val="2145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basée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fichiers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YAML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(playbooks).</a:t>
            </a:r>
            <a:endParaRPr sz="1800">
              <a:latin typeface="Calibri"/>
              <a:cs typeface="Calibri"/>
            </a:endParaRPr>
          </a:p>
          <a:p>
            <a:pPr marL="114300" indent="-111125">
              <a:lnSpc>
                <a:spcPts val="2745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Cas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d’utilisation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Déploiement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d’applications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plusieurs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serveurs.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ts val="2145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Gestion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dépendances.</a:t>
            </a:r>
            <a:endParaRPr sz="1800">
              <a:latin typeface="Calibri"/>
              <a:cs typeface="Calibri"/>
            </a:endParaRPr>
          </a:p>
          <a:p>
            <a:pPr marL="114300" indent="-111125">
              <a:lnSpc>
                <a:spcPts val="2745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Exemple</a:t>
            </a:r>
            <a:r>
              <a:rPr sz="2300" b="1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playbook</a:t>
            </a:r>
            <a:r>
              <a:rPr sz="2300" b="1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950" y="3701732"/>
            <a:ext cx="4122801" cy="28577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2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3159" y="7171817"/>
            <a:ext cx="319405" cy="262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1885"/>
              </a:lnSpc>
            </a:pPr>
            <a:fld id="{81D60167-4931-47E6-BA6A-407CBD079E47}" type="slidenum"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96</a:t>
            </a:fld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79756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Gérer</a:t>
            </a:r>
            <a:r>
              <a:rPr spc="-25" dirty="0"/>
              <a:t> </a:t>
            </a:r>
            <a:r>
              <a:rPr dirty="0"/>
              <a:t>les</a:t>
            </a:r>
            <a:r>
              <a:rPr spc="-15" dirty="0"/>
              <a:t> </a:t>
            </a:r>
            <a:r>
              <a:rPr dirty="0"/>
              <a:t>évolutions</a:t>
            </a:r>
            <a:r>
              <a:rPr spc="-35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base</a:t>
            </a:r>
            <a:r>
              <a:rPr spc="-10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données </a:t>
            </a:r>
            <a:r>
              <a:rPr dirty="0"/>
              <a:t>avec</a:t>
            </a:r>
            <a:r>
              <a:rPr spc="-10" dirty="0"/>
              <a:t> Liquibase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8953500" cy="295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Gestion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bases</a:t>
            </a:r>
            <a:r>
              <a:rPr sz="2300" b="1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données</a:t>
            </a:r>
            <a:r>
              <a:rPr sz="2300" b="1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 Liquibase</a:t>
            </a:r>
            <a:endParaRPr sz="2300">
              <a:latin typeface="Calibri"/>
              <a:cs typeface="Calibri"/>
            </a:endParaRPr>
          </a:p>
          <a:p>
            <a:pPr marL="12700" marR="539115" indent="-9525">
              <a:lnSpc>
                <a:spcPct val="100000"/>
              </a:lnSpc>
              <a:spcBef>
                <a:spcPts val="5"/>
              </a:spcBef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	Liquibase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Un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outil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open-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source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300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versionnage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gestion 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des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schémas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bases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données.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Supporte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données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SQL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telles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PostgreSQL,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MySQL,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Oracle,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ts val="2145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Définition des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changements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schéma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travers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scripts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XML,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JSON,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YAML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SQL.</a:t>
            </a:r>
            <a:endParaRPr sz="1800">
              <a:latin typeface="Calibri"/>
              <a:cs typeface="Calibri"/>
            </a:endParaRPr>
          </a:p>
          <a:p>
            <a:pPr marL="12700" marR="5080" indent="-9525">
              <a:lnSpc>
                <a:spcPts val="2760"/>
              </a:lnSpc>
              <a:spcBef>
                <a:spcPts val="75"/>
              </a:spcBef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	Intégration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Ansible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automatiser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migrations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schémas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dans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processus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déploiement</a:t>
            </a:r>
            <a:r>
              <a:rPr sz="2300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ts val="2085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Utiliser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playbook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Ansible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pour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exécuter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commandes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Liquibase.</a:t>
            </a:r>
            <a:endParaRPr sz="1800">
              <a:latin typeface="Calibri"/>
              <a:cs typeface="Calibri"/>
            </a:endParaRPr>
          </a:p>
          <a:p>
            <a:pPr marL="114300" indent="-111125">
              <a:lnSpc>
                <a:spcPts val="2745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Exemple</a:t>
            </a:r>
            <a:r>
              <a:rPr sz="2300" b="1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commande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Liquibase</a:t>
            </a:r>
            <a:r>
              <a:rPr sz="2300" b="1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200" y="5888482"/>
            <a:ext cx="8718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Mise</a:t>
            </a:r>
            <a:r>
              <a:rPr sz="20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0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jour</a:t>
            </a:r>
            <a:r>
              <a:rPr sz="20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automatique</a:t>
            </a:r>
            <a:r>
              <a:rPr sz="20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0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base</a:t>
            </a:r>
            <a:r>
              <a:rPr sz="20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données</a:t>
            </a:r>
            <a:r>
              <a:rPr sz="20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basée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sur</a:t>
            </a:r>
            <a:r>
              <a:rPr sz="20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0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fichiers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0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52D37"/>
                </a:solidFill>
                <a:latin typeface="Calibri"/>
                <a:cs typeface="Calibri"/>
              </a:rPr>
              <a:t>changelog.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672" y="4686363"/>
            <a:ext cx="4435221" cy="77730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3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3159" y="7171817"/>
            <a:ext cx="319405" cy="262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1885"/>
              </a:lnSpc>
            </a:pPr>
            <a:fld id="{81D60167-4931-47E6-BA6A-407CBD079E47}" type="slidenum"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97</a:t>
            </a:fld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1923" y="2558817"/>
            <a:ext cx="2218241" cy="21194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7071" y="1655191"/>
            <a:ext cx="2636520" cy="8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Mise</a:t>
            </a:r>
            <a:r>
              <a:rPr sz="2800" b="1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en</a:t>
            </a:r>
            <a:r>
              <a:rPr sz="2800" b="1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Calibri"/>
                <a:cs typeface="Calibri"/>
              </a:rPr>
              <a:t>pratique: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400" b="1" spc="155" dirty="0">
                <a:latin typeface="Calibri"/>
                <a:cs typeface="Calibri"/>
              </a:rPr>
              <a:t>Ansible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98</a:t>
            </a:fld>
            <a:endParaRPr spc="-25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3" name="object 3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103" y="-4764"/>
            <a:ext cx="3519170" cy="7566025"/>
            <a:chOff x="-6103" y="-4764"/>
            <a:chExt cx="3519170" cy="7566025"/>
          </a:xfrm>
        </p:grpSpPr>
        <p:sp>
          <p:nvSpPr>
            <p:cNvPr id="6" name="object 6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391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3509391" y="7556500"/>
                  </a:lnTo>
                  <a:lnTo>
                    <a:pt x="350939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7556500"/>
                  </a:moveTo>
                  <a:lnTo>
                    <a:pt x="3509391" y="7556500"/>
                  </a:lnTo>
                  <a:lnTo>
                    <a:pt x="3509391" y="0"/>
                  </a:lnTo>
                  <a:lnTo>
                    <a:pt x="0" y="0"/>
                  </a:lnTo>
                  <a:lnTo>
                    <a:pt x="0" y="7556500"/>
                  </a:lnTo>
                  <a:close/>
                </a:path>
              </a:pathLst>
            </a:custGeom>
            <a:ln w="9525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461" y="0"/>
                  </a:moveTo>
                  <a:lnTo>
                    <a:pt x="0" y="0"/>
                  </a:lnTo>
                  <a:lnTo>
                    <a:pt x="3509461" y="7556498"/>
                  </a:lnTo>
                  <a:lnTo>
                    <a:pt x="350946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0"/>
                  </a:moveTo>
                  <a:lnTo>
                    <a:pt x="3509461" y="0"/>
                  </a:lnTo>
                  <a:lnTo>
                    <a:pt x="3509461" y="7556498"/>
                  </a:lnTo>
                </a:path>
                <a:path w="350964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42696" y="1094054"/>
            <a:ext cx="13246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4510" algn="l"/>
                <a:tab pos="1002665" algn="l"/>
              </a:tabLst>
            </a:pPr>
            <a:r>
              <a:rPr sz="3200" spc="-25" dirty="0">
                <a:solidFill>
                  <a:srgbClr val="FFFFFF"/>
                </a:solidFill>
              </a:rPr>
              <a:t>//</a:t>
            </a:r>
            <a:r>
              <a:rPr sz="3200" dirty="0">
                <a:solidFill>
                  <a:srgbClr val="FFFFFF"/>
                </a:solidFill>
              </a:rPr>
              <a:t>	</a:t>
            </a:r>
            <a:r>
              <a:rPr sz="4800" b="1" spc="-75" baseline="1736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4800" b="1" baseline="1736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</a:rPr>
              <a:t>//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292" y="1830705"/>
            <a:ext cx="1908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2255" algn="l"/>
              </a:tabLst>
            </a:pP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b="1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b="1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7</a:t>
            </a:r>
            <a:r>
              <a:rPr sz="2400" b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292" y="2437257"/>
            <a:ext cx="180911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g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24020" y="1844167"/>
            <a:ext cx="357949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110" dirty="0">
                <a:solidFill>
                  <a:srgbClr val="164052"/>
                </a:solidFill>
                <a:latin typeface="Calibri"/>
                <a:cs typeface="Calibri"/>
              </a:rPr>
              <a:t>Options</a:t>
            </a:r>
            <a:r>
              <a:rPr sz="2500" b="1" spc="2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500" b="1" spc="26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0" dirty="0">
                <a:solidFill>
                  <a:srgbClr val="164052"/>
                </a:solidFill>
                <a:latin typeface="Calibri"/>
                <a:cs typeface="Calibri"/>
              </a:rPr>
              <a:t>déploiement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74631" y="2004250"/>
            <a:ext cx="462915" cy="462915"/>
            <a:chOff x="3274631" y="2004250"/>
            <a:chExt cx="462915" cy="462915"/>
          </a:xfrm>
        </p:grpSpPr>
        <p:sp>
          <p:nvSpPr>
            <p:cNvPr id="15" name="object 15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79"/>
                  </a:lnTo>
                  <a:lnTo>
                    <a:pt x="22097" y="121538"/>
                  </a:lnTo>
                  <a:lnTo>
                    <a:pt x="5714" y="167258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7" y="312546"/>
                  </a:lnTo>
                  <a:lnTo>
                    <a:pt x="47751" y="352805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370"/>
                  </a:lnTo>
                  <a:lnTo>
                    <a:pt x="217042" y="434086"/>
                  </a:lnTo>
                  <a:lnTo>
                    <a:pt x="266826" y="428370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805"/>
                  </a:lnTo>
                  <a:lnTo>
                    <a:pt x="412114" y="312546"/>
                  </a:lnTo>
                  <a:lnTo>
                    <a:pt x="428370" y="266826"/>
                  </a:lnTo>
                  <a:lnTo>
                    <a:pt x="434213" y="217042"/>
                  </a:lnTo>
                  <a:lnTo>
                    <a:pt x="429894" y="174498"/>
                  </a:lnTo>
                  <a:lnTo>
                    <a:pt x="417575" y="133984"/>
                  </a:lnTo>
                  <a:lnTo>
                    <a:pt x="397636" y="96646"/>
                  </a:lnTo>
                  <a:lnTo>
                    <a:pt x="370585" y="63626"/>
                  </a:lnTo>
                  <a:lnTo>
                    <a:pt x="337565" y="36449"/>
                  </a:lnTo>
                  <a:lnTo>
                    <a:pt x="300100" y="16509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8"/>
                  </a:lnTo>
                  <a:lnTo>
                    <a:pt x="22097" y="121538"/>
                  </a:lnTo>
                  <a:lnTo>
                    <a:pt x="47751" y="81279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09"/>
                  </a:lnTo>
                  <a:lnTo>
                    <a:pt x="337565" y="36449"/>
                  </a:lnTo>
                  <a:lnTo>
                    <a:pt x="370585" y="63626"/>
                  </a:lnTo>
                  <a:lnTo>
                    <a:pt x="397636" y="96646"/>
                  </a:lnTo>
                  <a:lnTo>
                    <a:pt x="417575" y="133984"/>
                  </a:lnTo>
                  <a:lnTo>
                    <a:pt x="429894" y="174498"/>
                  </a:lnTo>
                  <a:lnTo>
                    <a:pt x="434213" y="217042"/>
                  </a:lnTo>
                  <a:lnTo>
                    <a:pt x="428370" y="266826"/>
                  </a:lnTo>
                  <a:lnTo>
                    <a:pt x="412114" y="312546"/>
                  </a:lnTo>
                  <a:lnTo>
                    <a:pt x="386460" y="352805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370"/>
                  </a:lnTo>
                  <a:lnTo>
                    <a:pt x="217042" y="434086"/>
                  </a:lnTo>
                  <a:lnTo>
                    <a:pt x="167258" y="428370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805"/>
                  </a:lnTo>
                  <a:lnTo>
                    <a:pt x="22097" y="312546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23030" y="2048637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74631" y="3123247"/>
            <a:ext cx="462915" cy="462915"/>
            <a:chOff x="3274631" y="3123247"/>
            <a:chExt cx="462915" cy="462915"/>
          </a:xfrm>
        </p:grpSpPr>
        <p:sp>
          <p:nvSpPr>
            <p:cNvPr id="19" name="object 19"/>
            <p:cNvSpPr/>
            <p:nvPr/>
          </p:nvSpPr>
          <p:spPr>
            <a:xfrm>
              <a:off x="3288919" y="313753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842"/>
                  </a:lnTo>
                  <a:lnTo>
                    <a:pt x="121665" y="22098"/>
                  </a:lnTo>
                  <a:lnTo>
                    <a:pt x="81279" y="47752"/>
                  </a:lnTo>
                  <a:lnTo>
                    <a:pt x="47751" y="81407"/>
                  </a:lnTo>
                  <a:lnTo>
                    <a:pt x="22097" y="121666"/>
                  </a:lnTo>
                  <a:lnTo>
                    <a:pt x="5714" y="167386"/>
                  </a:lnTo>
                  <a:lnTo>
                    <a:pt x="0" y="217170"/>
                  </a:lnTo>
                  <a:lnTo>
                    <a:pt x="5714" y="266954"/>
                  </a:lnTo>
                  <a:lnTo>
                    <a:pt x="22097" y="312547"/>
                  </a:lnTo>
                  <a:lnTo>
                    <a:pt x="47751" y="352933"/>
                  </a:lnTo>
                  <a:lnTo>
                    <a:pt x="81279" y="386461"/>
                  </a:lnTo>
                  <a:lnTo>
                    <a:pt x="121665" y="412115"/>
                  </a:lnTo>
                  <a:lnTo>
                    <a:pt x="167258" y="428498"/>
                  </a:lnTo>
                  <a:lnTo>
                    <a:pt x="217042" y="434213"/>
                  </a:lnTo>
                  <a:lnTo>
                    <a:pt x="266826" y="428498"/>
                  </a:lnTo>
                  <a:lnTo>
                    <a:pt x="312546" y="412115"/>
                  </a:lnTo>
                  <a:lnTo>
                    <a:pt x="352805" y="386461"/>
                  </a:lnTo>
                  <a:lnTo>
                    <a:pt x="386460" y="352933"/>
                  </a:lnTo>
                  <a:lnTo>
                    <a:pt x="412114" y="312547"/>
                  </a:lnTo>
                  <a:lnTo>
                    <a:pt x="428370" y="266954"/>
                  </a:lnTo>
                  <a:lnTo>
                    <a:pt x="434213" y="217170"/>
                  </a:lnTo>
                  <a:lnTo>
                    <a:pt x="429894" y="174625"/>
                  </a:lnTo>
                  <a:lnTo>
                    <a:pt x="417575" y="134112"/>
                  </a:lnTo>
                  <a:lnTo>
                    <a:pt x="397636" y="96647"/>
                  </a:lnTo>
                  <a:lnTo>
                    <a:pt x="370585" y="63627"/>
                  </a:lnTo>
                  <a:lnTo>
                    <a:pt x="337565" y="36576"/>
                  </a:lnTo>
                  <a:lnTo>
                    <a:pt x="300100" y="16637"/>
                  </a:lnTo>
                  <a:lnTo>
                    <a:pt x="259587" y="4318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88919" y="313753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170"/>
                  </a:moveTo>
                  <a:lnTo>
                    <a:pt x="5714" y="167386"/>
                  </a:lnTo>
                  <a:lnTo>
                    <a:pt x="22097" y="121666"/>
                  </a:lnTo>
                  <a:lnTo>
                    <a:pt x="47751" y="81407"/>
                  </a:lnTo>
                  <a:lnTo>
                    <a:pt x="81279" y="47752"/>
                  </a:lnTo>
                  <a:lnTo>
                    <a:pt x="121665" y="22098"/>
                  </a:lnTo>
                  <a:lnTo>
                    <a:pt x="167258" y="5842"/>
                  </a:lnTo>
                  <a:lnTo>
                    <a:pt x="217042" y="0"/>
                  </a:lnTo>
                  <a:lnTo>
                    <a:pt x="259587" y="4318"/>
                  </a:lnTo>
                  <a:lnTo>
                    <a:pt x="300100" y="16637"/>
                  </a:lnTo>
                  <a:lnTo>
                    <a:pt x="337565" y="36576"/>
                  </a:lnTo>
                  <a:lnTo>
                    <a:pt x="370585" y="63627"/>
                  </a:lnTo>
                  <a:lnTo>
                    <a:pt x="397636" y="96647"/>
                  </a:lnTo>
                  <a:lnTo>
                    <a:pt x="417575" y="134112"/>
                  </a:lnTo>
                  <a:lnTo>
                    <a:pt x="429894" y="174625"/>
                  </a:lnTo>
                  <a:lnTo>
                    <a:pt x="434213" y="217170"/>
                  </a:lnTo>
                  <a:lnTo>
                    <a:pt x="428370" y="266954"/>
                  </a:lnTo>
                  <a:lnTo>
                    <a:pt x="412114" y="312547"/>
                  </a:lnTo>
                  <a:lnTo>
                    <a:pt x="386460" y="352933"/>
                  </a:lnTo>
                  <a:lnTo>
                    <a:pt x="352805" y="386461"/>
                  </a:lnTo>
                  <a:lnTo>
                    <a:pt x="312546" y="412115"/>
                  </a:lnTo>
                  <a:lnTo>
                    <a:pt x="266826" y="428498"/>
                  </a:lnTo>
                  <a:lnTo>
                    <a:pt x="217042" y="434213"/>
                  </a:lnTo>
                  <a:lnTo>
                    <a:pt x="167258" y="428498"/>
                  </a:lnTo>
                  <a:lnTo>
                    <a:pt x="121665" y="412115"/>
                  </a:lnTo>
                  <a:lnTo>
                    <a:pt x="81279" y="386461"/>
                  </a:lnTo>
                  <a:lnTo>
                    <a:pt x="47751" y="352933"/>
                  </a:lnTo>
                  <a:lnTo>
                    <a:pt x="22097" y="312547"/>
                  </a:lnTo>
                  <a:lnTo>
                    <a:pt x="5714" y="266954"/>
                  </a:lnTo>
                  <a:lnTo>
                    <a:pt x="0" y="217170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423030" y="3167888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6814" y="876681"/>
            <a:ext cx="21964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65" dirty="0">
                <a:solidFill>
                  <a:srgbClr val="164052"/>
                </a:solidFill>
                <a:latin typeface="Calibri"/>
                <a:cs typeface="Calibri"/>
              </a:rPr>
              <a:t>ELK</a:t>
            </a:r>
            <a:r>
              <a:rPr sz="2500" b="1" spc="2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5" dirty="0">
                <a:solidFill>
                  <a:srgbClr val="164052"/>
                </a:solidFill>
                <a:latin typeface="Calibri"/>
                <a:cs typeface="Calibri"/>
              </a:rPr>
              <a:t>c’est</a:t>
            </a:r>
            <a:r>
              <a:rPr sz="2500" b="1" spc="2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70" dirty="0">
                <a:solidFill>
                  <a:srgbClr val="164052"/>
                </a:solidFill>
                <a:latin typeface="Calibri"/>
                <a:cs typeface="Calibri"/>
              </a:rPr>
              <a:t>quoi?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26814" y="3121228"/>
            <a:ext cx="3301365" cy="788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175" dirty="0">
                <a:solidFill>
                  <a:srgbClr val="164052"/>
                </a:solidFill>
                <a:latin typeface="Calibri"/>
                <a:cs typeface="Calibri"/>
              </a:rPr>
              <a:t>Définition</a:t>
            </a:r>
            <a:r>
              <a:rPr sz="2500" b="1" spc="35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0" dirty="0">
                <a:solidFill>
                  <a:srgbClr val="164052"/>
                </a:solidFill>
                <a:latin typeface="Calibri"/>
                <a:cs typeface="Calibri"/>
              </a:rPr>
              <a:t>du</a:t>
            </a:r>
            <a:r>
              <a:rPr sz="2500" b="1" spc="3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45" dirty="0">
                <a:solidFill>
                  <a:srgbClr val="164052"/>
                </a:solidFill>
                <a:latin typeface="Calibri"/>
                <a:cs typeface="Calibri"/>
              </a:rPr>
              <a:t>Plan</a:t>
            </a:r>
            <a:r>
              <a:rPr sz="2500" b="1" spc="3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70" dirty="0">
                <a:solidFill>
                  <a:srgbClr val="164052"/>
                </a:solidFill>
                <a:latin typeface="Calibri"/>
                <a:cs typeface="Calibri"/>
              </a:rPr>
              <a:t>de </a:t>
            </a:r>
            <a:r>
              <a:rPr sz="2500" b="1" spc="160" dirty="0">
                <a:solidFill>
                  <a:srgbClr val="164052"/>
                </a:solidFill>
                <a:latin typeface="Calibri"/>
                <a:cs typeface="Calibri"/>
              </a:rPr>
              <a:t>Monitoring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290125" y="881951"/>
            <a:ext cx="462915" cy="462915"/>
            <a:chOff x="3290125" y="881951"/>
            <a:chExt cx="462915" cy="462915"/>
          </a:xfrm>
        </p:grpSpPr>
        <p:sp>
          <p:nvSpPr>
            <p:cNvPr id="25" name="object 25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170" y="0"/>
                  </a:moveTo>
                  <a:lnTo>
                    <a:pt x="167386" y="5842"/>
                  </a:lnTo>
                  <a:lnTo>
                    <a:pt x="121665" y="22098"/>
                  </a:lnTo>
                  <a:lnTo>
                    <a:pt x="81407" y="47751"/>
                  </a:lnTo>
                  <a:lnTo>
                    <a:pt x="47751" y="81406"/>
                  </a:lnTo>
                  <a:lnTo>
                    <a:pt x="22098" y="121666"/>
                  </a:lnTo>
                  <a:lnTo>
                    <a:pt x="5841" y="167386"/>
                  </a:lnTo>
                  <a:lnTo>
                    <a:pt x="0" y="217169"/>
                  </a:lnTo>
                  <a:lnTo>
                    <a:pt x="5841" y="266826"/>
                  </a:lnTo>
                  <a:lnTo>
                    <a:pt x="22098" y="312547"/>
                  </a:lnTo>
                  <a:lnTo>
                    <a:pt x="47751" y="352932"/>
                  </a:lnTo>
                  <a:lnTo>
                    <a:pt x="81407" y="386461"/>
                  </a:lnTo>
                  <a:lnTo>
                    <a:pt x="121665" y="412114"/>
                  </a:lnTo>
                  <a:lnTo>
                    <a:pt x="167386" y="428498"/>
                  </a:lnTo>
                  <a:lnTo>
                    <a:pt x="217170" y="434213"/>
                  </a:lnTo>
                  <a:lnTo>
                    <a:pt x="266953" y="428498"/>
                  </a:lnTo>
                  <a:lnTo>
                    <a:pt x="312547" y="412114"/>
                  </a:lnTo>
                  <a:lnTo>
                    <a:pt x="352933" y="386461"/>
                  </a:lnTo>
                  <a:lnTo>
                    <a:pt x="386461" y="352932"/>
                  </a:lnTo>
                  <a:lnTo>
                    <a:pt x="412114" y="312547"/>
                  </a:lnTo>
                  <a:lnTo>
                    <a:pt x="428498" y="266826"/>
                  </a:lnTo>
                  <a:lnTo>
                    <a:pt x="434213" y="217169"/>
                  </a:lnTo>
                  <a:lnTo>
                    <a:pt x="430022" y="174625"/>
                  </a:lnTo>
                  <a:lnTo>
                    <a:pt x="417702" y="133984"/>
                  </a:lnTo>
                  <a:lnTo>
                    <a:pt x="397763" y="96647"/>
                  </a:lnTo>
                  <a:lnTo>
                    <a:pt x="370586" y="63626"/>
                  </a:lnTo>
                  <a:lnTo>
                    <a:pt x="337565" y="36575"/>
                  </a:lnTo>
                  <a:lnTo>
                    <a:pt x="300227" y="16509"/>
                  </a:lnTo>
                  <a:lnTo>
                    <a:pt x="259714" y="4318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69"/>
                  </a:moveTo>
                  <a:lnTo>
                    <a:pt x="5841" y="167386"/>
                  </a:lnTo>
                  <a:lnTo>
                    <a:pt x="22098" y="121666"/>
                  </a:lnTo>
                  <a:lnTo>
                    <a:pt x="47751" y="81406"/>
                  </a:lnTo>
                  <a:lnTo>
                    <a:pt x="81407" y="47751"/>
                  </a:lnTo>
                  <a:lnTo>
                    <a:pt x="121665" y="22098"/>
                  </a:lnTo>
                  <a:lnTo>
                    <a:pt x="167386" y="5842"/>
                  </a:lnTo>
                  <a:lnTo>
                    <a:pt x="217170" y="0"/>
                  </a:lnTo>
                  <a:lnTo>
                    <a:pt x="259714" y="4318"/>
                  </a:lnTo>
                  <a:lnTo>
                    <a:pt x="300227" y="16509"/>
                  </a:lnTo>
                  <a:lnTo>
                    <a:pt x="337565" y="36575"/>
                  </a:lnTo>
                  <a:lnTo>
                    <a:pt x="370586" y="63626"/>
                  </a:lnTo>
                  <a:lnTo>
                    <a:pt x="397763" y="96647"/>
                  </a:lnTo>
                  <a:lnTo>
                    <a:pt x="417702" y="133984"/>
                  </a:lnTo>
                  <a:lnTo>
                    <a:pt x="430022" y="174625"/>
                  </a:lnTo>
                  <a:lnTo>
                    <a:pt x="434213" y="217169"/>
                  </a:lnTo>
                  <a:lnTo>
                    <a:pt x="428498" y="266826"/>
                  </a:lnTo>
                  <a:lnTo>
                    <a:pt x="412114" y="312547"/>
                  </a:lnTo>
                  <a:lnTo>
                    <a:pt x="386461" y="352932"/>
                  </a:lnTo>
                  <a:lnTo>
                    <a:pt x="352933" y="386461"/>
                  </a:lnTo>
                  <a:lnTo>
                    <a:pt x="312547" y="412114"/>
                  </a:lnTo>
                  <a:lnTo>
                    <a:pt x="266953" y="428498"/>
                  </a:lnTo>
                  <a:lnTo>
                    <a:pt x="217170" y="434213"/>
                  </a:lnTo>
                  <a:lnTo>
                    <a:pt x="167386" y="428498"/>
                  </a:lnTo>
                  <a:lnTo>
                    <a:pt x="121665" y="412114"/>
                  </a:lnTo>
                  <a:lnTo>
                    <a:pt x="81407" y="386461"/>
                  </a:lnTo>
                  <a:lnTo>
                    <a:pt x="47751" y="352932"/>
                  </a:lnTo>
                  <a:lnTo>
                    <a:pt x="22098" y="312547"/>
                  </a:lnTo>
                  <a:lnTo>
                    <a:pt x="5841" y="266826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438525" y="926084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74632" y="4245547"/>
            <a:ext cx="462915" cy="462915"/>
            <a:chOff x="3274632" y="4245547"/>
            <a:chExt cx="462915" cy="462915"/>
          </a:xfrm>
        </p:grpSpPr>
        <p:sp>
          <p:nvSpPr>
            <p:cNvPr id="29" name="object 29"/>
            <p:cNvSpPr/>
            <p:nvPr/>
          </p:nvSpPr>
          <p:spPr>
            <a:xfrm>
              <a:off x="3288919" y="425983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5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80"/>
                  </a:lnTo>
                  <a:lnTo>
                    <a:pt x="22097" y="121539"/>
                  </a:lnTo>
                  <a:lnTo>
                    <a:pt x="5714" y="167259"/>
                  </a:lnTo>
                  <a:lnTo>
                    <a:pt x="0" y="217043"/>
                  </a:lnTo>
                  <a:lnTo>
                    <a:pt x="5714" y="266827"/>
                  </a:lnTo>
                  <a:lnTo>
                    <a:pt x="22097" y="312547"/>
                  </a:lnTo>
                  <a:lnTo>
                    <a:pt x="47751" y="352806"/>
                  </a:lnTo>
                  <a:lnTo>
                    <a:pt x="81279" y="386461"/>
                  </a:lnTo>
                  <a:lnTo>
                    <a:pt x="121665" y="412115"/>
                  </a:lnTo>
                  <a:lnTo>
                    <a:pt x="167258" y="428371"/>
                  </a:lnTo>
                  <a:lnTo>
                    <a:pt x="217042" y="434086"/>
                  </a:lnTo>
                  <a:lnTo>
                    <a:pt x="266826" y="428371"/>
                  </a:lnTo>
                  <a:lnTo>
                    <a:pt x="312546" y="412115"/>
                  </a:lnTo>
                  <a:lnTo>
                    <a:pt x="352805" y="386461"/>
                  </a:lnTo>
                  <a:lnTo>
                    <a:pt x="386460" y="352806"/>
                  </a:lnTo>
                  <a:lnTo>
                    <a:pt x="412114" y="312547"/>
                  </a:lnTo>
                  <a:lnTo>
                    <a:pt x="428370" y="266827"/>
                  </a:lnTo>
                  <a:lnTo>
                    <a:pt x="434213" y="217043"/>
                  </a:lnTo>
                  <a:lnTo>
                    <a:pt x="429894" y="174498"/>
                  </a:lnTo>
                  <a:lnTo>
                    <a:pt x="417575" y="133985"/>
                  </a:lnTo>
                  <a:lnTo>
                    <a:pt x="397636" y="96647"/>
                  </a:lnTo>
                  <a:lnTo>
                    <a:pt x="370585" y="63627"/>
                  </a:lnTo>
                  <a:lnTo>
                    <a:pt x="337565" y="36449"/>
                  </a:lnTo>
                  <a:lnTo>
                    <a:pt x="300100" y="16510"/>
                  </a:lnTo>
                  <a:lnTo>
                    <a:pt x="259587" y="4191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88919" y="425983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3"/>
                  </a:moveTo>
                  <a:lnTo>
                    <a:pt x="5714" y="167259"/>
                  </a:lnTo>
                  <a:lnTo>
                    <a:pt x="22097" y="121539"/>
                  </a:lnTo>
                  <a:lnTo>
                    <a:pt x="47751" y="81280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5"/>
                  </a:lnTo>
                  <a:lnTo>
                    <a:pt x="217042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565" y="36449"/>
                  </a:lnTo>
                  <a:lnTo>
                    <a:pt x="370585" y="63627"/>
                  </a:lnTo>
                  <a:lnTo>
                    <a:pt x="397636" y="96647"/>
                  </a:lnTo>
                  <a:lnTo>
                    <a:pt x="417575" y="133985"/>
                  </a:lnTo>
                  <a:lnTo>
                    <a:pt x="429894" y="174498"/>
                  </a:lnTo>
                  <a:lnTo>
                    <a:pt x="434213" y="217043"/>
                  </a:lnTo>
                  <a:lnTo>
                    <a:pt x="428370" y="266827"/>
                  </a:lnTo>
                  <a:lnTo>
                    <a:pt x="412114" y="312547"/>
                  </a:lnTo>
                  <a:lnTo>
                    <a:pt x="386460" y="352806"/>
                  </a:lnTo>
                  <a:lnTo>
                    <a:pt x="352805" y="386461"/>
                  </a:lnTo>
                  <a:lnTo>
                    <a:pt x="312546" y="412115"/>
                  </a:lnTo>
                  <a:lnTo>
                    <a:pt x="266826" y="428371"/>
                  </a:lnTo>
                  <a:lnTo>
                    <a:pt x="217042" y="434086"/>
                  </a:lnTo>
                  <a:lnTo>
                    <a:pt x="167258" y="428371"/>
                  </a:lnTo>
                  <a:lnTo>
                    <a:pt x="121665" y="412115"/>
                  </a:lnTo>
                  <a:lnTo>
                    <a:pt x="81279" y="386461"/>
                  </a:lnTo>
                  <a:lnTo>
                    <a:pt x="47751" y="352806"/>
                  </a:lnTo>
                  <a:lnTo>
                    <a:pt x="22097" y="312547"/>
                  </a:lnTo>
                  <a:lnTo>
                    <a:pt x="5714" y="266827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423030" y="4289882"/>
            <a:ext cx="15176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4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952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99</a:t>
            </a:fld>
            <a:endParaRPr spc="-25" dirty="0"/>
          </a:p>
        </p:txBody>
      </p:sp>
      <p:sp>
        <p:nvSpPr>
          <p:cNvPr id="32" name="object 32"/>
          <p:cNvSpPr txBox="1"/>
          <p:nvPr/>
        </p:nvSpPr>
        <p:spPr>
          <a:xfrm>
            <a:off x="4208526" y="4244086"/>
            <a:ext cx="89026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110" dirty="0">
                <a:solidFill>
                  <a:srgbClr val="164052"/>
                </a:solidFill>
                <a:latin typeface="Calibri"/>
                <a:cs typeface="Calibri"/>
              </a:rPr>
              <a:t>Démo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ELK</a:t>
            </a:r>
            <a:r>
              <a:rPr spc="-35" dirty="0"/>
              <a:t> </a:t>
            </a:r>
            <a:r>
              <a:rPr dirty="0"/>
              <a:t>c’est</a:t>
            </a:r>
            <a:r>
              <a:rPr spc="-45" dirty="0"/>
              <a:t> </a:t>
            </a:r>
            <a:r>
              <a:rPr spc="-10" dirty="0"/>
              <a:t>quoi?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42653" y="2755265"/>
            <a:ext cx="6325870" cy="2884170"/>
            <a:chOff x="1042653" y="2755265"/>
            <a:chExt cx="6325870" cy="28841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9763" y="4343146"/>
              <a:ext cx="1331214" cy="12961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2653" y="4802847"/>
              <a:ext cx="1701569" cy="5061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27529" y="2755265"/>
              <a:ext cx="5040630" cy="2020570"/>
            </a:xfrm>
            <a:custGeom>
              <a:avLst/>
              <a:gdLst/>
              <a:ahLst/>
              <a:cxnLst/>
              <a:rect l="l" t="t" r="r" b="b"/>
              <a:pathLst>
                <a:path w="5040630" h="2020570">
                  <a:moveTo>
                    <a:pt x="2471547" y="1347724"/>
                  </a:moveTo>
                  <a:lnTo>
                    <a:pt x="2470023" y="1345184"/>
                  </a:lnTo>
                  <a:lnTo>
                    <a:pt x="2467356" y="1344549"/>
                  </a:lnTo>
                  <a:lnTo>
                    <a:pt x="2464816" y="1343914"/>
                  </a:lnTo>
                  <a:lnTo>
                    <a:pt x="2462276" y="1345438"/>
                  </a:lnTo>
                  <a:lnTo>
                    <a:pt x="2461704" y="1347724"/>
                  </a:lnTo>
                  <a:lnTo>
                    <a:pt x="2445093" y="1416558"/>
                  </a:lnTo>
                  <a:lnTo>
                    <a:pt x="2081593" y="205003"/>
                  </a:lnTo>
                  <a:lnTo>
                    <a:pt x="2307463" y="7366"/>
                  </a:lnTo>
                  <a:lnTo>
                    <a:pt x="2301240" y="254"/>
                  </a:lnTo>
                  <a:lnTo>
                    <a:pt x="2078609" y="195046"/>
                  </a:lnTo>
                  <a:lnTo>
                    <a:pt x="2020824" y="2413"/>
                  </a:lnTo>
                  <a:lnTo>
                    <a:pt x="2011680" y="5207"/>
                  </a:lnTo>
                  <a:lnTo>
                    <a:pt x="2070709" y="201955"/>
                  </a:lnTo>
                  <a:lnTo>
                    <a:pt x="17310" y="1998586"/>
                  </a:lnTo>
                  <a:lnTo>
                    <a:pt x="17259" y="1998726"/>
                  </a:lnTo>
                  <a:lnTo>
                    <a:pt x="14478" y="2001062"/>
                  </a:lnTo>
                  <a:lnTo>
                    <a:pt x="17310" y="1998586"/>
                  </a:lnTo>
                  <a:lnTo>
                    <a:pt x="39751" y="1931670"/>
                  </a:lnTo>
                  <a:lnTo>
                    <a:pt x="40640" y="1929130"/>
                  </a:lnTo>
                  <a:lnTo>
                    <a:pt x="39243" y="1926463"/>
                  </a:lnTo>
                  <a:lnTo>
                    <a:pt x="36703" y="1925701"/>
                  </a:lnTo>
                  <a:lnTo>
                    <a:pt x="34290" y="1924812"/>
                  </a:lnTo>
                  <a:lnTo>
                    <a:pt x="31496" y="1926209"/>
                  </a:lnTo>
                  <a:lnTo>
                    <a:pt x="30734" y="1928622"/>
                  </a:lnTo>
                  <a:lnTo>
                    <a:pt x="0" y="2020062"/>
                  </a:lnTo>
                  <a:lnTo>
                    <a:pt x="13804" y="2017395"/>
                  </a:lnTo>
                  <a:lnTo>
                    <a:pt x="97282" y="2001266"/>
                  </a:lnTo>
                  <a:lnTo>
                    <a:pt x="98933" y="1998726"/>
                  </a:lnTo>
                  <a:lnTo>
                    <a:pt x="97917" y="1993646"/>
                  </a:lnTo>
                  <a:lnTo>
                    <a:pt x="95504" y="1991868"/>
                  </a:lnTo>
                  <a:lnTo>
                    <a:pt x="23545" y="2005799"/>
                  </a:lnTo>
                  <a:lnTo>
                    <a:pt x="2073694" y="211912"/>
                  </a:lnTo>
                  <a:lnTo>
                    <a:pt x="2436025" y="1419479"/>
                  </a:lnTo>
                  <a:lnTo>
                    <a:pt x="2382647" y="1369568"/>
                  </a:lnTo>
                  <a:lnTo>
                    <a:pt x="2379472" y="1369568"/>
                  </a:lnTo>
                  <a:lnTo>
                    <a:pt x="2375916" y="1373378"/>
                  </a:lnTo>
                  <a:lnTo>
                    <a:pt x="2375916" y="1376426"/>
                  </a:lnTo>
                  <a:lnTo>
                    <a:pt x="2377948" y="1378204"/>
                  </a:lnTo>
                  <a:lnTo>
                    <a:pt x="2448306" y="1443990"/>
                  </a:lnTo>
                  <a:lnTo>
                    <a:pt x="2450173" y="1436243"/>
                  </a:lnTo>
                  <a:lnTo>
                    <a:pt x="2470912" y="1350264"/>
                  </a:lnTo>
                  <a:lnTo>
                    <a:pt x="2471483" y="1347978"/>
                  </a:lnTo>
                  <a:lnTo>
                    <a:pt x="2471547" y="1347724"/>
                  </a:lnTo>
                  <a:close/>
                </a:path>
                <a:path w="5040630" h="2020570">
                  <a:moveTo>
                    <a:pt x="5040630" y="1876044"/>
                  </a:moveTo>
                  <a:lnTo>
                    <a:pt x="5039842" y="1874139"/>
                  </a:lnTo>
                  <a:lnTo>
                    <a:pt x="5004054" y="1786890"/>
                  </a:lnTo>
                  <a:lnTo>
                    <a:pt x="5003038" y="1784477"/>
                  </a:lnTo>
                  <a:lnTo>
                    <a:pt x="5000244" y="1783207"/>
                  </a:lnTo>
                  <a:lnTo>
                    <a:pt x="4995418" y="1785239"/>
                  </a:lnTo>
                  <a:lnTo>
                    <a:pt x="4994148" y="1788033"/>
                  </a:lnTo>
                  <a:lnTo>
                    <a:pt x="4995164" y="1790446"/>
                  </a:lnTo>
                  <a:lnTo>
                    <a:pt x="5021973" y="1855762"/>
                  </a:lnTo>
                  <a:lnTo>
                    <a:pt x="2595245" y="0"/>
                  </a:lnTo>
                  <a:lnTo>
                    <a:pt x="2589403" y="7620"/>
                  </a:lnTo>
                  <a:lnTo>
                    <a:pt x="5016170" y="1863318"/>
                  </a:lnTo>
                  <a:lnTo>
                    <a:pt x="4946142" y="1854581"/>
                  </a:lnTo>
                  <a:lnTo>
                    <a:pt x="4943602" y="1854200"/>
                  </a:lnTo>
                  <a:lnTo>
                    <a:pt x="4941189" y="1856105"/>
                  </a:lnTo>
                  <a:lnTo>
                    <a:pt x="4940935" y="1858645"/>
                  </a:lnTo>
                  <a:lnTo>
                    <a:pt x="4940554" y="1861312"/>
                  </a:lnTo>
                  <a:lnTo>
                    <a:pt x="4942459" y="1863725"/>
                  </a:lnTo>
                  <a:lnTo>
                    <a:pt x="4944999" y="1863979"/>
                  </a:lnTo>
                  <a:lnTo>
                    <a:pt x="5040630" y="1876044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0168" y="4775339"/>
            <a:ext cx="1632585" cy="39648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0940" y="5453888"/>
            <a:ext cx="275653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Analyse,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filtrage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découpage </a:t>
            </a:r>
            <a:r>
              <a:rPr sz="1600" dirty="0">
                <a:latin typeface="Arial MT"/>
                <a:cs typeface="Arial MT"/>
              </a:rPr>
              <a:t>des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logs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pour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transformer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10" dirty="0">
                <a:latin typeface="Arial MT"/>
                <a:cs typeface="Arial MT"/>
              </a:rPr>
              <a:t> documents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614"/>
              </a:lnSpc>
            </a:pPr>
            <a:fld id="{81D60167-4931-47E6-BA6A-407CBD079E47}" type="slidenum">
              <a:rPr sz="1600" spc="-25" dirty="0"/>
              <a:t>100</a:t>
            </a:fld>
            <a:endParaRPr sz="1600"/>
          </a:p>
        </p:txBody>
      </p:sp>
      <p:sp>
        <p:nvSpPr>
          <p:cNvPr id="9" name="object 9"/>
          <p:cNvSpPr txBox="1"/>
          <p:nvPr/>
        </p:nvSpPr>
        <p:spPr>
          <a:xfrm>
            <a:off x="3918965" y="5869686"/>
            <a:ext cx="222313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Moteur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stockage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et </a:t>
            </a:r>
            <a:r>
              <a:rPr sz="1600" spc="-10" dirty="0">
                <a:latin typeface="Arial MT"/>
                <a:cs typeface="Arial MT"/>
              </a:rPr>
              <a:t>d’indexation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données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16802" y="5592572"/>
            <a:ext cx="333247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Dashboard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interactif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paramétrable </a:t>
            </a:r>
            <a:r>
              <a:rPr sz="1600" dirty="0">
                <a:latin typeface="Arial MT"/>
                <a:cs typeface="Arial MT"/>
              </a:rPr>
              <a:t>permettant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visualiser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données </a:t>
            </a:r>
            <a:r>
              <a:rPr sz="1600" dirty="0">
                <a:latin typeface="Arial MT"/>
                <a:cs typeface="Arial MT"/>
              </a:rPr>
              <a:t>stockées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dans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ElasticSearch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5832" y="1556385"/>
            <a:ext cx="6855459" cy="125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ELK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logicielle composée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logiciels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pour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obtenir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une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solution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d’analyse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performante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complète</a:t>
            </a:r>
            <a:endParaRPr sz="1800">
              <a:latin typeface="Arial"/>
              <a:cs typeface="Arial"/>
            </a:endParaRPr>
          </a:p>
          <a:p>
            <a:pPr marL="18415" algn="ctr">
              <a:lnSpc>
                <a:spcPct val="100000"/>
              </a:lnSpc>
              <a:spcBef>
                <a:spcPts val="210"/>
              </a:spcBef>
            </a:pPr>
            <a:r>
              <a:rPr sz="4300" b="1" spc="-25" dirty="0">
                <a:solidFill>
                  <a:srgbClr val="FF6600"/>
                </a:solidFill>
                <a:latin typeface="Calibri"/>
                <a:cs typeface="Calibri"/>
              </a:rPr>
              <a:t>ELK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Contexte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614"/>
              </a:lnSpc>
            </a:pPr>
            <a:fld id="{81D60167-4931-47E6-BA6A-407CBD079E47}" type="slidenum">
              <a:rPr sz="1600" spc="-25" dirty="0"/>
              <a:t>101</a:t>
            </a:fld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9005570" cy="392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L’objectif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est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d’analyser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logs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d’un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serveur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(Ex: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Apache),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afin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 visualiser</a:t>
            </a:r>
            <a:endParaRPr sz="2300">
              <a:latin typeface="Calibri"/>
              <a:cs typeface="Calibri"/>
            </a:endParaRPr>
          </a:p>
          <a:p>
            <a:pPr marL="12700" marR="7696834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mode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graphique:</a:t>
            </a:r>
            <a:endParaRPr sz="23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spcBef>
                <a:spcPts val="279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Moyenne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temps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réponse</a:t>
            </a:r>
            <a:endParaRPr sz="18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Débit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requêtes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seconde</a:t>
            </a:r>
            <a:endParaRPr sz="18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Nombre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500,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….</a:t>
            </a:r>
            <a:endParaRPr sz="18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spc="-25" dirty="0">
                <a:latin typeface="Calibri"/>
                <a:cs typeface="Calibri"/>
              </a:rPr>
              <a:t>……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Tout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ce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qui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sera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utile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pour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vérifier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bon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comportement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serveur.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Ces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analyses</a:t>
            </a:r>
            <a:r>
              <a:rPr sz="23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seront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corréler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avec</a:t>
            </a:r>
            <a:r>
              <a:rPr sz="2300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d’autres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sources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d’informations</a:t>
            </a:r>
            <a:r>
              <a:rPr sz="2300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comme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métriques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apportés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par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mod_status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Apache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par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exemple.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Options</a:t>
            </a:r>
            <a:r>
              <a:rPr spc="-30" dirty="0"/>
              <a:t> </a:t>
            </a:r>
            <a:r>
              <a:rPr dirty="0"/>
              <a:t>de</a:t>
            </a:r>
            <a:r>
              <a:rPr spc="-10" dirty="0"/>
              <a:t> déploiement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18202" y="2845181"/>
            <a:ext cx="1724660" cy="1348105"/>
            <a:chOff x="4618202" y="2845181"/>
            <a:chExt cx="1724660" cy="13481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8202" y="2845181"/>
              <a:ext cx="1724608" cy="13477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7617" y="2977426"/>
              <a:ext cx="602881" cy="338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4033" y="3352990"/>
              <a:ext cx="514464" cy="48621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87746" y="3020949"/>
            <a:ext cx="5772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Arial MT"/>
                <a:cs typeface="Arial MT"/>
              </a:rPr>
              <a:t>17.09+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 MT"/>
                <a:cs typeface="Arial MT"/>
              </a:rPr>
              <a:t>17.06+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4794" y="2571369"/>
            <a:ext cx="8782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381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Arial MT"/>
                <a:cs typeface="Arial MT"/>
              </a:rPr>
              <a:t>Compose Repository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9205" y="2298573"/>
            <a:ext cx="152527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2465" marR="5080" indent="-6604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Télécharger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compose </a:t>
            </a:r>
            <a:r>
              <a:rPr sz="1100" spc="-20" dirty="0">
                <a:latin typeface="Arial MT"/>
                <a:cs typeface="Arial MT"/>
              </a:rPr>
              <a:t>file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22132" y="2571369"/>
            <a:ext cx="14890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Docker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Repository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50761" y="1921891"/>
            <a:ext cx="2103755" cy="1806575"/>
          </a:xfrm>
          <a:custGeom>
            <a:avLst/>
            <a:gdLst/>
            <a:ahLst/>
            <a:cxnLst/>
            <a:rect l="l" t="t" r="r" b="b"/>
            <a:pathLst>
              <a:path w="2103754" h="1806575">
                <a:moveTo>
                  <a:pt x="84962" y="1706245"/>
                </a:moveTo>
                <a:lnTo>
                  <a:pt x="82676" y="1707641"/>
                </a:lnTo>
                <a:lnTo>
                  <a:pt x="0" y="1757172"/>
                </a:lnTo>
                <a:lnTo>
                  <a:pt x="83820" y="1804797"/>
                </a:lnTo>
                <a:lnTo>
                  <a:pt x="86105" y="1806066"/>
                </a:lnTo>
                <a:lnTo>
                  <a:pt x="89026" y="1805177"/>
                </a:lnTo>
                <a:lnTo>
                  <a:pt x="91566" y="1800605"/>
                </a:lnTo>
                <a:lnTo>
                  <a:pt x="90804" y="1797812"/>
                </a:lnTo>
                <a:lnTo>
                  <a:pt x="88518" y="1796414"/>
                </a:lnTo>
                <a:lnTo>
                  <a:pt x="27465" y="1761743"/>
                </a:lnTo>
                <a:lnTo>
                  <a:pt x="9525" y="1761743"/>
                </a:lnTo>
                <a:lnTo>
                  <a:pt x="9398" y="1752218"/>
                </a:lnTo>
                <a:lnTo>
                  <a:pt x="26779" y="1752218"/>
                </a:lnTo>
                <a:lnTo>
                  <a:pt x="87629" y="1715770"/>
                </a:lnTo>
                <a:lnTo>
                  <a:pt x="89788" y="1714373"/>
                </a:lnTo>
                <a:lnTo>
                  <a:pt x="90550" y="1711452"/>
                </a:lnTo>
                <a:lnTo>
                  <a:pt x="89355" y="1709420"/>
                </a:lnTo>
                <a:lnTo>
                  <a:pt x="87884" y="1707006"/>
                </a:lnTo>
                <a:lnTo>
                  <a:pt x="84962" y="1706245"/>
                </a:lnTo>
                <a:close/>
              </a:path>
              <a:path w="2103754" h="1806575">
                <a:moveTo>
                  <a:pt x="26779" y="1752218"/>
                </a:moveTo>
                <a:lnTo>
                  <a:pt x="9398" y="1752218"/>
                </a:lnTo>
                <a:lnTo>
                  <a:pt x="9525" y="1761743"/>
                </a:lnTo>
                <a:lnTo>
                  <a:pt x="27465" y="1761743"/>
                </a:lnTo>
                <a:lnTo>
                  <a:pt x="26347" y="1761109"/>
                </a:lnTo>
                <a:lnTo>
                  <a:pt x="11937" y="1761109"/>
                </a:lnTo>
                <a:lnTo>
                  <a:pt x="11811" y="1752853"/>
                </a:lnTo>
                <a:lnTo>
                  <a:pt x="25719" y="1752853"/>
                </a:lnTo>
                <a:lnTo>
                  <a:pt x="26779" y="1752218"/>
                </a:lnTo>
                <a:close/>
              </a:path>
              <a:path w="2103754" h="1806575">
                <a:moveTo>
                  <a:pt x="2103628" y="0"/>
                </a:moveTo>
                <a:lnTo>
                  <a:pt x="2054352" y="1270"/>
                </a:lnTo>
                <a:lnTo>
                  <a:pt x="2004821" y="5079"/>
                </a:lnTo>
                <a:lnTo>
                  <a:pt x="1955672" y="11175"/>
                </a:lnTo>
                <a:lnTo>
                  <a:pt x="1906651" y="19812"/>
                </a:lnTo>
                <a:lnTo>
                  <a:pt x="1858137" y="30479"/>
                </a:lnTo>
                <a:lnTo>
                  <a:pt x="1810131" y="43434"/>
                </a:lnTo>
                <a:lnTo>
                  <a:pt x="1762760" y="58420"/>
                </a:lnTo>
                <a:lnTo>
                  <a:pt x="1715896" y="75564"/>
                </a:lnTo>
                <a:lnTo>
                  <a:pt x="1669922" y="94487"/>
                </a:lnTo>
                <a:lnTo>
                  <a:pt x="1624838" y="115315"/>
                </a:lnTo>
                <a:lnTo>
                  <a:pt x="1580641" y="138049"/>
                </a:lnTo>
                <a:lnTo>
                  <a:pt x="1537462" y="162305"/>
                </a:lnTo>
                <a:lnTo>
                  <a:pt x="1495679" y="188213"/>
                </a:lnTo>
                <a:lnTo>
                  <a:pt x="1454912" y="215646"/>
                </a:lnTo>
                <a:lnTo>
                  <a:pt x="1415541" y="244601"/>
                </a:lnTo>
                <a:lnTo>
                  <a:pt x="1377695" y="274827"/>
                </a:lnTo>
                <a:lnTo>
                  <a:pt x="1341373" y="306450"/>
                </a:lnTo>
                <a:lnTo>
                  <a:pt x="1306703" y="339089"/>
                </a:lnTo>
                <a:lnTo>
                  <a:pt x="1273683" y="373125"/>
                </a:lnTo>
                <a:lnTo>
                  <a:pt x="1242567" y="408050"/>
                </a:lnTo>
                <a:lnTo>
                  <a:pt x="1213231" y="443864"/>
                </a:lnTo>
                <a:lnTo>
                  <a:pt x="1186053" y="480695"/>
                </a:lnTo>
                <a:lnTo>
                  <a:pt x="1161034" y="518287"/>
                </a:lnTo>
                <a:lnTo>
                  <a:pt x="1138173" y="556767"/>
                </a:lnTo>
                <a:lnTo>
                  <a:pt x="1117599" y="595756"/>
                </a:lnTo>
                <a:lnTo>
                  <a:pt x="1099565" y="635380"/>
                </a:lnTo>
                <a:lnTo>
                  <a:pt x="1083944" y="675513"/>
                </a:lnTo>
                <a:lnTo>
                  <a:pt x="1070864" y="716026"/>
                </a:lnTo>
                <a:lnTo>
                  <a:pt x="1060577" y="756920"/>
                </a:lnTo>
                <a:lnTo>
                  <a:pt x="1053084" y="797940"/>
                </a:lnTo>
                <a:lnTo>
                  <a:pt x="1048512" y="839215"/>
                </a:lnTo>
                <a:lnTo>
                  <a:pt x="1046988" y="880617"/>
                </a:lnTo>
                <a:lnTo>
                  <a:pt x="1046988" y="901700"/>
                </a:lnTo>
                <a:lnTo>
                  <a:pt x="1045844" y="921892"/>
                </a:lnTo>
                <a:lnTo>
                  <a:pt x="1041399" y="962533"/>
                </a:lnTo>
                <a:lnTo>
                  <a:pt x="1033907" y="1003046"/>
                </a:lnTo>
                <a:lnTo>
                  <a:pt x="1023873" y="1043304"/>
                </a:lnTo>
                <a:lnTo>
                  <a:pt x="1011046" y="1083310"/>
                </a:lnTo>
                <a:lnTo>
                  <a:pt x="995680" y="1122934"/>
                </a:lnTo>
                <a:lnTo>
                  <a:pt x="977772" y="1162050"/>
                </a:lnTo>
                <a:lnTo>
                  <a:pt x="957453" y="1200658"/>
                </a:lnTo>
                <a:lnTo>
                  <a:pt x="934973" y="1238630"/>
                </a:lnTo>
                <a:lnTo>
                  <a:pt x="910082" y="1275841"/>
                </a:lnTo>
                <a:lnTo>
                  <a:pt x="883158" y="1312290"/>
                </a:lnTo>
                <a:lnTo>
                  <a:pt x="854202" y="1347851"/>
                </a:lnTo>
                <a:lnTo>
                  <a:pt x="823467" y="1382649"/>
                </a:lnTo>
                <a:lnTo>
                  <a:pt x="790702" y="1416177"/>
                </a:lnTo>
                <a:lnTo>
                  <a:pt x="756285" y="1448689"/>
                </a:lnTo>
                <a:lnTo>
                  <a:pt x="720216" y="1479930"/>
                </a:lnTo>
                <a:lnTo>
                  <a:pt x="682624" y="1509902"/>
                </a:lnTo>
                <a:lnTo>
                  <a:pt x="643636" y="1538604"/>
                </a:lnTo>
                <a:lnTo>
                  <a:pt x="603249" y="1565783"/>
                </a:lnTo>
                <a:lnTo>
                  <a:pt x="561720" y="1591564"/>
                </a:lnTo>
                <a:lnTo>
                  <a:pt x="518921" y="1615693"/>
                </a:lnTo>
                <a:lnTo>
                  <a:pt x="475107" y="1638173"/>
                </a:lnTo>
                <a:lnTo>
                  <a:pt x="430276" y="1658747"/>
                </a:lnTo>
                <a:lnTo>
                  <a:pt x="384683" y="1677542"/>
                </a:lnTo>
                <a:lnTo>
                  <a:pt x="338201" y="1694561"/>
                </a:lnTo>
                <a:lnTo>
                  <a:pt x="291084" y="1709420"/>
                </a:lnTo>
                <a:lnTo>
                  <a:pt x="243459" y="1722247"/>
                </a:lnTo>
                <a:lnTo>
                  <a:pt x="195326" y="1732914"/>
                </a:lnTo>
                <a:lnTo>
                  <a:pt x="146812" y="1741424"/>
                </a:lnTo>
                <a:lnTo>
                  <a:pt x="98043" y="1747392"/>
                </a:lnTo>
                <a:lnTo>
                  <a:pt x="49022" y="1751202"/>
                </a:lnTo>
                <a:lnTo>
                  <a:pt x="21009" y="1752218"/>
                </a:lnTo>
                <a:lnTo>
                  <a:pt x="26779" y="1752218"/>
                </a:lnTo>
                <a:lnTo>
                  <a:pt x="18967" y="1756917"/>
                </a:lnTo>
                <a:lnTo>
                  <a:pt x="27465" y="1761743"/>
                </a:lnTo>
                <a:lnTo>
                  <a:pt x="21796" y="1761743"/>
                </a:lnTo>
                <a:lnTo>
                  <a:pt x="74422" y="1759077"/>
                </a:lnTo>
                <a:lnTo>
                  <a:pt x="123698" y="1754124"/>
                </a:lnTo>
                <a:lnTo>
                  <a:pt x="172846" y="1746758"/>
                </a:lnTo>
                <a:lnTo>
                  <a:pt x="245871" y="1731390"/>
                </a:lnTo>
                <a:lnTo>
                  <a:pt x="294005" y="1718564"/>
                </a:lnTo>
                <a:lnTo>
                  <a:pt x="341376" y="1703451"/>
                </a:lnTo>
                <a:lnTo>
                  <a:pt x="388238" y="1686433"/>
                </a:lnTo>
                <a:lnTo>
                  <a:pt x="434213" y="1667510"/>
                </a:lnTo>
                <a:lnTo>
                  <a:pt x="479424" y="1646554"/>
                </a:lnTo>
                <a:lnTo>
                  <a:pt x="523620" y="1623949"/>
                </a:lnTo>
                <a:lnTo>
                  <a:pt x="566673" y="1599691"/>
                </a:lnTo>
                <a:lnTo>
                  <a:pt x="608584" y="1573784"/>
                </a:lnTo>
                <a:lnTo>
                  <a:pt x="649351" y="1546225"/>
                </a:lnTo>
                <a:lnTo>
                  <a:pt x="688593" y="1517396"/>
                </a:lnTo>
                <a:lnTo>
                  <a:pt x="726439" y="1487170"/>
                </a:lnTo>
                <a:lnTo>
                  <a:pt x="762888" y="1455674"/>
                </a:lnTo>
                <a:lnTo>
                  <a:pt x="797560" y="1422780"/>
                </a:lnTo>
                <a:lnTo>
                  <a:pt x="830580" y="1388872"/>
                </a:lnTo>
                <a:lnTo>
                  <a:pt x="861694" y="1353947"/>
                </a:lnTo>
                <a:lnTo>
                  <a:pt x="890778" y="1318005"/>
                </a:lnTo>
                <a:lnTo>
                  <a:pt x="917956" y="1281176"/>
                </a:lnTo>
                <a:lnTo>
                  <a:pt x="943102" y="1243584"/>
                </a:lnTo>
                <a:lnTo>
                  <a:pt x="965835" y="1205102"/>
                </a:lnTo>
                <a:lnTo>
                  <a:pt x="986409" y="1166114"/>
                </a:lnTo>
                <a:lnTo>
                  <a:pt x="1004442" y="1126489"/>
                </a:lnTo>
                <a:lnTo>
                  <a:pt x="1020063" y="1086358"/>
                </a:lnTo>
                <a:lnTo>
                  <a:pt x="1033017" y="1045845"/>
                </a:lnTo>
                <a:lnTo>
                  <a:pt x="1043305" y="1004951"/>
                </a:lnTo>
                <a:lnTo>
                  <a:pt x="1050797" y="963676"/>
                </a:lnTo>
                <a:lnTo>
                  <a:pt x="1055242" y="922401"/>
                </a:lnTo>
                <a:lnTo>
                  <a:pt x="1056516" y="880617"/>
                </a:lnTo>
                <a:lnTo>
                  <a:pt x="1056766" y="860551"/>
                </a:lnTo>
                <a:lnTo>
                  <a:pt x="1059814" y="819785"/>
                </a:lnTo>
                <a:lnTo>
                  <a:pt x="1065784" y="779272"/>
                </a:lnTo>
                <a:lnTo>
                  <a:pt x="1074546" y="738886"/>
                </a:lnTo>
                <a:lnTo>
                  <a:pt x="1085977" y="698753"/>
                </a:lnTo>
                <a:lnTo>
                  <a:pt x="1100201" y="659002"/>
                </a:lnTo>
                <a:lnTo>
                  <a:pt x="1116838" y="619633"/>
                </a:lnTo>
                <a:lnTo>
                  <a:pt x="1136014" y="580771"/>
                </a:lnTo>
                <a:lnTo>
                  <a:pt x="1157351" y="542543"/>
                </a:lnTo>
                <a:lnTo>
                  <a:pt x="1193672" y="486410"/>
                </a:lnTo>
                <a:lnTo>
                  <a:pt x="1220596" y="449834"/>
                </a:lnTo>
                <a:lnTo>
                  <a:pt x="1249680" y="414274"/>
                </a:lnTo>
                <a:lnTo>
                  <a:pt x="1280414" y="379729"/>
                </a:lnTo>
                <a:lnTo>
                  <a:pt x="1313180" y="346075"/>
                </a:lnTo>
                <a:lnTo>
                  <a:pt x="1347596" y="313563"/>
                </a:lnTo>
                <a:lnTo>
                  <a:pt x="1383664" y="282321"/>
                </a:lnTo>
                <a:lnTo>
                  <a:pt x="1421257" y="252222"/>
                </a:lnTo>
                <a:lnTo>
                  <a:pt x="1460245" y="223520"/>
                </a:lnTo>
                <a:lnTo>
                  <a:pt x="1500632" y="196341"/>
                </a:lnTo>
                <a:lnTo>
                  <a:pt x="1542161" y="170561"/>
                </a:lnTo>
                <a:lnTo>
                  <a:pt x="1584960" y="146558"/>
                </a:lnTo>
                <a:lnTo>
                  <a:pt x="1628774" y="124078"/>
                </a:lnTo>
                <a:lnTo>
                  <a:pt x="1673606" y="103377"/>
                </a:lnTo>
                <a:lnTo>
                  <a:pt x="1719198" y="84581"/>
                </a:lnTo>
                <a:lnTo>
                  <a:pt x="1765554" y="67563"/>
                </a:lnTo>
                <a:lnTo>
                  <a:pt x="1812670" y="52704"/>
                </a:lnTo>
                <a:lnTo>
                  <a:pt x="1860295" y="39750"/>
                </a:lnTo>
                <a:lnTo>
                  <a:pt x="1908429" y="29083"/>
                </a:lnTo>
                <a:lnTo>
                  <a:pt x="1956942" y="20574"/>
                </a:lnTo>
                <a:lnTo>
                  <a:pt x="2005711" y="14477"/>
                </a:lnTo>
                <a:lnTo>
                  <a:pt x="2054606" y="10667"/>
                </a:lnTo>
                <a:lnTo>
                  <a:pt x="2103755" y="9525"/>
                </a:lnTo>
                <a:lnTo>
                  <a:pt x="2103628" y="0"/>
                </a:lnTo>
                <a:close/>
              </a:path>
              <a:path w="2103754" h="1806575">
                <a:moveTo>
                  <a:pt x="11811" y="1752853"/>
                </a:moveTo>
                <a:lnTo>
                  <a:pt x="11937" y="1761109"/>
                </a:lnTo>
                <a:lnTo>
                  <a:pt x="18934" y="1756917"/>
                </a:lnTo>
                <a:lnTo>
                  <a:pt x="11811" y="1752853"/>
                </a:lnTo>
                <a:close/>
              </a:path>
              <a:path w="2103754" h="1806575">
                <a:moveTo>
                  <a:pt x="18967" y="1756917"/>
                </a:moveTo>
                <a:lnTo>
                  <a:pt x="18510" y="1757172"/>
                </a:lnTo>
                <a:lnTo>
                  <a:pt x="11937" y="1761109"/>
                </a:lnTo>
                <a:lnTo>
                  <a:pt x="26347" y="1761109"/>
                </a:lnTo>
                <a:lnTo>
                  <a:pt x="18967" y="1756917"/>
                </a:lnTo>
                <a:close/>
              </a:path>
              <a:path w="2103754" h="1806575">
                <a:moveTo>
                  <a:pt x="25719" y="1752853"/>
                </a:moveTo>
                <a:lnTo>
                  <a:pt x="11811" y="1752853"/>
                </a:lnTo>
                <a:lnTo>
                  <a:pt x="18967" y="1756917"/>
                </a:lnTo>
                <a:lnTo>
                  <a:pt x="25719" y="1752853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83046" y="2213864"/>
            <a:ext cx="131953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Arial MT"/>
                <a:cs typeface="Arial MT"/>
              </a:rPr>
              <a:t>Récupère automatiquement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les </a:t>
            </a:r>
            <a:r>
              <a:rPr sz="1100" dirty="0">
                <a:latin typeface="Arial MT"/>
                <a:cs typeface="Arial MT"/>
              </a:rPr>
              <a:t>images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Docker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36009" y="4274210"/>
            <a:ext cx="2693035" cy="339090"/>
          </a:xfrm>
          <a:custGeom>
            <a:avLst/>
            <a:gdLst/>
            <a:ahLst/>
            <a:cxnLst/>
            <a:rect l="l" t="t" r="r" b="b"/>
            <a:pathLst>
              <a:path w="2693034" h="339089">
                <a:moveTo>
                  <a:pt x="2693035" y="0"/>
                </a:moveTo>
                <a:lnTo>
                  <a:pt x="0" y="0"/>
                </a:lnTo>
                <a:lnTo>
                  <a:pt x="0" y="338556"/>
                </a:lnTo>
                <a:lnTo>
                  <a:pt x="2693035" y="338556"/>
                </a:lnTo>
                <a:lnTo>
                  <a:pt x="269303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47515" y="4297426"/>
            <a:ext cx="24720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onsolas"/>
                <a:cs typeface="Consolas"/>
              </a:rPr>
              <a:t>#</a:t>
            </a:r>
            <a:r>
              <a:rPr sz="1600" b="1" spc="-5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docker-</a:t>
            </a:r>
            <a:r>
              <a:rPr sz="1600" b="1" dirty="0">
                <a:latin typeface="Consolas"/>
                <a:cs typeface="Consolas"/>
              </a:rPr>
              <a:t>compose</a:t>
            </a:r>
            <a:r>
              <a:rPr sz="1600" b="1" spc="-5" dirty="0">
                <a:latin typeface="Consolas"/>
                <a:cs typeface="Consolas"/>
              </a:rPr>
              <a:t> </a:t>
            </a:r>
            <a:r>
              <a:rPr sz="1600" b="1" dirty="0">
                <a:latin typeface="Consolas"/>
                <a:cs typeface="Consolas"/>
              </a:rPr>
              <a:t>up </a:t>
            </a:r>
            <a:r>
              <a:rPr sz="1600" b="1" spc="-10" dirty="0">
                <a:latin typeface="Consolas"/>
                <a:cs typeface="Consolas"/>
              </a:rPr>
              <a:t>-</a:t>
            </a:r>
            <a:r>
              <a:rPr sz="1600" b="1" spc="-50" dirty="0">
                <a:latin typeface="Consolas"/>
                <a:cs typeface="Consolas"/>
              </a:rPr>
              <a:t>d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73632" y="1675257"/>
            <a:ext cx="7825740" cy="4179570"/>
            <a:chOff x="1373632" y="1675257"/>
            <a:chExt cx="7825740" cy="417957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3632" y="5293741"/>
              <a:ext cx="709155" cy="5610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7123" y="5293741"/>
              <a:ext cx="709155" cy="56108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4345" y="4700397"/>
              <a:ext cx="709155" cy="56108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3260" y="4843970"/>
              <a:ext cx="314642" cy="33381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9118" y="5437225"/>
              <a:ext cx="321462" cy="34114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60930" y="5437187"/>
              <a:ext cx="264896" cy="33381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52447" y="3674491"/>
              <a:ext cx="2562225" cy="1026160"/>
            </a:xfrm>
            <a:custGeom>
              <a:avLst/>
              <a:gdLst/>
              <a:ahLst/>
              <a:cxnLst/>
              <a:rect l="l" t="t" r="r" b="b"/>
              <a:pathLst>
                <a:path w="2562225" h="1026160">
                  <a:moveTo>
                    <a:pt x="5587" y="933195"/>
                  </a:moveTo>
                  <a:lnTo>
                    <a:pt x="3301" y="934465"/>
                  </a:lnTo>
                  <a:lnTo>
                    <a:pt x="888" y="935736"/>
                  </a:lnTo>
                  <a:lnTo>
                    <a:pt x="121" y="938149"/>
                  </a:lnTo>
                  <a:lnTo>
                    <a:pt x="0" y="938530"/>
                  </a:lnTo>
                  <a:lnTo>
                    <a:pt x="46481" y="1026032"/>
                  </a:lnTo>
                  <a:lnTo>
                    <a:pt x="52392" y="1016762"/>
                  </a:lnTo>
                  <a:lnTo>
                    <a:pt x="51561" y="1016762"/>
                  </a:lnTo>
                  <a:lnTo>
                    <a:pt x="42036" y="1016381"/>
                  </a:lnTo>
                  <a:lnTo>
                    <a:pt x="42623" y="1002664"/>
                  </a:lnTo>
                  <a:lnTo>
                    <a:pt x="42671" y="1001521"/>
                  </a:lnTo>
                  <a:lnTo>
                    <a:pt x="42949" y="999110"/>
                  </a:lnTo>
                  <a:lnTo>
                    <a:pt x="9651" y="936498"/>
                  </a:lnTo>
                  <a:lnTo>
                    <a:pt x="8508" y="934084"/>
                  </a:lnTo>
                  <a:lnTo>
                    <a:pt x="5587" y="933195"/>
                  </a:lnTo>
                  <a:close/>
                </a:path>
                <a:path w="2562225" h="1026160">
                  <a:moveTo>
                    <a:pt x="42949" y="999110"/>
                  </a:moveTo>
                  <a:lnTo>
                    <a:pt x="42671" y="1001521"/>
                  </a:lnTo>
                  <a:lnTo>
                    <a:pt x="42140" y="1013968"/>
                  </a:lnTo>
                  <a:lnTo>
                    <a:pt x="42036" y="1016381"/>
                  </a:lnTo>
                  <a:lnTo>
                    <a:pt x="51561" y="1016762"/>
                  </a:lnTo>
                  <a:lnTo>
                    <a:pt x="51670" y="1014349"/>
                  </a:lnTo>
                  <a:lnTo>
                    <a:pt x="51053" y="1014349"/>
                  </a:lnTo>
                  <a:lnTo>
                    <a:pt x="42798" y="1013968"/>
                  </a:lnTo>
                  <a:lnTo>
                    <a:pt x="47194" y="1007092"/>
                  </a:lnTo>
                  <a:lnTo>
                    <a:pt x="42949" y="999110"/>
                  </a:lnTo>
                  <a:close/>
                </a:path>
                <a:path w="2562225" h="1026160">
                  <a:moveTo>
                    <a:pt x="94614" y="936751"/>
                  </a:moveTo>
                  <a:lnTo>
                    <a:pt x="91693" y="937387"/>
                  </a:lnTo>
                  <a:lnTo>
                    <a:pt x="90374" y="939545"/>
                  </a:lnTo>
                  <a:lnTo>
                    <a:pt x="52636" y="998581"/>
                  </a:lnTo>
                  <a:lnTo>
                    <a:pt x="52319" y="1001521"/>
                  </a:lnTo>
                  <a:lnTo>
                    <a:pt x="52196" y="1002664"/>
                  </a:lnTo>
                  <a:lnTo>
                    <a:pt x="51687" y="1013968"/>
                  </a:lnTo>
                  <a:lnTo>
                    <a:pt x="51561" y="1016762"/>
                  </a:lnTo>
                  <a:lnTo>
                    <a:pt x="52392" y="1016762"/>
                  </a:lnTo>
                  <a:lnTo>
                    <a:pt x="98297" y="944752"/>
                  </a:lnTo>
                  <a:lnTo>
                    <a:pt x="99694" y="942594"/>
                  </a:lnTo>
                  <a:lnTo>
                    <a:pt x="99086" y="939673"/>
                  </a:lnTo>
                  <a:lnTo>
                    <a:pt x="99059" y="939545"/>
                  </a:lnTo>
                  <a:lnTo>
                    <a:pt x="96900" y="938149"/>
                  </a:lnTo>
                  <a:lnTo>
                    <a:pt x="94614" y="936751"/>
                  </a:lnTo>
                  <a:close/>
                </a:path>
                <a:path w="2562225" h="1026160">
                  <a:moveTo>
                    <a:pt x="47194" y="1007092"/>
                  </a:moveTo>
                  <a:lnTo>
                    <a:pt x="42798" y="1013968"/>
                  </a:lnTo>
                  <a:lnTo>
                    <a:pt x="51053" y="1014349"/>
                  </a:lnTo>
                  <a:lnTo>
                    <a:pt x="47194" y="1007092"/>
                  </a:lnTo>
                  <a:close/>
                </a:path>
                <a:path w="2562225" h="1026160">
                  <a:moveTo>
                    <a:pt x="52636" y="998581"/>
                  </a:moveTo>
                  <a:lnTo>
                    <a:pt x="47194" y="1007092"/>
                  </a:lnTo>
                  <a:lnTo>
                    <a:pt x="51053" y="1014349"/>
                  </a:lnTo>
                  <a:lnTo>
                    <a:pt x="51670" y="1014349"/>
                  </a:lnTo>
                  <a:lnTo>
                    <a:pt x="52196" y="1002664"/>
                  </a:lnTo>
                  <a:lnTo>
                    <a:pt x="52579" y="999110"/>
                  </a:lnTo>
                  <a:lnTo>
                    <a:pt x="52636" y="998581"/>
                  </a:lnTo>
                  <a:close/>
                </a:path>
                <a:path w="2562225" h="1026160">
                  <a:moveTo>
                    <a:pt x="2561590" y="0"/>
                  </a:moveTo>
                  <a:lnTo>
                    <a:pt x="2443733" y="1524"/>
                  </a:lnTo>
                  <a:lnTo>
                    <a:pt x="2326004" y="5968"/>
                  </a:lnTo>
                  <a:lnTo>
                    <a:pt x="2208783" y="13080"/>
                  </a:lnTo>
                  <a:lnTo>
                    <a:pt x="2092198" y="22987"/>
                  </a:lnTo>
                  <a:lnTo>
                    <a:pt x="1976374" y="35560"/>
                  </a:lnTo>
                  <a:lnTo>
                    <a:pt x="1861947" y="50546"/>
                  </a:lnTo>
                  <a:lnTo>
                    <a:pt x="1748789" y="68072"/>
                  </a:lnTo>
                  <a:lnTo>
                    <a:pt x="1637283" y="87884"/>
                  </a:lnTo>
                  <a:lnTo>
                    <a:pt x="1527682" y="109981"/>
                  </a:lnTo>
                  <a:lnTo>
                    <a:pt x="1419987" y="134238"/>
                  </a:lnTo>
                  <a:lnTo>
                    <a:pt x="1314703" y="160400"/>
                  </a:lnTo>
                  <a:lnTo>
                    <a:pt x="1211961" y="188722"/>
                  </a:lnTo>
                  <a:lnTo>
                    <a:pt x="1111884" y="218821"/>
                  </a:lnTo>
                  <a:lnTo>
                    <a:pt x="1014983" y="250698"/>
                  </a:lnTo>
                  <a:lnTo>
                    <a:pt x="921130" y="284225"/>
                  </a:lnTo>
                  <a:lnTo>
                    <a:pt x="830707" y="319531"/>
                  </a:lnTo>
                  <a:lnTo>
                    <a:pt x="744092" y="356235"/>
                  </a:lnTo>
                  <a:lnTo>
                    <a:pt x="661288" y="394208"/>
                  </a:lnTo>
                  <a:lnTo>
                    <a:pt x="582676" y="433704"/>
                  </a:lnTo>
                  <a:lnTo>
                    <a:pt x="508380" y="474345"/>
                  </a:lnTo>
                  <a:lnTo>
                    <a:pt x="438784" y="516000"/>
                  </a:lnTo>
                  <a:lnTo>
                    <a:pt x="373888" y="558926"/>
                  </a:lnTo>
                  <a:lnTo>
                    <a:pt x="314070" y="602614"/>
                  </a:lnTo>
                  <a:lnTo>
                    <a:pt x="259587" y="647319"/>
                  </a:lnTo>
                  <a:lnTo>
                    <a:pt x="210565" y="692784"/>
                  </a:lnTo>
                  <a:lnTo>
                    <a:pt x="167258" y="738886"/>
                  </a:lnTo>
                  <a:lnTo>
                    <a:pt x="130047" y="785749"/>
                  </a:lnTo>
                  <a:lnTo>
                    <a:pt x="98932" y="832993"/>
                  </a:lnTo>
                  <a:lnTo>
                    <a:pt x="74294" y="880744"/>
                  </a:lnTo>
                  <a:lnTo>
                    <a:pt x="56387" y="928877"/>
                  </a:lnTo>
                  <a:lnTo>
                    <a:pt x="45465" y="977264"/>
                  </a:lnTo>
                  <a:lnTo>
                    <a:pt x="42949" y="999110"/>
                  </a:lnTo>
                  <a:lnTo>
                    <a:pt x="47194" y="1007092"/>
                  </a:lnTo>
                  <a:lnTo>
                    <a:pt x="52636" y="998581"/>
                  </a:lnTo>
                  <a:lnTo>
                    <a:pt x="54736" y="979043"/>
                  </a:lnTo>
                  <a:lnTo>
                    <a:pt x="59308" y="955420"/>
                  </a:lnTo>
                  <a:lnTo>
                    <a:pt x="73278" y="908303"/>
                  </a:lnTo>
                  <a:lnTo>
                    <a:pt x="94233" y="861440"/>
                  </a:lnTo>
                  <a:lnTo>
                    <a:pt x="121538" y="814705"/>
                  </a:lnTo>
                  <a:lnTo>
                    <a:pt x="155194" y="768350"/>
                  </a:lnTo>
                  <a:lnTo>
                    <a:pt x="217042" y="699769"/>
                  </a:lnTo>
                  <a:lnTo>
                    <a:pt x="265683" y="654684"/>
                  </a:lnTo>
                  <a:lnTo>
                    <a:pt x="319658" y="610362"/>
                  </a:lnTo>
                  <a:lnTo>
                    <a:pt x="379094" y="566927"/>
                  </a:lnTo>
                  <a:lnTo>
                    <a:pt x="443610" y="524255"/>
                  </a:lnTo>
                  <a:lnTo>
                    <a:pt x="513079" y="482726"/>
                  </a:lnTo>
                  <a:lnTo>
                    <a:pt x="586994" y="442213"/>
                  </a:lnTo>
                  <a:lnTo>
                    <a:pt x="665352" y="402971"/>
                  </a:lnTo>
                  <a:lnTo>
                    <a:pt x="747776" y="364998"/>
                  </a:lnTo>
                  <a:lnTo>
                    <a:pt x="834263" y="328295"/>
                  </a:lnTo>
                  <a:lnTo>
                    <a:pt x="924305" y="293242"/>
                  </a:lnTo>
                  <a:lnTo>
                    <a:pt x="1017904" y="259714"/>
                  </a:lnTo>
                  <a:lnTo>
                    <a:pt x="1114678" y="227964"/>
                  </a:lnTo>
                  <a:lnTo>
                    <a:pt x="1214501" y="197865"/>
                  </a:lnTo>
                  <a:lnTo>
                    <a:pt x="1316989" y="169672"/>
                  </a:lnTo>
                  <a:lnTo>
                    <a:pt x="1422018" y="143510"/>
                  </a:lnTo>
                  <a:lnTo>
                    <a:pt x="1529461" y="119379"/>
                  </a:lnTo>
                  <a:lnTo>
                    <a:pt x="1638935" y="97281"/>
                  </a:lnTo>
                  <a:lnTo>
                    <a:pt x="1750314" y="77470"/>
                  </a:lnTo>
                  <a:lnTo>
                    <a:pt x="1863089" y="60071"/>
                  </a:lnTo>
                  <a:lnTo>
                    <a:pt x="1977389" y="44958"/>
                  </a:lnTo>
                  <a:lnTo>
                    <a:pt x="2092960" y="32512"/>
                  </a:lnTo>
                  <a:lnTo>
                    <a:pt x="2209291" y="22605"/>
                  </a:lnTo>
                  <a:lnTo>
                    <a:pt x="2326386" y="15493"/>
                  </a:lnTo>
                  <a:lnTo>
                    <a:pt x="2443861" y="11049"/>
                  </a:lnTo>
                  <a:lnTo>
                    <a:pt x="2561716" y="9525"/>
                  </a:lnTo>
                  <a:lnTo>
                    <a:pt x="256159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8154" y="1675257"/>
              <a:ext cx="676541" cy="7429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76425" y="1944890"/>
              <a:ext cx="615035" cy="59841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3608" y="1675257"/>
              <a:ext cx="742950" cy="7429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44585" y="2072678"/>
              <a:ext cx="454698" cy="44560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83892" y="1921891"/>
              <a:ext cx="2430145" cy="1806575"/>
            </a:xfrm>
            <a:custGeom>
              <a:avLst/>
              <a:gdLst/>
              <a:ahLst/>
              <a:cxnLst/>
              <a:rect l="l" t="t" r="r" b="b"/>
              <a:pathLst>
                <a:path w="2430145" h="1806575">
                  <a:moveTo>
                    <a:pt x="2402877" y="1761512"/>
                  </a:moveTo>
                  <a:lnTo>
                    <a:pt x="2341372" y="1796541"/>
                  </a:lnTo>
                  <a:lnTo>
                    <a:pt x="2339085" y="1797812"/>
                  </a:lnTo>
                  <a:lnTo>
                    <a:pt x="2338323" y="1800733"/>
                  </a:lnTo>
                  <a:lnTo>
                    <a:pt x="2340863" y="1805304"/>
                  </a:lnTo>
                  <a:lnTo>
                    <a:pt x="2343785" y="1806066"/>
                  </a:lnTo>
                  <a:lnTo>
                    <a:pt x="2346071" y="1804797"/>
                  </a:lnTo>
                  <a:lnTo>
                    <a:pt x="2421642" y="1761743"/>
                  </a:lnTo>
                  <a:lnTo>
                    <a:pt x="2420366" y="1761743"/>
                  </a:lnTo>
                  <a:lnTo>
                    <a:pt x="2402877" y="1761512"/>
                  </a:lnTo>
                  <a:close/>
                </a:path>
                <a:path w="2430145" h="1806575">
                  <a:moveTo>
                    <a:pt x="2411049" y="1756858"/>
                  </a:moveTo>
                  <a:lnTo>
                    <a:pt x="2402877" y="1761512"/>
                  </a:lnTo>
                  <a:lnTo>
                    <a:pt x="2420366" y="1761743"/>
                  </a:lnTo>
                  <a:lnTo>
                    <a:pt x="2420376" y="1760981"/>
                  </a:lnTo>
                  <a:lnTo>
                    <a:pt x="2417953" y="1760981"/>
                  </a:lnTo>
                  <a:lnTo>
                    <a:pt x="2411049" y="1756858"/>
                  </a:lnTo>
                  <a:close/>
                </a:path>
                <a:path w="2430145" h="1806575">
                  <a:moveTo>
                    <a:pt x="2344800" y="1706245"/>
                  </a:moveTo>
                  <a:lnTo>
                    <a:pt x="2341880" y="1707006"/>
                  </a:lnTo>
                  <a:lnTo>
                    <a:pt x="2340610" y="1709292"/>
                  </a:lnTo>
                  <a:lnTo>
                    <a:pt x="2339212" y="1711578"/>
                  </a:lnTo>
                  <a:lnTo>
                    <a:pt x="2339974" y="1714500"/>
                  </a:lnTo>
                  <a:lnTo>
                    <a:pt x="2342260" y="1715770"/>
                  </a:lnTo>
                  <a:lnTo>
                    <a:pt x="2402886" y="1751982"/>
                  </a:lnTo>
                  <a:lnTo>
                    <a:pt x="2420493" y="1752218"/>
                  </a:lnTo>
                  <a:lnTo>
                    <a:pt x="2420366" y="1761743"/>
                  </a:lnTo>
                  <a:lnTo>
                    <a:pt x="2421642" y="1761743"/>
                  </a:lnTo>
                  <a:lnTo>
                    <a:pt x="2429891" y="1757045"/>
                  </a:lnTo>
                  <a:lnTo>
                    <a:pt x="2347086" y="1707641"/>
                  </a:lnTo>
                  <a:lnTo>
                    <a:pt x="2344800" y="1706245"/>
                  </a:lnTo>
                  <a:close/>
                </a:path>
                <a:path w="2430145" h="1806575">
                  <a:moveTo>
                    <a:pt x="126" y="0"/>
                  </a:moveTo>
                  <a:lnTo>
                    <a:pt x="0" y="9525"/>
                  </a:lnTo>
                  <a:lnTo>
                    <a:pt x="28575" y="9778"/>
                  </a:lnTo>
                  <a:lnTo>
                    <a:pt x="56895" y="10667"/>
                  </a:lnTo>
                  <a:lnTo>
                    <a:pt x="113410" y="14477"/>
                  </a:lnTo>
                  <a:lnTo>
                    <a:pt x="169925" y="20574"/>
                  </a:lnTo>
                  <a:lnTo>
                    <a:pt x="225932" y="29210"/>
                  </a:lnTo>
                  <a:lnTo>
                    <a:pt x="281558" y="39750"/>
                  </a:lnTo>
                  <a:lnTo>
                    <a:pt x="336803" y="52704"/>
                  </a:lnTo>
                  <a:lnTo>
                    <a:pt x="391159" y="67563"/>
                  </a:lnTo>
                  <a:lnTo>
                    <a:pt x="444753" y="84581"/>
                  </a:lnTo>
                  <a:lnTo>
                    <a:pt x="497585" y="103377"/>
                  </a:lnTo>
                  <a:lnTo>
                    <a:pt x="549401" y="124078"/>
                  </a:lnTo>
                  <a:lnTo>
                    <a:pt x="599947" y="146685"/>
                  </a:lnTo>
                  <a:lnTo>
                    <a:pt x="649477" y="170687"/>
                  </a:lnTo>
                  <a:lnTo>
                    <a:pt x="697610" y="196468"/>
                  </a:lnTo>
                  <a:lnTo>
                    <a:pt x="744219" y="223774"/>
                  </a:lnTo>
                  <a:lnTo>
                    <a:pt x="789305" y="252349"/>
                  </a:lnTo>
                  <a:lnTo>
                    <a:pt x="832738" y="282448"/>
                  </a:lnTo>
                  <a:lnTo>
                    <a:pt x="874394" y="313816"/>
                  </a:lnTo>
                  <a:lnTo>
                    <a:pt x="914145" y="346328"/>
                  </a:lnTo>
                  <a:lnTo>
                    <a:pt x="951864" y="379984"/>
                  </a:lnTo>
                  <a:lnTo>
                    <a:pt x="987425" y="414527"/>
                  </a:lnTo>
                  <a:lnTo>
                    <a:pt x="1020952" y="450088"/>
                  </a:lnTo>
                  <a:lnTo>
                    <a:pt x="1051940" y="486663"/>
                  </a:lnTo>
                  <a:lnTo>
                    <a:pt x="1080643" y="523875"/>
                  </a:lnTo>
                  <a:lnTo>
                    <a:pt x="1106678" y="561848"/>
                  </a:lnTo>
                  <a:lnTo>
                    <a:pt x="1130172" y="600328"/>
                  </a:lnTo>
                  <a:lnTo>
                    <a:pt x="1150746" y="639445"/>
                  </a:lnTo>
                  <a:lnTo>
                    <a:pt x="1168527" y="679068"/>
                  </a:lnTo>
                  <a:lnTo>
                    <a:pt x="1183258" y="718947"/>
                  </a:lnTo>
                  <a:lnTo>
                    <a:pt x="1194943" y="759205"/>
                  </a:lnTo>
                  <a:lnTo>
                    <a:pt x="1203324" y="799591"/>
                  </a:lnTo>
                  <a:lnTo>
                    <a:pt x="1208424" y="839215"/>
                  </a:lnTo>
                  <a:lnTo>
                    <a:pt x="1208532" y="840231"/>
                  </a:lnTo>
                  <a:lnTo>
                    <a:pt x="1209885" y="859916"/>
                  </a:lnTo>
                  <a:lnTo>
                    <a:pt x="1209929" y="860551"/>
                  </a:lnTo>
                  <a:lnTo>
                    <a:pt x="1210305" y="880617"/>
                  </a:lnTo>
                  <a:lnTo>
                    <a:pt x="1210811" y="901446"/>
                  </a:lnTo>
                  <a:lnTo>
                    <a:pt x="1212049" y="921765"/>
                  </a:lnTo>
                  <a:lnTo>
                    <a:pt x="1212087" y="922401"/>
                  </a:lnTo>
                  <a:lnTo>
                    <a:pt x="1214154" y="942213"/>
                  </a:lnTo>
                  <a:lnTo>
                    <a:pt x="1214246" y="943101"/>
                  </a:lnTo>
                  <a:lnTo>
                    <a:pt x="1221232" y="984376"/>
                  </a:lnTo>
                  <a:lnTo>
                    <a:pt x="1231519" y="1025525"/>
                  </a:lnTo>
                  <a:lnTo>
                    <a:pt x="1244981" y="1066291"/>
                  </a:lnTo>
                  <a:lnTo>
                    <a:pt x="1261491" y="1106677"/>
                  </a:lnTo>
                  <a:lnTo>
                    <a:pt x="1280921" y="1146555"/>
                  </a:lnTo>
                  <a:lnTo>
                    <a:pt x="1303273" y="1185926"/>
                  </a:lnTo>
                  <a:lnTo>
                    <a:pt x="1328420" y="1224661"/>
                  </a:lnTo>
                  <a:lnTo>
                    <a:pt x="1356106" y="1262634"/>
                  </a:lnTo>
                  <a:lnTo>
                    <a:pt x="1386205" y="1299972"/>
                  </a:lnTo>
                  <a:lnTo>
                    <a:pt x="1418717" y="1336293"/>
                  </a:lnTo>
                  <a:lnTo>
                    <a:pt x="1471803" y="1389126"/>
                  </a:lnTo>
                  <a:lnTo>
                    <a:pt x="1509903" y="1423035"/>
                  </a:lnTo>
                  <a:lnTo>
                    <a:pt x="1549908" y="1455801"/>
                  </a:lnTo>
                  <a:lnTo>
                    <a:pt x="1591945" y="1487297"/>
                  </a:lnTo>
                  <a:lnTo>
                    <a:pt x="1635633" y="1517650"/>
                  </a:lnTo>
                  <a:lnTo>
                    <a:pt x="1681098" y="1546478"/>
                  </a:lnTo>
                  <a:lnTo>
                    <a:pt x="1727961" y="1573911"/>
                  </a:lnTo>
                  <a:lnTo>
                    <a:pt x="1776475" y="1599818"/>
                  </a:lnTo>
                  <a:lnTo>
                    <a:pt x="1826133" y="1624076"/>
                  </a:lnTo>
                  <a:lnTo>
                    <a:pt x="1877186" y="1646681"/>
                  </a:lnTo>
                  <a:lnTo>
                    <a:pt x="1929257" y="1667510"/>
                  </a:lnTo>
                  <a:lnTo>
                    <a:pt x="1982216" y="1686433"/>
                  </a:lnTo>
                  <a:lnTo>
                    <a:pt x="2036191" y="1703451"/>
                  </a:lnTo>
                  <a:lnTo>
                    <a:pt x="2091055" y="1718437"/>
                  </a:lnTo>
                  <a:lnTo>
                    <a:pt x="2146427" y="1731390"/>
                  </a:lnTo>
                  <a:lnTo>
                    <a:pt x="2202434" y="1742186"/>
                  </a:lnTo>
                  <a:lnTo>
                    <a:pt x="2258822" y="1750695"/>
                  </a:lnTo>
                  <a:lnTo>
                    <a:pt x="2316272" y="1756858"/>
                  </a:lnTo>
                  <a:lnTo>
                    <a:pt x="2372741" y="1760601"/>
                  </a:lnTo>
                  <a:lnTo>
                    <a:pt x="2401904" y="1761512"/>
                  </a:lnTo>
                  <a:lnTo>
                    <a:pt x="2402877" y="1761512"/>
                  </a:lnTo>
                  <a:lnTo>
                    <a:pt x="2411049" y="1756858"/>
                  </a:lnTo>
                  <a:lnTo>
                    <a:pt x="2402886" y="1751982"/>
                  </a:lnTo>
                  <a:lnTo>
                    <a:pt x="2402133" y="1751982"/>
                  </a:lnTo>
                  <a:lnTo>
                    <a:pt x="2373248" y="1751076"/>
                  </a:lnTo>
                  <a:lnTo>
                    <a:pt x="2316607" y="1747392"/>
                  </a:lnTo>
                  <a:lnTo>
                    <a:pt x="2260219" y="1741297"/>
                  </a:lnTo>
                  <a:lnTo>
                    <a:pt x="2204211" y="1732788"/>
                  </a:lnTo>
                  <a:lnTo>
                    <a:pt x="2148585" y="1722120"/>
                  </a:lnTo>
                  <a:lnTo>
                    <a:pt x="2093468" y="1709292"/>
                  </a:lnTo>
                  <a:lnTo>
                    <a:pt x="2039111" y="1694434"/>
                  </a:lnTo>
                  <a:lnTo>
                    <a:pt x="1985518" y="1677542"/>
                  </a:lnTo>
                  <a:lnTo>
                    <a:pt x="1932812" y="1658620"/>
                  </a:lnTo>
                  <a:lnTo>
                    <a:pt x="1880996" y="1637918"/>
                  </a:lnTo>
                  <a:lnTo>
                    <a:pt x="1830323" y="1615566"/>
                  </a:lnTo>
                  <a:lnTo>
                    <a:pt x="1780920" y="1591437"/>
                  </a:lnTo>
                  <a:lnTo>
                    <a:pt x="1732787" y="1565655"/>
                  </a:lnTo>
                  <a:lnTo>
                    <a:pt x="1686179" y="1538477"/>
                  </a:lnTo>
                  <a:lnTo>
                    <a:pt x="1641094" y="1509776"/>
                  </a:lnTo>
                  <a:lnTo>
                    <a:pt x="1597659" y="1479677"/>
                  </a:lnTo>
                  <a:lnTo>
                    <a:pt x="1556004" y="1448308"/>
                  </a:lnTo>
                  <a:lnTo>
                    <a:pt x="1516253" y="1415923"/>
                  </a:lnTo>
                  <a:lnTo>
                    <a:pt x="1478407" y="1382267"/>
                  </a:lnTo>
                  <a:lnTo>
                    <a:pt x="1442846" y="1347597"/>
                  </a:lnTo>
                  <a:lnTo>
                    <a:pt x="1409319" y="1311910"/>
                  </a:lnTo>
                  <a:lnTo>
                    <a:pt x="1378331" y="1275588"/>
                  </a:lnTo>
                  <a:lnTo>
                    <a:pt x="1349629" y="1238250"/>
                  </a:lnTo>
                  <a:lnTo>
                    <a:pt x="1323594" y="1200403"/>
                  </a:lnTo>
                  <a:lnTo>
                    <a:pt x="1300098" y="1161668"/>
                  </a:lnTo>
                  <a:lnTo>
                    <a:pt x="1279524" y="1122679"/>
                  </a:lnTo>
                  <a:lnTo>
                    <a:pt x="1261745" y="1083055"/>
                  </a:lnTo>
                  <a:lnTo>
                    <a:pt x="1247012" y="1043051"/>
                  </a:lnTo>
                  <a:lnTo>
                    <a:pt x="1235329" y="1002791"/>
                  </a:lnTo>
                  <a:lnTo>
                    <a:pt x="1226820" y="962405"/>
                  </a:lnTo>
                  <a:lnTo>
                    <a:pt x="1221680" y="922401"/>
                  </a:lnTo>
                  <a:lnTo>
                    <a:pt x="1221612" y="921765"/>
                  </a:lnTo>
                  <a:lnTo>
                    <a:pt x="1220358" y="901700"/>
                  </a:lnTo>
                  <a:lnTo>
                    <a:pt x="1219715" y="880872"/>
                  </a:lnTo>
                  <a:lnTo>
                    <a:pt x="1219338" y="860551"/>
                  </a:lnTo>
                  <a:lnTo>
                    <a:pt x="1219327" y="859916"/>
                  </a:lnTo>
                  <a:lnTo>
                    <a:pt x="1218119" y="840231"/>
                  </a:lnTo>
                  <a:lnTo>
                    <a:pt x="1212722" y="797813"/>
                  </a:lnTo>
                  <a:lnTo>
                    <a:pt x="1204213" y="756665"/>
                  </a:lnTo>
                  <a:lnTo>
                    <a:pt x="1192275" y="715772"/>
                  </a:lnTo>
                  <a:lnTo>
                    <a:pt x="1177290" y="675259"/>
                  </a:lnTo>
                  <a:lnTo>
                    <a:pt x="1159256" y="635126"/>
                  </a:lnTo>
                  <a:lnTo>
                    <a:pt x="1138300" y="595502"/>
                  </a:lnTo>
                  <a:lnTo>
                    <a:pt x="1114552" y="556513"/>
                  </a:lnTo>
                  <a:lnTo>
                    <a:pt x="1088262" y="518160"/>
                  </a:lnTo>
                  <a:lnTo>
                    <a:pt x="1059307" y="480440"/>
                  </a:lnTo>
                  <a:lnTo>
                    <a:pt x="1027938" y="443611"/>
                  </a:lnTo>
                  <a:lnTo>
                    <a:pt x="994156" y="407797"/>
                  </a:lnTo>
                  <a:lnTo>
                    <a:pt x="958214" y="372872"/>
                  </a:lnTo>
                  <a:lnTo>
                    <a:pt x="920114" y="338836"/>
                  </a:lnTo>
                  <a:lnTo>
                    <a:pt x="880109" y="306197"/>
                  </a:lnTo>
                  <a:lnTo>
                    <a:pt x="838200" y="274700"/>
                  </a:lnTo>
                  <a:lnTo>
                    <a:pt x="794384" y="244348"/>
                  </a:lnTo>
                  <a:lnTo>
                    <a:pt x="748919" y="215518"/>
                  </a:lnTo>
                  <a:lnTo>
                    <a:pt x="702056" y="188087"/>
                  </a:lnTo>
                  <a:lnTo>
                    <a:pt x="653541" y="162178"/>
                  </a:lnTo>
                  <a:lnTo>
                    <a:pt x="603757" y="137922"/>
                  </a:lnTo>
                  <a:lnTo>
                    <a:pt x="552831" y="115315"/>
                  </a:lnTo>
                  <a:lnTo>
                    <a:pt x="500760" y="94487"/>
                  </a:lnTo>
                  <a:lnTo>
                    <a:pt x="447675" y="75564"/>
                  </a:lnTo>
                  <a:lnTo>
                    <a:pt x="393700" y="58420"/>
                  </a:lnTo>
                  <a:lnTo>
                    <a:pt x="338963" y="43434"/>
                  </a:lnTo>
                  <a:lnTo>
                    <a:pt x="283463" y="30479"/>
                  </a:lnTo>
                  <a:lnTo>
                    <a:pt x="227456" y="19685"/>
                  </a:lnTo>
                  <a:lnTo>
                    <a:pt x="171069" y="11175"/>
                  </a:lnTo>
                  <a:lnTo>
                    <a:pt x="114172" y="5079"/>
                  </a:lnTo>
                  <a:lnTo>
                    <a:pt x="57276" y="1270"/>
                  </a:lnTo>
                  <a:lnTo>
                    <a:pt x="28575" y="253"/>
                  </a:lnTo>
                  <a:lnTo>
                    <a:pt x="126" y="0"/>
                  </a:lnTo>
                  <a:close/>
                </a:path>
                <a:path w="2430145" h="1806575">
                  <a:moveTo>
                    <a:pt x="2418080" y="1752853"/>
                  </a:moveTo>
                  <a:lnTo>
                    <a:pt x="2411049" y="1756858"/>
                  </a:lnTo>
                  <a:lnTo>
                    <a:pt x="2417953" y="1760981"/>
                  </a:lnTo>
                  <a:lnTo>
                    <a:pt x="2418080" y="1752853"/>
                  </a:lnTo>
                  <a:close/>
                </a:path>
                <a:path w="2430145" h="1806575">
                  <a:moveTo>
                    <a:pt x="2420484" y="1752853"/>
                  </a:moveTo>
                  <a:lnTo>
                    <a:pt x="2418080" y="1752853"/>
                  </a:lnTo>
                  <a:lnTo>
                    <a:pt x="2417953" y="1760981"/>
                  </a:lnTo>
                  <a:lnTo>
                    <a:pt x="2420376" y="1760981"/>
                  </a:lnTo>
                  <a:lnTo>
                    <a:pt x="2420484" y="1752853"/>
                  </a:lnTo>
                  <a:close/>
                </a:path>
                <a:path w="2430145" h="1806575">
                  <a:moveTo>
                    <a:pt x="2402886" y="1751982"/>
                  </a:moveTo>
                  <a:lnTo>
                    <a:pt x="2411049" y="1756858"/>
                  </a:lnTo>
                  <a:lnTo>
                    <a:pt x="2418080" y="1752853"/>
                  </a:lnTo>
                  <a:lnTo>
                    <a:pt x="2420484" y="1752853"/>
                  </a:lnTo>
                  <a:lnTo>
                    <a:pt x="2420493" y="1752218"/>
                  </a:lnTo>
                  <a:lnTo>
                    <a:pt x="2402886" y="1751982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74685" y="5069903"/>
              <a:ext cx="780859" cy="78085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416558" y="5936996"/>
            <a:ext cx="12731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ELK</a:t>
            </a:r>
            <a:r>
              <a:rPr sz="1400" spc="-10" dirty="0">
                <a:latin typeface="Arial MT"/>
                <a:cs typeface="Arial MT"/>
              </a:rPr>
              <a:t> Containers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32408" y="3727450"/>
            <a:ext cx="164147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215" marR="5080" indent="-31115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Déploie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conteneurs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du </a:t>
            </a:r>
            <a:r>
              <a:rPr sz="1100" dirty="0">
                <a:latin typeface="Arial MT"/>
                <a:cs typeface="Arial MT"/>
              </a:rPr>
              <a:t>stack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ELK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stack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40445" y="5936996"/>
            <a:ext cx="10528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Volume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106289" y="3630549"/>
            <a:ext cx="3606800" cy="2192020"/>
            <a:chOff x="5106289" y="3630549"/>
            <a:chExt cx="3606800" cy="2192020"/>
          </a:xfrm>
        </p:grpSpPr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06289" y="5069878"/>
              <a:ext cx="752690" cy="75269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858637" y="3630549"/>
              <a:ext cx="2854325" cy="1864995"/>
            </a:xfrm>
            <a:custGeom>
              <a:avLst/>
              <a:gdLst/>
              <a:ahLst/>
              <a:cxnLst/>
              <a:rect l="l" t="t" r="r" b="b"/>
              <a:pathLst>
                <a:path w="2854325" h="1864995">
                  <a:moveTo>
                    <a:pt x="2854071" y="1352677"/>
                  </a:moveTo>
                  <a:lnTo>
                    <a:pt x="2853182" y="1349756"/>
                  </a:lnTo>
                  <a:lnTo>
                    <a:pt x="2848610" y="1347216"/>
                  </a:lnTo>
                  <a:lnTo>
                    <a:pt x="2845689" y="1348105"/>
                  </a:lnTo>
                  <a:lnTo>
                    <a:pt x="2843365" y="1352296"/>
                  </a:lnTo>
                  <a:lnTo>
                    <a:pt x="2810535" y="1412176"/>
                  </a:lnTo>
                  <a:lnTo>
                    <a:pt x="2810395" y="1407160"/>
                  </a:lnTo>
                  <a:lnTo>
                    <a:pt x="2810383" y="1406525"/>
                  </a:lnTo>
                  <a:lnTo>
                    <a:pt x="2807932" y="1374902"/>
                  </a:lnTo>
                  <a:lnTo>
                    <a:pt x="2807843" y="1373632"/>
                  </a:lnTo>
                  <a:lnTo>
                    <a:pt x="2797810" y="1308100"/>
                  </a:lnTo>
                  <a:lnTo>
                    <a:pt x="2781427" y="1242949"/>
                  </a:lnTo>
                  <a:lnTo>
                    <a:pt x="2758821" y="1178179"/>
                  </a:lnTo>
                  <a:lnTo>
                    <a:pt x="2730373" y="1113917"/>
                  </a:lnTo>
                  <a:lnTo>
                    <a:pt x="2696083" y="1050290"/>
                  </a:lnTo>
                  <a:lnTo>
                    <a:pt x="2656332" y="987552"/>
                  </a:lnTo>
                  <a:lnTo>
                    <a:pt x="2611247" y="925703"/>
                  </a:lnTo>
                  <a:lnTo>
                    <a:pt x="2561209" y="864997"/>
                  </a:lnTo>
                  <a:lnTo>
                    <a:pt x="2506091" y="805307"/>
                  </a:lnTo>
                  <a:lnTo>
                    <a:pt x="2446528" y="747014"/>
                  </a:lnTo>
                  <a:lnTo>
                    <a:pt x="2382393" y="690118"/>
                  </a:lnTo>
                  <a:lnTo>
                    <a:pt x="2314067" y="634873"/>
                  </a:lnTo>
                  <a:lnTo>
                    <a:pt x="2241677" y="581025"/>
                  </a:lnTo>
                  <a:lnTo>
                    <a:pt x="2165477" y="529209"/>
                  </a:lnTo>
                  <a:lnTo>
                    <a:pt x="2085721" y="479298"/>
                  </a:lnTo>
                  <a:lnTo>
                    <a:pt x="2002536" y="431292"/>
                  </a:lnTo>
                  <a:lnTo>
                    <a:pt x="1916176" y="385445"/>
                  </a:lnTo>
                  <a:lnTo>
                    <a:pt x="1826895" y="342011"/>
                  </a:lnTo>
                  <a:lnTo>
                    <a:pt x="1734820" y="301117"/>
                  </a:lnTo>
                  <a:lnTo>
                    <a:pt x="1640332" y="262509"/>
                  </a:lnTo>
                  <a:lnTo>
                    <a:pt x="1543431" y="226695"/>
                  </a:lnTo>
                  <a:lnTo>
                    <a:pt x="1444371" y="193802"/>
                  </a:lnTo>
                  <a:lnTo>
                    <a:pt x="1343406" y="163703"/>
                  </a:lnTo>
                  <a:lnTo>
                    <a:pt x="1240790" y="136652"/>
                  </a:lnTo>
                  <a:lnTo>
                    <a:pt x="1136650" y="112903"/>
                  </a:lnTo>
                  <a:lnTo>
                    <a:pt x="1031240" y="92329"/>
                  </a:lnTo>
                  <a:lnTo>
                    <a:pt x="924687" y="75311"/>
                  </a:lnTo>
                  <a:lnTo>
                    <a:pt x="817372" y="61722"/>
                  </a:lnTo>
                  <a:lnTo>
                    <a:pt x="709536" y="52070"/>
                  </a:lnTo>
                  <a:lnTo>
                    <a:pt x="600964" y="45974"/>
                  </a:lnTo>
                  <a:lnTo>
                    <a:pt x="519645" y="44513"/>
                  </a:lnTo>
                  <a:lnTo>
                    <a:pt x="520204" y="44196"/>
                  </a:lnTo>
                  <a:lnTo>
                    <a:pt x="583565" y="8763"/>
                  </a:lnTo>
                  <a:lnTo>
                    <a:pt x="584454" y="5842"/>
                  </a:lnTo>
                  <a:lnTo>
                    <a:pt x="584187" y="5372"/>
                  </a:lnTo>
                  <a:lnTo>
                    <a:pt x="582930" y="3048"/>
                  </a:lnTo>
                  <a:lnTo>
                    <a:pt x="581533" y="762"/>
                  </a:lnTo>
                  <a:lnTo>
                    <a:pt x="578739" y="0"/>
                  </a:lnTo>
                  <a:lnTo>
                    <a:pt x="576453" y="1270"/>
                  </a:lnTo>
                  <a:lnTo>
                    <a:pt x="492506" y="48768"/>
                  </a:lnTo>
                  <a:lnTo>
                    <a:pt x="577088" y="100203"/>
                  </a:lnTo>
                  <a:lnTo>
                    <a:pt x="580009" y="99568"/>
                  </a:lnTo>
                  <a:lnTo>
                    <a:pt x="582803" y="94996"/>
                  </a:lnTo>
                  <a:lnTo>
                    <a:pt x="583057" y="94488"/>
                  </a:lnTo>
                  <a:lnTo>
                    <a:pt x="582295" y="91567"/>
                  </a:lnTo>
                  <a:lnTo>
                    <a:pt x="580009" y="90297"/>
                  </a:lnTo>
                  <a:lnTo>
                    <a:pt x="519785" y="54063"/>
                  </a:lnTo>
                  <a:lnTo>
                    <a:pt x="558292" y="56388"/>
                  </a:lnTo>
                  <a:lnTo>
                    <a:pt x="601980" y="61341"/>
                  </a:lnTo>
                  <a:lnTo>
                    <a:pt x="645414" y="68707"/>
                  </a:lnTo>
                  <a:lnTo>
                    <a:pt x="710057" y="84074"/>
                  </a:lnTo>
                  <a:lnTo>
                    <a:pt x="752729" y="97028"/>
                  </a:lnTo>
                  <a:lnTo>
                    <a:pt x="794639" y="112014"/>
                  </a:lnTo>
                  <a:lnTo>
                    <a:pt x="836168" y="129032"/>
                  </a:lnTo>
                  <a:lnTo>
                    <a:pt x="876935" y="148082"/>
                  </a:lnTo>
                  <a:lnTo>
                    <a:pt x="916940" y="168910"/>
                  </a:lnTo>
                  <a:lnTo>
                    <a:pt x="956183" y="191516"/>
                  </a:lnTo>
                  <a:lnTo>
                    <a:pt x="994410" y="215900"/>
                  </a:lnTo>
                  <a:lnTo>
                    <a:pt x="1031621" y="241808"/>
                  </a:lnTo>
                  <a:lnTo>
                    <a:pt x="1067689" y="269240"/>
                  </a:lnTo>
                  <a:lnTo>
                    <a:pt x="1102487" y="298069"/>
                  </a:lnTo>
                  <a:lnTo>
                    <a:pt x="1136142" y="328295"/>
                  </a:lnTo>
                  <a:lnTo>
                    <a:pt x="1168273" y="359918"/>
                  </a:lnTo>
                  <a:lnTo>
                    <a:pt x="1199134" y="392684"/>
                  </a:lnTo>
                  <a:lnTo>
                    <a:pt x="1228344" y="426593"/>
                  </a:lnTo>
                  <a:lnTo>
                    <a:pt x="1255903" y="461518"/>
                  </a:lnTo>
                  <a:lnTo>
                    <a:pt x="1281684" y="497459"/>
                  </a:lnTo>
                  <a:lnTo>
                    <a:pt x="1305814" y="534162"/>
                  </a:lnTo>
                  <a:lnTo>
                    <a:pt x="1327912" y="571754"/>
                  </a:lnTo>
                  <a:lnTo>
                    <a:pt x="1348105" y="609981"/>
                  </a:lnTo>
                  <a:lnTo>
                    <a:pt x="1366266" y="648970"/>
                  </a:lnTo>
                  <a:lnTo>
                    <a:pt x="1382268" y="688467"/>
                  </a:lnTo>
                  <a:lnTo>
                    <a:pt x="1395984" y="728218"/>
                  </a:lnTo>
                  <a:lnTo>
                    <a:pt x="1407414" y="768604"/>
                  </a:lnTo>
                  <a:lnTo>
                    <a:pt x="1416431" y="809244"/>
                  </a:lnTo>
                  <a:lnTo>
                    <a:pt x="1422908" y="850138"/>
                  </a:lnTo>
                  <a:lnTo>
                    <a:pt x="1426781" y="890270"/>
                  </a:lnTo>
                  <a:lnTo>
                    <a:pt x="1426845" y="891032"/>
                  </a:lnTo>
                  <a:lnTo>
                    <a:pt x="1427835" y="911225"/>
                  </a:lnTo>
                  <a:lnTo>
                    <a:pt x="1427861" y="911733"/>
                  </a:lnTo>
                  <a:lnTo>
                    <a:pt x="1428242" y="932180"/>
                  </a:lnTo>
                  <a:lnTo>
                    <a:pt x="1428242" y="952881"/>
                  </a:lnTo>
                  <a:lnTo>
                    <a:pt x="1426591" y="973328"/>
                  </a:lnTo>
                  <a:lnTo>
                    <a:pt x="1420495" y="1014095"/>
                  </a:lnTo>
                  <a:lnTo>
                    <a:pt x="1410589" y="1054862"/>
                  </a:lnTo>
                  <a:lnTo>
                    <a:pt x="1396746" y="1095375"/>
                  </a:lnTo>
                  <a:lnTo>
                    <a:pt x="1379347" y="1135634"/>
                  </a:lnTo>
                  <a:lnTo>
                    <a:pt x="1358392" y="1175512"/>
                  </a:lnTo>
                  <a:lnTo>
                    <a:pt x="1334008" y="1214882"/>
                  </a:lnTo>
                  <a:lnTo>
                    <a:pt x="1306449" y="1253871"/>
                  </a:lnTo>
                  <a:lnTo>
                    <a:pt x="1275588" y="1292098"/>
                  </a:lnTo>
                  <a:lnTo>
                    <a:pt x="1241806" y="1329690"/>
                  </a:lnTo>
                  <a:lnTo>
                    <a:pt x="1205230" y="1366393"/>
                  </a:lnTo>
                  <a:lnTo>
                    <a:pt x="1165733" y="1402334"/>
                  </a:lnTo>
                  <a:lnTo>
                    <a:pt x="1123569" y="1437259"/>
                  </a:lnTo>
                  <a:lnTo>
                    <a:pt x="1079119" y="1471168"/>
                  </a:lnTo>
                  <a:lnTo>
                    <a:pt x="1032256" y="1503934"/>
                  </a:lnTo>
                  <a:lnTo>
                    <a:pt x="982980" y="1535557"/>
                  </a:lnTo>
                  <a:lnTo>
                    <a:pt x="931672" y="1565910"/>
                  </a:lnTo>
                  <a:lnTo>
                    <a:pt x="878459" y="1594866"/>
                  </a:lnTo>
                  <a:lnTo>
                    <a:pt x="823468" y="1622298"/>
                  </a:lnTo>
                  <a:lnTo>
                    <a:pt x="766559" y="1648206"/>
                  </a:lnTo>
                  <a:lnTo>
                    <a:pt x="708279" y="1672717"/>
                  </a:lnTo>
                  <a:lnTo>
                    <a:pt x="648462" y="1695323"/>
                  </a:lnTo>
                  <a:lnTo>
                    <a:pt x="587248" y="1716151"/>
                  </a:lnTo>
                  <a:lnTo>
                    <a:pt x="525018" y="1735201"/>
                  </a:lnTo>
                  <a:lnTo>
                    <a:pt x="461645" y="1752346"/>
                  </a:lnTo>
                  <a:lnTo>
                    <a:pt x="397383" y="1767332"/>
                  </a:lnTo>
                  <a:lnTo>
                    <a:pt x="332359" y="1780286"/>
                  </a:lnTo>
                  <a:lnTo>
                    <a:pt x="266573" y="1791081"/>
                  </a:lnTo>
                  <a:lnTo>
                    <a:pt x="200406" y="1799590"/>
                  </a:lnTo>
                  <a:lnTo>
                    <a:pt x="133858" y="1805813"/>
                  </a:lnTo>
                  <a:lnTo>
                    <a:pt x="66929" y="1809623"/>
                  </a:lnTo>
                  <a:lnTo>
                    <a:pt x="30886" y="1810588"/>
                  </a:lnTo>
                  <a:lnTo>
                    <a:pt x="26847" y="1810588"/>
                  </a:lnTo>
                  <a:lnTo>
                    <a:pt x="87630" y="1774444"/>
                  </a:lnTo>
                  <a:lnTo>
                    <a:pt x="89916" y="1773174"/>
                  </a:lnTo>
                  <a:lnTo>
                    <a:pt x="90678" y="1770253"/>
                  </a:lnTo>
                  <a:lnTo>
                    <a:pt x="89281" y="1767967"/>
                  </a:lnTo>
                  <a:lnTo>
                    <a:pt x="88011" y="1765681"/>
                  </a:lnTo>
                  <a:lnTo>
                    <a:pt x="85090" y="1764919"/>
                  </a:lnTo>
                  <a:lnTo>
                    <a:pt x="82804" y="1766316"/>
                  </a:lnTo>
                  <a:lnTo>
                    <a:pt x="0" y="1815592"/>
                  </a:lnTo>
                  <a:lnTo>
                    <a:pt x="83693" y="1863471"/>
                  </a:lnTo>
                  <a:lnTo>
                    <a:pt x="85979" y="1864741"/>
                  </a:lnTo>
                  <a:lnTo>
                    <a:pt x="88773" y="1863979"/>
                  </a:lnTo>
                  <a:lnTo>
                    <a:pt x="90170" y="1861693"/>
                  </a:lnTo>
                  <a:lnTo>
                    <a:pt x="91440" y="1859407"/>
                  </a:lnTo>
                  <a:lnTo>
                    <a:pt x="90678" y="1856486"/>
                  </a:lnTo>
                  <a:lnTo>
                    <a:pt x="88392" y="1855089"/>
                  </a:lnTo>
                  <a:lnTo>
                    <a:pt x="27393" y="1820291"/>
                  </a:lnTo>
                  <a:lnTo>
                    <a:pt x="27063" y="1820113"/>
                  </a:lnTo>
                  <a:lnTo>
                    <a:pt x="31445" y="1820113"/>
                  </a:lnTo>
                  <a:lnTo>
                    <a:pt x="101092" y="1817497"/>
                  </a:lnTo>
                  <a:lnTo>
                    <a:pt x="168148" y="1812544"/>
                  </a:lnTo>
                  <a:lnTo>
                    <a:pt x="234950" y="1805051"/>
                  </a:lnTo>
                  <a:lnTo>
                    <a:pt x="334264" y="1789684"/>
                  </a:lnTo>
                  <a:lnTo>
                    <a:pt x="399542" y="1776603"/>
                  </a:lnTo>
                  <a:lnTo>
                    <a:pt x="464185" y="1761490"/>
                  </a:lnTo>
                  <a:lnTo>
                    <a:pt x="527685" y="1744345"/>
                  </a:lnTo>
                  <a:lnTo>
                    <a:pt x="590423" y="1725168"/>
                  </a:lnTo>
                  <a:lnTo>
                    <a:pt x="651764" y="1704213"/>
                  </a:lnTo>
                  <a:lnTo>
                    <a:pt x="711962" y="1681480"/>
                  </a:lnTo>
                  <a:lnTo>
                    <a:pt x="770509" y="1656969"/>
                  </a:lnTo>
                  <a:lnTo>
                    <a:pt x="827659" y="1630807"/>
                  </a:lnTo>
                  <a:lnTo>
                    <a:pt x="882904" y="1603248"/>
                  </a:lnTo>
                  <a:lnTo>
                    <a:pt x="936498" y="1574165"/>
                  </a:lnTo>
                  <a:lnTo>
                    <a:pt x="988187" y="1543685"/>
                  </a:lnTo>
                  <a:lnTo>
                    <a:pt x="1037590" y="1511808"/>
                  </a:lnTo>
                  <a:lnTo>
                    <a:pt x="1084834" y="1478915"/>
                  </a:lnTo>
                  <a:lnTo>
                    <a:pt x="1129665" y="1444625"/>
                  </a:lnTo>
                  <a:lnTo>
                    <a:pt x="1172083" y="1409446"/>
                  </a:lnTo>
                  <a:lnTo>
                    <a:pt x="1211834" y="1373251"/>
                  </a:lnTo>
                  <a:lnTo>
                    <a:pt x="1248791" y="1336167"/>
                  </a:lnTo>
                  <a:lnTo>
                    <a:pt x="1282954" y="1298194"/>
                  </a:lnTo>
                  <a:lnTo>
                    <a:pt x="1314069" y="1259459"/>
                  </a:lnTo>
                  <a:lnTo>
                    <a:pt x="1342136" y="1220089"/>
                  </a:lnTo>
                  <a:lnTo>
                    <a:pt x="1366774" y="1180084"/>
                  </a:lnTo>
                  <a:lnTo>
                    <a:pt x="1387983" y="1139571"/>
                  </a:lnTo>
                  <a:lnTo>
                    <a:pt x="1405636" y="1098677"/>
                  </a:lnTo>
                  <a:lnTo>
                    <a:pt x="1419733" y="1057402"/>
                  </a:lnTo>
                  <a:lnTo>
                    <a:pt x="1429893" y="1015746"/>
                  </a:lnTo>
                  <a:lnTo>
                    <a:pt x="1436116" y="973963"/>
                  </a:lnTo>
                  <a:lnTo>
                    <a:pt x="1437767" y="952881"/>
                  </a:lnTo>
                  <a:lnTo>
                    <a:pt x="1437767" y="932180"/>
                  </a:lnTo>
                  <a:lnTo>
                    <a:pt x="1437386" y="911733"/>
                  </a:lnTo>
                  <a:lnTo>
                    <a:pt x="1437386" y="911225"/>
                  </a:lnTo>
                  <a:lnTo>
                    <a:pt x="1436395" y="891032"/>
                  </a:lnTo>
                  <a:lnTo>
                    <a:pt x="1436370" y="890270"/>
                  </a:lnTo>
                  <a:lnTo>
                    <a:pt x="1434807" y="870712"/>
                  </a:lnTo>
                  <a:lnTo>
                    <a:pt x="1429385" y="828040"/>
                  </a:lnTo>
                  <a:lnTo>
                    <a:pt x="1421511" y="786765"/>
                  </a:lnTo>
                  <a:lnTo>
                    <a:pt x="1411097" y="745617"/>
                  </a:lnTo>
                  <a:lnTo>
                    <a:pt x="1398397" y="704977"/>
                  </a:lnTo>
                  <a:lnTo>
                    <a:pt x="1374902" y="644906"/>
                  </a:lnTo>
                  <a:lnTo>
                    <a:pt x="1356614" y="605536"/>
                  </a:lnTo>
                  <a:lnTo>
                    <a:pt x="1336167" y="566928"/>
                  </a:lnTo>
                  <a:lnTo>
                    <a:pt x="1313815" y="528955"/>
                  </a:lnTo>
                  <a:lnTo>
                    <a:pt x="1289431" y="491871"/>
                  </a:lnTo>
                  <a:lnTo>
                    <a:pt x="1263396" y="455549"/>
                  </a:lnTo>
                  <a:lnTo>
                    <a:pt x="1235583" y="420370"/>
                  </a:lnTo>
                  <a:lnTo>
                    <a:pt x="1206119" y="386207"/>
                  </a:lnTo>
                  <a:lnTo>
                    <a:pt x="1175004" y="353060"/>
                  </a:lnTo>
                  <a:lnTo>
                    <a:pt x="1142619" y="321310"/>
                  </a:lnTo>
                  <a:lnTo>
                    <a:pt x="1108583" y="290703"/>
                  </a:lnTo>
                  <a:lnTo>
                    <a:pt x="1073404" y="261620"/>
                  </a:lnTo>
                  <a:lnTo>
                    <a:pt x="1037082" y="233934"/>
                  </a:lnTo>
                  <a:lnTo>
                    <a:pt x="999490" y="207772"/>
                  </a:lnTo>
                  <a:lnTo>
                    <a:pt x="961009" y="183388"/>
                  </a:lnTo>
                  <a:lnTo>
                    <a:pt x="921385" y="160401"/>
                  </a:lnTo>
                  <a:lnTo>
                    <a:pt x="880999" y="139446"/>
                  </a:lnTo>
                  <a:lnTo>
                    <a:pt x="839851" y="120269"/>
                  </a:lnTo>
                  <a:lnTo>
                    <a:pt x="797941" y="102997"/>
                  </a:lnTo>
                  <a:lnTo>
                    <a:pt x="755510" y="87884"/>
                  </a:lnTo>
                  <a:lnTo>
                    <a:pt x="712343" y="74803"/>
                  </a:lnTo>
                  <a:lnTo>
                    <a:pt x="668909" y="63881"/>
                  </a:lnTo>
                  <a:lnTo>
                    <a:pt x="637552" y="57531"/>
                  </a:lnTo>
                  <a:lnTo>
                    <a:pt x="708914" y="61468"/>
                  </a:lnTo>
                  <a:lnTo>
                    <a:pt x="816483" y="71247"/>
                  </a:lnTo>
                  <a:lnTo>
                    <a:pt x="923544" y="84709"/>
                  </a:lnTo>
                  <a:lnTo>
                    <a:pt x="1029716" y="101727"/>
                  </a:lnTo>
                  <a:lnTo>
                    <a:pt x="1134872" y="122174"/>
                  </a:lnTo>
                  <a:lnTo>
                    <a:pt x="1238631" y="146050"/>
                  </a:lnTo>
                  <a:lnTo>
                    <a:pt x="1340993" y="172974"/>
                  </a:lnTo>
                  <a:lnTo>
                    <a:pt x="1441704" y="202819"/>
                  </a:lnTo>
                  <a:lnTo>
                    <a:pt x="1540383" y="235839"/>
                  </a:lnTo>
                  <a:lnTo>
                    <a:pt x="1637030" y="271399"/>
                  </a:lnTo>
                  <a:lnTo>
                    <a:pt x="1731264" y="309880"/>
                  </a:lnTo>
                  <a:lnTo>
                    <a:pt x="1823085" y="350774"/>
                  </a:lnTo>
                  <a:lnTo>
                    <a:pt x="1912112" y="394081"/>
                  </a:lnTo>
                  <a:lnTo>
                    <a:pt x="1998091" y="439674"/>
                  </a:lnTo>
                  <a:lnTo>
                    <a:pt x="2081022" y="487553"/>
                  </a:lnTo>
                  <a:lnTo>
                    <a:pt x="2160397" y="537210"/>
                  </a:lnTo>
                  <a:lnTo>
                    <a:pt x="2236343" y="588899"/>
                  </a:lnTo>
                  <a:lnTo>
                    <a:pt x="2308352" y="642493"/>
                  </a:lnTo>
                  <a:lnTo>
                    <a:pt x="2376297" y="697484"/>
                  </a:lnTo>
                  <a:lnTo>
                    <a:pt x="2440178" y="754126"/>
                  </a:lnTo>
                  <a:lnTo>
                    <a:pt x="2499487" y="812165"/>
                  </a:lnTo>
                  <a:lnTo>
                    <a:pt x="2554097" y="871474"/>
                  </a:lnTo>
                  <a:lnTo>
                    <a:pt x="2603881" y="931799"/>
                  </a:lnTo>
                  <a:lnTo>
                    <a:pt x="2648712" y="993267"/>
                  </a:lnTo>
                  <a:lnTo>
                    <a:pt x="2688082" y="1055497"/>
                  </a:lnTo>
                  <a:lnTo>
                    <a:pt x="2721991" y="1118362"/>
                  </a:lnTo>
                  <a:lnTo>
                    <a:pt x="2750058" y="1181989"/>
                  </a:lnTo>
                  <a:lnTo>
                    <a:pt x="2772410" y="1245870"/>
                  </a:lnTo>
                  <a:lnTo>
                    <a:pt x="2788539" y="1310259"/>
                  </a:lnTo>
                  <a:lnTo>
                    <a:pt x="2798445" y="1374902"/>
                  </a:lnTo>
                  <a:lnTo>
                    <a:pt x="2800807" y="1406525"/>
                  </a:lnTo>
                  <a:lnTo>
                    <a:pt x="2800858" y="1407160"/>
                  </a:lnTo>
                  <a:lnTo>
                    <a:pt x="2800985" y="1412176"/>
                  </a:lnTo>
                  <a:lnTo>
                    <a:pt x="2800997" y="1412544"/>
                  </a:lnTo>
                  <a:lnTo>
                    <a:pt x="2763774" y="1352423"/>
                  </a:lnTo>
                  <a:lnTo>
                    <a:pt x="2762453" y="1350391"/>
                  </a:lnTo>
                  <a:lnTo>
                    <a:pt x="2762377" y="1350264"/>
                  </a:lnTo>
                  <a:lnTo>
                    <a:pt x="2759456" y="1349502"/>
                  </a:lnTo>
                  <a:lnTo>
                    <a:pt x="2757297" y="1350899"/>
                  </a:lnTo>
                  <a:lnTo>
                    <a:pt x="2755011" y="1352296"/>
                  </a:lnTo>
                  <a:lnTo>
                    <a:pt x="2754426" y="1354963"/>
                  </a:lnTo>
                  <a:lnTo>
                    <a:pt x="2754376" y="1355217"/>
                  </a:lnTo>
                  <a:lnTo>
                    <a:pt x="2755646" y="1357503"/>
                  </a:lnTo>
                  <a:lnTo>
                    <a:pt x="2806446" y="1439418"/>
                  </a:lnTo>
                  <a:lnTo>
                    <a:pt x="2811526" y="1430147"/>
                  </a:lnTo>
                  <a:lnTo>
                    <a:pt x="2852801" y="1354963"/>
                  </a:lnTo>
                  <a:lnTo>
                    <a:pt x="2854071" y="1352677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951221" y="5936996"/>
            <a:ext cx="10623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ELK</a:t>
            </a:r>
            <a:r>
              <a:rPr sz="1400" spc="-10" dirty="0">
                <a:latin typeface="Arial MT"/>
                <a:cs typeface="Arial MT"/>
              </a:rPr>
              <a:t> Network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235188" y="3989324"/>
            <a:ext cx="147510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Crée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volume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pour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la </a:t>
            </a:r>
            <a:r>
              <a:rPr sz="1100" dirty="0">
                <a:latin typeface="Arial MT"/>
                <a:cs typeface="Arial MT"/>
              </a:rPr>
              <a:t>persistance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des </a:t>
            </a:r>
            <a:r>
              <a:rPr sz="1100" spc="-10" dirty="0">
                <a:latin typeface="Arial MT"/>
                <a:cs typeface="Arial MT"/>
              </a:rPr>
              <a:t>données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103365" y="5430774"/>
            <a:ext cx="14522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1480" marR="5080" indent="-39941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Crée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réseau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pour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le </a:t>
            </a:r>
            <a:r>
              <a:rPr sz="1100" dirty="0">
                <a:latin typeface="Arial MT"/>
                <a:cs typeface="Arial MT"/>
              </a:rPr>
              <a:t>stack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ELK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23815" y="1341132"/>
            <a:ext cx="1730502" cy="40156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4724780" y="1382395"/>
            <a:ext cx="15170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Docker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614"/>
              </a:lnSpc>
            </a:pPr>
            <a:fld id="{81D60167-4931-47E6-BA6A-407CBD079E47}" type="slidenum">
              <a:rPr sz="1600" spc="-25" dirty="0"/>
              <a:t>102</a:t>
            </a:fld>
            <a:endParaRPr sz="1600"/>
          </a:p>
        </p:txBody>
      </p:sp>
      <p:sp>
        <p:nvSpPr>
          <p:cNvPr id="40" name="object 40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2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Options</a:t>
            </a:r>
            <a:r>
              <a:rPr spc="-30" dirty="0"/>
              <a:t> </a:t>
            </a:r>
            <a:r>
              <a:rPr dirty="0"/>
              <a:t>de</a:t>
            </a:r>
            <a:r>
              <a:rPr spc="-10" dirty="0"/>
              <a:t> déploiement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4923" y="2543048"/>
            <a:ext cx="14801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Bundle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Repository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7732" y="2270252"/>
            <a:ext cx="133096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215" marR="5080" indent="-31115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Télécharger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fichier compréssé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7976" y="1312176"/>
            <a:ext cx="3146298" cy="40156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207135" y="1646936"/>
            <a:ext cx="8211184" cy="4385310"/>
            <a:chOff x="1207135" y="1646936"/>
            <a:chExt cx="8211184" cy="4385310"/>
          </a:xfrm>
        </p:grpSpPr>
        <p:sp>
          <p:nvSpPr>
            <p:cNvPr id="7" name="object 7"/>
            <p:cNvSpPr/>
            <p:nvPr/>
          </p:nvSpPr>
          <p:spPr>
            <a:xfrm>
              <a:off x="3838194" y="4245889"/>
              <a:ext cx="2693035" cy="339090"/>
            </a:xfrm>
            <a:custGeom>
              <a:avLst/>
              <a:gdLst/>
              <a:ahLst/>
              <a:cxnLst/>
              <a:rect l="l" t="t" r="r" b="b"/>
              <a:pathLst>
                <a:path w="2693034" h="339089">
                  <a:moveTo>
                    <a:pt x="2693034" y="0"/>
                  </a:moveTo>
                  <a:lnTo>
                    <a:pt x="0" y="0"/>
                  </a:lnTo>
                  <a:lnTo>
                    <a:pt x="0" y="338556"/>
                  </a:lnTo>
                  <a:lnTo>
                    <a:pt x="2693034" y="338556"/>
                  </a:lnTo>
                  <a:lnTo>
                    <a:pt x="269303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86077" y="1893697"/>
              <a:ext cx="2430145" cy="1806575"/>
            </a:xfrm>
            <a:custGeom>
              <a:avLst/>
              <a:gdLst/>
              <a:ahLst/>
              <a:cxnLst/>
              <a:rect l="l" t="t" r="r" b="b"/>
              <a:pathLst>
                <a:path w="2430145" h="1806575">
                  <a:moveTo>
                    <a:pt x="2403131" y="1761766"/>
                  </a:moveTo>
                  <a:lnTo>
                    <a:pt x="2341626" y="1796796"/>
                  </a:lnTo>
                  <a:lnTo>
                    <a:pt x="2339340" y="1798066"/>
                  </a:lnTo>
                  <a:lnTo>
                    <a:pt x="2338578" y="1800987"/>
                  </a:lnTo>
                  <a:lnTo>
                    <a:pt x="2341118" y="1805559"/>
                  </a:lnTo>
                  <a:lnTo>
                    <a:pt x="2344039" y="1806321"/>
                  </a:lnTo>
                  <a:lnTo>
                    <a:pt x="2346325" y="1805051"/>
                  </a:lnTo>
                  <a:lnTo>
                    <a:pt x="2421896" y="1761998"/>
                  </a:lnTo>
                  <a:lnTo>
                    <a:pt x="2420620" y="1761998"/>
                  </a:lnTo>
                  <a:lnTo>
                    <a:pt x="2403131" y="1761766"/>
                  </a:lnTo>
                  <a:close/>
                </a:path>
                <a:path w="2430145" h="1806575">
                  <a:moveTo>
                    <a:pt x="127" y="0"/>
                  </a:moveTo>
                  <a:lnTo>
                    <a:pt x="123" y="254"/>
                  </a:lnTo>
                  <a:lnTo>
                    <a:pt x="0" y="9525"/>
                  </a:lnTo>
                  <a:lnTo>
                    <a:pt x="28448" y="9779"/>
                  </a:lnTo>
                  <a:lnTo>
                    <a:pt x="56896" y="10668"/>
                  </a:lnTo>
                  <a:lnTo>
                    <a:pt x="113411" y="14478"/>
                  </a:lnTo>
                  <a:lnTo>
                    <a:pt x="169925" y="20574"/>
                  </a:lnTo>
                  <a:lnTo>
                    <a:pt x="225933" y="29210"/>
                  </a:lnTo>
                  <a:lnTo>
                    <a:pt x="281559" y="39750"/>
                  </a:lnTo>
                  <a:lnTo>
                    <a:pt x="336677" y="52705"/>
                  </a:lnTo>
                  <a:lnTo>
                    <a:pt x="391160" y="67564"/>
                  </a:lnTo>
                  <a:lnTo>
                    <a:pt x="444754" y="84582"/>
                  </a:lnTo>
                  <a:lnTo>
                    <a:pt x="497586" y="103378"/>
                  </a:lnTo>
                  <a:lnTo>
                    <a:pt x="549275" y="124079"/>
                  </a:lnTo>
                  <a:lnTo>
                    <a:pt x="599948" y="146685"/>
                  </a:lnTo>
                  <a:lnTo>
                    <a:pt x="649351" y="170687"/>
                  </a:lnTo>
                  <a:lnTo>
                    <a:pt x="697484" y="196469"/>
                  </a:lnTo>
                  <a:lnTo>
                    <a:pt x="744093" y="223774"/>
                  </a:lnTo>
                  <a:lnTo>
                    <a:pt x="789178" y="252349"/>
                  </a:lnTo>
                  <a:lnTo>
                    <a:pt x="832739" y="282448"/>
                  </a:lnTo>
                  <a:lnTo>
                    <a:pt x="874395" y="313817"/>
                  </a:lnTo>
                  <a:lnTo>
                    <a:pt x="914146" y="346329"/>
                  </a:lnTo>
                  <a:lnTo>
                    <a:pt x="951865" y="379984"/>
                  </a:lnTo>
                  <a:lnTo>
                    <a:pt x="987425" y="414528"/>
                  </a:lnTo>
                  <a:lnTo>
                    <a:pt x="1020826" y="450088"/>
                  </a:lnTo>
                  <a:lnTo>
                    <a:pt x="1051941" y="486664"/>
                  </a:lnTo>
                  <a:lnTo>
                    <a:pt x="1080643" y="523875"/>
                  </a:lnTo>
                  <a:lnTo>
                    <a:pt x="1106678" y="561848"/>
                  </a:lnTo>
                  <a:lnTo>
                    <a:pt x="1130046" y="600329"/>
                  </a:lnTo>
                  <a:lnTo>
                    <a:pt x="1150620" y="639445"/>
                  </a:lnTo>
                  <a:lnTo>
                    <a:pt x="1168400" y="679069"/>
                  </a:lnTo>
                  <a:lnTo>
                    <a:pt x="1183132" y="718947"/>
                  </a:lnTo>
                  <a:lnTo>
                    <a:pt x="1194816" y="759206"/>
                  </a:lnTo>
                  <a:lnTo>
                    <a:pt x="1203198" y="799592"/>
                  </a:lnTo>
                  <a:lnTo>
                    <a:pt x="1208170" y="839216"/>
                  </a:lnTo>
                  <a:lnTo>
                    <a:pt x="1210051" y="880618"/>
                  </a:lnTo>
                  <a:lnTo>
                    <a:pt x="1210928" y="901446"/>
                  </a:lnTo>
                  <a:lnTo>
                    <a:pt x="1212052" y="921766"/>
                  </a:lnTo>
                  <a:lnTo>
                    <a:pt x="1212088" y="922401"/>
                  </a:lnTo>
                  <a:lnTo>
                    <a:pt x="1214261" y="942086"/>
                  </a:lnTo>
                  <a:lnTo>
                    <a:pt x="1214374" y="943102"/>
                  </a:lnTo>
                  <a:lnTo>
                    <a:pt x="1221359" y="984377"/>
                  </a:lnTo>
                  <a:lnTo>
                    <a:pt x="1231646" y="1025398"/>
                  </a:lnTo>
                  <a:lnTo>
                    <a:pt x="1245108" y="1066292"/>
                  </a:lnTo>
                  <a:lnTo>
                    <a:pt x="1261618" y="1106678"/>
                  </a:lnTo>
                  <a:lnTo>
                    <a:pt x="1281049" y="1146556"/>
                  </a:lnTo>
                  <a:lnTo>
                    <a:pt x="1303401" y="1185926"/>
                  </a:lnTo>
                  <a:lnTo>
                    <a:pt x="1328293" y="1224661"/>
                  </a:lnTo>
                  <a:lnTo>
                    <a:pt x="1355979" y="1262634"/>
                  </a:lnTo>
                  <a:lnTo>
                    <a:pt x="1386332" y="1299972"/>
                  </a:lnTo>
                  <a:lnTo>
                    <a:pt x="1418844" y="1336294"/>
                  </a:lnTo>
                  <a:lnTo>
                    <a:pt x="1471930" y="1389126"/>
                  </a:lnTo>
                  <a:lnTo>
                    <a:pt x="1509902" y="1423035"/>
                  </a:lnTo>
                  <a:lnTo>
                    <a:pt x="1550035" y="1455801"/>
                  </a:lnTo>
                  <a:lnTo>
                    <a:pt x="1591945" y="1487297"/>
                  </a:lnTo>
                  <a:lnTo>
                    <a:pt x="1635760" y="1517650"/>
                  </a:lnTo>
                  <a:lnTo>
                    <a:pt x="1681099" y="1546479"/>
                  </a:lnTo>
                  <a:lnTo>
                    <a:pt x="1728089" y="1573911"/>
                  </a:lnTo>
                  <a:lnTo>
                    <a:pt x="1776476" y="1599819"/>
                  </a:lnTo>
                  <a:lnTo>
                    <a:pt x="1826260" y="1624203"/>
                  </a:lnTo>
                  <a:lnTo>
                    <a:pt x="1877187" y="1646682"/>
                  </a:lnTo>
                  <a:lnTo>
                    <a:pt x="1929257" y="1667510"/>
                  </a:lnTo>
                  <a:lnTo>
                    <a:pt x="1982470" y="1686560"/>
                  </a:lnTo>
                  <a:lnTo>
                    <a:pt x="2036445" y="1703578"/>
                  </a:lnTo>
                  <a:lnTo>
                    <a:pt x="2091182" y="1718691"/>
                  </a:lnTo>
                  <a:lnTo>
                    <a:pt x="2146554" y="1731645"/>
                  </a:lnTo>
                  <a:lnTo>
                    <a:pt x="2202561" y="1742440"/>
                  </a:lnTo>
                  <a:lnTo>
                    <a:pt x="2259076" y="1750949"/>
                  </a:lnTo>
                  <a:lnTo>
                    <a:pt x="2317076" y="1757299"/>
                  </a:lnTo>
                  <a:lnTo>
                    <a:pt x="2410975" y="1757299"/>
                  </a:lnTo>
                  <a:lnTo>
                    <a:pt x="2403131" y="1761766"/>
                  </a:lnTo>
                  <a:lnTo>
                    <a:pt x="2420620" y="1761998"/>
                  </a:lnTo>
                  <a:lnTo>
                    <a:pt x="2420628" y="1761363"/>
                  </a:lnTo>
                  <a:lnTo>
                    <a:pt x="2418207" y="1761363"/>
                  </a:lnTo>
                  <a:lnTo>
                    <a:pt x="2403323" y="1752473"/>
                  </a:lnTo>
                  <a:lnTo>
                    <a:pt x="2405364" y="1752473"/>
                  </a:lnTo>
                  <a:lnTo>
                    <a:pt x="2373503" y="1751330"/>
                  </a:lnTo>
                  <a:lnTo>
                    <a:pt x="2345055" y="1749806"/>
                  </a:lnTo>
                  <a:lnTo>
                    <a:pt x="2288667" y="1744726"/>
                  </a:lnTo>
                  <a:lnTo>
                    <a:pt x="2232279" y="1737487"/>
                  </a:lnTo>
                  <a:lnTo>
                    <a:pt x="2148713" y="1722247"/>
                  </a:lnTo>
                  <a:lnTo>
                    <a:pt x="2093722" y="1709547"/>
                  </a:lnTo>
                  <a:lnTo>
                    <a:pt x="2039239" y="1694434"/>
                  </a:lnTo>
                  <a:lnTo>
                    <a:pt x="1985645" y="1677543"/>
                  </a:lnTo>
                  <a:lnTo>
                    <a:pt x="1932813" y="1658747"/>
                  </a:lnTo>
                  <a:lnTo>
                    <a:pt x="1881124" y="1638046"/>
                  </a:lnTo>
                  <a:lnTo>
                    <a:pt x="1830451" y="1615567"/>
                  </a:lnTo>
                  <a:lnTo>
                    <a:pt x="1781048" y="1591437"/>
                  </a:lnTo>
                  <a:lnTo>
                    <a:pt x="1732914" y="1565656"/>
                  </a:lnTo>
                  <a:lnTo>
                    <a:pt x="1686306" y="1538478"/>
                  </a:lnTo>
                  <a:lnTo>
                    <a:pt x="1641221" y="1509776"/>
                  </a:lnTo>
                  <a:lnTo>
                    <a:pt x="1597660" y="1479677"/>
                  </a:lnTo>
                  <a:lnTo>
                    <a:pt x="1556003" y="1448308"/>
                  </a:lnTo>
                  <a:lnTo>
                    <a:pt x="1516252" y="1415923"/>
                  </a:lnTo>
                  <a:lnTo>
                    <a:pt x="1478534" y="1382268"/>
                  </a:lnTo>
                  <a:lnTo>
                    <a:pt x="1442847" y="1347597"/>
                  </a:lnTo>
                  <a:lnTo>
                    <a:pt x="1409446" y="1311910"/>
                  </a:lnTo>
                  <a:lnTo>
                    <a:pt x="1378331" y="1275461"/>
                  </a:lnTo>
                  <a:lnTo>
                    <a:pt x="1349756" y="1238250"/>
                  </a:lnTo>
                  <a:lnTo>
                    <a:pt x="1323594" y="1200277"/>
                  </a:lnTo>
                  <a:lnTo>
                    <a:pt x="1300226" y="1161669"/>
                  </a:lnTo>
                  <a:lnTo>
                    <a:pt x="1279525" y="1122553"/>
                  </a:lnTo>
                  <a:lnTo>
                    <a:pt x="1261745" y="1083056"/>
                  </a:lnTo>
                  <a:lnTo>
                    <a:pt x="1247013" y="1043051"/>
                  </a:lnTo>
                  <a:lnTo>
                    <a:pt x="1235329" y="1002792"/>
                  </a:lnTo>
                  <a:lnTo>
                    <a:pt x="1226820" y="962279"/>
                  </a:lnTo>
                  <a:lnTo>
                    <a:pt x="1221680" y="922401"/>
                  </a:lnTo>
                  <a:lnTo>
                    <a:pt x="1221613" y="921766"/>
                  </a:lnTo>
                  <a:lnTo>
                    <a:pt x="1220366" y="901827"/>
                  </a:lnTo>
                  <a:lnTo>
                    <a:pt x="1219590" y="880872"/>
                  </a:lnTo>
                  <a:lnTo>
                    <a:pt x="1219211" y="860552"/>
                  </a:lnTo>
                  <a:lnTo>
                    <a:pt x="1219200" y="859917"/>
                  </a:lnTo>
                  <a:lnTo>
                    <a:pt x="1217871" y="840232"/>
                  </a:lnTo>
                  <a:lnTo>
                    <a:pt x="1212596" y="797814"/>
                  </a:lnTo>
                  <a:lnTo>
                    <a:pt x="1203960" y="756793"/>
                  </a:lnTo>
                  <a:lnTo>
                    <a:pt x="1192149" y="715772"/>
                  </a:lnTo>
                  <a:lnTo>
                    <a:pt x="1177163" y="675259"/>
                  </a:lnTo>
                  <a:lnTo>
                    <a:pt x="1159129" y="635127"/>
                  </a:lnTo>
                  <a:lnTo>
                    <a:pt x="1138174" y="595503"/>
                  </a:lnTo>
                  <a:lnTo>
                    <a:pt x="1114552" y="556514"/>
                  </a:lnTo>
                  <a:lnTo>
                    <a:pt x="1088136" y="518160"/>
                  </a:lnTo>
                  <a:lnTo>
                    <a:pt x="1059307" y="480441"/>
                  </a:lnTo>
                  <a:lnTo>
                    <a:pt x="1027938" y="443611"/>
                  </a:lnTo>
                  <a:lnTo>
                    <a:pt x="994029" y="407797"/>
                  </a:lnTo>
                  <a:lnTo>
                    <a:pt x="958215" y="372872"/>
                  </a:lnTo>
                  <a:lnTo>
                    <a:pt x="920115" y="338836"/>
                  </a:lnTo>
                  <a:lnTo>
                    <a:pt x="880110" y="306197"/>
                  </a:lnTo>
                  <a:lnTo>
                    <a:pt x="838073" y="274700"/>
                  </a:lnTo>
                  <a:lnTo>
                    <a:pt x="794385" y="244348"/>
                  </a:lnTo>
                  <a:lnTo>
                    <a:pt x="748919" y="215519"/>
                  </a:lnTo>
                  <a:lnTo>
                    <a:pt x="702056" y="188087"/>
                  </a:lnTo>
                  <a:lnTo>
                    <a:pt x="653542" y="162179"/>
                  </a:lnTo>
                  <a:lnTo>
                    <a:pt x="603758" y="137922"/>
                  </a:lnTo>
                  <a:lnTo>
                    <a:pt x="552831" y="115316"/>
                  </a:lnTo>
                  <a:lnTo>
                    <a:pt x="500761" y="94487"/>
                  </a:lnTo>
                  <a:lnTo>
                    <a:pt x="447675" y="75565"/>
                  </a:lnTo>
                  <a:lnTo>
                    <a:pt x="393700" y="58420"/>
                  </a:lnTo>
                  <a:lnTo>
                    <a:pt x="338963" y="43434"/>
                  </a:lnTo>
                  <a:lnTo>
                    <a:pt x="283337" y="30480"/>
                  </a:lnTo>
                  <a:lnTo>
                    <a:pt x="227456" y="19685"/>
                  </a:lnTo>
                  <a:lnTo>
                    <a:pt x="171069" y="11175"/>
                  </a:lnTo>
                  <a:lnTo>
                    <a:pt x="114173" y="5080"/>
                  </a:lnTo>
                  <a:lnTo>
                    <a:pt x="57150" y="1270"/>
                  </a:lnTo>
                  <a:lnTo>
                    <a:pt x="28575" y="254"/>
                  </a:lnTo>
                  <a:lnTo>
                    <a:pt x="127" y="0"/>
                  </a:lnTo>
                  <a:close/>
                </a:path>
                <a:path w="2430145" h="1806575">
                  <a:moveTo>
                    <a:pt x="2422056" y="1752473"/>
                  </a:moveTo>
                  <a:lnTo>
                    <a:pt x="2420747" y="1752473"/>
                  </a:lnTo>
                  <a:lnTo>
                    <a:pt x="2420620" y="1761998"/>
                  </a:lnTo>
                  <a:lnTo>
                    <a:pt x="2421896" y="1761998"/>
                  </a:lnTo>
                  <a:lnTo>
                    <a:pt x="2430145" y="1757299"/>
                  </a:lnTo>
                  <a:lnTo>
                    <a:pt x="2422056" y="1752473"/>
                  </a:lnTo>
                  <a:close/>
                </a:path>
                <a:path w="2430145" h="1806575">
                  <a:moveTo>
                    <a:pt x="2345055" y="1706626"/>
                  </a:moveTo>
                  <a:lnTo>
                    <a:pt x="2342134" y="1707261"/>
                  </a:lnTo>
                  <a:lnTo>
                    <a:pt x="2340864" y="1709547"/>
                  </a:lnTo>
                  <a:lnTo>
                    <a:pt x="2339467" y="1711833"/>
                  </a:lnTo>
                  <a:lnTo>
                    <a:pt x="2340229" y="1714754"/>
                  </a:lnTo>
                  <a:lnTo>
                    <a:pt x="2342515" y="1716151"/>
                  </a:lnTo>
                  <a:lnTo>
                    <a:pt x="2411403" y="1757299"/>
                  </a:lnTo>
                  <a:lnTo>
                    <a:pt x="2317525" y="1757299"/>
                  </a:lnTo>
                  <a:lnTo>
                    <a:pt x="2344420" y="1759331"/>
                  </a:lnTo>
                  <a:lnTo>
                    <a:pt x="2372995" y="1760855"/>
                  </a:lnTo>
                  <a:lnTo>
                    <a:pt x="2402158" y="1761766"/>
                  </a:lnTo>
                  <a:lnTo>
                    <a:pt x="2403131" y="1761766"/>
                  </a:lnTo>
                  <a:lnTo>
                    <a:pt x="2418334" y="1753108"/>
                  </a:lnTo>
                  <a:lnTo>
                    <a:pt x="2420738" y="1753108"/>
                  </a:lnTo>
                  <a:lnTo>
                    <a:pt x="2420747" y="1752473"/>
                  </a:lnTo>
                  <a:lnTo>
                    <a:pt x="2422056" y="1752473"/>
                  </a:lnTo>
                  <a:lnTo>
                    <a:pt x="2347341" y="1707896"/>
                  </a:lnTo>
                  <a:lnTo>
                    <a:pt x="2345055" y="1706626"/>
                  </a:lnTo>
                  <a:close/>
                </a:path>
                <a:path w="2430145" h="1806575">
                  <a:moveTo>
                    <a:pt x="2418269" y="1757299"/>
                  </a:moveTo>
                  <a:lnTo>
                    <a:pt x="2411403" y="1757299"/>
                  </a:lnTo>
                  <a:lnTo>
                    <a:pt x="2418207" y="1761363"/>
                  </a:lnTo>
                  <a:lnTo>
                    <a:pt x="2418269" y="1757299"/>
                  </a:lnTo>
                  <a:close/>
                </a:path>
                <a:path w="2430145" h="1806575">
                  <a:moveTo>
                    <a:pt x="2420738" y="1753108"/>
                  </a:moveTo>
                  <a:lnTo>
                    <a:pt x="2418334" y="1753108"/>
                  </a:lnTo>
                  <a:lnTo>
                    <a:pt x="2418207" y="1761363"/>
                  </a:lnTo>
                  <a:lnTo>
                    <a:pt x="2420628" y="1761363"/>
                  </a:lnTo>
                  <a:lnTo>
                    <a:pt x="2420738" y="1753108"/>
                  </a:lnTo>
                  <a:close/>
                </a:path>
                <a:path w="2430145" h="1806575">
                  <a:moveTo>
                    <a:pt x="2418334" y="1753108"/>
                  </a:moveTo>
                  <a:lnTo>
                    <a:pt x="2410975" y="1757299"/>
                  </a:lnTo>
                  <a:lnTo>
                    <a:pt x="2418269" y="1757299"/>
                  </a:lnTo>
                  <a:lnTo>
                    <a:pt x="2418334" y="1753108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135" y="1646936"/>
              <a:ext cx="742950" cy="7429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3375" y="1928850"/>
              <a:ext cx="521995" cy="5219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16222" y="2816987"/>
              <a:ext cx="1737105" cy="166801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1543" y="2927147"/>
              <a:ext cx="337273" cy="4033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59094" y="2945435"/>
              <a:ext cx="380949" cy="3809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84622" y="3429063"/>
              <a:ext cx="491896" cy="393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1543" y="3375241"/>
              <a:ext cx="420750" cy="43171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74208" y="3136646"/>
              <a:ext cx="421004" cy="4876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55014" y="4916728"/>
              <a:ext cx="562995" cy="7832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04532" y="5322100"/>
              <a:ext cx="2113533" cy="71014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53327" y="3646424"/>
              <a:ext cx="1855470" cy="1675764"/>
            </a:xfrm>
            <a:custGeom>
              <a:avLst/>
              <a:gdLst/>
              <a:ahLst/>
              <a:cxnLst/>
              <a:rect l="l" t="t" r="r" b="b"/>
              <a:pathLst>
                <a:path w="1855470" h="1675764">
                  <a:moveTo>
                    <a:pt x="1760833" y="1586356"/>
                  </a:moveTo>
                  <a:lnTo>
                    <a:pt x="1760150" y="1586356"/>
                  </a:lnTo>
                  <a:lnTo>
                    <a:pt x="1758188" y="1587626"/>
                  </a:lnTo>
                  <a:lnTo>
                    <a:pt x="1755694" y="1589150"/>
                  </a:lnTo>
                  <a:lnTo>
                    <a:pt x="1755875" y="1589150"/>
                  </a:lnTo>
                  <a:lnTo>
                    <a:pt x="1755267" y="1592071"/>
                  </a:lnTo>
                  <a:lnTo>
                    <a:pt x="1756664" y="1594230"/>
                  </a:lnTo>
                  <a:lnTo>
                    <a:pt x="1807972" y="1675764"/>
                  </a:lnTo>
                  <a:lnTo>
                    <a:pt x="1812968" y="1666493"/>
                  </a:lnTo>
                  <a:lnTo>
                    <a:pt x="1802892" y="1666493"/>
                  </a:lnTo>
                  <a:lnTo>
                    <a:pt x="1802302" y="1648802"/>
                  </a:lnTo>
                  <a:lnTo>
                    <a:pt x="1802296" y="1648626"/>
                  </a:lnTo>
                  <a:lnTo>
                    <a:pt x="1764665" y="1589150"/>
                  </a:lnTo>
                  <a:lnTo>
                    <a:pt x="1763268" y="1586991"/>
                  </a:lnTo>
                  <a:lnTo>
                    <a:pt x="1760833" y="1586356"/>
                  </a:lnTo>
                  <a:close/>
                </a:path>
                <a:path w="1855470" h="1675764">
                  <a:moveTo>
                    <a:pt x="1802302" y="1648802"/>
                  </a:moveTo>
                  <a:lnTo>
                    <a:pt x="1802803" y="1663826"/>
                  </a:lnTo>
                  <a:lnTo>
                    <a:pt x="1802892" y="1666493"/>
                  </a:lnTo>
                  <a:lnTo>
                    <a:pt x="1812417" y="1666239"/>
                  </a:lnTo>
                  <a:lnTo>
                    <a:pt x="1812345" y="1664080"/>
                  </a:lnTo>
                  <a:lnTo>
                    <a:pt x="1803527" y="1664080"/>
                  </a:lnTo>
                  <a:lnTo>
                    <a:pt x="1807398" y="1656879"/>
                  </a:lnTo>
                  <a:lnTo>
                    <a:pt x="1802302" y="1648802"/>
                  </a:lnTo>
                  <a:close/>
                </a:path>
                <a:path w="1855470" h="1675764">
                  <a:moveTo>
                    <a:pt x="1849501" y="1583181"/>
                  </a:moveTo>
                  <a:lnTo>
                    <a:pt x="1846579" y="1584070"/>
                  </a:lnTo>
                  <a:lnTo>
                    <a:pt x="1845310" y="1586356"/>
                  </a:lnTo>
                  <a:lnTo>
                    <a:pt x="1811835" y="1648626"/>
                  </a:lnTo>
                  <a:lnTo>
                    <a:pt x="1812337" y="1663826"/>
                  </a:lnTo>
                  <a:lnTo>
                    <a:pt x="1812417" y="1666239"/>
                  </a:lnTo>
                  <a:lnTo>
                    <a:pt x="1802892" y="1666493"/>
                  </a:lnTo>
                  <a:lnTo>
                    <a:pt x="1812968" y="1666493"/>
                  </a:lnTo>
                  <a:lnTo>
                    <a:pt x="1853692" y="1590928"/>
                  </a:lnTo>
                  <a:lnTo>
                    <a:pt x="1854962" y="1588642"/>
                  </a:lnTo>
                  <a:lnTo>
                    <a:pt x="1854073" y="1585721"/>
                  </a:lnTo>
                  <a:lnTo>
                    <a:pt x="1849501" y="1583181"/>
                  </a:lnTo>
                  <a:close/>
                </a:path>
                <a:path w="1855470" h="1675764">
                  <a:moveTo>
                    <a:pt x="1807398" y="1656879"/>
                  </a:moveTo>
                  <a:lnTo>
                    <a:pt x="1803527" y="1664080"/>
                  </a:lnTo>
                  <a:lnTo>
                    <a:pt x="1811781" y="1663826"/>
                  </a:lnTo>
                  <a:lnTo>
                    <a:pt x="1807398" y="1656879"/>
                  </a:lnTo>
                  <a:close/>
                </a:path>
                <a:path w="1855470" h="1675764">
                  <a:moveTo>
                    <a:pt x="1811841" y="1648802"/>
                  </a:moveTo>
                  <a:lnTo>
                    <a:pt x="1807398" y="1656879"/>
                  </a:lnTo>
                  <a:lnTo>
                    <a:pt x="1811781" y="1663826"/>
                  </a:lnTo>
                  <a:lnTo>
                    <a:pt x="1803527" y="1664080"/>
                  </a:lnTo>
                  <a:lnTo>
                    <a:pt x="1812345" y="1664080"/>
                  </a:lnTo>
                  <a:lnTo>
                    <a:pt x="1811841" y="1648802"/>
                  </a:lnTo>
                  <a:close/>
                </a:path>
                <a:path w="1855470" h="1675764">
                  <a:moveTo>
                    <a:pt x="254" y="0"/>
                  </a:moveTo>
                  <a:lnTo>
                    <a:pt x="0" y="9397"/>
                  </a:lnTo>
                  <a:lnTo>
                    <a:pt x="84582" y="11810"/>
                  </a:lnTo>
                  <a:lnTo>
                    <a:pt x="168910" y="19050"/>
                  </a:lnTo>
                  <a:lnTo>
                    <a:pt x="252857" y="30733"/>
                  </a:lnTo>
                  <a:lnTo>
                    <a:pt x="336423" y="46862"/>
                  </a:lnTo>
                  <a:lnTo>
                    <a:pt x="419226" y="67309"/>
                  </a:lnTo>
                  <a:lnTo>
                    <a:pt x="501269" y="91820"/>
                  </a:lnTo>
                  <a:lnTo>
                    <a:pt x="582295" y="120395"/>
                  </a:lnTo>
                  <a:lnTo>
                    <a:pt x="662051" y="152780"/>
                  </a:lnTo>
                  <a:lnTo>
                    <a:pt x="740664" y="188721"/>
                  </a:lnTo>
                  <a:lnTo>
                    <a:pt x="817752" y="228218"/>
                  </a:lnTo>
                  <a:lnTo>
                    <a:pt x="893191" y="271017"/>
                  </a:lnTo>
                  <a:lnTo>
                    <a:pt x="966851" y="317118"/>
                  </a:lnTo>
                  <a:lnTo>
                    <a:pt x="1038478" y="366267"/>
                  </a:lnTo>
                  <a:lnTo>
                    <a:pt x="1107948" y="418338"/>
                  </a:lnTo>
                  <a:lnTo>
                    <a:pt x="1175130" y="473075"/>
                  </a:lnTo>
                  <a:lnTo>
                    <a:pt x="1239901" y="530478"/>
                  </a:lnTo>
                  <a:lnTo>
                    <a:pt x="1301877" y="590295"/>
                  </a:lnTo>
                  <a:lnTo>
                    <a:pt x="1361186" y="652398"/>
                  </a:lnTo>
                  <a:lnTo>
                    <a:pt x="1417447" y="716533"/>
                  </a:lnTo>
                  <a:lnTo>
                    <a:pt x="1470660" y="782827"/>
                  </a:lnTo>
                  <a:lnTo>
                    <a:pt x="1520444" y="850899"/>
                  </a:lnTo>
                  <a:lnTo>
                    <a:pt x="1566799" y="920622"/>
                  </a:lnTo>
                  <a:lnTo>
                    <a:pt x="1609598" y="991869"/>
                  </a:lnTo>
                  <a:lnTo>
                    <a:pt x="1648460" y="1064386"/>
                  </a:lnTo>
                  <a:lnTo>
                    <a:pt x="1683385" y="1138173"/>
                  </a:lnTo>
                  <a:lnTo>
                    <a:pt x="1714246" y="1213103"/>
                  </a:lnTo>
                  <a:lnTo>
                    <a:pt x="1740789" y="1288922"/>
                  </a:lnTo>
                  <a:lnTo>
                    <a:pt x="1762887" y="1365376"/>
                  </a:lnTo>
                  <a:lnTo>
                    <a:pt x="1780286" y="1442465"/>
                  </a:lnTo>
                  <a:lnTo>
                    <a:pt x="1792986" y="1520062"/>
                  </a:lnTo>
                  <a:lnTo>
                    <a:pt x="1800518" y="1597024"/>
                  </a:lnTo>
                  <a:lnTo>
                    <a:pt x="1800605" y="1597913"/>
                  </a:lnTo>
                  <a:lnTo>
                    <a:pt x="1802190" y="1648626"/>
                  </a:lnTo>
                  <a:lnTo>
                    <a:pt x="1807398" y="1656879"/>
                  </a:lnTo>
                  <a:lnTo>
                    <a:pt x="1811740" y="1648802"/>
                  </a:lnTo>
                  <a:lnTo>
                    <a:pt x="1811835" y="1648626"/>
                  </a:lnTo>
                  <a:lnTo>
                    <a:pt x="1810160" y="1597913"/>
                  </a:lnTo>
                  <a:lnTo>
                    <a:pt x="1802383" y="1518538"/>
                  </a:lnTo>
                  <a:lnTo>
                    <a:pt x="1789683" y="1440433"/>
                  </a:lnTo>
                  <a:lnTo>
                    <a:pt x="1772030" y="1362836"/>
                  </a:lnTo>
                  <a:lnTo>
                    <a:pt x="1749805" y="1285747"/>
                  </a:lnTo>
                  <a:lnTo>
                    <a:pt x="1723136" y="1209547"/>
                  </a:lnTo>
                  <a:lnTo>
                    <a:pt x="1692021" y="1134109"/>
                  </a:lnTo>
                  <a:lnTo>
                    <a:pt x="1656842" y="1059941"/>
                  </a:lnTo>
                  <a:lnTo>
                    <a:pt x="1617726" y="986916"/>
                  </a:lnTo>
                  <a:lnTo>
                    <a:pt x="1574673" y="915288"/>
                  </a:lnTo>
                  <a:lnTo>
                    <a:pt x="1528191" y="845184"/>
                  </a:lnTo>
                  <a:lnTo>
                    <a:pt x="1478026" y="776858"/>
                  </a:lnTo>
                  <a:lnTo>
                    <a:pt x="1424558" y="710310"/>
                  </a:lnTo>
                  <a:lnTo>
                    <a:pt x="1368044" y="645794"/>
                  </a:lnTo>
                  <a:lnTo>
                    <a:pt x="1308480" y="583438"/>
                  </a:lnTo>
                  <a:lnTo>
                    <a:pt x="1246124" y="523366"/>
                  </a:lnTo>
                  <a:lnTo>
                    <a:pt x="1181100" y="465708"/>
                  </a:lnTo>
                  <a:lnTo>
                    <a:pt x="1113663" y="410590"/>
                  </a:lnTo>
                  <a:lnTo>
                    <a:pt x="1043813" y="358393"/>
                  </a:lnTo>
                  <a:lnTo>
                    <a:pt x="971930" y="309117"/>
                  </a:lnTo>
                  <a:lnTo>
                    <a:pt x="897890" y="262763"/>
                  </a:lnTo>
                  <a:lnTo>
                    <a:pt x="822071" y="219709"/>
                  </a:lnTo>
                  <a:lnTo>
                    <a:pt x="744601" y="179958"/>
                  </a:lnTo>
                  <a:lnTo>
                    <a:pt x="665733" y="143890"/>
                  </a:lnTo>
                  <a:lnTo>
                    <a:pt x="585470" y="111378"/>
                  </a:lnTo>
                  <a:lnTo>
                    <a:pt x="503936" y="82676"/>
                  </a:lnTo>
                  <a:lnTo>
                    <a:pt x="421513" y="58038"/>
                  </a:lnTo>
                  <a:lnTo>
                    <a:pt x="338200" y="37591"/>
                  </a:lnTo>
                  <a:lnTo>
                    <a:pt x="254254" y="21335"/>
                  </a:lnTo>
                  <a:lnTo>
                    <a:pt x="169799" y="9525"/>
                  </a:lnTo>
                  <a:lnTo>
                    <a:pt x="84962" y="228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19576" y="1354328"/>
            <a:ext cx="29305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déploiement</a:t>
            </a:r>
            <a:r>
              <a:rPr sz="1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basé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sur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des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bundles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2643" y="4013708"/>
            <a:ext cx="14865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 MT"/>
                <a:cs typeface="Arial MT"/>
              </a:rPr>
              <a:t>Intalles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ELK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localement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54709" y="4984598"/>
            <a:ext cx="254635" cy="1276350"/>
            <a:chOff x="1054709" y="4984598"/>
            <a:chExt cx="254635" cy="127635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4882" y="4984598"/>
              <a:ext cx="243865" cy="24386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80136" y="5328641"/>
              <a:ext cx="223543" cy="24386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4709" y="5693133"/>
              <a:ext cx="243865" cy="20322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0124" y="6016981"/>
              <a:ext cx="203221" cy="24386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02994" y="4269105"/>
            <a:ext cx="4375150" cy="19837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0416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onsolas"/>
                <a:cs typeface="Consolas"/>
              </a:rPr>
              <a:t>#</a:t>
            </a:r>
            <a:r>
              <a:rPr sz="1600" b="1" spc="-10" dirty="0">
                <a:latin typeface="Consolas"/>
                <a:cs typeface="Consolas"/>
              </a:rPr>
              <a:t> ./install.sh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600">
              <a:latin typeface="Consolas"/>
              <a:cs typeface="Consolas"/>
            </a:endParaRPr>
          </a:p>
          <a:p>
            <a:pPr marL="15240" marR="1579245" indent="-3175">
              <a:lnSpc>
                <a:spcPct val="161200"/>
              </a:lnSpc>
              <a:spcBef>
                <a:spcPts val="5"/>
              </a:spcBef>
            </a:pPr>
            <a:r>
              <a:rPr sz="1400" dirty="0">
                <a:latin typeface="Arial MT"/>
                <a:cs typeface="Arial MT"/>
              </a:rPr>
              <a:t>Installation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désinstallation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faciles </a:t>
            </a:r>
            <a:r>
              <a:rPr sz="1400" dirty="0">
                <a:latin typeface="Arial MT"/>
                <a:cs typeface="Arial MT"/>
              </a:rPr>
              <a:t>Intallation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interactive</a:t>
            </a:r>
            <a:endParaRPr sz="1400">
              <a:latin typeface="Arial MT"/>
              <a:cs typeface="Arial MT"/>
            </a:endParaRPr>
          </a:p>
          <a:p>
            <a:pPr marL="15240" marR="1283335">
              <a:lnSpc>
                <a:spcPct val="161300"/>
              </a:lnSpc>
            </a:pPr>
            <a:r>
              <a:rPr sz="1400" dirty="0">
                <a:latin typeface="Arial MT"/>
                <a:cs typeface="Arial MT"/>
              </a:rPr>
              <a:t>Architecture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indépendante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du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système </a:t>
            </a:r>
            <a:r>
              <a:rPr sz="1400" dirty="0">
                <a:latin typeface="Arial MT"/>
                <a:cs typeface="Arial MT"/>
              </a:rPr>
              <a:t>Retour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facile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aux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versions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précédentes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614"/>
              </a:lnSpc>
            </a:pPr>
            <a:fld id="{81D60167-4931-47E6-BA6A-407CBD079E47}" type="slidenum">
              <a:rPr sz="1600" spc="-25" dirty="0"/>
              <a:t>103</a:t>
            </a:fld>
            <a:endParaRPr sz="1600"/>
          </a:p>
        </p:txBody>
      </p:sp>
      <p:sp>
        <p:nvSpPr>
          <p:cNvPr id="28" name="object 28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2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Définition</a:t>
            </a:r>
            <a:r>
              <a:rPr spc="-65" dirty="0"/>
              <a:t> </a:t>
            </a:r>
            <a:r>
              <a:rPr dirty="0"/>
              <a:t>du</a:t>
            </a:r>
            <a:r>
              <a:rPr spc="-35" dirty="0"/>
              <a:t> </a:t>
            </a:r>
            <a:r>
              <a:rPr dirty="0"/>
              <a:t>Plan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Monitoring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614"/>
              </a:lnSpc>
            </a:pPr>
            <a:fld id="{81D60167-4931-47E6-BA6A-407CBD079E47}" type="slidenum">
              <a:rPr sz="1600" spc="-25" dirty="0"/>
              <a:t>104</a:t>
            </a:fld>
            <a:endParaRPr sz="1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0" indent="-111125">
              <a:lnSpc>
                <a:spcPct val="100000"/>
              </a:lnSpc>
              <a:spcBef>
                <a:spcPts val="105"/>
              </a:spcBef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b="1" spc="-10" dirty="0">
                <a:latin typeface="Calibri"/>
                <a:cs typeface="Calibri"/>
              </a:rPr>
              <a:t>Qu'est-</a:t>
            </a:r>
            <a:r>
              <a:rPr b="1" dirty="0">
                <a:latin typeface="Calibri"/>
                <a:cs typeface="Calibri"/>
              </a:rPr>
              <a:t>ce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qu'un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plan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monitoring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?</a:t>
            </a:r>
            <a:r>
              <a:rPr dirty="0"/>
              <a:t>Stratégie définie</a:t>
            </a:r>
            <a:r>
              <a:rPr spc="-25" dirty="0"/>
              <a:t> </a:t>
            </a:r>
            <a:r>
              <a:rPr dirty="0"/>
              <a:t>pour</a:t>
            </a:r>
            <a:r>
              <a:rPr spc="-5" dirty="0"/>
              <a:t> </a:t>
            </a:r>
            <a:r>
              <a:rPr dirty="0"/>
              <a:t>surveiller</a:t>
            </a:r>
            <a:r>
              <a:rPr spc="-40" dirty="0"/>
              <a:t> </a:t>
            </a:r>
            <a:r>
              <a:rPr spc="-25" dirty="0"/>
              <a:t>les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systèmes,</a:t>
            </a:r>
            <a:r>
              <a:rPr spc="-30" dirty="0"/>
              <a:t> </a:t>
            </a:r>
            <a:r>
              <a:rPr dirty="0"/>
              <a:t>applications</a:t>
            </a:r>
            <a:r>
              <a:rPr spc="-20" dirty="0"/>
              <a:t> </a:t>
            </a:r>
            <a:r>
              <a:rPr dirty="0"/>
              <a:t>et</a:t>
            </a:r>
            <a:r>
              <a:rPr spc="-25" dirty="0"/>
              <a:t> </a:t>
            </a:r>
            <a:r>
              <a:rPr spc="-10" dirty="0"/>
              <a:t>infrastructures.</a:t>
            </a:r>
          </a:p>
          <a:p>
            <a:pPr marL="12700" marR="246379" indent="-95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dirty="0"/>
              <a:t>	Utilisation</a:t>
            </a:r>
            <a:r>
              <a:rPr spc="-55" dirty="0"/>
              <a:t> </a:t>
            </a:r>
            <a:r>
              <a:rPr dirty="0"/>
              <a:t>des</a:t>
            </a:r>
            <a:r>
              <a:rPr spc="-45" dirty="0"/>
              <a:t> </a:t>
            </a:r>
            <a:r>
              <a:rPr dirty="0"/>
              <a:t>données</a:t>
            </a:r>
            <a:r>
              <a:rPr spc="-40" dirty="0"/>
              <a:t> </a:t>
            </a:r>
            <a:r>
              <a:rPr dirty="0"/>
              <a:t>collectées</a:t>
            </a:r>
            <a:r>
              <a:rPr spc="-45" dirty="0"/>
              <a:t> </a:t>
            </a:r>
            <a:r>
              <a:rPr dirty="0"/>
              <a:t>pour</a:t>
            </a:r>
            <a:r>
              <a:rPr spc="-50" dirty="0"/>
              <a:t> </a:t>
            </a:r>
            <a:r>
              <a:rPr dirty="0"/>
              <a:t>prendre</a:t>
            </a:r>
            <a:r>
              <a:rPr spc="-45" dirty="0"/>
              <a:t> </a:t>
            </a:r>
            <a:r>
              <a:rPr dirty="0"/>
              <a:t>des</a:t>
            </a:r>
            <a:r>
              <a:rPr spc="-35" dirty="0"/>
              <a:t> </a:t>
            </a:r>
            <a:r>
              <a:rPr dirty="0"/>
              <a:t>décisions</a:t>
            </a:r>
            <a:r>
              <a:rPr spc="-50" dirty="0"/>
              <a:t> </a:t>
            </a:r>
            <a:r>
              <a:rPr dirty="0"/>
              <a:t>éclairées</a:t>
            </a:r>
            <a:r>
              <a:rPr spc="-45" dirty="0"/>
              <a:t> </a:t>
            </a:r>
            <a:r>
              <a:rPr spc="-25" dirty="0"/>
              <a:t>et </a:t>
            </a:r>
            <a:r>
              <a:rPr dirty="0"/>
              <a:t>améliorer</a:t>
            </a:r>
            <a:r>
              <a:rPr spc="-20" dirty="0"/>
              <a:t> </a:t>
            </a:r>
            <a:r>
              <a:rPr dirty="0"/>
              <a:t>la </a:t>
            </a:r>
            <a:r>
              <a:rPr spc="-10" dirty="0"/>
              <a:t>performance.</a:t>
            </a:r>
          </a:p>
          <a:p>
            <a:pPr marL="12700">
              <a:lnSpc>
                <a:spcPct val="100000"/>
              </a:lnSpc>
              <a:spcBef>
                <a:spcPts val="2760"/>
              </a:spcBef>
            </a:pPr>
            <a:r>
              <a:rPr b="1" dirty="0">
                <a:latin typeface="Calibri"/>
                <a:cs typeface="Calibri"/>
              </a:rPr>
              <a:t>Objectifs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du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Plan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Monitoring</a:t>
            </a:r>
          </a:p>
          <a:p>
            <a:pPr marL="11430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b="1" dirty="0">
                <a:latin typeface="Calibri"/>
                <a:cs typeface="Calibri"/>
              </a:rPr>
              <a:t>Visibilité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dirty="0"/>
              <a:t>:</a:t>
            </a:r>
            <a:r>
              <a:rPr spc="-45" dirty="0"/>
              <a:t> </a:t>
            </a:r>
            <a:r>
              <a:rPr dirty="0"/>
              <a:t>Obtenir</a:t>
            </a:r>
            <a:r>
              <a:rPr spc="-40" dirty="0"/>
              <a:t> </a:t>
            </a:r>
            <a:r>
              <a:rPr dirty="0"/>
              <a:t>une</a:t>
            </a:r>
            <a:r>
              <a:rPr spc="-35" dirty="0"/>
              <a:t> </a:t>
            </a:r>
            <a:r>
              <a:rPr dirty="0"/>
              <a:t>vue</a:t>
            </a:r>
            <a:r>
              <a:rPr spc="-40" dirty="0"/>
              <a:t> </a:t>
            </a:r>
            <a:r>
              <a:rPr dirty="0"/>
              <a:t>d'ensemble</a:t>
            </a:r>
            <a:r>
              <a:rPr spc="-3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l'état</a:t>
            </a:r>
            <a:r>
              <a:rPr spc="-40" dirty="0"/>
              <a:t> </a:t>
            </a:r>
            <a:r>
              <a:rPr dirty="0"/>
              <a:t>des</a:t>
            </a:r>
            <a:r>
              <a:rPr spc="-45" dirty="0"/>
              <a:t> </a:t>
            </a:r>
            <a:r>
              <a:rPr spc="-10" dirty="0"/>
              <a:t>systèmes.</a:t>
            </a:r>
          </a:p>
          <a:p>
            <a:pPr marL="11430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b="1" dirty="0">
                <a:latin typeface="Calibri"/>
                <a:cs typeface="Calibri"/>
              </a:rPr>
              <a:t>Détection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dirty="0"/>
              <a:t>:</a:t>
            </a:r>
            <a:r>
              <a:rPr spc="-15" dirty="0"/>
              <a:t> </a:t>
            </a:r>
            <a:r>
              <a:rPr dirty="0"/>
              <a:t>Identifier</a:t>
            </a:r>
            <a:r>
              <a:rPr spc="-30" dirty="0"/>
              <a:t> </a:t>
            </a:r>
            <a:r>
              <a:rPr dirty="0"/>
              <a:t>rapidement</a:t>
            </a:r>
            <a:r>
              <a:rPr spc="-15" dirty="0"/>
              <a:t> </a:t>
            </a:r>
            <a:r>
              <a:rPr dirty="0"/>
              <a:t>les</a:t>
            </a:r>
            <a:r>
              <a:rPr spc="-15" dirty="0"/>
              <a:t> </a:t>
            </a:r>
            <a:r>
              <a:rPr dirty="0"/>
              <a:t>anomalies</a:t>
            </a:r>
            <a:r>
              <a:rPr spc="-15" dirty="0"/>
              <a:t> </a:t>
            </a:r>
            <a:r>
              <a:rPr dirty="0"/>
              <a:t>et</a:t>
            </a:r>
            <a:r>
              <a:rPr spc="-15" dirty="0"/>
              <a:t> </a:t>
            </a:r>
            <a:r>
              <a:rPr dirty="0"/>
              <a:t>les</a:t>
            </a:r>
            <a:r>
              <a:rPr spc="-15" dirty="0"/>
              <a:t> </a:t>
            </a:r>
            <a:r>
              <a:rPr spc="-10" dirty="0"/>
              <a:t>problèmes.</a:t>
            </a:r>
          </a:p>
          <a:p>
            <a:pPr marL="11430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b="1" dirty="0">
                <a:latin typeface="Calibri"/>
                <a:cs typeface="Calibri"/>
              </a:rPr>
              <a:t>Analyse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dirty="0"/>
              <a:t>:</a:t>
            </a:r>
            <a:r>
              <a:rPr spc="-40" dirty="0"/>
              <a:t> </a:t>
            </a:r>
            <a:r>
              <a:rPr dirty="0"/>
              <a:t>Comprendre</a:t>
            </a:r>
            <a:r>
              <a:rPr spc="-25" dirty="0"/>
              <a:t> </a:t>
            </a:r>
            <a:r>
              <a:rPr dirty="0"/>
              <a:t>les</a:t>
            </a:r>
            <a:r>
              <a:rPr spc="-30" dirty="0"/>
              <a:t> </a:t>
            </a:r>
            <a:r>
              <a:rPr dirty="0"/>
              <a:t>causes</a:t>
            </a:r>
            <a:r>
              <a:rPr spc="-30" dirty="0"/>
              <a:t> </a:t>
            </a:r>
            <a:r>
              <a:rPr dirty="0"/>
              <a:t>profondes</a:t>
            </a:r>
            <a:r>
              <a:rPr spc="-45" dirty="0"/>
              <a:t> </a:t>
            </a:r>
            <a:r>
              <a:rPr dirty="0"/>
              <a:t>des</a:t>
            </a:r>
            <a:r>
              <a:rPr spc="-30" dirty="0"/>
              <a:t> </a:t>
            </a:r>
            <a:r>
              <a:rPr spc="-10" dirty="0"/>
              <a:t>incidents.</a:t>
            </a:r>
          </a:p>
          <a:p>
            <a:pPr marL="11430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b="1" dirty="0">
                <a:latin typeface="Calibri"/>
                <a:cs typeface="Calibri"/>
              </a:rPr>
              <a:t>Prévention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dirty="0"/>
              <a:t>:</a:t>
            </a:r>
            <a:r>
              <a:rPr spc="-20" dirty="0"/>
              <a:t> </a:t>
            </a:r>
            <a:r>
              <a:rPr dirty="0"/>
              <a:t>Anticiper</a:t>
            </a:r>
            <a:r>
              <a:rPr spc="-25" dirty="0"/>
              <a:t> </a:t>
            </a:r>
            <a:r>
              <a:rPr dirty="0"/>
              <a:t>les</a:t>
            </a:r>
            <a:r>
              <a:rPr spc="-30" dirty="0"/>
              <a:t> </a:t>
            </a:r>
            <a:r>
              <a:rPr dirty="0"/>
              <a:t>problèmes</a:t>
            </a:r>
            <a:r>
              <a:rPr spc="-25" dirty="0"/>
              <a:t> </a:t>
            </a:r>
            <a:r>
              <a:rPr dirty="0"/>
              <a:t>avant</a:t>
            </a:r>
            <a:r>
              <a:rPr spc="-20" dirty="0"/>
              <a:t> </a:t>
            </a:r>
            <a:r>
              <a:rPr dirty="0"/>
              <a:t>qu'ils</a:t>
            </a:r>
            <a:r>
              <a:rPr spc="-20" dirty="0"/>
              <a:t> </a:t>
            </a:r>
            <a:r>
              <a:rPr dirty="0"/>
              <a:t>n'affectent</a:t>
            </a:r>
            <a:r>
              <a:rPr spc="-25" dirty="0"/>
              <a:t> </a:t>
            </a:r>
            <a:r>
              <a:rPr dirty="0"/>
              <a:t>les</a:t>
            </a:r>
            <a:r>
              <a:rPr spc="-10" dirty="0"/>
              <a:t> utilisateurs.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3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Définition</a:t>
            </a:r>
            <a:r>
              <a:rPr spc="-65" dirty="0"/>
              <a:t> </a:t>
            </a:r>
            <a:r>
              <a:rPr dirty="0"/>
              <a:t>du</a:t>
            </a:r>
            <a:r>
              <a:rPr spc="-35" dirty="0"/>
              <a:t> </a:t>
            </a:r>
            <a:r>
              <a:rPr dirty="0"/>
              <a:t>Plan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Monitoring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614"/>
              </a:lnSpc>
            </a:pPr>
            <a:fld id="{81D60167-4931-47E6-BA6A-407CBD079E47}" type="slidenum">
              <a:rPr sz="1600" spc="-25" dirty="0"/>
              <a:t>105</a:t>
            </a:fld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6229350" cy="2804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Composantes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3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Plan</a:t>
            </a:r>
            <a:r>
              <a:rPr sz="23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Monitoring</a:t>
            </a:r>
            <a:endParaRPr sz="2300">
              <a:latin typeface="Calibri"/>
              <a:cs typeface="Calibri"/>
            </a:endParaRPr>
          </a:p>
          <a:p>
            <a:pPr marL="237490" indent="-228600">
              <a:lnSpc>
                <a:spcPct val="100000"/>
              </a:lnSpc>
              <a:spcBef>
                <a:spcPts val="5"/>
              </a:spcBef>
              <a:buSzPct val="95652"/>
              <a:buAutoNum type="arabicPeriod"/>
              <a:tabLst>
                <a:tab pos="23749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Métriques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à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surveiller</a:t>
            </a:r>
            <a:endParaRPr sz="2300">
              <a:latin typeface="Calibri"/>
              <a:cs typeface="Calibri"/>
            </a:endParaRPr>
          </a:p>
          <a:p>
            <a:pPr marL="756920" lvl="1" indent="-287020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Performance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(CPU,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mémoire,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disque).</a:t>
            </a:r>
            <a:endParaRPr sz="1800">
              <a:latin typeface="Calibri"/>
              <a:cs typeface="Calibri"/>
            </a:endParaRPr>
          </a:p>
          <a:p>
            <a:pPr marL="756920" lvl="1" indent="-287020">
              <a:lnSpc>
                <a:spcPct val="100000"/>
              </a:lnSpc>
              <a:buAutoNum type="arabicPeriod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Logs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d'application.</a:t>
            </a:r>
            <a:endParaRPr sz="1800">
              <a:latin typeface="Calibri"/>
              <a:cs typeface="Calibri"/>
            </a:endParaRPr>
          </a:p>
          <a:p>
            <a:pPr marL="756920" lvl="1" indent="-287020">
              <a:lnSpc>
                <a:spcPts val="2145"/>
              </a:lnSpc>
              <a:buAutoNum type="arabicPeriod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Comportement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utilisateurs.</a:t>
            </a:r>
            <a:endParaRPr sz="1800">
              <a:latin typeface="Calibri"/>
              <a:cs typeface="Calibri"/>
            </a:endParaRPr>
          </a:p>
          <a:p>
            <a:pPr marL="237490" indent="-228600">
              <a:lnSpc>
                <a:spcPts val="2745"/>
              </a:lnSpc>
              <a:buSzPct val="95652"/>
              <a:buAutoNum type="arabicPeriod"/>
              <a:tabLst>
                <a:tab pos="23749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Outils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b="1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technologies</a:t>
            </a:r>
            <a:endParaRPr sz="2300">
              <a:latin typeface="Calibri"/>
              <a:cs typeface="Calibri"/>
            </a:endParaRPr>
          </a:p>
          <a:p>
            <a:pPr marL="756920" lvl="1" indent="-287020">
              <a:lnSpc>
                <a:spcPts val="2145"/>
              </a:lnSpc>
              <a:spcBef>
                <a:spcPts val="35"/>
              </a:spcBef>
              <a:buAutoNum type="arabicPeriod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Utilisation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stack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(Elasticsearch,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Logstash,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Kibana).</a:t>
            </a:r>
            <a:endParaRPr sz="1800">
              <a:latin typeface="Calibri"/>
              <a:cs typeface="Calibri"/>
            </a:endParaRPr>
          </a:p>
          <a:p>
            <a:pPr marL="237490" indent="-228600">
              <a:lnSpc>
                <a:spcPts val="2745"/>
              </a:lnSpc>
              <a:buSzPct val="95652"/>
              <a:buAutoNum type="arabicPeriod"/>
              <a:tabLst>
                <a:tab pos="23749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Alertes</a:t>
            </a:r>
            <a:r>
              <a:rPr sz="23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et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notifications</a:t>
            </a:r>
            <a:endParaRPr sz="2300">
              <a:latin typeface="Calibri"/>
              <a:cs typeface="Calibri"/>
            </a:endParaRPr>
          </a:p>
          <a:p>
            <a:pPr marL="756920" lvl="1" indent="-287020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756920" algn="l"/>
              </a:tabLst>
            </a:pPr>
            <a:r>
              <a:rPr sz="1800" dirty="0">
                <a:latin typeface="Calibri"/>
                <a:cs typeface="Calibri"/>
              </a:rPr>
              <a:t>Définir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seuils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critiques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déclencher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alertes.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3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Définition</a:t>
            </a:r>
            <a:r>
              <a:rPr spc="-65" dirty="0"/>
              <a:t> </a:t>
            </a:r>
            <a:r>
              <a:rPr dirty="0"/>
              <a:t>du</a:t>
            </a:r>
            <a:r>
              <a:rPr spc="-35" dirty="0"/>
              <a:t> </a:t>
            </a:r>
            <a:r>
              <a:rPr dirty="0"/>
              <a:t>Plan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Monitoring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614"/>
              </a:lnSpc>
            </a:pPr>
            <a:fld id="{81D60167-4931-47E6-BA6A-407CBD079E47}" type="slidenum">
              <a:rPr sz="1600" spc="-25" dirty="0"/>
              <a:t>106</a:t>
            </a:fld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7741920" cy="4329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Identification</a:t>
            </a:r>
            <a:r>
              <a:rPr sz="23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b="1" spc="-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Indicateurs</a:t>
            </a:r>
            <a:r>
              <a:rPr sz="23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Clés</a:t>
            </a:r>
            <a:r>
              <a:rPr sz="2300" b="1" spc="-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Performance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(KPI)</a:t>
            </a:r>
            <a:endParaRPr sz="2300">
              <a:latin typeface="Calibri"/>
              <a:cs typeface="Calibri"/>
            </a:endParaRPr>
          </a:p>
          <a:p>
            <a:pPr marL="114300" indent="-111125">
              <a:lnSpc>
                <a:spcPct val="100000"/>
              </a:lnSpc>
              <a:spcBef>
                <a:spcPts val="5"/>
              </a:spcBef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Définition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KPI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ts val="2145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Mesures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spécifiques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évaluer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performance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santé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systèmes.</a:t>
            </a:r>
            <a:endParaRPr sz="1800">
              <a:latin typeface="Calibri"/>
              <a:cs typeface="Calibri"/>
            </a:endParaRPr>
          </a:p>
          <a:p>
            <a:pPr marL="114300" indent="-111125">
              <a:lnSpc>
                <a:spcPts val="2745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Exemples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KPI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Temps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réponse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applications.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Taux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d'erreur.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Charge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système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(CPU,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RAM).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Stratégie</a:t>
            </a:r>
            <a:r>
              <a:rPr sz="23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Collecte</a:t>
            </a:r>
            <a:r>
              <a:rPr sz="2300" b="1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Données</a:t>
            </a:r>
            <a:endParaRPr sz="2300">
              <a:latin typeface="Calibri"/>
              <a:cs typeface="Calibri"/>
            </a:endParaRPr>
          </a:p>
          <a:p>
            <a:pPr marL="11430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Sources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données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ts val="2145"/>
              </a:lnSpc>
              <a:spcBef>
                <a:spcPts val="35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Logs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d'application,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métriques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système,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événements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sécurité.</a:t>
            </a:r>
            <a:endParaRPr sz="1800">
              <a:latin typeface="Calibri"/>
              <a:cs typeface="Calibri"/>
            </a:endParaRPr>
          </a:p>
          <a:p>
            <a:pPr marL="114300" indent="-111125">
              <a:lnSpc>
                <a:spcPts val="2745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Méthodes</a:t>
            </a:r>
            <a:r>
              <a:rPr sz="23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collecte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Utilisation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Logstash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centraliser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logs.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Agents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monitoring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métriques.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3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Définition</a:t>
            </a:r>
            <a:r>
              <a:rPr spc="-65" dirty="0"/>
              <a:t> </a:t>
            </a:r>
            <a:r>
              <a:rPr dirty="0"/>
              <a:t>du</a:t>
            </a:r>
            <a:r>
              <a:rPr spc="-35" dirty="0"/>
              <a:t> </a:t>
            </a:r>
            <a:r>
              <a:rPr dirty="0"/>
              <a:t>Plan</a:t>
            </a:r>
            <a:r>
              <a:rPr spc="-20" dirty="0"/>
              <a:t> </a:t>
            </a:r>
            <a:r>
              <a:rPr dirty="0"/>
              <a:t>de</a:t>
            </a:r>
            <a:r>
              <a:rPr spc="-10" dirty="0"/>
              <a:t> Monitoring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614"/>
              </a:lnSpc>
            </a:pPr>
            <a:fld id="{81D60167-4931-47E6-BA6A-407CBD079E47}" type="slidenum">
              <a:rPr sz="1600" spc="-25" dirty="0"/>
              <a:t>107</a:t>
            </a:fld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7904480" cy="4329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Configuration</a:t>
            </a:r>
            <a:r>
              <a:rPr sz="2300" b="1" spc="-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300" b="1" spc="-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Alertes</a:t>
            </a:r>
            <a:endParaRPr sz="2300">
              <a:latin typeface="Calibri"/>
              <a:cs typeface="Calibri"/>
            </a:endParaRPr>
          </a:p>
          <a:p>
            <a:pPr marL="114300" indent="-111125">
              <a:lnSpc>
                <a:spcPct val="100000"/>
              </a:lnSpc>
              <a:spcBef>
                <a:spcPts val="5"/>
              </a:spcBef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Types</a:t>
            </a:r>
            <a:r>
              <a:rPr sz="2300" b="1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d'alertes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Alertes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basées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métriques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(ex.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utilisation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CPU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80%).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ts val="2145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Alertes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basées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(ex.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erreurs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logs).</a:t>
            </a:r>
            <a:endParaRPr sz="1800">
              <a:latin typeface="Calibri"/>
              <a:cs typeface="Calibri"/>
            </a:endParaRPr>
          </a:p>
          <a:p>
            <a:pPr marL="114300" indent="-111125">
              <a:lnSpc>
                <a:spcPts val="2745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Canaux</a:t>
            </a:r>
            <a:r>
              <a:rPr sz="2300" b="1" spc="-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notification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Email,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SMS,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intégration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avec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outils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(Slack,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Microsoft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Teams).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30"/>
              </a:spcBef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Mise</a:t>
            </a:r>
            <a:r>
              <a:rPr sz="2300" b="1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b="1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œuvre</a:t>
            </a:r>
            <a:r>
              <a:rPr sz="23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b="1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Revue</a:t>
            </a:r>
            <a:r>
              <a:rPr sz="2300" b="1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20" dirty="0">
                <a:solidFill>
                  <a:srgbClr val="252D37"/>
                </a:solidFill>
                <a:latin typeface="Calibri"/>
                <a:cs typeface="Calibri"/>
              </a:rPr>
              <a:t>Plan</a:t>
            </a:r>
            <a:endParaRPr sz="2300">
              <a:latin typeface="Calibri"/>
              <a:cs typeface="Calibri"/>
            </a:endParaRPr>
          </a:p>
          <a:p>
            <a:pPr marL="114300" indent="-111125">
              <a:lnSpc>
                <a:spcPct val="100000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Mise</a:t>
            </a:r>
            <a:r>
              <a:rPr sz="2300" b="1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20" dirty="0">
                <a:solidFill>
                  <a:srgbClr val="252D37"/>
                </a:solidFill>
                <a:latin typeface="Calibri"/>
                <a:cs typeface="Calibri"/>
              </a:rPr>
              <a:t>œuvre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Étapes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déploiement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monitoring.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ts val="2145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Configuration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outils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(Logstash,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Elasticsearch,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Kibana).</a:t>
            </a:r>
            <a:endParaRPr sz="1800">
              <a:latin typeface="Calibri"/>
              <a:cs typeface="Calibri"/>
            </a:endParaRPr>
          </a:p>
          <a:p>
            <a:pPr marL="114300" indent="-111125">
              <a:lnSpc>
                <a:spcPts val="2745"/>
              </a:lnSpc>
              <a:buSzPct val="95652"/>
              <a:buFont typeface="Arial MT"/>
              <a:buChar char="•"/>
              <a:tabLst>
                <a:tab pos="114300" algn="l"/>
              </a:tabLst>
            </a:pPr>
            <a:r>
              <a:rPr sz="2300" b="1" dirty="0">
                <a:solidFill>
                  <a:srgbClr val="252D37"/>
                </a:solidFill>
                <a:latin typeface="Calibri"/>
                <a:cs typeface="Calibri"/>
              </a:rPr>
              <a:t>Revue</a:t>
            </a:r>
            <a:r>
              <a:rPr sz="2300" b="1" spc="-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b="1" spc="-10" dirty="0">
                <a:solidFill>
                  <a:srgbClr val="252D37"/>
                </a:solidFill>
                <a:latin typeface="Calibri"/>
                <a:cs typeface="Calibri"/>
              </a:rPr>
              <a:t>régulière</a:t>
            </a:r>
            <a:endParaRPr sz="23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Évaluation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périodique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l'efficacité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plan.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Ajustements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basés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retours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d'expérience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évolutions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besoins.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3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1923" y="2558817"/>
            <a:ext cx="2218241" cy="21194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7071" y="1655191"/>
            <a:ext cx="908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000000"/>
                </a:solidFill>
                <a:latin typeface="Calibri"/>
                <a:cs typeface="Calibri"/>
              </a:rPr>
              <a:t>Démo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9220">
              <a:lnSpc>
                <a:spcPts val="1614"/>
              </a:lnSpc>
            </a:pPr>
            <a:fld id="{81D60167-4931-47E6-BA6A-407CBD079E47}" type="slidenum">
              <a:rPr sz="1600" spc="-25" dirty="0"/>
              <a:t>108</a:t>
            </a:fld>
            <a:endParaRPr sz="1600"/>
          </a:p>
        </p:txBody>
      </p:sp>
      <p:sp>
        <p:nvSpPr>
          <p:cNvPr id="5" name="object 5"/>
          <p:cNvSpPr txBox="1"/>
          <p:nvPr/>
        </p:nvSpPr>
        <p:spPr>
          <a:xfrm>
            <a:off x="1457071" y="2084654"/>
            <a:ext cx="317119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80" dirty="0">
                <a:solidFill>
                  <a:srgbClr val="164052"/>
                </a:solidFill>
                <a:latin typeface="Calibri"/>
                <a:cs typeface="Calibri"/>
              </a:rPr>
              <a:t>ELK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"/>
              </a:spcBef>
            </a:pP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https://github.com/docker/awesome-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compose/tree/master/elasticsearch-</a:t>
            </a:r>
            <a:r>
              <a:rPr sz="16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logstash-kibana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3" name="object 3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103" y="-4764"/>
            <a:ext cx="3519170" cy="7566025"/>
            <a:chOff x="-6103" y="-4764"/>
            <a:chExt cx="3519170" cy="7566025"/>
          </a:xfrm>
        </p:grpSpPr>
        <p:sp>
          <p:nvSpPr>
            <p:cNvPr id="6" name="object 6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391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3509391" y="7556500"/>
                  </a:lnTo>
                  <a:lnTo>
                    <a:pt x="350939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7556500"/>
                  </a:moveTo>
                  <a:lnTo>
                    <a:pt x="3509391" y="7556500"/>
                  </a:lnTo>
                  <a:lnTo>
                    <a:pt x="3509391" y="0"/>
                  </a:lnTo>
                  <a:lnTo>
                    <a:pt x="0" y="0"/>
                  </a:lnTo>
                  <a:lnTo>
                    <a:pt x="0" y="7556500"/>
                  </a:lnTo>
                  <a:close/>
                </a:path>
              </a:pathLst>
            </a:custGeom>
            <a:ln w="9525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461" y="0"/>
                  </a:moveTo>
                  <a:lnTo>
                    <a:pt x="0" y="0"/>
                  </a:lnTo>
                  <a:lnTo>
                    <a:pt x="3509461" y="7556498"/>
                  </a:lnTo>
                  <a:lnTo>
                    <a:pt x="350946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0"/>
                  </a:moveTo>
                  <a:lnTo>
                    <a:pt x="3509461" y="0"/>
                  </a:lnTo>
                  <a:lnTo>
                    <a:pt x="3509461" y="7556498"/>
                  </a:lnTo>
                </a:path>
                <a:path w="350964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8292" y="1094054"/>
            <a:ext cx="1967230" cy="1128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5"/>
              </a:spcBef>
              <a:tabLst>
                <a:tab pos="708660" algn="l"/>
                <a:tab pos="1187450" algn="l"/>
              </a:tabLst>
            </a:pP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4800" b="1" spc="-75" baseline="1736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4800" b="1" baseline="1736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  <a:tabLst>
                <a:tab pos="1532255" algn="l"/>
              </a:tabLst>
            </a:pP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b="1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b="1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8</a:t>
            </a:r>
            <a:r>
              <a:rPr sz="2400" b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292" y="2437257"/>
            <a:ext cx="28187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001394" algn="l"/>
                <a:tab pos="1576070" algn="l"/>
              </a:tabLst>
            </a:pP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l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q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4020" y="1844167"/>
            <a:ext cx="371094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Prise</a:t>
            </a:r>
            <a:r>
              <a:rPr sz="2500" b="1" spc="2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en</a:t>
            </a:r>
            <a:r>
              <a:rPr sz="2500" b="1" spc="2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compte</a:t>
            </a:r>
            <a:r>
              <a:rPr sz="2500" b="1" spc="3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0" dirty="0">
                <a:solidFill>
                  <a:srgbClr val="164052"/>
                </a:solidFill>
                <a:latin typeface="Calibri"/>
                <a:cs typeface="Calibri"/>
              </a:rPr>
              <a:t>des</a:t>
            </a:r>
            <a:r>
              <a:rPr sz="2500" b="1" spc="2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70" dirty="0">
                <a:solidFill>
                  <a:srgbClr val="164052"/>
                </a:solidFill>
                <a:latin typeface="Calibri"/>
                <a:cs typeface="Calibri"/>
              </a:rPr>
              <a:t>user </a:t>
            </a:r>
            <a:r>
              <a:rPr sz="2500" b="1" spc="100" dirty="0">
                <a:solidFill>
                  <a:srgbClr val="164052"/>
                </a:solidFill>
                <a:latin typeface="Calibri"/>
                <a:cs typeface="Calibri"/>
              </a:rPr>
              <a:t>stories</a:t>
            </a:r>
            <a:r>
              <a:rPr sz="2500" b="1" spc="3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60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500" b="1" spc="28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0" dirty="0">
                <a:solidFill>
                  <a:srgbClr val="164052"/>
                </a:solidFill>
                <a:latin typeface="Calibri"/>
                <a:cs typeface="Calibri"/>
              </a:rPr>
              <a:t>production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74631" y="2004250"/>
            <a:ext cx="462915" cy="462915"/>
            <a:chOff x="3274631" y="2004250"/>
            <a:chExt cx="462915" cy="462915"/>
          </a:xfrm>
        </p:grpSpPr>
        <p:sp>
          <p:nvSpPr>
            <p:cNvPr id="14" name="object 14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79"/>
                  </a:lnTo>
                  <a:lnTo>
                    <a:pt x="22097" y="121538"/>
                  </a:lnTo>
                  <a:lnTo>
                    <a:pt x="5714" y="167258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7" y="312546"/>
                  </a:lnTo>
                  <a:lnTo>
                    <a:pt x="47751" y="352805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370"/>
                  </a:lnTo>
                  <a:lnTo>
                    <a:pt x="217042" y="434086"/>
                  </a:lnTo>
                  <a:lnTo>
                    <a:pt x="266826" y="428370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805"/>
                  </a:lnTo>
                  <a:lnTo>
                    <a:pt x="412114" y="312546"/>
                  </a:lnTo>
                  <a:lnTo>
                    <a:pt x="428370" y="266826"/>
                  </a:lnTo>
                  <a:lnTo>
                    <a:pt x="434213" y="217042"/>
                  </a:lnTo>
                  <a:lnTo>
                    <a:pt x="429894" y="174498"/>
                  </a:lnTo>
                  <a:lnTo>
                    <a:pt x="417575" y="133984"/>
                  </a:lnTo>
                  <a:lnTo>
                    <a:pt x="397636" y="96646"/>
                  </a:lnTo>
                  <a:lnTo>
                    <a:pt x="370585" y="63626"/>
                  </a:lnTo>
                  <a:lnTo>
                    <a:pt x="337565" y="36449"/>
                  </a:lnTo>
                  <a:lnTo>
                    <a:pt x="300100" y="16509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8919" y="2018538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8"/>
                  </a:lnTo>
                  <a:lnTo>
                    <a:pt x="22097" y="121538"/>
                  </a:lnTo>
                  <a:lnTo>
                    <a:pt x="47751" y="81279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09"/>
                  </a:lnTo>
                  <a:lnTo>
                    <a:pt x="337565" y="36449"/>
                  </a:lnTo>
                  <a:lnTo>
                    <a:pt x="370585" y="63626"/>
                  </a:lnTo>
                  <a:lnTo>
                    <a:pt x="397636" y="96646"/>
                  </a:lnTo>
                  <a:lnTo>
                    <a:pt x="417575" y="133984"/>
                  </a:lnTo>
                  <a:lnTo>
                    <a:pt x="429894" y="174498"/>
                  </a:lnTo>
                  <a:lnTo>
                    <a:pt x="434213" y="217042"/>
                  </a:lnTo>
                  <a:lnTo>
                    <a:pt x="428370" y="266826"/>
                  </a:lnTo>
                  <a:lnTo>
                    <a:pt x="412114" y="312546"/>
                  </a:lnTo>
                  <a:lnTo>
                    <a:pt x="386460" y="352805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370"/>
                  </a:lnTo>
                  <a:lnTo>
                    <a:pt x="217042" y="434086"/>
                  </a:lnTo>
                  <a:lnTo>
                    <a:pt x="167258" y="428370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805"/>
                  </a:lnTo>
                  <a:lnTo>
                    <a:pt x="22097" y="312546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23030" y="2048637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74631" y="3123247"/>
            <a:ext cx="462915" cy="462915"/>
            <a:chOff x="3274631" y="3123247"/>
            <a:chExt cx="462915" cy="462915"/>
          </a:xfrm>
        </p:grpSpPr>
        <p:sp>
          <p:nvSpPr>
            <p:cNvPr id="18" name="object 18"/>
            <p:cNvSpPr/>
            <p:nvPr/>
          </p:nvSpPr>
          <p:spPr>
            <a:xfrm>
              <a:off x="3288919" y="313753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842"/>
                  </a:lnTo>
                  <a:lnTo>
                    <a:pt x="121665" y="22098"/>
                  </a:lnTo>
                  <a:lnTo>
                    <a:pt x="81279" y="47752"/>
                  </a:lnTo>
                  <a:lnTo>
                    <a:pt x="47751" y="81407"/>
                  </a:lnTo>
                  <a:lnTo>
                    <a:pt x="22097" y="121666"/>
                  </a:lnTo>
                  <a:lnTo>
                    <a:pt x="5714" y="167386"/>
                  </a:lnTo>
                  <a:lnTo>
                    <a:pt x="0" y="217170"/>
                  </a:lnTo>
                  <a:lnTo>
                    <a:pt x="5714" y="266954"/>
                  </a:lnTo>
                  <a:lnTo>
                    <a:pt x="22097" y="312547"/>
                  </a:lnTo>
                  <a:lnTo>
                    <a:pt x="47751" y="352933"/>
                  </a:lnTo>
                  <a:lnTo>
                    <a:pt x="81279" y="386461"/>
                  </a:lnTo>
                  <a:lnTo>
                    <a:pt x="121665" y="412115"/>
                  </a:lnTo>
                  <a:lnTo>
                    <a:pt x="167258" y="428498"/>
                  </a:lnTo>
                  <a:lnTo>
                    <a:pt x="217042" y="434213"/>
                  </a:lnTo>
                  <a:lnTo>
                    <a:pt x="266826" y="428498"/>
                  </a:lnTo>
                  <a:lnTo>
                    <a:pt x="312546" y="412115"/>
                  </a:lnTo>
                  <a:lnTo>
                    <a:pt x="352805" y="386461"/>
                  </a:lnTo>
                  <a:lnTo>
                    <a:pt x="386460" y="352933"/>
                  </a:lnTo>
                  <a:lnTo>
                    <a:pt x="412114" y="312547"/>
                  </a:lnTo>
                  <a:lnTo>
                    <a:pt x="428370" y="266954"/>
                  </a:lnTo>
                  <a:lnTo>
                    <a:pt x="434213" y="217170"/>
                  </a:lnTo>
                  <a:lnTo>
                    <a:pt x="429894" y="174625"/>
                  </a:lnTo>
                  <a:lnTo>
                    <a:pt x="417575" y="134112"/>
                  </a:lnTo>
                  <a:lnTo>
                    <a:pt x="397636" y="96647"/>
                  </a:lnTo>
                  <a:lnTo>
                    <a:pt x="370585" y="63627"/>
                  </a:lnTo>
                  <a:lnTo>
                    <a:pt x="337565" y="36576"/>
                  </a:lnTo>
                  <a:lnTo>
                    <a:pt x="300100" y="16637"/>
                  </a:lnTo>
                  <a:lnTo>
                    <a:pt x="259587" y="4318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88919" y="313753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170"/>
                  </a:moveTo>
                  <a:lnTo>
                    <a:pt x="5714" y="167386"/>
                  </a:lnTo>
                  <a:lnTo>
                    <a:pt x="22097" y="121666"/>
                  </a:lnTo>
                  <a:lnTo>
                    <a:pt x="47751" y="81407"/>
                  </a:lnTo>
                  <a:lnTo>
                    <a:pt x="81279" y="47752"/>
                  </a:lnTo>
                  <a:lnTo>
                    <a:pt x="121665" y="22098"/>
                  </a:lnTo>
                  <a:lnTo>
                    <a:pt x="167258" y="5842"/>
                  </a:lnTo>
                  <a:lnTo>
                    <a:pt x="217042" y="0"/>
                  </a:lnTo>
                  <a:lnTo>
                    <a:pt x="259587" y="4318"/>
                  </a:lnTo>
                  <a:lnTo>
                    <a:pt x="300100" y="16637"/>
                  </a:lnTo>
                  <a:lnTo>
                    <a:pt x="337565" y="36576"/>
                  </a:lnTo>
                  <a:lnTo>
                    <a:pt x="370585" y="63627"/>
                  </a:lnTo>
                  <a:lnTo>
                    <a:pt x="397636" y="96647"/>
                  </a:lnTo>
                  <a:lnTo>
                    <a:pt x="417575" y="134112"/>
                  </a:lnTo>
                  <a:lnTo>
                    <a:pt x="429894" y="174625"/>
                  </a:lnTo>
                  <a:lnTo>
                    <a:pt x="434213" y="217170"/>
                  </a:lnTo>
                  <a:lnTo>
                    <a:pt x="428370" y="266954"/>
                  </a:lnTo>
                  <a:lnTo>
                    <a:pt x="412114" y="312547"/>
                  </a:lnTo>
                  <a:lnTo>
                    <a:pt x="386460" y="352933"/>
                  </a:lnTo>
                  <a:lnTo>
                    <a:pt x="352805" y="386461"/>
                  </a:lnTo>
                  <a:lnTo>
                    <a:pt x="312546" y="412115"/>
                  </a:lnTo>
                  <a:lnTo>
                    <a:pt x="266826" y="428498"/>
                  </a:lnTo>
                  <a:lnTo>
                    <a:pt x="217042" y="434213"/>
                  </a:lnTo>
                  <a:lnTo>
                    <a:pt x="167258" y="428498"/>
                  </a:lnTo>
                  <a:lnTo>
                    <a:pt x="121665" y="412115"/>
                  </a:lnTo>
                  <a:lnTo>
                    <a:pt x="81279" y="386461"/>
                  </a:lnTo>
                  <a:lnTo>
                    <a:pt x="47751" y="352933"/>
                  </a:lnTo>
                  <a:lnTo>
                    <a:pt x="22097" y="312547"/>
                  </a:lnTo>
                  <a:lnTo>
                    <a:pt x="5714" y="266954"/>
                  </a:lnTo>
                  <a:lnTo>
                    <a:pt x="0" y="217170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23030" y="3167888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226814" y="876681"/>
            <a:ext cx="369887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65" dirty="0">
                <a:latin typeface="Calibri"/>
                <a:cs typeface="Calibri"/>
              </a:rPr>
              <a:t>Les</a:t>
            </a:r>
            <a:r>
              <a:rPr sz="2500" b="1" spc="275" dirty="0">
                <a:latin typeface="Calibri"/>
                <a:cs typeface="Calibri"/>
              </a:rPr>
              <a:t> </a:t>
            </a:r>
            <a:r>
              <a:rPr sz="2500" b="1" spc="85" dirty="0">
                <a:latin typeface="Calibri"/>
                <a:cs typeface="Calibri"/>
              </a:rPr>
              <a:t>types</a:t>
            </a:r>
            <a:r>
              <a:rPr sz="2500" b="1" spc="265" dirty="0">
                <a:latin typeface="Calibri"/>
                <a:cs typeface="Calibri"/>
              </a:rPr>
              <a:t> </a:t>
            </a:r>
            <a:r>
              <a:rPr sz="2500" b="1" spc="90" dirty="0">
                <a:latin typeface="Calibri"/>
                <a:cs typeface="Calibri"/>
              </a:rPr>
              <a:t>d'organisations </a:t>
            </a:r>
            <a:r>
              <a:rPr sz="2500" b="1" spc="85" dirty="0">
                <a:latin typeface="Calibri"/>
                <a:cs typeface="Calibri"/>
              </a:rPr>
              <a:t>possibles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6814" y="3121228"/>
            <a:ext cx="35509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175" dirty="0">
                <a:solidFill>
                  <a:srgbClr val="164052"/>
                </a:solidFill>
                <a:latin typeface="Calibri"/>
                <a:cs typeface="Calibri"/>
              </a:rPr>
              <a:t>Collaboration</a:t>
            </a:r>
            <a:r>
              <a:rPr sz="25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50" dirty="0">
                <a:solidFill>
                  <a:srgbClr val="164052"/>
                </a:solidFill>
                <a:latin typeface="Calibri"/>
                <a:cs typeface="Calibri"/>
              </a:rPr>
              <a:t>Dev/Ops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90125" y="881951"/>
            <a:ext cx="462915" cy="462915"/>
            <a:chOff x="3290125" y="881951"/>
            <a:chExt cx="462915" cy="462915"/>
          </a:xfrm>
        </p:grpSpPr>
        <p:sp>
          <p:nvSpPr>
            <p:cNvPr id="24" name="object 24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170" y="0"/>
                  </a:moveTo>
                  <a:lnTo>
                    <a:pt x="167386" y="5842"/>
                  </a:lnTo>
                  <a:lnTo>
                    <a:pt x="121665" y="22098"/>
                  </a:lnTo>
                  <a:lnTo>
                    <a:pt x="81407" y="47751"/>
                  </a:lnTo>
                  <a:lnTo>
                    <a:pt x="47751" y="81406"/>
                  </a:lnTo>
                  <a:lnTo>
                    <a:pt x="22098" y="121666"/>
                  </a:lnTo>
                  <a:lnTo>
                    <a:pt x="5841" y="167386"/>
                  </a:lnTo>
                  <a:lnTo>
                    <a:pt x="0" y="217169"/>
                  </a:lnTo>
                  <a:lnTo>
                    <a:pt x="5841" y="266826"/>
                  </a:lnTo>
                  <a:lnTo>
                    <a:pt x="22098" y="312547"/>
                  </a:lnTo>
                  <a:lnTo>
                    <a:pt x="47751" y="352932"/>
                  </a:lnTo>
                  <a:lnTo>
                    <a:pt x="81407" y="386461"/>
                  </a:lnTo>
                  <a:lnTo>
                    <a:pt x="121665" y="412114"/>
                  </a:lnTo>
                  <a:lnTo>
                    <a:pt x="167386" y="428498"/>
                  </a:lnTo>
                  <a:lnTo>
                    <a:pt x="217170" y="434213"/>
                  </a:lnTo>
                  <a:lnTo>
                    <a:pt x="266953" y="428498"/>
                  </a:lnTo>
                  <a:lnTo>
                    <a:pt x="312547" y="412114"/>
                  </a:lnTo>
                  <a:lnTo>
                    <a:pt x="352933" y="386461"/>
                  </a:lnTo>
                  <a:lnTo>
                    <a:pt x="386461" y="352932"/>
                  </a:lnTo>
                  <a:lnTo>
                    <a:pt x="412114" y="312547"/>
                  </a:lnTo>
                  <a:lnTo>
                    <a:pt x="428498" y="266826"/>
                  </a:lnTo>
                  <a:lnTo>
                    <a:pt x="434213" y="217169"/>
                  </a:lnTo>
                  <a:lnTo>
                    <a:pt x="430022" y="174625"/>
                  </a:lnTo>
                  <a:lnTo>
                    <a:pt x="417702" y="133984"/>
                  </a:lnTo>
                  <a:lnTo>
                    <a:pt x="397763" y="96647"/>
                  </a:lnTo>
                  <a:lnTo>
                    <a:pt x="370586" y="63626"/>
                  </a:lnTo>
                  <a:lnTo>
                    <a:pt x="337565" y="36575"/>
                  </a:lnTo>
                  <a:lnTo>
                    <a:pt x="300227" y="16509"/>
                  </a:lnTo>
                  <a:lnTo>
                    <a:pt x="259714" y="4318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69"/>
                  </a:moveTo>
                  <a:lnTo>
                    <a:pt x="5841" y="167386"/>
                  </a:lnTo>
                  <a:lnTo>
                    <a:pt x="22098" y="121666"/>
                  </a:lnTo>
                  <a:lnTo>
                    <a:pt x="47751" y="81406"/>
                  </a:lnTo>
                  <a:lnTo>
                    <a:pt x="81407" y="47751"/>
                  </a:lnTo>
                  <a:lnTo>
                    <a:pt x="121665" y="22098"/>
                  </a:lnTo>
                  <a:lnTo>
                    <a:pt x="167386" y="5842"/>
                  </a:lnTo>
                  <a:lnTo>
                    <a:pt x="217170" y="0"/>
                  </a:lnTo>
                  <a:lnTo>
                    <a:pt x="259714" y="4318"/>
                  </a:lnTo>
                  <a:lnTo>
                    <a:pt x="300227" y="16509"/>
                  </a:lnTo>
                  <a:lnTo>
                    <a:pt x="337565" y="36575"/>
                  </a:lnTo>
                  <a:lnTo>
                    <a:pt x="370586" y="63626"/>
                  </a:lnTo>
                  <a:lnTo>
                    <a:pt x="397763" y="96647"/>
                  </a:lnTo>
                  <a:lnTo>
                    <a:pt x="417702" y="133984"/>
                  </a:lnTo>
                  <a:lnTo>
                    <a:pt x="430022" y="174625"/>
                  </a:lnTo>
                  <a:lnTo>
                    <a:pt x="434213" y="217169"/>
                  </a:lnTo>
                  <a:lnTo>
                    <a:pt x="428498" y="266826"/>
                  </a:lnTo>
                  <a:lnTo>
                    <a:pt x="412114" y="312547"/>
                  </a:lnTo>
                  <a:lnTo>
                    <a:pt x="386461" y="352932"/>
                  </a:lnTo>
                  <a:lnTo>
                    <a:pt x="352933" y="386461"/>
                  </a:lnTo>
                  <a:lnTo>
                    <a:pt x="312547" y="412114"/>
                  </a:lnTo>
                  <a:lnTo>
                    <a:pt x="266953" y="428498"/>
                  </a:lnTo>
                  <a:lnTo>
                    <a:pt x="217170" y="434213"/>
                  </a:lnTo>
                  <a:lnTo>
                    <a:pt x="167386" y="428498"/>
                  </a:lnTo>
                  <a:lnTo>
                    <a:pt x="121665" y="412114"/>
                  </a:lnTo>
                  <a:lnTo>
                    <a:pt x="81407" y="386461"/>
                  </a:lnTo>
                  <a:lnTo>
                    <a:pt x="47751" y="352932"/>
                  </a:lnTo>
                  <a:lnTo>
                    <a:pt x="22098" y="312547"/>
                  </a:lnTo>
                  <a:lnTo>
                    <a:pt x="5841" y="266826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38525" y="926084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74632" y="4245547"/>
            <a:ext cx="462915" cy="462915"/>
            <a:chOff x="3274632" y="4245547"/>
            <a:chExt cx="462915" cy="462915"/>
          </a:xfrm>
        </p:grpSpPr>
        <p:sp>
          <p:nvSpPr>
            <p:cNvPr id="28" name="object 28"/>
            <p:cNvSpPr/>
            <p:nvPr/>
          </p:nvSpPr>
          <p:spPr>
            <a:xfrm>
              <a:off x="3288919" y="425983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5"/>
                  </a:lnTo>
                  <a:lnTo>
                    <a:pt x="121665" y="22098"/>
                  </a:lnTo>
                  <a:lnTo>
                    <a:pt x="81279" y="47625"/>
                  </a:lnTo>
                  <a:lnTo>
                    <a:pt x="47751" y="81280"/>
                  </a:lnTo>
                  <a:lnTo>
                    <a:pt x="22097" y="121539"/>
                  </a:lnTo>
                  <a:lnTo>
                    <a:pt x="5714" y="167259"/>
                  </a:lnTo>
                  <a:lnTo>
                    <a:pt x="0" y="217043"/>
                  </a:lnTo>
                  <a:lnTo>
                    <a:pt x="5714" y="266827"/>
                  </a:lnTo>
                  <a:lnTo>
                    <a:pt x="22097" y="312547"/>
                  </a:lnTo>
                  <a:lnTo>
                    <a:pt x="47751" y="352806"/>
                  </a:lnTo>
                  <a:lnTo>
                    <a:pt x="81279" y="386461"/>
                  </a:lnTo>
                  <a:lnTo>
                    <a:pt x="121665" y="412115"/>
                  </a:lnTo>
                  <a:lnTo>
                    <a:pt x="167258" y="428371"/>
                  </a:lnTo>
                  <a:lnTo>
                    <a:pt x="217042" y="434086"/>
                  </a:lnTo>
                  <a:lnTo>
                    <a:pt x="266826" y="428371"/>
                  </a:lnTo>
                  <a:lnTo>
                    <a:pt x="312546" y="412115"/>
                  </a:lnTo>
                  <a:lnTo>
                    <a:pt x="352805" y="386461"/>
                  </a:lnTo>
                  <a:lnTo>
                    <a:pt x="386460" y="352806"/>
                  </a:lnTo>
                  <a:lnTo>
                    <a:pt x="412114" y="312547"/>
                  </a:lnTo>
                  <a:lnTo>
                    <a:pt x="428370" y="266827"/>
                  </a:lnTo>
                  <a:lnTo>
                    <a:pt x="434213" y="217043"/>
                  </a:lnTo>
                  <a:lnTo>
                    <a:pt x="429894" y="174498"/>
                  </a:lnTo>
                  <a:lnTo>
                    <a:pt x="417575" y="133985"/>
                  </a:lnTo>
                  <a:lnTo>
                    <a:pt x="397636" y="96647"/>
                  </a:lnTo>
                  <a:lnTo>
                    <a:pt x="370585" y="63627"/>
                  </a:lnTo>
                  <a:lnTo>
                    <a:pt x="337565" y="36449"/>
                  </a:lnTo>
                  <a:lnTo>
                    <a:pt x="300100" y="16510"/>
                  </a:lnTo>
                  <a:lnTo>
                    <a:pt x="259587" y="4191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88919" y="4259834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3"/>
                  </a:moveTo>
                  <a:lnTo>
                    <a:pt x="5714" y="167259"/>
                  </a:lnTo>
                  <a:lnTo>
                    <a:pt x="22097" y="121539"/>
                  </a:lnTo>
                  <a:lnTo>
                    <a:pt x="47751" y="81280"/>
                  </a:lnTo>
                  <a:lnTo>
                    <a:pt x="81279" y="47625"/>
                  </a:lnTo>
                  <a:lnTo>
                    <a:pt x="121665" y="22098"/>
                  </a:lnTo>
                  <a:lnTo>
                    <a:pt x="167258" y="5715"/>
                  </a:lnTo>
                  <a:lnTo>
                    <a:pt x="217042" y="0"/>
                  </a:lnTo>
                  <a:lnTo>
                    <a:pt x="259587" y="4191"/>
                  </a:lnTo>
                  <a:lnTo>
                    <a:pt x="300100" y="16510"/>
                  </a:lnTo>
                  <a:lnTo>
                    <a:pt x="337565" y="36449"/>
                  </a:lnTo>
                  <a:lnTo>
                    <a:pt x="370585" y="63627"/>
                  </a:lnTo>
                  <a:lnTo>
                    <a:pt x="397636" y="96647"/>
                  </a:lnTo>
                  <a:lnTo>
                    <a:pt x="417575" y="133985"/>
                  </a:lnTo>
                  <a:lnTo>
                    <a:pt x="429894" y="174498"/>
                  </a:lnTo>
                  <a:lnTo>
                    <a:pt x="434213" y="217043"/>
                  </a:lnTo>
                  <a:lnTo>
                    <a:pt x="428370" y="266827"/>
                  </a:lnTo>
                  <a:lnTo>
                    <a:pt x="412114" y="312547"/>
                  </a:lnTo>
                  <a:lnTo>
                    <a:pt x="386460" y="352806"/>
                  </a:lnTo>
                  <a:lnTo>
                    <a:pt x="352805" y="386461"/>
                  </a:lnTo>
                  <a:lnTo>
                    <a:pt x="312546" y="412115"/>
                  </a:lnTo>
                  <a:lnTo>
                    <a:pt x="266826" y="428371"/>
                  </a:lnTo>
                  <a:lnTo>
                    <a:pt x="217042" y="434086"/>
                  </a:lnTo>
                  <a:lnTo>
                    <a:pt x="167258" y="428371"/>
                  </a:lnTo>
                  <a:lnTo>
                    <a:pt x="121665" y="412115"/>
                  </a:lnTo>
                  <a:lnTo>
                    <a:pt x="81279" y="386461"/>
                  </a:lnTo>
                  <a:lnTo>
                    <a:pt x="47751" y="352806"/>
                  </a:lnTo>
                  <a:lnTo>
                    <a:pt x="22097" y="312547"/>
                  </a:lnTo>
                  <a:lnTo>
                    <a:pt x="5714" y="266827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23030" y="4289882"/>
            <a:ext cx="15176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4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149331" y="7222338"/>
            <a:ext cx="24955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111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08526" y="4244086"/>
            <a:ext cx="473837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Outils</a:t>
            </a:r>
            <a:r>
              <a:rPr sz="2500" b="1" spc="37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5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75" dirty="0">
                <a:solidFill>
                  <a:srgbClr val="164052"/>
                </a:solidFill>
                <a:latin typeface="Calibri"/>
                <a:cs typeface="Calibri"/>
              </a:rPr>
              <a:t>communication</a:t>
            </a:r>
            <a:r>
              <a:rPr sz="25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45" dirty="0">
                <a:solidFill>
                  <a:srgbClr val="164052"/>
                </a:solidFill>
                <a:latin typeface="Calibri"/>
                <a:cs typeface="Calibri"/>
              </a:rPr>
              <a:t>issus </a:t>
            </a:r>
            <a:r>
              <a:rPr sz="2500" b="1" spc="95" dirty="0">
                <a:solidFill>
                  <a:srgbClr val="164052"/>
                </a:solidFill>
                <a:latin typeface="Calibri"/>
                <a:cs typeface="Calibri"/>
              </a:rPr>
              <a:t>de</a:t>
            </a:r>
            <a:r>
              <a:rPr sz="2500" b="1" spc="3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90" dirty="0">
                <a:solidFill>
                  <a:srgbClr val="164052"/>
                </a:solidFill>
                <a:latin typeface="Calibri"/>
                <a:cs typeface="Calibri"/>
              </a:rPr>
              <a:t>la</a:t>
            </a:r>
            <a:r>
              <a:rPr sz="2500" b="1" spc="39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démarche</a:t>
            </a:r>
            <a:r>
              <a:rPr sz="2500" b="1" spc="409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55" dirty="0">
                <a:solidFill>
                  <a:srgbClr val="164052"/>
                </a:solidFill>
                <a:latin typeface="Calibri"/>
                <a:cs typeface="Calibri"/>
              </a:rPr>
              <a:t>ChatOps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40" dirty="0"/>
              <a:t> </a:t>
            </a:r>
            <a:r>
              <a:rPr dirty="0"/>
              <a:t>types</a:t>
            </a:r>
            <a:r>
              <a:rPr spc="-40" dirty="0"/>
              <a:t> </a:t>
            </a:r>
            <a:r>
              <a:rPr dirty="0"/>
              <a:t>d'organisations</a:t>
            </a:r>
            <a:r>
              <a:rPr spc="-50" dirty="0"/>
              <a:t> </a:t>
            </a:r>
            <a:r>
              <a:rPr spc="-10" dirty="0"/>
              <a:t>possibles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299466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Collaboration</a:t>
            </a:r>
            <a:r>
              <a:rPr sz="2300" spc="-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Dev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Ops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3201" y="2475962"/>
            <a:ext cx="4566669" cy="33422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14"/>
              </a:lnSpc>
            </a:pPr>
            <a:fld id="{81D60167-4931-47E6-BA6A-407CBD079E47}" type="slidenum">
              <a:rPr sz="1600" spc="-25" dirty="0"/>
              <a:t>110</a:t>
            </a:fld>
            <a:endParaRPr sz="16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40" dirty="0"/>
              <a:t> </a:t>
            </a:r>
            <a:r>
              <a:rPr dirty="0"/>
              <a:t>types</a:t>
            </a:r>
            <a:r>
              <a:rPr spc="-40" dirty="0"/>
              <a:t> </a:t>
            </a:r>
            <a:r>
              <a:rPr dirty="0"/>
              <a:t>d'organisations</a:t>
            </a:r>
            <a:r>
              <a:rPr spc="-50" dirty="0"/>
              <a:t> </a:t>
            </a:r>
            <a:r>
              <a:rPr spc="-10" dirty="0"/>
              <a:t>possibles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660400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Responsabilités</a:t>
            </a:r>
            <a:r>
              <a:rPr sz="2300" spc="-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opérationnelles</a:t>
            </a:r>
            <a:r>
              <a:rPr sz="2300" spc="-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entièrement</a:t>
            </a:r>
            <a:r>
              <a:rPr sz="2300" spc="-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partagées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0033" y="2488662"/>
            <a:ext cx="2791065" cy="33422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14"/>
              </a:lnSpc>
            </a:pPr>
            <a:fld id="{81D60167-4931-47E6-BA6A-407CBD079E47}" type="slidenum">
              <a:rPr sz="1600" spc="-25" dirty="0"/>
              <a:t>111</a:t>
            </a:fld>
            <a:endParaRPr sz="16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40" dirty="0"/>
              <a:t> </a:t>
            </a:r>
            <a:r>
              <a:rPr dirty="0"/>
              <a:t>types</a:t>
            </a:r>
            <a:r>
              <a:rPr spc="-40" dirty="0"/>
              <a:t> </a:t>
            </a:r>
            <a:r>
              <a:rPr dirty="0"/>
              <a:t>d'organisations</a:t>
            </a:r>
            <a:r>
              <a:rPr spc="-50" dirty="0"/>
              <a:t> </a:t>
            </a:r>
            <a:r>
              <a:rPr spc="-10" dirty="0"/>
              <a:t>possibles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618871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Ops</a:t>
            </a:r>
            <a:r>
              <a:rPr sz="2300" spc="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spc="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tant</a:t>
            </a:r>
            <a:r>
              <a:rPr sz="2300" spc="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Infrastructure-as-a-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service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(Plateforme)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8607" y="2631420"/>
            <a:ext cx="4671117" cy="33073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14"/>
              </a:lnSpc>
            </a:pPr>
            <a:fld id="{81D60167-4931-47E6-BA6A-407CBD079E47}" type="slidenum">
              <a:rPr sz="1600" spc="-25" dirty="0"/>
              <a:t>112</a:t>
            </a:fld>
            <a:endParaRPr sz="160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Les</a:t>
            </a:r>
            <a:r>
              <a:rPr spc="-40" dirty="0"/>
              <a:t> </a:t>
            </a:r>
            <a:r>
              <a:rPr dirty="0"/>
              <a:t>types</a:t>
            </a:r>
            <a:r>
              <a:rPr spc="-40" dirty="0"/>
              <a:t> </a:t>
            </a:r>
            <a:r>
              <a:rPr dirty="0"/>
              <a:t>d'organisations</a:t>
            </a:r>
            <a:r>
              <a:rPr spc="-50" dirty="0"/>
              <a:t> </a:t>
            </a:r>
            <a:r>
              <a:rPr spc="-10" dirty="0"/>
              <a:t>possibles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200" y="1556080"/>
            <a:ext cx="428942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DevOps</a:t>
            </a:r>
            <a:r>
              <a:rPr sz="2300" spc="-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en</a:t>
            </a:r>
            <a:r>
              <a:rPr sz="2300" spc="-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tant</a:t>
            </a:r>
            <a:r>
              <a:rPr sz="2300" spc="-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que</a:t>
            </a:r>
            <a:r>
              <a:rPr sz="23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52D37"/>
                </a:solidFill>
                <a:latin typeface="Calibri"/>
                <a:cs typeface="Calibri"/>
              </a:rPr>
              <a:t>Service</a:t>
            </a:r>
            <a:r>
              <a:rPr sz="23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52D37"/>
                </a:solidFill>
                <a:latin typeface="Calibri"/>
                <a:cs typeface="Calibri"/>
              </a:rPr>
              <a:t>Externe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018" y="2899712"/>
            <a:ext cx="4218511" cy="32783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14"/>
              </a:lnSpc>
            </a:pPr>
            <a:fld id="{81D60167-4931-47E6-BA6A-407CBD079E47}" type="slidenum">
              <a:rPr sz="1600" spc="-25" dirty="0"/>
              <a:t>113</a:t>
            </a:fld>
            <a:endParaRPr sz="16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10165" y="7217359"/>
            <a:ext cx="14986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44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3795" y="69596"/>
            <a:ext cx="71907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Prise</a:t>
            </a:r>
            <a:r>
              <a:rPr spc="250" dirty="0"/>
              <a:t> </a:t>
            </a:r>
            <a:r>
              <a:rPr spc="65" dirty="0"/>
              <a:t>en</a:t>
            </a:r>
            <a:r>
              <a:rPr spc="270" dirty="0"/>
              <a:t> </a:t>
            </a:r>
            <a:r>
              <a:rPr spc="105" dirty="0"/>
              <a:t>compte</a:t>
            </a:r>
            <a:r>
              <a:rPr spc="250" dirty="0"/>
              <a:t> </a:t>
            </a:r>
            <a:r>
              <a:rPr spc="85" dirty="0"/>
              <a:t>des</a:t>
            </a:r>
            <a:r>
              <a:rPr spc="260" dirty="0"/>
              <a:t> </a:t>
            </a:r>
            <a:r>
              <a:rPr spc="100" dirty="0"/>
              <a:t>user</a:t>
            </a:r>
            <a:r>
              <a:rPr spc="265" dirty="0"/>
              <a:t> </a:t>
            </a:r>
            <a:r>
              <a:rPr spc="110" dirty="0"/>
              <a:t>stories</a:t>
            </a:r>
            <a:r>
              <a:rPr spc="250" dirty="0"/>
              <a:t> </a:t>
            </a:r>
            <a:r>
              <a:rPr spc="45" dirty="0"/>
              <a:t>de </a:t>
            </a:r>
            <a:r>
              <a:rPr spc="105" dirty="0"/>
              <a:t>production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3609" y="689989"/>
            <a:ext cx="10586720" cy="6866255"/>
            <a:chOff x="93609" y="689989"/>
            <a:chExt cx="10586720" cy="6866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7861" y="689989"/>
              <a:ext cx="6712331" cy="68659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609" y="1346962"/>
              <a:ext cx="6124321" cy="40805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3603" y="1410462"/>
              <a:ext cx="6044565" cy="3907790"/>
            </a:xfrm>
            <a:custGeom>
              <a:avLst/>
              <a:gdLst/>
              <a:ahLst/>
              <a:cxnLst/>
              <a:rect l="l" t="t" r="r" b="b"/>
              <a:pathLst>
                <a:path w="6044565" h="3907790">
                  <a:moveTo>
                    <a:pt x="3571240" y="0"/>
                  </a:moveTo>
                  <a:lnTo>
                    <a:pt x="651243" y="0"/>
                  </a:lnTo>
                  <a:lnTo>
                    <a:pt x="602640" y="1777"/>
                  </a:lnTo>
                  <a:lnTo>
                    <a:pt x="555002" y="7112"/>
                  </a:lnTo>
                  <a:lnTo>
                    <a:pt x="508469" y="15747"/>
                  </a:lnTo>
                  <a:lnTo>
                    <a:pt x="463156" y="27685"/>
                  </a:lnTo>
                  <a:lnTo>
                    <a:pt x="419188" y="42671"/>
                  </a:lnTo>
                  <a:lnTo>
                    <a:pt x="376694" y="60578"/>
                  </a:lnTo>
                  <a:lnTo>
                    <a:pt x="335800" y="81406"/>
                  </a:lnTo>
                  <a:lnTo>
                    <a:pt x="296633" y="105028"/>
                  </a:lnTo>
                  <a:lnTo>
                    <a:pt x="259321" y="131190"/>
                  </a:lnTo>
                  <a:lnTo>
                    <a:pt x="223977" y="159765"/>
                  </a:lnTo>
                  <a:lnTo>
                    <a:pt x="190741" y="190753"/>
                  </a:lnTo>
                  <a:lnTo>
                    <a:pt x="159740" y="224027"/>
                  </a:lnTo>
                  <a:lnTo>
                    <a:pt x="131089" y="259333"/>
                  </a:lnTo>
                  <a:lnTo>
                    <a:pt x="104927" y="296671"/>
                  </a:lnTo>
                  <a:lnTo>
                    <a:pt x="81356" y="335788"/>
                  </a:lnTo>
                  <a:lnTo>
                    <a:pt x="60528" y="376681"/>
                  </a:lnTo>
                  <a:lnTo>
                    <a:pt x="42557" y="419226"/>
                  </a:lnTo>
                  <a:lnTo>
                    <a:pt x="27571" y="463168"/>
                  </a:lnTo>
                  <a:lnTo>
                    <a:pt x="15697" y="508507"/>
                  </a:lnTo>
                  <a:lnTo>
                    <a:pt x="7061" y="554989"/>
                  </a:lnTo>
                  <a:lnTo>
                    <a:pt x="1790" y="602741"/>
                  </a:lnTo>
                  <a:lnTo>
                    <a:pt x="0" y="651255"/>
                  </a:lnTo>
                  <a:lnTo>
                    <a:pt x="0" y="3256279"/>
                  </a:lnTo>
                  <a:lnTo>
                    <a:pt x="1790" y="3304793"/>
                  </a:lnTo>
                  <a:lnTo>
                    <a:pt x="7061" y="3352418"/>
                  </a:lnTo>
                  <a:lnTo>
                    <a:pt x="15697" y="3399028"/>
                  </a:lnTo>
                  <a:lnTo>
                    <a:pt x="27571" y="3444366"/>
                  </a:lnTo>
                  <a:lnTo>
                    <a:pt x="42557" y="3488308"/>
                  </a:lnTo>
                  <a:lnTo>
                    <a:pt x="60528" y="3530727"/>
                  </a:lnTo>
                  <a:lnTo>
                    <a:pt x="81356" y="3571621"/>
                  </a:lnTo>
                  <a:lnTo>
                    <a:pt x="104927" y="3610863"/>
                  </a:lnTo>
                  <a:lnTo>
                    <a:pt x="131089" y="3648202"/>
                  </a:lnTo>
                  <a:lnTo>
                    <a:pt x="159740" y="3683507"/>
                  </a:lnTo>
                  <a:lnTo>
                    <a:pt x="190741" y="3716654"/>
                  </a:lnTo>
                  <a:lnTo>
                    <a:pt x="223977" y="3747769"/>
                  </a:lnTo>
                  <a:lnTo>
                    <a:pt x="259321" y="3776344"/>
                  </a:lnTo>
                  <a:lnTo>
                    <a:pt x="296633" y="3802506"/>
                  </a:lnTo>
                  <a:lnTo>
                    <a:pt x="335800" y="3826129"/>
                  </a:lnTo>
                  <a:lnTo>
                    <a:pt x="376694" y="3846956"/>
                  </a:lnTo>
                  <a:lnTo>
                    <a:pt x="419188" y="3864863"/>
                  </a:lnTo>
                  <a:lnTo>
                    <a:pt x="463156" y="3879850"/>
                  </a:lnTo>
                  <a:lnTo>
                    <a:pt x="508469" y="3891787"/>
                  </a:lnTo>
                  <a:lnTo>
                    <a:pt x="555002" y="3900424"/>
                  </a:lnTo>
                  <a:lnTo>
                    <a:pt x="602640" y="3905630"/>
                  </a:lnTo>
                  <a:lnTo>
                    <a:pt x="651243" y="3907408"/>
                  </a:lnTo>
                  <a:lnTo>
                    <a:pt x="3571240" y="3907408"/>
                  </a:lnTo>
                  <a:lnTo>
                    <a:pt x="3619881" y="3905630"/>
                  </a:lnTo>
                  <a:lnTo>
                    <a:pt x="3667506" y="3900424"/>
                  </a:lnTo>
                  <a:lnTo>
                    <a:pt x="3714115" y="3891787"/>
                  </a:lnTo>
                  <a:lnTo>
                    <a:pt x="3759327" y="3879850"/>
                  </a:lnTo>
                  <a:lnTo>
                    <a:pt x="3803396" y="3864863"/>
                  </a:lnTo>
                  <a:lnTo>
                    <a:pt x="3845814" y="3846956"/>
                  </a:lnTo>
                  <a:lnTo>
                    <a:pt x="3886708" y="3826129"/>
                  </a:lnTo>
                  <a:lnTo>
                    <a:pt x="3925951" y="3802506"/>
                  </a:lnTo>
                  <a:lnTo>
                    <a:pt x="3963162" y="3776344"/>
                  </a:lnTo>
                  <a:lnTo>
                    <a:pt x="3998595" y="3747769"/>
                  </a:lnTo>
                  <a:lnTo>
                    <a:pt x="4031742" y="3716654"/>
                  </a:lnTo>
                  <a:lnTo>
                    <a:pt x="4062730" y="3683507"/>
                  </a:lnTo>
                  <a:lnTo>
                    <a:pt x="4091432" y="3648202"/>
                  </a:lnTo>
                  <a:lnTo>
                    <a:pt x="4117594" y="3610863"/>
                  </a:lnTo>
                  <a:lnTo>
                    <a:pt x="4141216" y="3571621"/>
                  </a:lnTo>
                  <a:lnTo>
                    <a:pt x="4162044" y="3530727"/>
                  </a:lnTo>
                  <a:lnTo>
                    <a:pt x="4179951" y="3488308"/>
                  </a:lnTo>
                  <a:lnTo>
                    <a:pt x="4194937" y="3444366"/>
                  </a:lnTo>
                  <a:lnTo>
                    <a:pt x="4206875" y="3399028"/>
                  </a:lnTo>
                  <a:lnTo>
                    <a:pt x="4215511" y="3352418"/>
                  </a:lnTo>
                  <a:lnTo>
                    <a:pt x="4220718" y="3304793"/>
                  </a:lnTo>
                  <a:lnTo>
                    <a:pt x="4222496" y="3256279"/>
                  </a:lnTo>
                  <a:lnTo>
                    <a:pt x="6044311" y="2394839"/>
                  </a:lnTo>
                  <a:lnTo>
                    <a:pt x="4222496" y="2279395"/>
                  </a:lnTo>
                  <a:lnTo>
                    <a:pt x="4222496" y="651255"/>
                  </a:lnTo>
                  <a:lnTo>
                    <a:pt x="4220464" y="599693"/>
                  </a:lnTo>
                  <a:lnTo>
                    <a:pt x="4214368" y="548766"/>
                  </a:lnTo>
                  <a:lnTo>
                    <a:pt x="4204462" y="498728"/>
                  </a:lnTo>
                  <a:lnTo>
                    <a:pt x="4190492" y="449706"/>
                  </a:lnTo>
                  <a:lnTo>
                    <a:pt x="4172966" y="402081"/>
                  </a:lnTo>
                  <a:lnTo>
                    <a:pt x="4151630" y="355853"/>
                  </a:lnTo>
                  <a:lnTo>
                    <a:pt x="4126865" y="311530"/>
                  </a:lnTo>
                  <a:lnTo>
                    <a:pt x="4098544" y="268985"/>
                  </a:lnTo>
                  <a:lnTo>
                    <a:pt x="4066794" y="228726"/>
                  </a:lnTo>
                  <a:lnTo>
                    <a:pt x="4031742" y="190753"/>
                  </a:lnTo>
                  <a:lnTo>
                    <a:pt x="3993896" y="155828"/>
                  </a:lnTo>
                  <a:lnTo>
                    <a:pt x="3953510" y="124078"/>
                  </a:lnTo>
                  <a:lnTo>
                    <a:pt x="3911092" y="95757"/>
                  </a:lnTo>
                  <a:lnTo>
                    <a:pt x="3866642" y="70865"/>
                  </a:lnTo>
                  <a:lnTo>
                    <a:pt x="3820541" y="49656"/>
                  </a:lnTo>
                  <a:lnTo>
                    <a:pt x="3772789" y="32003"/>
                  </a:lnTo>
                  <a:lnTo>
                    <a:pt x="3723894" y="18160"/>
                  </a:lnTo>
                  <a:lnTo>
                    <a:pt x="3673729" y="8127"/>
                  </a:lnTo>
                  <a:lnTo>
                    <a:pt x="3622802" y="2031"/>
                  </a:lnTo>
                  <a:lnTo>
                    <a:pt x="3571240" y="0"/>
                  </a:lnTo>
                  <a:close/>
                </a:path>
              </a:pathLst>
            </a:custGeom>
            <a:solidFill>
              <a:srgbClr val="DAED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6387" y="1329690"/>
            <a:ext cx="3583940" cy="39865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 marR="5080" indent="-635" algn="ctr">
              <a:lnSpc>
                <a:spcPct val="98500"/>
              </a:lnSpc>
              <a:spcBef>
                <a:spcPts val="135"/>
              </a:spcBef>
            </a:pPr>
            <a:r>
              <a:rPr sz="2200" dirty="0">
                <a:latin typeface="Calibri"/>
                <a:cs typeface="Calibri"/>
              </a:rPr>
              <a:t>«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70" dirty="0">
                <a:latin typeface="Calibri"/>
                <a:cs typeface="Calibri"/>
              </a:rPr>
              <a:t>L’Agile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permis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aux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équipes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développement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regagner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confiance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mais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laissant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involontairement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les </a:t>
            </a:r>
            <a:r>
              <a:rPr sz="2200" dirty="0">
                <a:latin typeface="Calibri"/>
                <a:cs typeface="Calibri"/>
              </a:rPr>
              <a:t>opérations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derrière.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DevOps </a:t>
            </a:r>
            <a:r>
              <a:rPr sz="2200" dirty="0">
                <a:latin typeface="Calibri"/>
                <a:cs typeface="Calibri"/>
              </a:rPr>
              <a:t>est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moyen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pour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restaurer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la </a:t>
            </a:r>
            <a:r>
              <a:rPr sz="2200" dirty="0">
                <a:latin typeface="Calibri"/>
                <a:cs typeface="Calibri"/>
              </a:rPr>
              <a:t>confiance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l’entreprise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vis-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485"/>
              </a:lnSpc>
            </a:pPr>
            <a:r>
              <a:rPr sz="2200" spc="-35" dirty="0">
                <a:latin typeface="Calibri"/>
                <a:cs typeface="Calibri"/>
              </a:rPr>
              <a:t>à-</a:t>
            </a:r>
            <a:r>
              <a:rPr sz="2200" dirty="0">
                <a:latin typeface="Calibri"/>
                <a:cs typeface="Calibri"/>
              </a:rPr>
              <a:t>vis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toute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l’organisation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615"/>
              </a:lnSpc>
            </a:pPr>
            <a:r>
              <a:rPr sz="2200" spc="-50" dirty="0">
                <a:latin typeface="Calibri"/>
                <a:cs typeface="Calibri"/>
              </a:rPr>
              <a:t>IT.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60" dirty="0">
                <a:latin typeface="Calibri"/>
                <a:cs typeface="Calibri"/>
              </a:rPr>
              <a:t>»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>
              <a:latin typeface="Calibri"/>
              <a:cs typeface="Calibri"/>
            </a:endParaRPr>
          </a:p>
          <a:p>
            <a:pPr marL="256540" marR="248920" algn="ctr">
              <a:lnSpc>
                <a:spcPts val="2600"/>
              </a:lnSpc>
              <a:spcBef>
                <a:spcPts val="5"/>
              </a:spcBef>
            </a:pPr>
            <a:r>
              <a:rPr sz="2200" dirty="0">
                <a:latin typeface="Calibri"/>
                <a:cs typeface="Calibri"/>
              </a:rPr>
              <a:t>Clyde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Logue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Fondateur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StreamStep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8332" y="132334"/>
            <a:ext cx="1930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Calibri"/>
                <a:cs typeface="Calibri"/>
              </a:rPr>
              <a:t>2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516" y="1439663"/>
            <a:ext cx="9835489" cy="11785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6233" y="760552"/>
            <a:ext cx="29368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Encourager</a:t>
            </a:r>
            <a:r>
              <a:rPr sz="2000" spc="31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la</a:t>
            </a:r>
            <a:r>
              <a:rPr sz="2000" spc="25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collaboration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115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67512" y="1453718"/>
            <a:ext cx="9753600" cy="109664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30480" rIns="0" bIns="0" rtlCol="0">
            <a:spAutoFit/>
          </a:bodyPr>
          <a:lstStyle/>
          <a:p>
            <a:pPr marL="395605" marR="384175" algn="ctr">
              <a:lnSpc>
                <a:spcPct val="98400"/>
              </a:lnSpc>
              <a:spcBef>
                <a:spcPts val="240"/>
              </a:spcBef>
            </a:pPr>
            <a:r>
              <a:rPr sz="2200" dirty="0">
                <a:latin typeface="Calibri"/>
                <a:cs typeface="Calibri"/>
              </a:rPr>
              <a:t>La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collaboration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implique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personnes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travaillant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conjointement </a:t>
            </a:r>
            <a:r>
              <a:rPr sz="2200" dirty="0">
                <a:latin typeface="Calibri"/>
                <a:cs typeface="Calibri"/>
              </a:rPr>
              <a:t>avec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d'autres </a:t>
            </a:r>
            <a:r>
              <a:rPr sz="2200" dirty="0">
                <a:latin typeface="Calibri"/>
                <a:cs typeface="Calibri"/>
              </a:rPr>
              <a:t>dans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l’atteinte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d’un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objectif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commun.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environnement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collaboratif,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la </a:t>
            </a:r>
            <a:r>
              <a:rPr sz="2200" dirty="0">
                <a:latin typeface="Calibri"/>
                <a:cs typeface="Calibri"/>
              </a:rPr>
              <a:t>contribution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chacun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valorisée.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9536" y="3900043"/>
            <a:ext cx="3223895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95"/>
              </a:spcBef>
              <a:buSzPct val="84210"/>
              <a:buFont typeface="Arial MT"/>
              <a:buChar char="○"/>
              <a:tabLst>
                <a:tab pos="291465" algn="l"/>
              </a:tabLst>
            </a:pP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responsabilité</a:t>
            </a:r>
            <a:r>
              <a:rPr sz="19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55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19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52D37"/>
                </a:solidFill>
                <a:latin typeface="Calibri"/>
                <a:cs typeface="Calibri"/>
              </a:rPr>
              <a:t>résultats</a:t>
            </a:r>
            <a:r>
              <a:rPr sz="19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1900">
              <a:latin typeface="Calibri"/>
              <a:cs typeface="Calibri"/>
            </a:endParaRPr>
          </a:p>
          <a:p>
            <a:pPr marL="291465" indent="-278765">
              <a:lnSpc>
                <a:spcPct val="100000"/>
              </a:lnSpc>
              <a:buSzPct val="84210"/>
              <a:buFont typeface="Arial MT"/>
              <a:buChar char="○"/>
              <a:tabLst>
                <a:tab pos="291465" algn="l"/>
              </a:tabLst>
            </a:pPr>
            <a:r>
              <a:rPr sz="1900" spc="-10" dirty="0">
                <a:solidFill>
                  <a:srgbClr val="252D37"/>
                </a:solidFill>
                <a:latin typeface="Calibri"/>
                <a:cs typeface="Calibri"/>
              </a:rPr>
              <a:t>ressources.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0170" y="4474591"/>
            <a:ext cx="3556000" cy="6762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03530" marR="5080" indent="-291465">
              <a:lnSpc>
                <a:spcPct val="103299"/>
              </a:lnSpc>
              <a:spcBef>
                <a:spcPts val="15"/>
              </a:spcBef>
              <a:tabLst>
                <a:tab pos="303530" algn="l"/>
              </a:tabLst>
            </a:pP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nécessite</a:t>
            </a:r>
            <a:r>
              <a:rPr sz="2100" spc="25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coopération,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respect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16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confiance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4494" y="2890774"/>
            <a:ext cx="5142865" cy="1039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100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387350" algn="l"/>
                <a:tab pos="4945380" algn="l"/>
              </a:tabLst>
            </a:pPr>
            <a:r>
              <a:rPr sz="2300" spc="110" dirty="0">
                <a:latin typeface="Calibri"/>
                <a:cs typeface="Calibri"/>
              </a:rPr>
              <a:t>La</a:t>
            </a:r>
            <a:r>
              <a:rPr sz="2300" spc="325" dirty="0">
                <a:latin typeface="Calibri"/>
                <a:cs typeface="Calibri"/>
              </a:rPr>
              <a:t> </a:t>
            </a:r>
            <a:r>
              <a:rPr sz="2300" spc="45" dirty="0">
                <a:latin typeface="Calibri"/>
                <a:cs typeface="Calibri"/>
              </a:rPr>
              <a:t>collaboration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400" spc="-1010" dirty="0">
                <a:solidFill>
                  <a:srgbClr val="127079"/>
                </a:solidFill>
                <a:latin typeface="Arial MT"/>
                <a:cs typeface="Arial MT"/>
              </a:rPr>
              <a:t>●</a:t>
            </a:r>
            <a:endParaRPr sz="2400">
              <a:latin typeface="Arial MT"/>
              <a:cs typeface="Arial MT"/>
            </a:endParaRPr>
          </a:p>
          <a:p>
            <a:pPr marL="467995">
              <a:lnSpc>
                <a:spcPct val="100000"/>
              </a:lnSpc>
              <a:spcBef>
                <a:spcPts val="60"/>
              </a:spcBef>
              <a:tabLst>
                <a:tab pos="758825" algn="l"/>
              </a:tabLst>
            </a:pP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est</a:t>
            </a:r>
            <a:r>
              <a:rPr sz="2100" spc="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volontaire</a:t>
            </a:r>
            <a:r>
              <a:rPr sz="2100" spc="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(idéalement)</a:t>
            </a:r>
            <a:endParaRPr sz="2100">
              <a:latin typeface="Calibri"/>
              <a:cs typeface="Calibri"/>
            </a:endParaRPr>
          </a:p>
          <a:p>
            <a:pPr marL="467995">
              <a:lnSpc>
                <a:spcPct val="100000"/>
              </a:lnSpc>
              <a:tabLst>
                <a:tab pos="758825" algn="l"/>
              </a:tabLst>
            </a:pPr>
            <a:r>
              <a:rPr sz="1600" spc="-50" dirty="0">
                <a:solidFill>
                  <a:srgbClr val="252D37"/>
                </a:solidFill>
                <a:latin typeface="Calibri"/>
                <a:cs typeface="Calibri"/>
              </a:rPr>
              <a:t>−</a:t>
            </a:r>
            <a:r>
              <a:rPr sz="1600" dirty="0">
                <a:solidFill>
                  <a:srgbClr val="252D37"/>
                </a:solidFill>
                <a:latin typeface="Calibri"/>
                <a:cs typeface="Calibri"/>
              </a:rPr>
              <a:t>	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implique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partage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2560" y="2901442"/>
            <a:ext cx="345567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90" dirty="0">
                <a:latin typeface="Calibri"/>
                <a:cs typeface="Calibri"/>
              </a:rPr>
              <a:t>Nécessite</a:t>
            </a:r>
            <a:r>
              <a:rPr sz="2300" spc="4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</a:t>
            </a:r>
            <a:r>
              <a:rPr sz="2300" spc="3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participation</a:t>
            </a:r>
            <a:r>
              <a:rPr sz="2300" spc="40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5050" y="3262376"/>
            <a:ext cx="3643629" cy="3104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1940" indent="-269240">
              <a:lnSpc>
                <a:spcPct val="100000"/>
              </a:lnSpc>
              <a:spcBef>
                <a:spcPts val="340"/>
              </a:spcBef>
              <a:buSzPct val="76190"/>
              <a:buFont typeface="Arial MT"/>
              <a:buChar char="–"/>
              <a:tabLst>
                <a:tab pos="281940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fournir</a:t>
            </a:r>
            <a:r>
              <a:rPr sz="2100" spc="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11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45" dirty="0">
                <a:solidFill>
                  <a:srgbClr val="252D37"/>
                </a:solidFill>
                <a:latin typeface="Calibri"/>
                <a:cs typeface="Calibri"/>
              </a:rPr>
              <a:t>feedback</a:t>
            </a:r>
            <a:r>
              <a:rPr sz="2100" spc="11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281940" marR="686435" indent="-269875">
              <a:lnSpc>
                <a:spcPct val="101000"/>
              </a:lnSpc>
              <a:spcBef>
                <a:spcPts val="215"/>
              </a:spcBef>
              <a:buSzPct val="76190"/>
              <a:buFont typeface="Arial MT"/>
              <a:buChar char="–"/>
              <a:tabLst>
                <a:tab pos="281940" algn="l"/>
              </a:tabLst>
            </a:pP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identifier</a:t>
            </a:r>
            <a:r>
              <a:rPr sz="2100" spc="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résoudre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les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problèmes</a:t>
            </a:r>
            <a:r>
              <a:rPr sz="2100" spc="3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281940" indent="-269240">
              <a:lnSpc>
                <a:spcPct val="100000"/>
              </a:lnSpc>
              <a:spcBef>
                <a:spcPts val="320"/>
              </a:spcBef>
              <a:buSzPct val="76190"/>
              <a:buFont typeface="Arial MT"/>
              <a:buChar char="–"/>
              <a:tabLst>
                <a:tab pos="281940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apprendre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2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partager</a:t>
            </a:r>
            <a:r>
              <a:rPr sz="2100" spc="2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endParaRPr sz="2100">
              <a:latin typeface="Calibri"/>
              <a:cs typeface="Calibri"/>
            </a:endParaRPr>
          </a:p>
          <a:p>
            <a:pPr marL="281940">
              <a:lnSpc>
                <a:spcPct val="100000"/>
              </a:lnSpc>
              <a:spcBef>
                <a:spcPts val="30"/>
              </a:spcBef>
            </a:pPr>
            <a:r>
              <a:rPr sz="2100" spc="65" dirty="0">
                <a:solidFill>
                  <a:srgbClr val="252D37"/>
                </a:solidFill>
                <a:latin typeface="Calibri"/>
                <a:cs typeface="Calibri"/>
              </a:rPr>
              <a:t>connaissances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1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l’expertise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281940" marR="208915" indent="-269875">
              <a:lnSpc>
                <a:spcPct val="101400"/>
              </a:lnSpc>
              <a:spcBef>
                <a:spcPts val="285"/>
              </a:spcBef>
              <a:buSzPct val="76190"/>
              <a:buFont typeface="Arial MT"/>
              <a:buChar char="–"/>
              <a:tabLst>
                <a:tab pos="281940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partager</a:t>
            </a:r>
            <a:r>
              <a:rPr sz="2100" spc="16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même</a:t>
            </a:r>
            <a:r>
              <a:rPr sz="2100" spc="229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échanger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3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responsabilités</a:t>
            </a:r>
            <a:r>
              <a:rPr sz="2100" spc="2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281940" marR="609600" indent="-269875">
              <a:lnSpc>
                <a:spcPct val="101099"/>
              </a:lnSpc>
              <a:spcBef>
                <a:spcPts val="300"/>
              </a:spcBef>
              <a:buSzPct val="76190"/>
              <a:buFont typeface="Arial MT"/>
              <a:buChar char="–"/>
              <a:tabLst>
                <a:tab pos="281940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prendre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-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maintenir </a:t>
            </a: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des </a:t>
            </a:r>
            <a:r>
              <a:rPr sz="2100" spc="45" dirty="0">
                <a:solidFill>
                  <a:srgbClr val="252D37"/>
                </a:solidFill>
                <a:latin typeface="Calibri"/>
                <a:cs typeface="Calibri"/>
              </a:rPr>
              <a:t>engagements</a:t>
            </a:r>
            <a:r>
              <a:rPr sz="2100" spc="2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réalistes.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Le</a:t>
            </a:r>
            <a:r>
              <a:rPr spc="390" dirty="0"/>
              <a:t> </a:t>
            </a:r>
            <a:r>
              <a:rPr spc="65" dirty="0"/>
              <a:t>changement</a:t>
            </a:r>
            <a:r>
              <a:rPr spc="295" dirty="0"/>
              <a:t> </a:t>
            </a:r>
            <a:r>
              <a:rPr spc="60" dirty="0"/>
              <a:t>de</a:t>
            </a:r>
            <a:r>
              <a:rPr spc="315" dirty="0"/>
              <a:t> </a:t>
            </a:r>
            <a:r>
              <a:rPr spc="-10" dirty="0"/>
              <a:t>culture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66634"/>
            <a:ext cx="10181590" cy="5300980"/>
            <a:chOff x="0" y="1566634"/>
            <a:chExt cx="10181590" cy="5300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781387"/>
              <a:ext cx="5344286" cy="29490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2698" y="1566634"/>
              <a:ext cx="9618980" cy="5300980"/>
            </a:xfrm>
            <a:custGeom>
              <a:avLst/>
              <a:gdLst/>
              <a:ahLst/>
              <a:cxnLst/>
              <a:rect l="l" t="t" r="r" b="b"/>
              <a:pathLst>
                <a:path w="9618980" h="5300980">
                  <a:moveTo>
                    <a:pt x="9618599" y="0"/>
                  </a:moveTo>
                  <a:lnTo>
                    <a:pt x="0" y="0"/>
                  </a:lnTo>
                  <a:lnTo>
                    <a:pt x="0" y="5300599"/>
                  </a:lnTo>
                  <a:lnTo>
                    <a:pt x="9618599" y="5300599"/>
                  </a:lnTo>
                  <a:lnTo>
                    <a:pt x="9618599" y="0"/>
                  </a:lnTo>
                  <a:close/>
                </a:path>
              </a:pathLst>
            </a:custGeom>
            <a:solidFill>
              <a:srgbClr val="DAEDF3">
                <a:alpha val="7254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5836" y="170434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116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622808" y="760552"/>
            <a:ext cx="8743950" cy="4737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6405">
              <a:lnSpc>
                <a:spcPct val="100000"/>
              </a:lnSpc>
              <a:spcBef>
                <a:spcPts val="105"/>
              </a:spcBef>
            </a:pPr>
            <a:r>
              <a:rPr sz="2000" spc="75" dirty="0">
                <a:solidFill>
                  <a:srgbClr val="127079"/>
                </a:solidFill>
                <a:latin typeface="Calibri"/>
                <a:cs typeface="Calibri"/>
              </a:rPr>
              <a:t>La</a:t>
            </a:r>
            <a:r>
              <a:rPr sz="2000" spc="38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communication</a:t>
            </a:r>
            <a:r>
              <a:rPr sz="2000" spc="25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est</a:t>
            </a:r>
            <a:r>
              <a:rPr sz="2000" spc="27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essentielle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z="2000">
              <a:latin typeface="Calibri"/>
              <a:cs typeface="Calibri"/>
            </a:endParaRPr>
          </a:p>
          <a:p>
            <a:pPr marL="387350" indent="-374650">
              <a:lnSpc>
                <a:spcPts val="2740"/>
              </a:lnSpc>
              <a:buClr>
                <a:srgbClr val="127079"/>
              </a:buClr>
              <a:buFont typeface="Arial MT"/>
              <a:buChar char="●"/>
              <a:tabLst>
                <a:tab pos="387350" algn="l"/>
              </a:tabLst>
            </a:pPr>
            <a:r>
              <a:rPr sz="2400" spc="50" dirty="0">
                <a:latin typeface="Calibri"/>
                <a:cs typeface="Calibri"/>
              </a:rPr>
              <a:t>Une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culture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spc="135" dirty="0">
                <a:latin typeface="Calibri"/>
                <a:cs typeface="Calibri"/>
              </a:rPr>
              <a:t>DevOps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nécessite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une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communication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rapide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et</a:t>
            </a:r>
            <a:endParaRPr sz="2400">
              <a:latin typeface="Calibri"/>
              <a:cs typeface="Calibri"/>
            </a:endParaRPr>
          </a:p>
          <a:p>
            <a:pPr marL="387350">
              <a:lnSpc>
                <a:spcPts val="2740"/>
              </a:lnSpc>
            </a:pPr>
            <a:r>
              <a:rPr sz="2400" spc="45" dirty="0">
                <a:latin typeface="Calibri"/>
                <a:cs typeface="Calibri"/>
              </a:rPr>
              <a:t>efficace</a:t>
            </a:r>
            <a:endParaRPr sz="2400">
              <a:latin typeface="Calibri"/>
              <a:cs typeface="Calibri"/>
            </a:endParaRPr>
          </a:p>
          <a:p>
            <a:pPr marL="387350" indent="-374650">
              <a:lnSpc>
                <a:spcPts val="2745"/>
              </a:lnSpc>
              <a:spcBef>
                <a:spcPts val="219"/>
              </a:spcBef>
              <a:buClr>
                <a:srgbClr val="127079"/>
              </a:buClr>
              <a:buFont typeface="Arial MT"/>
              <a:buChar char="●"/>
              <a:tabLst>
                <a:tab pos="387350" algn="l"/>
              </a:tabLst>
            </a:pPr>
            <a:r>
              <a:rPr sz="2400" spc="125" dirty="0">
                <a:latin typeface="Calibri"/>
                <a:cs typeface="Calibri"/>
              </a:rPr>
              <a:t>Les</a:t>
            </a:r>
            <a:r>
              <a:rPr sz="2400" spc="4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outils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partagés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facilitent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une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communication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opportune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et</a:t>
            </a:r>
            <a:endParaRPr sz="2400">
              <a:latin typeface="Calibri"/>
              <a:cs typeface="Calibri"/>
            </a:endParaRPr>
          </a:p>
          <a:p>
            <a:pPr marL="387350">
              <a:lnSpc>
                <a:spcPts val="2665"/>
              </a:lnSpc>
            </a:pPr>
            <a:r>
              <a:rPr sz="2400" spc="55" dirty="0">
                <a:latin typeface="Calibri"/>
                <a:cs typeface="Calibri"/>
              </a:rPr>
              <a:t>significative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879475" lvl="1" indent="-318770">
              <a:lnSpc>
                <a:spcPts val="2800"/>
              </a:lnSpc>
              <a:buSzPct val="114285"/>
              <a:buFont typeface="Arial MT"/>
              <a:buChar char="–"/>
              <a:tabLst>
                <a:tab pos="879475" algn="l"/>
              </a:tabLst>
            </a:pP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plateformes</a:t>
            </a:r>
            <a:r>
              <a:rPr sz="2100" spc="1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100" spc="2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chat</a:t>
            </a:r>
            <a:r>
              <a:rPr sz="2100" spc="1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3D3D3D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560705">
              <a:lnSpc>
                <a:spcPct val="100000"/>
              </a:lnSpc>
              <a:spcBef>
                <a:spcPts val="1655"/>
              </a:spcBef>
              <a:tabLst>
                <a:tab pos="879475" algn="l"/>
              </a:tabLst>
            </a:pPr>
            <a:r>
              <a:rPr sz="2400" spc="-50" dirty="0">
                <a:solidFill>
                  <a:srgbClr val="3D3D3D"/>
                </a:solidFill>
                <a:latin typeface="Arial MT"/>
                <a:cs typeface="Arial MT"/>
              </a:rPr>
              <a:t>–</a:t>
            </a:r>
            <a:r>
              <a:rPr sz="2400" dirty="0">
                <a:solidFill>
                  <a:srgbClr val="3D3D3D"/>
                </a:solidFill>
                <a:latin typeface="Arial MT"/>
                <a:cs typeface="Arial MT"/>
              </a:rPr>
              <a:t>	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gestionnaires</a:t>
            </a:r>
            <a:r>
              <a:rPr sz="2100" spc="2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100" spc="2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spc="50" dirty="0">
                <a:solidFill>
                  <a:srgbClr val="3D3D3D"/>
                </a:solidFill>
                <a:latin typeface="Calibri"/>
                <a:cs typeface="Calibri"/>
              </a:rPr>
              <a:t>tâches</a:t>
            </a:r>
            <a:r>
              <a:rPr sz="2100" spc="2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3D3D3D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79475" lvl="1" indent="-318770">
              <a:lnSpc>
                <a:spcPct val="100000"/>
              </a:lnSpc>
              <a:spcBef>
                <a:spcPts val="1130"/>
              </a:spcBef>
              <a:buSzPct val="114285"/>
              <a:buFont typeface="Arial MT"/>
              <a:buChar char="–"/>
              <a:tabLst>
                <a:tab pos="879475" algn="l"/>
              </a:tabLst>
            </a:pP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outils</a:t>
            </a:r>
            <a:r>
              <a:rPr sz="2100" spc="1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sociaux</a:t>
            </a:r>
            <a:r>
              <a:rPr sz="2100" spc="3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3D3D3D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79475" lvl="1" indent="-318770">
              <a:lnSpc>
                <a:spcPct val="100000"/>
              </a:lnSpc>
              <a:spcBef>
                <a:spcPts val="1140"/>
              </a:spcBef>
              <a:buSzPct val="114285"/>
              <a:buFont typeface="Arial MT"/>
              <a:buChar char="–"/>
              <a:tabLst>
                <a:tab pos="879475" algn="l"/>
              </a:tabLst>
            </a:pP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outils</a:t>
            </a:r>
            <a:r>
              <a:rPr sz="2100" spc="10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100" spc="1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gestion</a:t>
            </a:r>
            <a:r>
              <a:rPr sz="2100" spc="1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3D3D3D"/>
                </a:solidFill>
                <a:latin typeface="Calibri"/>
                <a:cs typeface="Calibri"/>
              </a:rPr>
              <a:t>des</a:t>
            </a:r>
            <a:r>
              <a:rPr sz="2100" spc="1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alertes</a:t>
            </a:r>
            <a:r>
              <a:rPr sz="2100" spc="11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3D3D3D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879475" lvl="1" indent="-318770">
              <a:lnSpc>
                <a:spcPct val="100000"/>
              </a:lnSpc>
              <a:spcBef>
                <a:spcPts val="1140"/>
              </a:spcBef>
              <a:buSzPct val="114285"/>
              <a:buFont typeface="Arial MT"/>
              <a:buChar char="–"/>
              <a:tabLst>
                <a:tab pos="879475" algn="l"/>
              </a:tabLst>
            </a:pP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plateformes</a:t>
            </a:r>
            <a:r>
              <a:rPr sz="2100" spc="21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100" spc="25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partage</a:t>
            </a:r>
            <a:r>
              <a:rPr sz="2100" spc="1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2100" spc="25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100" spc="45" dirty="0">
                <a:solidFill>
                  <a:srgbClr val="3D3D3D"/>
                </a:solidFill>
                <a:latin typeface="Calibri"/>
                <a:cs typeface="Calibri"/>
              </a:rPr>
              <a:t>connaissances.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Le</a:t>
            </a:r>
            <a:r>
              <a:rPr spc="390" dirty="0"/>
              <a:t> </a:t>
            </a:r>
            <a:r>
              <a:rPr spc="65" dirty="0"/>
              <a:t>changement</a:t>
            </a:r>
            <a:r>
              <a:rPr spc="295" dirty="0"/>
              <a:t> </a:t>
            </a:r>
            <a:r>
              <a:rPr spc="60" dirty="0"/>
              <a:t>de</a:t>
            </a:r>
            <a:r>
              <a:rPr spc="315" dirty="0"/>
              <a:t> </a:t>
            </a:r>
            <a:r>
              <a:rPr spc="-10" dirty="0"/>
              <a:t>culture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5847715" cy="94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Collaboration</a:t>
            </a:r>
            <a:r>
              <a:rPr spc="-35" dirty="0"/>
              <a:t> </a:t>
            </a:r>
            <a:r>
              <a:rPr spc="-10" dirty="0"/>
              <a:t>Dev/Ops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400" dirty="0"/>
              <a:t>Prise</a:t>
            </a:r>
            <a:r>
              <a:rPr sz="2400" spc="-35" dirty="0"/>
              <a:t> </a:t>
            </a:r>
            <a:r>
              <a:rPr sz="2400" dirty="0"/>
              <a:t>en</a:t>
            </a:r>
            <a:r>
              <a:rPr sz="2400" spc="-35" dirty="0"/>
              <a:t> </a:t>
            </a:r>
            <a:r>
              <a:rPr sz="2400" dirty="0"/>
              <a:t>compte</a:t>
            </a:r>
            <a:r>
              <a:rPr sz="2400" spc="-50" dirty="0"/>
              <a:t> </a:t>
            </a:r>
            <a:r>
              <a:rPr sz="2400" dirty="0"/>
              <a:t>des</a:t>
            </a:r>
            <a:r>
              <a:rPr sz="2400" spc="-35" dirty="0"/>
              <a:t> </a:t>
            </a:r>
            <a:r>
              <a:rPr sz="2400" dirty="0"/>
              <a:t>user</a:t>
            </a:r>
            <a:r>
              <a:rPr sz="2400" spc="-35" dirty="0"/>
              <a:t> </a:t>
            </a:r>
            <a:r>
              <a:rPr sz="2400" dirty="0"/>
              <a:t>stories</a:t>
            </a:r>
            <a:r>
              <a:rPr sz="2400" spc="-35" dirty="0"/>
              <a:t> </a:t>
            </a:r>
            <a:r>
              <a:rPr sz="2400" dirty="0"/>
              <a:t>de</a:t>
            </a:r>
            <a:r>
              <a:rPr sz="2400" spc="-30" dirty="0"/>
              <a:t> </a:t>
            </a:r>
            <a:r>
              <a:rPr sz="2400" spc="-10" dirty="0"/>
              <a:t>production</a:t>
            </a:r>
            <a:endParaRPr sz="24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14"/>
              </a:lnSpc>
            </a:pPr>
            <a:fld id="{81D60167-4931-47E6-BA6A-407CBD079E47}" type="slidenum">
              <a:rPr sz="1600" spc="-25" dirty="0"/>
              <a:t>117</a:t>
            </a:fld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1530350" y="3083255"/>
            <a:ext cx="2821940" cy="1108075"/>
          </a:xfrm>
          <a:prstGeom prst="rect">
            <a:avLst/>
          </a:prstGeom>
          <a:ln w="25400">
            <a:solidFill>
              <a:srgbClr val="C0504D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 marR="144145">
              <a:lnSpc>
                <a:spcPct val="100000"/>
              </a:lnSpc>
              <a:spcBef>
                <a:spcPts val="295"/>
              </a:spcBef>
            </a:pPr>
            <a:r>
              <a:rPr sz="1100" dirty="0">
                <a:latin typeface="Calibri"/>
                <a:cs typeface="Calibri"/>
              </a:rPr>
              <a:t>Le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fonctionnement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est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essentiellement</a:t>
            </a:r>
            <a:r>
              <a:rPr sz="1100" spc="-25" dirty="0">
                <a:latin typeface="Calibri"/>
                <a:cs typeface="Calibri"/>
              </a:rPr>
              <a:t> en </a:t>
            </a:r>
            <a:r>
              <a:rPr sz="1100" dirty="0">
                <a:latin typeface="Calibri"/>
                <a:cs typeface="Calibri"/>
              </a:rPr>
              <a:t>silos.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 et/ou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estiment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les </a:t>
            </a:r>
            <a:r>
              <a:rPr sz="1100" spc="-10" dirty="0">
                <a:latin typeface="Calibri"/>
                <a:cs typeface="Calibri"/>
              </a:rPr>
              <a:t>interactions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sont pas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suffisantes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(qualité, fréquence...).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processus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 les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contraintes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chaque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équipe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partiellement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connus </a:t>
            </a:r>
            <a:r>
              <a:rPr sz="1100" dirty="0">
                <a:latin typeface="Calibri"/>
                <a:cs typeface="Calibri"/>
              </a:rPr>
              <a:t>par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l'autre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équipe.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9950" y="3083255"/>
            <a:ext cx="2596515" cy="1108075"/>
          </a:xfrm>
          <a:prstGeom prst="rect">
            <a:avLst/>
          </a:prstGeom>
          <a:ln w="25400">
            <a:solidFill>
              <a:srgbClr val="F79546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 marR="157480">
              <a:lnSpc>
                <a:spcPct val="100000"/>
              </a:lnSpc>
              <a:spcBef>
                <a:spcPts val="295"/>
              </a:spcBef>
            </a:pPr>
            <a:r>
              <a:rPr sz="1100" dirty="0">
                <a:latin typeface="Calibri"/>
                <a:cs typeface="Calibri"/>
              </a:rPr>
              <a:t>Les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fonctionnement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les </a:t>
            </a:r>
            <a:r>
              <a:rPr sz="1100" spc="-10" dirty="0">
                <a:latin typeface="Calibri"/>
                <a:cs typeface="Calibri"/>
              </a:rPr>
              <a:t>contraintes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chacun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connus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par </a:t>
            </a:r>
            <a:r>
              <a:rPr sz="1100" dirty="0">
                <a:latin typeface="Calibri"/>
                <a:cs typeface="Calibri"/>
              </a:rPr>
              <a:t>l'autre.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structurés </a:t>
            </a:r>
            <a:r>
              <a:rPr sz="1100" dirty="0">
                <a:latin typeface="Calibri"/>
                <a:cs typeface="Calibri"/>
              </a:rPr>
              <a:t>autour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leur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process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standards.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</a:t>
            </a:r>
            <a:r>
              <a:rPr sz="1100" spc="-25" dirty="0">
                <a:latin typeface="Calibri"/>
                <a:cs typeface="Calibri"/>
              </a:rPr>
              <a:t> et </a:t>
            </a:r>
            <a:r>
              <a:rPr sz="1100" dirty="0">
                <a:latin typeface="Calibri"/>
                <a:cs typeface="Calibri"/>
              </a:rPr>
              <a:t>Ops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interagissent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pour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assurer</a:t>
            </a:r>
            <a:r>
              <a:rPr sz="1100" spc="-10" dirty="0">
                <a:latin typeface="Calibri"/>
                <a:cs typeface="Calibri"/>
              </a:rPr>
              <a:t> chacun </a:t>
            </a:r>
            <a:r>
              <a:rPr sz="1100" dirty="0">
                <a:latin typeface="Calibri"/>
                <a:cs typeface="Calibri"/>
              </a:rPr>
              <a:t>leurs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activités.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5300" y="4692599"/>
            <a:ext cx="1755139" cy="1108075"/>
          </a:xfrm>
          <a:prstGeom prst="rect">
            <a:avLst/>
          </a:prstGeom>
          <a:ln w="25400">
            <a:solidFill>
              <a:srgbClr val="4AACC5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 marR="106045">
              <a:lnSpc>
                <a:spcPct val="1000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Les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besoins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Dev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des </a:t>
            </a:r>
            <a:r>
              <a:rPr sz="1100" dirty="0">
                <a:latin typeface="Calibri"/>
                <a:cs typeface="Calibri"/>
              </a:rPr>
              <a:t>Ops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 compte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en </a:t>
            </a:r>
            <a:r>
              <a:rPr sz="1100" dirty="0">
                <a:latin typeface="Calibri"/>
                <a:cs typeface="Calibri"/>
              </a:rPr>
              <a:t>amont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backlog </a:t>
            </a:r>
            <a:r>
              <a:rPr sz="1100" dirty="0">
                <a:latin typeface="Calibri"/>
                <a:cs typeface="Calibri"/>
              </a:rPr>
              <a:t>commun.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Les</a:t>
            </a:r>
            <a:r>
              <a:rPr sz="1100" spc="-25" dirty="0">
                <a:latin typeface="Calibri"/>
                <a:cs typeface="Calibri"/>
              </a:rPr>
              <a:t> Ops </a:t>
            </a:r>
            <a:r>
              <a:rPr sz="1100" spc="-10" dirty="0">
                <a:latin typeface="Calibri"/>
                <a:cs typeface="Calibri"/>
              </a:rPr>
              <a:t>participent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aux rituels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de </a:t>
            </a:r>
            <a:r>
              <a:rPr sz="1100" spc="-10" dirty="0">
                <a:latin typeface="Calibri"/>
                <a:cs typeface="Calibri"/>
              </a:rPr>
              <a:t>l'équipe.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8950" y="4861865"/>
            <a:ext cx="2288540" cy="769620"/>
          </a:xfrm>
          <a:prstGeom prst="rect">
            <a:avLst/>
          </a:prstGeom>
          <a:ln w="25400">
            <a:solidFill>
              <a:srgbClr val="9BBA58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 marR="203200">
              <a:lnSpc>
                <a:spcPct val="100000"/>
              </a:lnSpc>
              <a:spcBef>
                <a:spcPts val="300"/>
              </a:spcBef>
            </a:pPr>
            <a:r>
              <a:rPr sz="1100" dirty="0">
                <a:latin typeface="Calibri"/>
                <a:cs typeface="Calibri"/>
              </a:rPr>
              <a:t>Les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sont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intégrés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dans</a:t>
            </a:r>
            <a:r>
              <a:rPr sz="1100" spc="-10" dirty="0">
                <a:latin typeface="Calibri"/>
                <a:cs typeface="Calibri"/>
              </a:rPr>
              <a:t> l'équipe </a:t>
            </a:r>
            <a:r>
              <a:rPr sz="1100" dirty="0">
                <a:latin typeface="Calibri"/>
                <a:cs typeface="Calibri"/>
              </a:rPr>
              <a:t>(1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Scrum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Master).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L'équipe </a:t>
            </a:r>
            <a:r>
              <a:rPr sz="1100" dirty="0">
                <a:latin typeface="Calibri"/>
                <a:cs typeface="Calibri"/>
              </a:rPr>
              <a:t>partage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objectifs/indicateurs communs.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9540" y="1484757"/>
            <a:ext cx="8052434" cy="1245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/>
                <a:cs typeface="Calibri"/>
              </a:rPr>
              <a:t>Les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bénéfices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l'approche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DevOps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sont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fortement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dépendants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la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proximité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et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la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collaboration </a:t>
            </a:r>
            <a:r>
              <a:rPr sz="1600" i="1" dirty="0">
                <a:latin typeface="Calibri"/>
                <a:cs typeface="Calibri"/>
              </a:rPr>
              <a:t>entre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l'équipe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développement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et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les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exploitants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(Ops)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et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leur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engagement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sur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des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objectifs communs.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sz="1600" i="1" dirty="0">
                <a:latin typeface="Calibri"/>
                <a:cs typeface="Calibri"/>
              </a:rPr>
              <a:t>Voici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quelques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modes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fonctionnement: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6140" y="13690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603" y="56769"/>
            <a:ext cx="66643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Outils</a:t>
            </a:r>
            <a:r>
              <a:rPr spc="-4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communication</a:t>
            </a:r>
            <a:r>
              <a:rPr spc="-55" dirty="0"/>
              <a:t> </a:t>
            </a:r>
            <a:r>
              <a:rPr dirty="0"/>
              <a:t>issus</a:t>
            </a:r>
            <a:r>
              <a:rPr spc="-3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25" dirty="0"/>
              <a:t>la </a:t>
            </a:r>
            <a:r>
              <a:rPr dirty="0"/>
              <a:t>démarche</a:t>
            </a:r>
            <a:r>
              <a:rPr spc="-40" dirty="0"/>
              <a:t> </a:t>
            </a:r>
            <a:r>
              <a:rPr spc="-10" dirty="0"/>
              <a:t>ChatOps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4029" y="2368931"/>
            <a:ext cx="3992372" cy="31708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590" y="3487725"/>
            <a:ext cx="1303147" cy="73299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8314" y="5839511"/>
            <a:ext cx="9368155" cy="1123950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41275" rIns="0" bIns="0" rtlCol="0">
            <a:spAutoFit/>
          </a:bodyPr>
          <a:lstStyle/>
          <a:p>
            <a:pPr marL="323215" marR="316230" indent="100330" algn="just">
              <a:lnSpc>
                <a:spcPts val="2600"/>
              </a:lnSpc>
              <a:spcBef>
                <a:spcPts val="325"/>
              </a:spcBef>
            </a:pPr>
            <a:r>
              <a:rPr sz="2200" dirty="0">
                <a:latin typeface="Calibri"/>
                <a:cs typeface="Calibri"/>
              </a:rPr>
              <a:t>La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transparence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ChatOps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raccourcit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boucles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feedback,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améliore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le </a:t>
            </a:r>
            <a:r>
              <a:rPr sz="2200" dirty="0">
                <a:latin typeface="Calibri"/>
                <a:cs typeface="Calibri"/>
              </a:rPr>
              <a:t>partage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d'informations,</a:t>
            </a:r>
            <a:r>
              <a:rPr sz="2200" spc="1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améliore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collaboration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1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équipe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permet</a:t>
            </a:r>
            <a:r>
              <a:rPr sz="2200" spc="19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une </a:t>
            </a:r>
            <a:r>
              <a:rPr sz="2200" spc="-10" dirty="0">
                <a:latin typeface="Calibri"/>
                <a:cs typeface="Calibri"/>
              </a:rPr>
              <a:t>formation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transversale.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Il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peut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également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être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utilisé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pour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diminuer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MTTR.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2649" y="2617368"/>
            <a:ext cx="2187067" cy="4453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7876" y="3502342"/>
            <a:ext cx="2554858" cy="7332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5286" y="4482262"/>
            <a:ext cx="1340612" cy="7121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43860" y="4350182"/>
            <a:ext cx="1335405" cy="97061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2900" y="1394841"/>
            <a:ext cx="9788525" cy="817244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31114" rIns="0" bIns="0" rtlCol="0">
            <a:spAutoFit/>
          </a:bodyPr>
          <a:lstStyle/>
          <a:p>
            <a:pPr marL="4168775" marR="485140" indent="-3747135">
              <a:lnSpc>
                <a:spcPts val="2600"/>
              </a:lnSpc>
              <a:spcBef>
                <a:spcPts val="244"/>
              </a:spcBef>
            </a:pPr>
            <a:r>
              <a:rPr sz="2200" dirty="0">
                <a:latin typeface="Calibri"/>
                <a:cs typeface="Calibri"/>
              </a:rPr>
              <a:t>Group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chat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client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bots</a:t>
            </a:r>
            <a:r>
              <a:rPr sz="2200" spc="3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développement,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livraison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support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axés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la </a:t>
            </a:r>
            <a:r>
              <a:rPr sz="2200" spc="-10" dirty="0">
                <a:latin typeface="Calibri"/>
                <a:cs typeface="Calibri"/>
              </a:rPr>
              <a:t>conversation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14"/>
              </a:lnSpc>
            </a:pPr>
            <a:fld id="{81D60167-4931-47E6-BA6A-407CBD079E47}" type="slidenum">
              <a:rPr sz="1600" spc="-25" dirty="0"/>
              <a:t>118</a:t>
            </a:fld>
            <a:endParaRPr sz="1600"/>
          </a:p>
        </p:txBody>
      </p:sp>
      <p:sp>
        <p:nvSpPr>
          <p:cNvPr id="11" name="object 11"/>
          <p:cNvSpPr txBox="1"/>
          <p:nvPr/>
        </p:nvSpPr>
        <p:spPr>
          <a:xfrm>
            <a:off x="466140" y="13690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6237" y="7079476"/>
            <a:ext cx="854710" cy="441959"/>
            <a:chOff x="9766237" y="7079476"/>
            <a:chExt cx="854710" cy="441959"/>
          </a:xfrm>
        </p:grpSpPr>
        <p:sp>
          <p:nvSpPr>
            <p:cNvPr id="3" name="object 3"/>
            <p:cNvSpPr/>
            <p:nvPr/>
          </p:nvSpPr>
          <p:spPr>
            <a:xfrm>
              <a:off x="9770999" y="7084238"/>
              <a:ext cx="236854" cy="432434"/>
            </a:xfrm>
            <a:custGeom>
              <a:avLst/>
              <a:gdLst/>
              <a:ahLst/>
              <a:cxnLst/>
              <a:rect l="l" t="t" r="r" b="b"/>
              <a:pathLst>
                <a:path w="236854" h="432434">
                  <a:moveTo>
                    <a:pt x="236727" y="0"/>
                  </a:moveTo>
                  <a:lnTo>
                    <a:pt x="0" y="432000"/>
                  </a:lnTo>
                </a:path>
              </a:pathLst>
            </a:custGeom>
            <a:ln w="9523">
              <a:solidFill>
                <a:srgbClr val="8283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93427" y="7155472"/>
              <a:ext cx="727710" cy="260350"/>
            </a:xfrm>
            <a:custGeom>
              <a:avLst/>
              <a:gdLst/>
              <a:ahLst/>
              <a:cxnLst/>
              <a:rect l="l" t="t" r="r" b="b"/>
              <a:pathLst>
                <a:path w="727709" h="260350">
                  <a:moveTo>
                    <a:pt x="727455" y="0"/>
                  </a:moveTo>
                  <a:lnTo>
                    <a:pt x="140334" y="0"/>
                  </a:lnTo>
                  <a:lnTo>
                    <a:pt x="0" y="260337"/>
                  </a:lnTo>
                  <a:lnTo>
                    <a:pt x="587882" y="260337"/>
                  </a:lnTo>
                  <a:lnTo>
                    <a:pt x="727455" y="0"/>
                  </a:lnTo>
                  <a:close/>
                </a:path>
              </a:pathLst>
            </a:custGeom>
            <a:solidFill>
              <a:srgbClr val="164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103" y="-4764"/>
            <a:ext cx="3519170" cy="7566025"/>
            <a:chOff x="-6103" y="-4764"/>
            <a:chExt cx="3519170" cy="7566025"/>
          </a:xfrm>
        </p:grpSpPr>
        <p:sp>
          <p:nvSpPr>
            <p:cNvPr id="6" name="object 6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391" y="0"/>
                  </a:moveTo>
                  <a:lnTo>
                    <a:pt x="0" y="0"/>
                  </a:lnTo>
                  <a:lnTo>
                    <a:pt x="0" y="7556500"/>
                  </a:lnTo>
                  <a:lnTo>
                    <a:pt x="3509391" y="7556500"/>
                  </a:lnTo>
                  <a:lnTo>
                    <a:pt x="350939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1340" y="-1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7556500"/>
                  </a:moveTo>
                  <a:lnTo>
                    <a:pt x="3509391" y="7556500"/>
                  </a:lnTo>
                  <a:lnTo>
                    <a:pt x="3509391" y="0"/>
                  </a:lnTo>
                  <a:lnTo>
                    <a:pt x="0" y="0"/>
                  </a:lnTo>
                  <a:lnTo>
                    <a:pt x="0" y="7556500"/>
                  </a:lnTo>
                  <a:close/>
                </a:path>
              </a:pathLst>
            </a:custGeom>
            <a:ln w="9525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3509461" y="0"/>
                  </a:moveTo>
                  <a:lnTo>
                    <a:pt x="0" y="0"/>
                  </a:lnTo>
                  <a:lnTo>
                    <a:pt x="3509461" y="7556498"/>
                  </a:lnTo>
                  <a:lnTo>
                    <a:pt x="3509461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1340" y="0"/>
              <a:ext cx="3509645" cy="7556500"/>
            </a:xfrm>
            <a:custGeom>
              <a:avLst/>
              <a:gdLst/>
              <a:ahLst/>
              <a:cxnLst/>
              <a:rect l="l" t="t" r="r" b="b"/>
              <a:pathLst>
                <a:path w="3509645" h="7556500">
                  <a:moveTo>
                    <a:pt x="0" y="0"/>
                  </a:moveTo>
                  <a:lnTo>
                    <a:pt x="3509461" y="0"/>
                  </a:lnTo>
                  <a:lnTo>
                    <a:pt x="3509461" y="7556498"/>
                  </a:lnTo>
                </a:path>
                <a:path w="3509645" h="7556500">
                  <a:moveTo>
                    <a:pt x="0" y="7556498"/>
                  </a:moveTo>
                  <a:lnTo>
                    <a:pt x="0" y="0"/>
                  </a:lnTo>
                </a:path>
              </a:pathLst>
            </a:custGeom>
            <a:ln w="9523">
              <a:solidFill>
                <a:srgbClr val="205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8292" y="1094054"/>
            <a:ext cx="1967230" cy="1128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105"/>
              </a:spcBef>
              <a:tabLst>
                <a:tab pos="708660" algn="l"/>
                <a:tab pos="1187450" algn="l"/>
              </a:tabLst>
            </a:pP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4800" b="1" spc="-75" baseline="1736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4800" b="1" baseline="1736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//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  <a:tabLst>
                <a:tab pos="1532255" algn="l"/>
              </a:tabLst>
            </a:pP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400" b="1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b="1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b="1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9</a:t>
            </a:r>
            <a:r>
              <a:rPr sz="2400" b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292" y="2437257"/>
            <a:ext cx="17240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9325" algn="l"/>
              </a:tabLst>
            </a:pP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400" b="1" spc="-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400" b="1" spc="-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4020" y="2469642"/>
            <a:ext cx="340232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125" dirty="0">
                <a:solidFill>
                  <a:srgbClr val="164052"/>
                </a:solidFill>
                <a:latin typeface="Calibri"/>
                <a:cs typeface="Calibri"/>
              </a:rPr>
              <a:t>Qu'est-</a:t>
            </a:r>
            <a:r>
              <a:rPr sz="2500" b="1" spc="50" dirty="0">
                <a:solidFill>
                  <a:srgbClr val="164052"/>
                </a:solidFill>
                <a:latin typeface="Calibri"/>
                <a:cs typeface="Calibri"/>
              </a:rPr>
              <a:t>ce</a:t>
            </a:r>
            <a:r>
              <a:rPr sz="2500" b="1" spc="2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80" dirty="0">
                <a:solidFill>
                  <a:srgbClr val="164052"/>
                </a:solidFill>
                <a:latin typeface="Calibri"/>
                <a:cs typeface="Calibri"/>
              </a:rPr>
              <a:t>que</a:t>
            </a:r>
            <a:r>
              <a:rPr sz="2500" b="1" spc="29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0" dirty="0">
                <a:solidFill>
                  <a:srgbClr val="164052"/>
                </a:solidFill>
                <a:latin typeface="Calibri"/>
                <a:cs typeface="Calibri"/>
              </a:rPr>
              <a:t>FinOps</a:t>
            </a:r>
            <a:r>
              <a:rPr sz="2500" b="1" spc="31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-50" dirty="0">
                <a:solidFill>
                  <a:srgbClr val="164052"/>
                </a:solidFill>
                <a:latin typeface="Calibri"/>
                <a:cs typeface="Calibri"/>
              </a:rPr>
              <a:t>?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74631" y="2629598"/>
            <a:ext cx="462915" cy="462915"/>
            <a:chOff x="3274631" y="2629598"/>
            <a:chExt cx="462915" cy="462915"/>
          </a:xfrm>
        </p:grpSpPr>
        <p:sp>
          <p:nvSpPr>
            <p:cNvPr id="14" name="object 14"/>
            <p:cNvSpPr/>
            <p:nvPr/>
          </p:nvSpPr>
          <p:spPr>
            <a:xfrm>
              <a:off x="3288919" y="2643886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1970"/>
                  </a:lnTo>
                  <a:lnTo>
                    <a:pt x="81279" y="47625"/>
                  </a:lnTo>
                  <a:lnTo>
                    <a:pt x="47751" y="81279"/>
                  </a:lnTo>
                  <a:lnTo>
                    <a:pt x="22097" y="121538"/>
                  </a:lnTo>
                  <a:lnTo>
                    <a:pt x="5714" y="167258"/>
                  </a:lnTo>
                  <a:lnTo>
                    <a:pt x="0" y="217042"/>
                  </a:lnTo>
                  <a:lnTo>
                    <a:pt x="5714" y="266826"/>
                  </a:lnTo>
                  <a:lnTo>
                    <a:pt x="22097" y="312419"/>
                  </a:lnTo>
                  <a:lnTo>
                    <a:pt x="47751" y="352805"/>
                  </a:lnTo>
                  <a:lnTo>
                    <a:pt x="81279" y="386333"/>
                  </a:lnTo>
                  <a:lnTo>
                    <a:pt x="121665" y="411988"/>
                  </a:lnTo>
                  <a:lnTo>
                    <a:pt x="167258" y="428370"/>
                  </a:lnTo>
                  <a:lnTo>
                    <a:pt x="217042" y="434085"/>
                  </a:lnTo>
                  <a:lnTo>
                    <a:pt x="266826" y="428370"/>
                  </a:lnTo>
                  <a:lnTo>
                    <a:pt x="312546" y="411988"/>
                  </a:lnTo>
                  <a:lnTo>
                    <a:pt x="352805" y="386333"/>
                  </a:lnTo>
                  <a:lnTo>
                    <a:pt x="386460" y="352805"/>
                  </a:lnTo>
                  <a:lnTo>
                    <a:pt x="412114" y="312419"/>
                  </a:lnTo>
                  <a:lnTo>
                    <a:pt x="428370" y="266826"/>
                  </a:lnTo>
                  <a:lnTo>
                    <a:pt x="434213" y="217042"/>
                  </a:lnTo>
                  <a:lnTo>
                    <a:pt x="429894" y="174497"/>
                  </a:lnTo>
                  <a:lnTo>
                    <a:pt x="417575" y="133984"/>
                  </a:lnTo>
                  <a:lnTo>
                    <a:pt x="397636" y="96519"/>
                  </a:lnTo>
                  <a:lnTo>
                    <a:pt x="370585" y="63500"/>
                  </a:lnTo>
                  <a:lnTo>
                    <a:pt x="337565" y="36448"/>
                  </a:lnTo>
                  <a:lnTo>
                    <a:pt x="300100" y="16509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8919" y="2643886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2"/>
                  </a:moveTo>
                  <a:lnTo>
                    <a:pt x="5714" y="167258"/>
                  </a:lnTo>
                  <a:lnTo>
                    <a:pt x="22097" y="121538"/>
                  </a:lnTo>
                  <a:lnTo>
                    <a:pt x="47751" y="81279"/>
                  </a:lnTo>
                  <a:lnTo>
                    <a:pt x="81279" y="47625"/>
                  </a:lnTo>
                  <a:lnTo>
                    <a:pt x="121665" y="21970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09"/>
                  </a:lnTo>
                  <a:lnTo>
                    <a:pt x="337565" y="36448"/>
                  </a:lnTo>
                  <a:lnTo>
                    <a:pt x="370585" y="63500"/>
                  </a:lnTo>
                  <a:lnTo>
                    <a:pt x="397636" y="96519"/>
                  </a:lnTo>
                  <a:lnTo>
                    <a:pt x="417575" y="133984"/>
                  </a:lnTo>
                  <a:lnTo>
                    <a:pt x="429894" y="174497"/>
                  </a:lnTo>
                  <a:lnTo>
                    <a:pt x="434213" y="217042"/>
                  </a:lnTo>
                  <a:lnTo>
                    <a:pt x="428370" y="266826"/>
                  </a:lnTo>
                  <a:lnTo>
                    <a:pt x="412114" y="312419"/>
                  </a:lnTo>
                  <a:lnTo>
                    <a:pt x="386460" y="352805"/>
                  </a:lnTo>
                  <a:lnTo>
                    <a:pt x="352805" y="386333"/>
                  </a:lnTo>
                  <a:lnTo>
                    <a:pt x="312546" y="411988"/>
                  </a:lnTo>
                  <a:lnTo>
                    <a:pt x="266826" y="428370"/>
                  </a:lnTo>
                  <a:lnTo>
                    <a:pt x="217042" y="434085"/>
                  </a:lnTo>
                  <a:lnTo>
                    <a:pt x="167258" y="428370"/>
                  </a:lnTo>
                  <a:lnTo>
                    <a:pt x="121665" y="411988"/>
                  </a:lnTo>
                  <a:lnTo>
                    <a:pt x="81279" y="386333"/>
                  </a:lnTo>
                  <a:lnTo>
                    <a:pt x="47751" y="352805"/>
                  </a:lnTo>
                  <a:lnTo>
                    <a:pt x="22097" y="312419"/>
                  </a:lnTo>
                  <a:lnTo>
                    <a:pt x="5714" y="266826"/>
                  </a:lnTo>
                  <a:lnTo>
                    <a:pt x="0" y="217042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23030" y="2674112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2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74631" y="4121467"/>
            <a:ext cx="462915" cy="462915"/>
            <a:chOff x="3274631" y="4121467"/>
            <a:chExt cx="462915" cy="462915"/>
          </a:xfrm>
        </p:grpSpPr>
        <p:sp>
          <p:nvSpPr>
            <p:cNvPr id="18" name="object 18"/>
            <p:cNvSpPr/>
            <p:nvPr/>
          </p:nvSpPr>
          <p:spPr>
            <a:xfrm>
              <a:off x="3288919" y="413575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217042" y="0"/>
                  </a:moveTo>
                  <a:lnTo>
                    <a:pt x="167258" y="5714"/>
                  </a:lnTo>
                  <a:lnTo>
                    <a:pt x="121665" y="22098"/>
                  </a:lnTo>
                  <a:lnTo>
                    <a:pt x="81279" y="47751"/>
                  </a:lnTo>
                  <a:lnTo>
                    <a:pt x="47751" y="81279"/>
                  </a:lnTo>
                  <a:lnTo>
                    <a:pt x="22097" y="121665"/>
                  </a:lnTo>
                  <a:lnTo>
                    <a:pt x="5714" y="167386"/>
                  </a:lnTo>
                  <a:lnTo>
                    <a:pt x="0" y="217043"/>
                  </a:lnTo>
                  <a:lnTo>
                    <a:pt x="5714" y="266826"/>
                  </a:lnTo>
                  <a:lnTo>
                    <a:pt x="22097" y="312547"/>
                  </a:lnTo>
                  <a:lnTo>
                    <a:pt x="47751" y="352806"/>
                  </a:lnTo>
                  <a:lnTo>
                    <a:pt x="81279" y="386461"/>
                  </a:lnTo>
                  <a:lnTo>
                    <a:pt x="121665" y="412114"/>
                  </a:lnTo>
                  <a:lnTo>
                    <a:pt x="167258" y="428370"/>
                  </a:lnTo>
                  <a:lnTo>
                    <a:pt x="217042" y="434213"/>
                  </a:lnTo>
                  <a:lnTo>
                    <a:pt x="266826" y="428370"/>
                  </a:lnTo>
                  <a:lnTo>
                    <a:pt x="312546" y="412114"/>
                  </a:lnTo>
                  <a:lnTo>
                    <a:pt x="352805" y="386461"/>
                  </a:lnTo>
                  <a:lnTo>
                    <a:pt x="386460" y="352806"/>
                  </a:lnTo>
                  <a:lnTo>
                    <a:pt x="412114" y="312547"/>
                  </a:lnTo>
                  <a:lnTo>
                    <a:pt x="428370" y="266826"/>
                  </a:lnTo>
                  <a:lnTo>
                    <a:pt x="434213" y="217043"/>
                  </a:lnTo>
                  <a:lnTo>
                    <a:pt x="429894" y="174498"/>
                  </a:lnTo>
                  <a:lnTo>
                    <a:pt x="417575" y="133985"/>
                  </a:lnTo>
                  <a:lnTo>
                    <a:pt x="397636" y="96647"/>
                  </a:lnTo>
                  <a:lnTo>
                    <a:pt x="370585" y="63626"/>
                  </a:lnTo>
                  <a:lnTo>
                    <a:pt x="337565" y="36449"/>
                  </a:lnTo>
                  <a:lnTo>
                    <a:pt x="300100" y="16510"/>
                  </a:lnTo>
                  <a:lnTo>
                    <a:pt x="259587" y="4190"/>
                  </a:lnTo>
                  <a:lnTo>
                    <a:pt x="217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88919" y="4135755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39">
                  <a:moveTo>
                    <a:pt x="0" y="217043"/>
                  </a:moveTo>
                  <a:lnTo>
                    <a:pt x="5714" y="167386"/>
                  </a:lnTo>
                  <a:lnTo>
                    <a:pt x="22097" y="121665"/>
                  </a:lnTo>
                  <a:lnTo>
                    <a:pt x="47751" y="81279"/>
                  </a:lnTo>
                  <a:lnTo>
                    <a:pt x="81279" y="47751"/>
                  </a:lnTo>
                  <a:lnTo>
                    <a:pt x="121665" y="22098"/>
                  </a:lnTo>
                  <a:lnTo>
                    <a:pt x="167258" y="5714"/>
                  </a:lnTo>
                  <a:lnTo>
                    <a:pt x="217042" y="0"/>
                  </a:lnTo>
                  <a:lnTo>
                    <a:pt x="259587" y="4190"/>
                  </a:lnTo>
                  <a:lnTo>
                    <a:pt x="300100" y="16510"/>
                  </a:lnTo>
                  <a:lnTo>
                    <a:pt x="337565" y="36449"/>
                  </a:lnTo>
                  <a:lnTo>
                    <a:pt x="370585" y="63626"/>
                  </a:lnTo>
                  <a:lnTo>
                    <a:pt x="397636" y="96647"/>
                  </a:lnTo>
                  <a:lnTo>
                    <a:pt x="417575" y="133985"/>
                  </a:lnTo>
                  <a:lnTo>
                    <a:pt x="429894" y="174498"/>
                  </a:lnTo>
                  <a:lnTo>
                    <a:pt x="434213" y="217043"/>
                  </a:lnTo>
                  <a:lnTo>
                    <a:pt x="428370" y="266826"/>
                  </a:lnTo>
                  <a:lnTo>
                    <a:pt x="412114" y="312547"/>
                  </a:lnTo>
                  <a:lnTo>
                    <a:pt x="386460" y="352806"/>
                  </a:lnTo>
                  <a:lnTo>
                    <a:pt x="352805" y="386461"/>
                  </a:lnTo>
                  <a:lnTo>
                    <a:pt x="312546" y="412114"/>
                  </a:lnTo>
                  <a:lnTo>
                    <a:pt x="266826" y="428370"/>
                  </a:lnTo>
                  <a:lnTo>
                    <a:pt x="217042" y="434213"/>
                  </a:lnTo>
                  <a:lnTo>
                    <a:pt x="167258" y="428370"/>
                  </a:lnTo>
                  <a:lnTo>
                    <a:pt x="121665" y="412114"/>
                  </a:lnTo>
                  <a:lnTo>
                    <a:pt x="81279" y="386461"/>
                  </a:lnTo>
                  <a:lnTo>
                    <a:pt x="47751" y="352806"/>
                  </a:lnTo>
                  <a:lnTo>
                    <a:pt x="22097" y="312547"/>
                  </a:lnTo>
                  <a:lnTo>
                    <a:pt x="5714" y="266826"/>
                  </a:lnTo>
                  <a:lnTo>
                    <a:pt x="0" y="217043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23030" y="4165803"/>
            <a:ext cx="151765" cy="324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3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226814" y="876681"/>
            <a:ext cx="42557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110" dirty="0">
                <a:latin typeface="Calibri"/>
                <a:cs typeface="Calibri"/>
              </a:rPr>
              <a:t>Qu’est-</a:t>
            </a:r>
            <a:r>
              <a:rPr sz="2500" b="1" dirty="0">
                <a:latin typeface="Calibri"/>
                <a:cs typeface="Calibri"/>
              </a:rPr>
              <a:t>ce</a:t>
            </a:r>
            <a:r>
              <a:rPr sz="2500" b="1" spc="315" dirty="0">
                <a:latin typeface="Calibri"/>
                <a:cs typeface="Calibri"/>
              </a:rPr>
              <a:t> </a:t>
            </a:r>
            <a:r>
              <a:rPr sz="2500" b="1" spc="75" dirty="0">
                <a:latin typeface="Calibri"/>
                <a:cs typeface="Calibri"/>
              </a:rPr>
              <a:t>que</a:t>
            </a:r>
            <a:r>
              <a:rPr sz="2500" b="1" spc="285" dirty="0">
                <a:latin typeface="Calibri"/>
                <a:cs typeface="Calibri"/>
              </a:rPr>
              <a:t> </a:t>
            </a:r>
            <a:r>
              <a:rPr sz="2500" b="1" spc="50" dirty="0">
                <a:latin typeface="Calibri"/>
                <a:cs typeface="Calibri"/>
              </a:rPr>
              <a:t>le</a:t>
            </a:r>
            <a:r>
              <a:rPr sz="2500" b="1" spc="320" dirty="0">
                <a:latin typeface="Calibri"/>
                <a:cs typeface="Calibri"/>
              </a:rPr>
              <a:t> </a:t>
            </a:r>
            <a:r>
              <a:rPr sz="2500" b="1" spc="85" dirty="0">
                <a:latin typeface="Calibri"/>
                <a:cs typeface="Calibri"/>
              </a:rPr>
              <a:t>DevSecOps?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26814" y="4120134"/>
            <a:ext cx="361442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b="1" spc="175" dirty="0">
                <a:solidFill>
                  <a:srgbClr val="164052"/>
                </a:solidFill>
                <a:latin typeface="Calibri"/>
                <a:cs typeface="Calibri"/>
              </a:rPr>
              <a:t>Amélioration</a:t>
            </a:r>
            <a:r>
              <a:rPr sz="2500" b="1" spc="360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5" dirty="0">
                <a:solidFill>
                  <a:srgbClr val="164052"/>
                </a:solidFill>
                <a:latin typeface="Calibri"/>
                <a:cs typeface="Calibri"/>
              </a:rPr>
              <a:t>continue: </a:t>
            </a:r>
            <a:r>
              <a:rPr sz="2500" b="1" spc="120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2500" b="1" spc="40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60" dirty="0">
                <a:solidFill>
                  <a:srgbClr val="164052"/>
                </a:solidFill>
                <a:latin typeface="Calibri"/>
                <a:cs typeface="Calibri"/>
              </a:rPr>
              <a:t>outils</a:t>
            </a:r>
            <a:r>
              <a:rPr sz="2500" b="1" spc="3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00" dirty="0">
                <a:solidFill>
                  <a:srgbClr val="164052"/>
                </a:solidFill>
                <a:latin typeface="Calibri"/>
                <a:cs typeface="Calibri"/>
              </a:rPr>
              <a:t>du</a:t>
            </a:r>
            <a:r>
              <a:rPr sz="2500" b="1" spc="38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2500" b="1" spc="120" dirty="0">
                <a:solidFill>
                  <a:srgbClr val="164052"/>
                </a:solidFill>
                <a:latin typeface="Calibri"/>
                <a:cs typeface="Calibri"/>
              </a:rPr>
              <a:t>Lean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90126" y="881952"/>
            <a:ext cx="462915" cy="462915"/>
            <a:chOff x="3290126" y="881952"/>
            <a:chExt cx="462915" cy="462915"/>
          </a:xfrm>
        </p:grpSpPr>
        <p:sp>
          <p:nvSpPr>
            <p:cNvPr id="24" name="object 24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217170" y="0"/>
                  </a:moveTo>
                  <a:lnTo>
                    <a:pt x="167386" y="5842"/>
                  </a:lnTo>
                  <a:lnTo>
                    <a:pt x="121665" y="22098"/>
                  </a:lnTo>
                  <a:lnTo>
                    <a:pt x="81407" y="47751"/>
                  </a:lnTo>
                  <a:lnTo>
                    <a:pt x="47751" y="81406"/>
                  </a:lnTo>
                  <a:lnTo>
                    <a:pt x="22098" y="121666"/>
                  </a:lnTo>
                  <a:lnTo>
                    <a:pt x="5841" y="167386"/>
                  </a:lnTo>
                  <a:lnTo>
                    <a:pt x="0" y="217169"/>
                  </a:lnTo>
                  <a:lnTo>
                    <a:pt x="5841" y="266826"/>
                  </a:lnTo>
                  <a:lnTo>
                    <a:pt x="22098" y="312547"/>
                  </a:lnTo>
                  <a:lnTo>
                    <a:pt x="47751" y="352932"/>
                  </a:lnTo>
                  <a:lnTo>
                    <a:pt x="81407" y="386461"/>
                  </a:lnTo>
                  <a:lnTo>
                    <a:pt x="121665" y="412114"/>
                  </a:lnTo>
                  <a:lnTo>
                    <a:pt x="167386" y="428498"/>
                  </a:lnTo>
                  <a:lnTo>
                    <a:pt x="217170" y="434213"/>
                  </a:lnTo>
                  <a:lnTo>
                    <a:pt x="266953" y="428498"/>
                  </a:lnTo>
                  <a:lnTo>
                    <a:pt x="312547" y="412114"/>
                  </a:lnTo>
                  <a:lnTo>
                    <a:pt x="352933" y="386461"/>
                  </a:lnTo>
                  <a:lnTo>
                    <a:pt x="386461" y="352932"/>
                  </a:lnTo>
                  <a:lnTo>
                    <a:pt x="412114" y="312547"/>
                  </a:lnTo>
                  <a:lnTo>
                    <a:pt x="428498" y="266826"/>
                  </a:lnTo>
                  <a:lnTo>
                    <a:pt x="434213" y="217169"/>
                  </a:lnTo>
                  <a:lnTo>
                    <a:pt x="430022" y="174625"/>
                  </a:lnTo>
                  <a:lnTo>
                    <a:pt x="417702" y="133984"/>
                  </a:lnTo>
                  <a:lnTo>
                    <a:pt x="397763" y="96647"/>
                  </a:lnTo>
                  <a:lnTo>
                    <a:pt x="370586" y="63626"/>
                  </a:lnTo>
                  <a:lnTo>
                    <a:pt x="337565" y="36575"/>
                  </a:lnTo>
                  <a:lnTo>
                    <a:pt x="300227" y="16509"/>
                  </a:lnTo>
                  <a:lnTo>
                    <a:pt x="259714" y="4318"/>
                  </a:lnTo>
                  <a:lnTo>
                    <a:pt x="21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4413" y="896239"/>
              <a:ext cx="434340" cy="434340"/>
            </a:xfrm>
            <a:custGeom>
              <a:avLst/>
              <a:gdLst/>
              <a:ahLst/>
              <a:cxnLst/>
              <a:rect l="l" t="t" r="r" b="b"/>
              <a:pathLst>
                <a:path w="434339" h="434340">
                  <a:moveTo>
                    <a:pt x="0" y="217169"/>
                  </a:moveTo>
                  <a:lnTo>
                    <a:pt x="5841" y="167386"/>
                  </a:lnTo>
                  <a:lnTo>
                    <a:pt x="22098" y="121666"/>
                  </a:lnTo>
                  <a:lnTo>
                    <a:pt x="47751" y="81406"/>
                  </a:lnTo>
                  <a:lnTo>
                    <a:pt x="81407" y="47751"/>
                  </a:lnTo>
                  <a:lnTo>
                    <a:pt x="121665" y="22098"/>
                  </a:lnTo>
                  <a:lnTo>
                    <a:pt x="167386" y="5842"/>
                  </a:lnTo>
                  <a:lnTo>
                    <a:pt x="217170" y="0"/>
                  </a:lnTo>
                  <a:lnTo>
                    <a:pt x="259714" y="4318"/>
                  </a:lnTo>
                  <a:lnTo>
                    <a:pt x="300227" y="16509"/>
                  </a:lnTo>
                  <a:lnTo>
                    <a:pt x="337565" y="36575"/>
                  </a:lnTo>
                  <a:lnTo>
                    <a:pt x="370586" y="63626"/>
                  </a:lnTo>
                  <a:lnTo>
                    <a:pt x="397763" y="96647"/>
                  </a:lnTo>
                  <a:lnTo>
                    <a:pt x="417702" y="133984"/>
                  </a:lnTo>
                  <a:lnTo>
                    <a:pt x="430022" y="174625"/>
                  </a:lnTo>
                  <a:lnTo>
                    <a:pt x="434213" y="217169"/>
                  </a:lnTo>
                  <a:lnTo>
                    <a:pt x="428498" y="266826"/>
                  </a:lnTo>
                  <a:lnTo>
                    <a:pt x="412114" y="312547"/>
                  </a:lnTo>
                  <a:lnTo>
                    <a:pt x="386461" y="352932"/>
                  </a:lnTo>
                  <a:lnTo>
                    <a:pt x="352933" y="386461"/>
                  </a:lnTo>
                  <a:lnTo>
                    <a:pt x="312547" y="412114"/>
                  </a:lnTo>
                  <a:lnTo>
                    <a:pt x="266953" y="428498"/>
                  </a:lnTo>
                  <a:lnTo>
                    <a:pt x="217170" y="434213"/>
                  </a:lnTo>
                  <a:lnTo>
                    <a:pt x="167386" y="428498"/>
                  </a:lnTo>
                  <a:lnTo>
                    <a:pt x="121665" y="412114"/>
                  </a:lnTo>
                  <a:lnTo>
                    <a:pt x="81407" y="386461"/>
                  </a:lnTo>
                  <a:lnTo>
                    <a:pt x="47751" y="352932"/>
                  </a:lnTo>
                  <a:lnTo>
                    <a:pt x="22098" y="312547"/>
                  </a:lnTo>
                  <a:lnTo>
                    <a:pt x="5841" y="266826"/>
                  </a:lnTo>
                  <a:lnTo>
                    <a:pt x="0" y="217169"/>
                  </a:lnTo>
                  <a:close/>
                </a:path>
              </a:pathLst>
            </a:custGeom>
            <a:ln w="28573">
              <a:solidFill>
                <a:srgbClr val="8BB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38525" y="926084"/>
            <a:ext cx="15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spc="-50" dirty="0">
                <a:solidFill>
                  <a:srgbClr val="8BB839"/>
                </a:solidFill>
                <a:latin typeface="Calibri"/>
                <a:cs typeface="Calibri"/>
              </a:rPr>
              <a:t>1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49331" y="7184238"/>
            <a:ext cx="2495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121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Qu’est</a:t>
            </a:r>
            <a:r>
              <a:rPr spc="-30" dirty="0"/>
              <a:t> </a:t>
            </a:r>
            <a:r>
              <a:rPr dirty="0"/>
              <a:t>ce</a:t>
            </a:r>
            <a:r>
              <a:rPr spc="-10" dirty="0"/>
              <a:t> </a:t>
            </a:r>
            <a:r>
              <a:rPr dirty="0"/>
              <a:t>que</a:t>
            </a:r>
            <a:r>
              <a:rPr spc="-35" dirty="0"/>
              <a:t> </a:t>
            </a:r>
            <a:r>
              <a:rPr dirty="0"/>
              <a:t>le</a:t>
            </a:r>
            <a:r>
              <a:rPr spc="-30" dirty="0"/>
              <a:t> </a:t>
            </a:r>
            <a:r>
              <a:rPr spc="-10" dirty="0"/>
              <a:t>DevSecOps?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200" y="1530172"/>
            <a:ext cx="4256405" cy="36099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390"/>
              </a:spcBef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DevSecOps</a:t>
            </a:r>
            <a:r>
              <a:rPr sz="2400" spc="-5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Vise</a:t>
            </a:r>
            <a:r>
              <a:rPr sz="2400" spc="-4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a</a:t>
            </a:r>
            <a:r>
              <a:rPr sz="24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spc="-3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compléter</a:t>
            </a:r>
            <a:r>
              <a:rPr sz="2400" spc="-4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la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pratique</a:t>
            </a:r>
            <a:r>
              <a:rPr sz="2400" spc="2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DevOps</a:t>
            </a:r>
            <a:r>
              <a:rPr sz="2400" spc="229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en</a:t>
            </a:r>
            <a:r>
              <a:rPr sz="2400" spc="2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intégrant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la</a:t>
            </a:r>
            <a:r>
              <a:rPr sz="2400" spc="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couche</a:t>
            </a:r>
            <a:r>
              <a:rPr sz="2400" spc="3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sécurité,</a:t>
            </a:r>
            <a:r>
              <a:rPr sz="2400" spc="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et</a:t>
            </a:r>
            <a:r>
              <a:rPr sz="2400" spc="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ce</a:t>
            </a:r>
            <a:r>
              <a:rPr sz="2400" spc="3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en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application</a:t>
            </a:r>
            <a:r>
              <a:rPr sz="2400" spc="58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des</a:t>
            </a:r>
            <a:r>
              <a:rPr sz="2400" spc="58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 </a:t>
            </a:r>
            <a:r>
              <a:rPr sz="24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principes</a:t>
            </a:r>
            <a:endParaRPr sz="2400">
              <a:latin typeface="Franklin Gothic Medium"/>
              <a:cs typeface="Franklin Gothic Medium"/>
            </a:endParaRPr>
          </a:p>
          <a:p>
            <a:pPr marL="241300" algn="just">
              <a:lnSpc>
                <a:spcPts val="2450"/>
              </a:lnSpc>
            </a:pP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«</a:t>
            </a:r>
            <a:r>
              <a:rPr sz="2400" spc="43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Security</a:t>
            </a:r>
            <a:r>
              <a:rPr sz="2400" spc="4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By</a:t>
            </a:r>
            <a:r>
              <a:rPr sz="2400" spc="43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Design</a:t>
            </a:r>
            <a:r>
              <a:rPr sz="2400" spc="43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»</a:t>
            </a:r>
            <a:r>
              <a:rPr sz="2400" spc="434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spc="-5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&amp;</a:t>
            </a:r>
            <a:endParaRPr sz="2400">
              <a:latin typeface="Franklin Gothic Medium"/>
              <a:cs typeface="Franklin Gothic Medium"/>
            </a:endParaRPr>
          </a:p>
          <a:p>
            <a:pPr marL="241300" algn="just">
              <a:lnSpc>
                <a:spcPts val="2735"/>
              </a:lnSpc>
            </a:pP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«</a:t>
            </a:r>
            <a:r>
              <a:rPr sz="2400" spc="-6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spc="-3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Privacy</a:t>
            </a:r>
            <a:r>
              <a:rPr sz="2400" spc="-8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By</a:t>
            </a:r>
            <a:r>
              <a:rPr sz="2400" spc="-7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Design</a:t>
            </a:r>
            <a:r>
              <a:rPr sz="2400" spc="-7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».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endParaRPr sz="2400">
              <a:latin typeface="Franklin Gothic Medium"/>
              <a:cs typeface="Franklin Gothic Medium"/>
            </a:endParaRPr>
          </a:p>
          <a:p>
            <a:pPr marL="241300" marR="5080" indent="-228600" algn="just">
              <a:lnSpc>
                <a:spcPct val="90000"/>
              </a:lnSpc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Ainsi,</a:t>
            </a:r>
            <a:r>
              <a:rPr sz="2400" spc="28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le</a:t>
            </a:r>
            <a:r>
              <a:rPr sz="2400" spc="27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DevSecOps</a:t>
            </a:r>
            <a:r>
              <a:rPr sz="2400" spc="28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vise</a:t>
            </a:r>
            <a:r>
              <a:rPr sz="2400" spc="28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 </a:t>
            </a:r>
            <a:r>
              <a:rPr sz="2400" spc="-5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à </a:t>
            </a:r>
            <a:r>
              <a:rPr sz="2400" dirty="0">
                <a:solidFill>
                  <a:srgbClr val="CA1B49"/>
                </a:solidFill>
                <a:latin typeface="Franklin Gothic Medium"/>
                <a:cs typeface="Franklin Gothic Medium"/>
              </a:rPr>
              <a:t>sécuriser</a:t>
            </a:r>
            <a:r>
              <a:rPr sz="2400" spc="370" dirty="0">
                <a:solidFill>
                  <a:srgbClr val="CA1B4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CA1B49"/>
                </a:solidFill>
                <a:latin typeface="Franklin Gothic Medium"/>
                <a:cs typeface="Franklin Gothic Medium"/>
              </a:rPr>
              <a:t>le</a:t>
            </a:r>
            <a:r>
              <a:rPr sz="2400" spc="380" dirty="0">
                <a:solidFill>
                  <a:srgbClr val="CA1B49"/>
                </a:solidFill>
                <a:latin typeface="Franklin Gothic Medium"/>
                <a:cs typeface="Franklin Gothic Medium"/>
              </a:rPr>
              <a:t>  </a:t>
            </a:r>
            <a:r>
              <a:rPr sz="2400" dirty="0">
                <a:solidFill>
                  <a:srgbClr val="CA1B49"/>
                </a:solidFill>
                <a:latin typeface="Franklin Gothic Medium"/>
                <a:cs typeface="Franklin Gothic Medium"/>
              </a:rPr>
              <a:t>delivery</a:t>
            </a:r>
            <a:r>
              <a:rPr sz="2400" spc="375" dirty="0">
                <a:solidFill>
                  <a:srgbClr val="CA1B49"/>
                </a:solidFill>
                <a:latin typeface="Franklin Gothic Medium"/>
                <a:cs typeface="Franklin Gothic Medium"/>
              </a:rPr>
              <a:t>  </a:t>
            </a:r>
            <a:r>
              <a:rPr sz="2400" spc="-10" dirty="0">
                <a:solidFill>
                  <a:srgbClr val="CA1B49"/>
                </a:solidFill>
                <a:latin typeface="Franklin Gothic Medium"/>
                <a:cs typeface="Franklin Gothic Medium"/>
              </a:rPr>
              <a:t>rapide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apporté</a:t>
            </a:r>
            <a:r>
              <a:rPr sz="2400" spc="-7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par</a:t>
            </a:r>
            <a:r>
              <a:rPr sz="2400" spc="-8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le</a:t>
            </a:r>
            <a:r>
              <a:rPr sz="2400" spc="-8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4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DevOps.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7864" y="2277641"/>
            <a:ext cx="3981057" cy="21560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6140" y="13690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14"/>
              </a:lnSpc>
            </a:pPr>
            <a:fld id="{81D60167-4931-47E6-BA6A-407CBD079E47}" type="slidenum">
              <a:rPr sz="1600" spc="-25" dirty="0"/>
              <a:t>120</a:t>
            </a:fld>
            <a:endParaRPr sz="160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Qu’est</a:t>
            </a:r>
            <a:r>
              <a:rPr spc="-15" dirty="0"/>
              <a:t> </a:t>
            </a:r>
            <a:r>
              <a:rPr dirty="0"/>
              <a:t>ce que</a:t>
            </a:r>
            <a:r>
              <a:rPr spc="-25" dirty="0"/>
              <a:t> </a:t>
            </a:r>
            <a:r>
              <a:rPr dirty="0"/>
              <a:t>le</a:t>
            </a:r>
            <a:r>
              <a:rPr spc="-15" dirty="0"/>
              <a:t> </a:t>
            </a:r>
            <a:r>
              <a:rPr spc="-10" dirty="0"/>
              <a:t>DevSecOps?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3750" y="3101340"/>
            <a:ext cx="738758" cy="73634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940550" y="3099054"/>
            <a:ext cx="739140" cy="739140"/>
            <a:chOff x="6940550" y="3099054"/>
            <a:chExt cx="739140" cy="739140"/>
          </a:xfrm>
        </p:grpSpPr>
        <p:sp>
          <p:nvSpPr>
            <p:cNvPr id="5" name="object 5"/>
            <p:cNvSpPr/>
            <p:nvPr/>
          </p:nvSpPr>
          <p:spPr>
            <a:xfrm>
              <a:off x="6940550" y="3099054"/>
              <a:ext cx="739140" cy="739140"/>
            </a:xfrm>
            <a:custGeom>
              <a:avLst/>
              <a:gdLst/>
              <a:ahLst/>
              <a:cxnLst/>
              <a:rect l="l" t="t" r="r" b="b"/>
              <a:pathLst>
                <a:path w="739140" h="739139">
                  <a:moveTo>
                    <a:pt x="369316" y="0"/>
                  </a:moveTo>
                  <a:lnTo>
                    <a:pt x="322990" y="2877"/>
                  </a:lnTo>
                  <a:lnTo>
                    <a:pt x="278382" y="11279"/>
                  </a:lnTo>
                  <a:lnTo>
                    <a:pt x="235837" y="24859"/>
                  </a:lnTo>
                  <a:lnTo>
                    <a:pt x="195701" y="43272"/>
                  </a:lnTo>
                  <a:lnTo>
                    <a:pt x="158320" y="66170"/>
                  </a:lnTo>
                  <a:lnTo>
                    <a:pt x="124040" y="93208"/>
                  </a:lnTo>
                  <a:lnTo>
                    <a:pt x="93208" y="124040"/>
                  </a:lnTo>
                  <a:lnTo>
                    <a:pt x="66170" y="158320"/>
                  </a:lnTo>
                  <a:lnTo>
                    <a:pt x="43272" y="195701"/>
                  </a:lnTo>
                  <a:lnTo>
                    <a:pt x="24859" y="235837"/>
                  </a:lnTo>
                  <a:lnTo>
                    <a:pt x="11279" y="278382"/>
                  </a:lnTo>
                  <a:lnTo>
                    <a:pt x="2877" y="322990"/>
                  </a:lnTo>
                  <a:lnTo>
                    <a:pt x="0" y="369315"/>
                  </a:lnTo>
                  <a:lnTo>
                    <a:pt x="2877" y="415641"/>
                  </a:lnTo>
                  <a:lnTo>
                    <a:pt x="11279" y="460249"/>
                  </a:lnTo>
                  <a:lnTo>
                    <a:pt x="24859" y="502794"/>
                  </a:lnTo>
                  <a:lnTo>
                    <a:pt x="43272" y="542930"/>
                  </a:lnTo>
                  <a:lnTo>
                    <a:pt x="66170" y="580311"/>
                  </a:lnTo>
                  <a:lnTo>
                    <a:pt x="93208" y="614591"/>
                  </a:lnTo>
                  <a:lnTo>
                    <a:pt x="124040" y="645423"/>
                  </a:lnTo>
                  <a:lnTo>
                    <a:pt x="158320" y="672461"/>
                  </a:lnTo>
                  <a:lnTo>
                    <a:pt x="195701" y="695359"/>
                  </a:lnTo>
                  <a:lnTo>
                    <a:pt x="235837" y="713772"/>
                  </a:lnTo>
                  <a:lnTo>
                    <a:pt x="278382" y="727352"/>
                  </a:lnTo>
                  <a:lnTo>
                    <a:pt x="322990" y="735754"/>
                  </a:lnTo>
                  <a:lnTo>
                    <a:pt x="369316" y="738632"/>
                  </a:lnTo>
                  <a:lnTo>
                    <a:pt x="415668" y="735754"/>
                  </a:lnTo>
                  <a:lnTo>
                    <a:pt x="460299" y="727352"/>
                  </a:lnTo>
                  <a:lnTo>
                    <a:pt x="502863" y="713772"/>
                  </a:lnTo>
                  <a:lnTo>
                    <a:pt x="543015" y="695359"/>
                  </a:lnTo>
                  <a:lnTo>
                    <a:pt x="580409" y="672461"/>
                  </a:lnTo>
                  <a:lnTo>
                    <a:pt x="614698" y="645423"/>
                  </a:lnTo>
                  <a:lnTo>
                    <a:pt x="645537" y="614591"/>
                  </a:lnTo>
                  <a:lnTo>
                    <a:pt x="672581" y="580311"/>
                  </a:lnTo>
                  <a:lnTo>
                    <a:pt x="695483" y="542930"/>
                  </a:lnTo>
                  <a:lnTo>
                    <a:pt x="713897" y="502794"/>
                  </a:lnTo>
                  <a:lnTo>
                    <a:pt x="727478" y="460249"/>
                  </a:lnTo>
                  <a:lnTo>
                    <a:pt x="735881" y="415641"/>
                  </a:lnTo>
                  <a:lnTo>
                    <a:pt x="738758" y="369315"/>
                  </a:lnTo>
                  <a:lnTo>
                    <a:pt x="735881" y="322990"/>
                  </a:lnTo>
                  <a:lnTo>
                    <a:pt x="727478" y="278382"/>
                  </a:lnTo>
                  <a:lnTo>
                    <a:pt x="713897" y="235837"/>
                  </a:lnTo>
                  <a:lnTo>
                    <a:pt x="695483" y="195701"/>
                  </a:lnTo>
                  <a:lnTo>
                    <a:pt x="672581" y="158320"/>
                  </a:lnTo>
                  <a:lnTo>
                    <a:pt x="645537" y="124040"/>
                  </a:lnTo>
                  <a:lnTo>
                    <a:pt x="614698" y="93208"/>
                  </a:lnTo>
                  <a:lnTo>
                    <a:pt x="580409" y="66170"/>
                  </a:lnTo>
                  <a:lnTo>
                    <a:pt x="543015" y="43272"/>
                  </a:lnTo>
                  <a:lnTo>
                    <a:pt x="502863" y="24859"/>
                  </a:lnTo>
                  <a:lnTo>
                    <a:pt x="460299" y="11279"/>
                  </a:lnTo>
                  <a:lnTo>
                    <a:pt x="415668" y="2877"/>
                  </a:lnTo>
                  <a:lnTo>
                    <a:pt x="369316" y="0"/>
                  </a:lnTo>
                  <a:close/>
                </a:path>
              </a:pathLst>
            </a:custGeom>
            <a:solidFill>
              <a:srgbClr val="CA1B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1761" y="3619373"/>
              <a:ext cx="152400" cy="1092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49719" y="3208147"/>
              <a:ext cx="320675" cy="423545"/>
            </a:xfrm>
            <a:custGeom>
              <a:avLst/>
              <a:gdLst/>
              <a:ahLst/>
              <a:cxnLst/>
              <a:rect l="l" t="t" r="r" b="b"/>
              <a:pathLst>
                <a:path w="320675" h="423545">
                  <a:moveTo>
                    <a:pt x="320421" y="160655"/>
                  </a:moveTo>
                  <a:lnTo>
                    <a:pt x="312140" y="109524"/>
                  </a:lnTo>
                  <a:lnTo>
                    <a:pt x="310007" y="105422"/>
                  </a:lnTo>
                  <a:lnTo>
                    <a:pt x="310007" y="160655"/>
                  </a:lnTo>
                  <a:lnTo>
                    <a:pt x="307314" y="189865"/>
                  </a:lnTo>
                  <a:lnTo>
                    <a:pt x="299377" y="217512"/>
                  </a:lnTo>
                  <a:lnTo>
                    <a:pt x="286372" y="242798"/>
                  </a:lnTo>
                  <a:lnTo>
                    <a:pt x="268478" y="264922"/>
                  </a:lnTo>
                  <a:lnTo>
                    <a:pt x="258406" y="275628"/>
                  </a:lnTo>
                  <a:lnTo>
                    <a:pt x="250482" y="286346"/>
                  </a:lnTo>
                  <a:lnTo>
                    <a:pt x="245313" y="297840"/>
                  </a:lnTo>
                  <a:lnTo>
                    <a:pt x="243459" y="310896"/>
                  </a:lnTo>
                  <a:lnTo>
                    <a:pt x="243459" y="342138"/>
                  </a:lnTo>
                  <a:lnTo>
                    <a:pt x="240880" y="355295"/>
                  </a:lnTo>
                  <a:lnTo>
                    <a:pt x="233819" y="365899"/>
                  </a:lnTo>
                  <a:lnTo>
                    <a:pt x="226060" y="371106"/>
                  </a:lnTo>
                  <a:lnTo>
                    <a:pt x="226060" y="391160"/>
                  </a:lnTo>
                  <a:lnTo>
                    <a:pt x="226060" y="406019"/>
                  </a:lnTo>
                  <a:lnTo>
                    <a:pt x="219837" y="412369"/>
                  </a:lnTo>
                  <a:lnTo>
                    <a:pt x="98679" y="412369"/>
                  </a:lnTo>
                  <a:lnTo>
                    <a:pt x="92456" y="406019"/>
                  </a:lnTo>
                  <a:lnTo>
                    <a:pt x="92456" y="391160"/>
                  </a:lnTo>
                  <a:lnTo>
                    <a:pt x="98679" y="384810"/>
                  </a:lnTo>
                  <a:lnTo>
                    <a:pt x="104724" y="384810"/>
                  </a:lnTo>
                  <a:lnTo>
                    <a:pt x="110236" y="385953"/>
                  </a:lnTo>
                  <a:lnTo>
                    <a:pt x="210185" y="385953"/>
                  </a:lnTo>
                  <a:lnTo>
                    <a:pt x="215671" y="384810"/>
                  </a:lnTo>
                  <a:lnTo>
                    <a:pt x="219837" y="384810"/>
                  </a:lnTo>
                  <a:lnTo>
                    <a:pt x="226060" y="391160"/>
                  </a:lnTo>
                  <a:lnTo>
                    <a:pt x="226060" y="371106"/>
                  </a:lnTo>
                  <a:lnTo>
                    <a:pt x="223253" y="372973"/>
                  </a:lnTo>
                  <a:lnTo>
                    <a:pt x="213969" y="374802"/>
                  </a:lnTo>
                  <a:lnTo>
                    <a:pt x="211455" y="374269"/>
                  </a:lnTo>
                  <a:lnTo>
                    <a:pt x="107061" y="374269"/>
                  </a:lnTo>
                  <a:lnTo>
                    <a:pt x="74930" y="342138"/>
                  </a:lnTo>
                  <a:lnTo>
                    <a:pt x="74930" y="310896"/>
                  </a:lnTo>
                  <a:lnTo>
                    <a:pt x="73380" y="297840"/>
                  </a:lnTo>
                  <a:lnTo>
                    <a:pt x="68910" y="286346"/>
                  </a:lnTo>
                  <a:lnTo>
                    <a:pt x="61683" y="275628"/>
                  </a:lnTo>
                  <a:lnTo>
                    <a:pt x="51943" y="264922"/>
                  </a:lnTo>
                  <a:lnTo>
                    <a:pt x="34010" y="242798"/>
                  </a:lnTo>
                  <a:lnTo>
                    <a:pt x="20967" y="217512"/>
                  </a:lnTo>
                  <a:lnTo>
                    <a:pt x="12979" y="189865"/>
                  </a:lnTo>
                  <a:lnTo>
                    <a:pt x="10287" y="160655"/>
                  </a:lnTo>
                  <a:lnTo>
                    <a:pt x="17881" y="112991"/>
                  </a:lnTo>
                  <a:lnTo>
                    <a:pt x="39077" y="71729"/>
                  </a:lnTo>
                  <a:lnTo>
                    <a:pt x="71450" y="39281"/>
                  </a:lnTo>
                  <a:lnTo>
                    <a:pt x="112610" y="18034"/>
                  </a:lnTo>
                  <a:lnTo>
                    <a:pt x="160147" y="10414"/>
                  </a:lnTo>
                  <a:lnTo>
                    <a:pt x="207721" y="18034"/>
                  </a:lnTo>
                  <a:lnTo>
                    <a:pt x="248881" y="39281"/>
                  </a:lnTo>
                  <a:lnTo>
                    <a:pt x="281241" y="71729"/>
                  </a:lnTo>
                  <a:lnTo>
                    <a:pt x="302412" y="112991"/>
                  </a:lnTo>
                  <a:lnTo>
                    <a:pt x="310007" y="160655"/>
                  </a:lnTo>
                  <a:lnTo>
                    <a:pt x="310007" y="105422"/>
                  </a:lnTo>
                  <a:lnTo>
                    <a:pt x="289204" y="65379"/>
                  </a:lnTo>
                  <a:lnTo>
                    <a:pt x="254355" y="30734"/>
                  </a:lnTo>
                  <a:lnTo>
                    <a:pt x="214909" y="10414"/>
                  </a:lnTo>
                  <a:lnTo>
                    <a:pt x="160147" y="0"/>
                  </a:lnTo>
                  <a:lnTo>
                    <a:pt x="109156" y="8102"/>
                  </a:lnTo>
                  <a:lnTo>
                    <a:pt x="65138" y="30734"/>
                  </a:lnTo>
                  <a:lnTo>
                    <a:pt x="30619" y="65379"/>
                  </a:lnTo>
                  <a:lnTo>
                    <a:pt x="8064" y="109524"/>
                  </a:lnTo>
                  <a:lnTo>
                    <a:pt x="0" y="160655"/>
                  </a:lnTo>
                  <a:lnTo>
                    <a:pt x="3048" y="191693"/>
                  </a:lnTo>
                  <a:lnTo>
                    <a:pt x="11950" y="221399"/>
                  </a:lnTo>
                  <a:lnTo>
                    <a:pt x="26301" y="248386"/>
                  </a:lnTo>
                  <a:lnTo>
                    <a:pt x="45720" y="271272"/>
                  </a:lnTo>
                  <a:lnTo>
                    <a:pt x="54216" y="281216"/>
                  </a:lnTo>
                  <a:lnTo>
                    <a:pt x="60794" y="290233"/>
                  </a:lnTo>
                  <a:lnTo>
                    <a:pt x="65036" y="299669"/>
                  </a:lnTo>
                  <a:lnTo>
                    <a:pt x="66548" y="310896"/>
                  </a:lnTo>
                  <a:lnTo>
                    <a:pt x="66548" y="342138"/>
                  </a:lnTo>
                  <a:lnTo>
                    <a:pt x="69850" y="358686"/>
                  </a:lnTo>
                  <a:lnTo>
                    <a:pt x="79006" y="372668"/>
                  </a:lnTo>
                  <a:lnTo>
                    <a:pt x="90525" y="380733"/>
                  </a:lnTo>
                  <a:lnTo>
                    <a:pt x="89877" y="381127"/>
                  </a:lnTo>
                  <a:lnTo>
                    <a:pt x="84188" y="388531"/>
                  </a:lnTo>
                  <a:lnTo>
                    <a:pt x="82042" y="397510"/>
                  </a:lnTo>
                  <a:lnTo>
                    <a:pt x="84188" y="406857"/>
                  </a:lnTo>
                  <a:lnTo>
                    <a:pt x="89877" y="415036"/>
                  </a:lnTo>
                  <a:lnTo>
                    <a:pt x="97891" y="420839"/>
                  </a:lnTo>
                  <a:lnTo>
                    <a:pt x="107061" y="423037"/>
                  </a:lnTo>
                  <a:lnTo>
                    <a:pt x="211455" y="423037"/>
                  </a:lnTo>
                  <a:lnTo>
                    <a:pt x="220345" y="420839"/>
                  </a:lnTo>
                  <a:lnTo>
                    <a:pt x="227660" y="415036"/>
                  </a:lnTo>
                  <a:lnTo>
                    <a:pt x="229273" y="412369"/>
                  </a:lnTo>
                  <a:lnTo>
                    <a:pt x="232613" y="406857"/>
                  </a:lnTo>
                  <a:lnTo>
                    <a:pt x="234442" y="397510"/>
                  </a:lnTo>
                  <a:lnTo>
                    <a:pt x="232613" y="388531"/>
                  </a:lnTo>
                  <a:lnTo>
                    <a:pt x="230124" y="384810"/>
                  </a:lnTo>
                  <a:lnTo>
                    <a:pt x="228155" y="381889"/>
                  </a:lnTo>
                  <a:lnTo>
                    <a:pt x="237248" y="375539"/>
                  </a:lnTo>
                  <a:lnTo>
                    <a:pt x="241350" y="372668"/>
                  </a:lnTo>
                  <a:lnTo>
                    <a:pt x="250545" y="358686"/>
                  </a:lnTo>
                  <a:lnTo>
                    <a:pt x="253873" y="342138"/>
                  </a:lnTo>
                  <a:lnTo>
                    <a:pt x="253873" y="310896"/>
                  </a:lnTo>
                  <a:lnTo>
                    <a:pt x="255066" y="299669"/>
                  </a:lnTo>
                  <a:lnTo>
                    <a:pt x="258800" y="290233"/>
                  </a:lnTo>
                  <a:lnTo>
                    <a:pt x="265277" y="281216"/>
                  </a:lnTo>
                  <a:lnTo>
                    <a:pt x="274701" y="271272"/>
                  </a:lnTo>
                  <a:lnTo>
                    <a:pt x="294106" y="248386"/>
                  </a:lnTo>
                  <a:lnTo>
                    <a:pt x="308457" y="221399"/>
                  </a:lnTo>
                  <a:lnTo>
                    <a:pt x="317360" y="191693"/>
                  </a:lnTo>
                  <a:lnTo>
                    <a:pt x="320421" y="1606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1802" y="2990469"/>
            <a:ext cx="1474470" cy="2705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5425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Security</a:t>
            </a:r>
            <a:r>
              <a:rPr sz="2200" spc="-1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in </a:t>
            </a:r>
            <a:r>
              <a:rPr sz="22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CI/CD</a:t>
            </a:r>
            <a:endParaRPr sz="22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pipelines</a:t>
            </a:r>
            <a:endParaRPr sz="2200">
              <a:latin typeface="Franklin Gothic Medium"/>
              <a:cs typeface="Franklin Gothic Medium"/>
            </a:endParaRPr>
          </a:p>
          <a:p>
            <a:pPr marL="13335" marR="5080">
              <a:lnSpc>
                <a:spcPct val="100000"/>
              </a:lnSpc>
              <a:spcBef>
                <a:spcPts val="220"/>
              </a:spcBef>
            </a:pPr>
            <a:r>
              <a:rPr sz="1800" spc="-2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Intégration</a:t>
            </a:r>
            <a:r>
              <a:rPr sz="1800" spc="-4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des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activités</a:t>
            </a:r>
            <a:r>
              <a:rPr sz="18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</a:t>
            </a:r>
            <a:r>
              <a:rPr sz="1800" spc="-3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la </a:t>
            </a:r>
            <a:r>
              <a:rPr sz="18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sécurité</a:t>
            </a:r>
            <a:r>
              <a:rPr sz="1800" spc="-8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dans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toutes</a:t>
            </a:r>
            <a:r>
              <a:rPr sz="1800" spc="-8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les </a:t>
            </a:r>
            <a:r>
              <a:rPr sz="18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étapes</a:t>
            </a:r>
            <a:r>
              <a:rPr sz="1800" spc="-114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du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CI/CD.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44748" y="2155190"/>
            <a:ext cx="3756660" cy="3602990"/>
            <a:chOff x="2944748" y="2155190"/>
            <a:chExt cx="3756660" cy="3602990"/>
          </a:xfrm>
        </p:grpSpPr>
        <p:sp>
          <p:nvSpPr>
            <p:cNvPr id="10" name="object 10"/>
            <p:cNvSpPr/>
            <p:nvPr/>
          </p:nvSpPr>
          <p:spPr>
            <a:xfrm>
              <a:off x="2944748" y="2155190"/>
              <a:ext cx="3756660" cy="3602990"/>
            </a:xfrm>
            <a:custGeom>
              <a:avLst/>
              <a:gdLst/>
              <a:ahLst/>
              <a:cxnLst/>
              <a:rect l="l" t="t" r="r" b="b"/>
              <a:pathLst>
                <a:path w="3756659" h="3602990">
                  <a:moveTo>
                    <a:pt x="1878076" y="0"/>
                  </a:moveTo>
                  <a:lnTo>
                    <a:pt x="1828836" y="607"/>
                  </a:lnTo>
                  <a:lnTo>
                    <a:pt x="1779908" y="2418"/>
                  </a:lnTo>
                  <a:lnTo>
                    <a:pt x="1731308" y="5420"/>
                  </a:lnTo>
                  <a:lnTo>
                    <a:pt x="1683051" y="9596"/>
                  </a:lnTo>
                  <a:lnTo>
                    <a:pt x="1635153" y="14932"/>
                  </a:lnTo>
                  <a:lnTo>
                    <a:pt x="1587629" y="21413"/>
                  </a:lnTo>
                  <a:lnTo>
                    <a:pt x="1540495" y="29025"/>
                  </a:lnTo>
                  <a:lnTo>
                    <a:pt x="1493766" y="37752"/>
                  </a:lnTo>
                  <a:lnTo>
                    <a:pt x="1447457" y="47579"/>
                  </a:lnTo>
                  <a:lnTo>
                    <a:pt x="1401585" y="58493"/>
                  </a:lnTo>
                  <a:lnTo>
                    <a:pt x="1356164" y="70477"/>
                  </a:lnTo>
                  <a:lnTo>
                    <a:pt x="1311209" y="83518"/>
                  </a:lnTo>
                  <a:lnTo>
                    <a:pt x="1266737" y="97600"/>
                  </a:lnTo>
                  <a:lnTo>
                    <a:pt x="1222764" y="112708"/>
                  </a:lnTo>
                  <a:lnTo>
                    <a:pt x="1179303" y="128828"/>
                  </a:lnTo>
                  <a:lnTo>
                    <a:pt x="1136371" y="145945"/>
                  </a:lnTo>
                  <a:lnTo>
                    <a:pt x="1093983" y="164043"/>
                  </a:lnTo>
                  <a:lnTo>
                    <a:pt x="1052156" y="183109"/>
                  </a:lnTo>
                  <a:lnTo>
                    <a:pt x="1010903" y="203127"/>
                  </a:lnTo>
                  <a:lnTo>
                    <a:pt x="970241" y="224083"/>
                  </a:lnTo>
                  <a:lnTo>
                    <a:pt x="930185" y="245961"/>
                  </a:lnTo>
                  <a:lnTo>
                    <a:pt x="890751" y="268747"/>
                  </a:lnTo>
                  <a:lnTo>
                    <a:pt x="851954" y="292426"/>
                  </a:lnTo>
                  <a:lnTo>
                    <a:pt x="813809" y="316983"/>
                  </a:lnTo>
                  <a:lnTo>
                    <a:pt x="776332" y="342403"/>
                  </a:lnTo>
                  <a:lnTo>
                    <a:pt x="739539" y="368672"/>
                  </a:lnTo>
                  <a:lnTo>
                    <a:pt x="703445" y="395774"/>
                  </a:lnTo>
                  <a:lnTo>
                    <a:pt x="668065" y="423695"/>
                  </a:lnTo>
                  <a:lnTo>
                    <a:pt x="633415" y="452420"/>
                  </a:lnTo>
                  <a:lnTo>
                    <a:pt x="599510" y="481934"/>
                  </a:lnTo>
                  <a:lnTo>
                    <a:pt x="566366" y="512223"/>
                  </a:lnTo>
                  <a:lnTo>
                    <a:pt x="533998" y="543271"/>
                  </a:lnTo>
                  <a:lnTo>
                    <a:pt x="502422" y="575063"/>
                  </a:lnTo>
                  <a:lnTo>
                    <a:pt x="471653" y="607585"/>
                  </a:lnTo>
                  <a:lnTo>
                    <a:pt x="441707" y="640823"/>
                  </a:lnTo>
                  <a:lnTo>
                    <a:pt x="412599" y="674760"/>
                  </a:lnTo>
                  <a:lnTo>
                    <a:pt x="384345" y="709382"/>
                  </a:lnTo>
                  <a:lnTo>
                    <a:pt x="356959" y="744675"/>
                  </a:lnTo>
                  <a:lnTo>
                    <a:pt x="330458" y="780624"/>
                  </a:lnTo>
                  <a:lnTo>
                    <a:pt x="304857" y="817213"/>
                  </a:lnTo>
                  <a:lnTo>
                    <a:pt x="280172" y="854428"/>
                  </a:lnTo>
                  <a:lnTo>
                    <a:pt x="256417" y="892254"/>
                  </a:lnTo>
                  <a:lnTo>
                    <a:pt x="233609" y="930677"/>
                  </a:lnTo>
                  <a:lnTo>
                    <a:pt x="211763" y="969681"/>
                  </a:lnTo>
                  <a:lnTo>
                    <a:pt x="190893" y="1009251"/>
                  </a:lnTo>
                  <a:lnTo>
                    <a:pt x="171017" y="1049374"/>
                  </a:lnTo>
                  <a:lnTo>
                    <a:pt x="152149" y="1090033"/>
                  </a:lnTo>
                  <a:lnTo>
                    <a:pt x="134305" y="1131214"/>
                  </a:lnTo>
                  <a:lnTo>
                    <a:pt x="117499" y="1172903"/>
                  </a:lnTo>
                  <a:lnTo>
                    <a:pt x="101749" y="1215084"/>
                  </a:lnTo>
                  <a:lnTo>
                    <a:pt x="87068" y="1257742"/>
                  </a:lnTo>
                  <a:lnTo>
                    <a:pt x="73473" y="1300863"/>
                  </a:lnTo>
                  <a:lnTo>
                    <a:pt x="60979" y="1344432"/>
                  </a:lnTo>
                  <a:lnTo>
                    <a:pt x="49602" y="1388435"/>
                  </a:lnTo>
                  <a:lnTo>
                    <a:pt x="39357" y="1432855"/>
                  </a:lnTo>
                  <a:lnTo>
                    <a:pt x="30259" y="1477679"/>
                  </a:lnTo>
                  <a:lnTo>
                    <a:pt x="22323" y="1522891"/>
                  </a:lnTo>
                  <a:lnTo>
                    <a:pt x="15567" y="1568477"/>
                  </a:lnTo>
                  <a:lnTo>
                    <a:pt x="10004" y="1614422"/>
                  </a:lnTo>
                  <a:lnTo>
                    <a:pt x="5650" y="1660711"/>
                  </a:lnTo>
                  <a:lnTo>
                    <a:pt x="2521" y="1707330"/>
                  </a:lnTo>
                  <a:lnTo>
                    <a:pt x="632" y="1754262"/>
                  </a:lnTo>
                  <a:lnTo>
                    <a:pt x="0" y="1801494"/>
                  </a:lnTo>
                  <a:lnTo>
                    <a:pt x="632" y="1848727"/>
                  </a:lnTo>
                  <a:lnTo>
                    <a:pt x="2521" y="1895659"/>
                  </a:lnTo>
                  <a:lnTo>
                    <a:pt x="5650" y="1942277"/>
                  </a:lnTo>
                  <a:lnTo>
                    <a:pt x="10004" y="1988565"/>
                  </a:lnTo>
                  <a:lnTo>
                    <a:pt x="15567" y="2034509"/>
                  </a:lnTo>
                  <a:lnTo>
                    <a:pt x="22323" y="2080095"/>
                  </a:lnTo>
                  <a:lnTo>
                    <a:pt x="30259" y="2125306"/>
                  </a:lnTo>
                  <a:lnTo>
                    <a:pt x="39357" y="2170128"/>
                  </a:lnTo>
                  <a:lnTo>
                    <a:pt x="49602" y="2214547"/>
                  </a:lnTo>
                  <a:lnTo>
                    <a:pt x="60979" y="2258548"/>
                  </a:lnTo>
                  <a:lnTo>
                    <a:pt x="73473" y="2302115"/>
                  </a:lnTo>
                  <a:lnTo>
                    <a:pt x="87068" y="2345235"/>
                  </a:lnTo>
                  <a:lnTo>
                    <a:pt x="101749" y="2387891"/>
                  </a:lnTo>
                  <a:lnTo>
                    <a:pt x="117499" y="2430070"/>
                  </a:lnTo>
                  <a:lnTo>
                    <a:pt x="134305" y="2471757"/>
                  </a:lnTo>
                  <a:lnTo>
                    <a:pt x="152149" y="2512936"/>
                  </a:lnTo>
                  <a:lnTo>
                    <a:pt x="171017" y="2553593"/>
                  </a:lnTo>
                  <a:lnTo>
                    <a:pt x="190893" y="2593712"/>
                  </a:lnTo>
                  <a:lnTo>
                    <a:pt x="211763" y="2633280"/>
                  </a:lnTo>
                  <a:lnTo>
                    <a:pt x="233609" y="2672282"/>
                  </a:lnTo>
                  <a:lnTo>
                    <a:pt x="256417" y="2710702"/>
                  </a:lnTo>
                  <a:lnTo>
                    <a:pt x="280172" y="2748525"/>
                  </a:lnTo>
                  <a:lnTo>
                    <a:pt x="304857" y="2785738"/>
                  </a:lnTo>
                  <a:lnTo>
                    <a:pt x="330458" y="2822324"/>
                  </a:lnTo>
                  <a:lnTo>
                    <a:pt x="356959" y="2858270"/>
                  </a:lnTo>
                  <a:lnTo>
                    <a:pt x="384345" y="2893560"/>
                  </a:lnTo>
                  <a:lnTo>
                    <a:pt x="412599" y="2928179"/>
                  </a:lnTo>
                  <a:lnTo>
                    <a:pt x="441707" y="2962114"/>
                  </a:lnTo>
                  <a:lnTo>
                    <a:pt x="471653" y="2995348"/>
                  </a:lnTo>
                  <a:lnTo>
                    <a:pt x="502422" y="3027867"/>
                  </a:lnTo>
                  <a:lnTo>
                    <a:pt x="533998" y="3059656"/>
                  </a:lnTo>
                  <a:lnTo>
                    <a:pt x="566366" y="3090701"/>
                  </a:lnTo>
                  <a:lnTo>
                    <a:pt x="599510" y="3120987"/>
                  </a:lnTo>
                  <a:lnTo>
                    <a:pt x="633415" y="3150498"/>
                  </a:lnTo>
                  <a:lnTo>
                    <a:pt x="668065" y="3179220"/>
                  </a:lnTo>
                  <a:lnTo>
                    <a:pt x="703445" y="3207138"/>
                  </a:lnTo>
                  <a:lnTo>
                    <a:pt x="739539" y="3234237"/>
                  </a:lnTo>
                  <a:lnTo>
                    <a:pt x="776332" y="3260503"/>
                  </a:lnTo>
                  <a:lnTo>
                    <a:pt x="813809" y="3285921"/>
                  </a:lnTo>
                  <a:lnTo>
                    <a:pt x="851954" y="3310475"/>
                  </a:lnTo>
                  <a:lnTo>
                    <a:pt x="890751" y="3334151"/>
                  </a:lnTo>
                  <a:lnTo>
                    <a:pt x="930185" y="3356934"/>
                  </a:lnTo>
                  <a:lnTo>
                    <a:pt x="970241" y="3378810"/>
                  </a:lnTo>
                  <a:lnTo>
                    <a:pt x="1010903" y="3399763"/>
                  </a:lnTo>
                  <a:lnTo>
                    <a:pt x="1052156" y="3419778"/>
                  </a:lnTo>
                  <a:lnTo>
                    <a:pt x="1093983" y="3438841"/>
                  </a:lnTo>
                  <a:lnTo>
                    <a:pt x="1136371" y="3456938"/>
                  </a:lnTo>
                  <a:lnTo>
                    <a:pt x="1179303" y="3474052"/>
                  </a:lnTo>
                  <a:lnTo>
                    <a:pt x="1222764" y="3490170"/>
                  </a:lnTo>
                  <a:lnTo>
                    <a:pt x="1266737" y="3505276"/>
                  </a:lnTo>
                  <a:lnTo>
                    <a:pt x="1311209" y="3519356"/>
                  </a:lnTo>
                  <a:lnTo>
                    <a:pt x="1356164" y="3532395"/>
                  </a:lnTo>
                  <a:lnTo>
                    <a:pt x="1401585" y="3544378"/>
                  </a:lnTo>
                  <a:lnTo>
                    <a:pt x="1447457" y="3555290"/>
                  </a:lnTo>
                  <a:lnTo>
                    <a:pt x="1493766" y="3565116"/>
                  </a:lnTo>
                  <a:lnTo>
                    <a:pt x="1540495" y="3573842"/>
                  </a:lnTo>
                  <a:lnTo>
                    <a:pt x="1587629" y="3581452"/>
                  </a:lnTo>
                  <a:lnTo>
                    <a:pt x="1635153" y="3587932"/>
                  </a:lnTo>
                  <a:lnTo>
                    <a:pt x="1683051" y="3593268"/>
                  </a:lnTo>
                  <a:lnTo>
                    <a:pt x="1731308" y="3597443"/>
                  </a:lnTo>
                  <a:lnTo>
                    <a:pt x="1779908" y="3600444"/>
                  </a:lnTo>
                  <a:lnTo>
                    <a:pt x="1828836" y="3602255"/>
                  </a:lnTo>
                  <a:lnTo>
                    <a:pt x="1878076" y="3602863"/>
                  </a:lnTo>
                  <a:lnTo>
                    <a:pt x="1927315" y="3602255"/>
                  </a:lnTo>
                  <a:lnTo>
                    <a:pt x="1976243" y="3600444"/>
                  </a:lnTo>
                  <a:lnTo>
                    <a:pt x="2024843" y="3597443"/>
                  </a:lnTo>
                  <a:lnTo>
                    <a:pt x="2073100" y="3593268"/>
                  </a:lnTo>
                  <a:lnTo>
                    <a:pt x="2120998" y="3587932"/>
                  </a:lnTo>
                  <a:lnTo>
                    <a:pt x="2168522" y="3581452"/>
                  </a:lnTo>
                  <a:lnTo>
                    <a:pt x="2215656" y="3573842"/>
                  </a:lnTo>
                  <a:lnTo>
                    <a:pt x="2262385" y="3565116"/>
                  </a:lnTo>
                  <a:lnTo>
                    <a:pt x="2308694" y="3555290"/>
                  </a:lnTo>
                  <a:lnTo>
                    <a:pt x="2354566" y="3544378"/>
                  </a:lnTo>
                  <a:lnTo>
                    <a:pt x="2399987" y="3532395"/>
                  </a:lnTo>
                  <a:lnTo>
                    <a:pt x="2444942" y="3519356"/>
                  </a:lnTo>
                  <a:lnTo>
                    <a:pt x="2489414" y="3505276"/>
                  </a:lnTo>
                  <a:lnTo>
                    <a:pt x="2533387" y="3490170"/>
                  </a:lnTo>
                  <a:lnTo>
                    <a:pt x="2576848" y="3474052"/>
                  </a:lnTo>
                  <a:lnTo>
                    <a:pt x="2619780" y="3456938"/>
                  </a:lnTo>
                  <a:lnTo>
                    <a:pt x="2662168" y="3438841"/>
                  </a:lnTo>
                  <a:lnTo>
                    <a:pt x="2703995" y="3419778"/>
                  </a:lnTo>
                  <a:lnTo>
                    <a:pt x="2745248" y="3399763"/>
                  </a:lnTo>
                  <a:lnTo>
                    <a:pt x="2785910" y="3378810"/>
                  </a:lnTo>
                  <a:lnTo>
                    <a:pt x="2825966" y="3356934"/>
                  </a:lnTo>
                  <a:lnTo>
                    <a:pt x="2865400" y="3334151"/>
                  </a:lnTo>
                  <a:lnTo>
                    <a:pt x="2904197" y="3310475"/>
                  </a:lnTo>
                  <a:lnTo>
                    <a:pt x="2942342" y="3285921"/>
                  </a:lnTo>
                  <a:lnTo>
                    <a:pt x="2979819" y="3260503"/>
                  </a:lnTo>
                  <a:lnTo>
                    <a:pt x="3016612" y="3234237"/>
                  </a:lnTo>
                  <a:lnTo>
                    <a:pt x="3052706" y="3207138"/>
                  </a:lnTo>
                  <a:lnTo>
                    <a:pt x="3088086" y="3179220"/>
                  </a:lnTo>
                  <a:lnTo>
                    <a:pt x="3122736" y="3150498"/>
                  </a:lnTo>
                  <a:lnTo>
                    <a:pt x="3156641" y="3120987"/>
                  </a:lnTo>
                  <a:lnTo>
                    <a:pt x="3189785" y="3090701"/>
                  </a:lnTo>
                  <a:lnTo>
                    <a:pt x="3222153" y="3059656"/>
                  </a:lnTo>
                  <a:lnTo>
                    <a:pt x="3253729" y="3027867"/>
                  </a:lnTo>
                  <a:lnTo>
                    <a:pt x="3284498" y="2995348"/>
                  </a:lnTo>
                  <a:lnTo>
                    <a:pt x="3314444" y="2962114"/>
                  </a:lnTo>
                  <a:lnTo>
                    <a:pt x="3343552" y="2928179"/>
                  </a:lnTo>
                  <a:lnTo>
                    <a:pt x="3371806" y="2893560"/>
                  </a:lnTo>
                  <a:lnTo>
                    <a:pt x="3399192" y="2858270"/>
                  </a:lnTo>
                  <a:lnTo>
                    <a:pt x="3425693" y="2822324"/>
                  </a:lnTo>
                  <a:lnTo>
                    <a:pt x="3451294" y="2785738"/>
                  </a:lnTo>
                  <a:lnTo>
                    <a:pt x="3475979" y="2748525"/>
                  </a:lnTo>
                  <a:lnTo>
                    <a:pt x="3499734" y="2710702"/>
                  </a:lnTo>
                  <a:lnTo>
                    <a:pt x="3522542" y="2672282"/>
                  </a:lnTo>
                  <a:lnTo>
                    <a:pt x="3544388" y="2633280"/>
                  </a:lnTo>
                  <a:lnTo>
                    <a:pt x="3565258" y="2593712"/>
                  </a:lnTo>
                  <a:lnTo>
                    <a:pt x="3585134" y="2553593"/>
                  </a:lnTo>
                  <a:lnTo>
                    <a:pt x="3604002" y="2512936"/>
                  </a:lnTo>
                  <a:lnTo>
                    <a:pt x="3621846" y="2471757"/>
                  </a:lnTo>
                  <a:lnTo>
                    <a:pt x="3638652" y="2430070"/>
                  </a:lnTo>
                  <a:lnTo>
                    <a:pt x="3654402" y="2387891"/>
                  </a:lnTo>
                  <a:lnTo>
                    <a:pt x="3669083" y="2345235"/>
                  </a:lnTo>
                  <a:lnTo>
                    <a:pt x="3682678" y="2302115"/>
                  </a:lnTo>
                  <a:lnTo>
                    <a:pt x="3695172" y="2258548"/>
                  </a:lnTo>
                  <a:lnTo>
                    <a:pt x="3706549" y="2214547"/>
                  </a:lnTo>
                  <a:lnTo>
                    <a:pt x="3716794" y="2170128"/>
                  </a:lnTo>
                  <a:lnTo>
                    <a:pt x="3725892" y="2125306"/>
                  </a:lnTo>
                  <a:lnTo>
                    <a:pt x="3733828" y="2080095"/>
                  </a:lnTo>
                  <a:lnTo>
                    <a:pt x="3740584" y="2034509"/>
                  </a:lnTo>
                  <a:lnTo>
                    <a:pt x="3746147" y="1988565"/>
                  </a:lnTo>
                  <a:lnTo>
                    <a:pt x="3750501" y="1942277"/>
                  </a:lnTo>
                  <a:lnTo>
                    <a:pt x="3753630" y="1895659"/>
                  </a:lnTo>
                  <a:lnTo>
                    <a:pt x="3755519" y="1848727"/>
                  </a:lnTo>
                  <a:lnTo>
                    <a:pt x="3756152" y="1801494"/>
                  </a:lnTo>
                  <a:lnTo>
                    <a:pt x="3755519" y="1754262"/>
                  </a:lnTo>
                  <a:lnTo>
                    <a:pt x="3753630" y="1707330"/>
                  </a:lnTo>
                  <a:lnTo>
                    <a:pt x="3750501" y="1660711"/>
                  </a:lnTo>
                  <a:lnTo>
                    <a:pt x="3746147" y="1614422"/>
                  </a:lnTo>
                  <a:lnTo>
                    <a:pt x="3740584" y="1568477"/>
                  </a:lnTo>
                  <a:lnTo>
                    <a:pt x="3733828" y="1522891"/>
                  </a:lnTo>
                  <a:lnTo>
                    <a:pt x="3725892" y="1477679"/>
                  </a:lnTo>
                  <a:lnTo>
                    <a:pt x="3716794" y="1432855"/>
                  </a:lnTo>
                  <a:lnTo>
                    <a:pt x="3706549" y="1388435"/>
                  </a:lnTo>
                  <a:lnTo>
                    <a:pt x="3695172" y="1344432"/>
                  </a:lnTo>
                  <a:lnTo>
                    <a:pt x="3682678" y="1300863"/>
                  </a:lnTo>
                  <a:lnTo>
                    <a:pt x="3669083" y="1257742"/>
                  </a:lnTo>
                  <a:lnTo>
                    <a:pt x="3654402" y="1215084"/>
                  </a:lnTo>
                  <a:lnTo>
                    <a:pt x="3638652" y="1172903"/>
                  </a:lnTo>
                  <a:lnTo>
                    <a:pt x="3621846" y="1131214"/>
                  </a:lnTo>
                  <a:lnTo>
                    <a:pt x="3604002" y="1090033"/>
                  </a:lnTo>
                  <a:lnTo>
                    <a:pt x="3585134" y="1049374"/>
                  </a:lnTo>
                  <a:lnTo>
                    <a:pt x="3565258" y="1009251"/>
                  </a:lnTo>
                  <a:lnTo>
                    <a:pt x="3544388" y="969681"/>
                  </a:lnTo>
                  <a:lnTo>
                    <a:pt x="3522542" y="930677"/>
                  </a:lnTo>
                  <a:lnTo>
                    <a:pt x="3499734" y="892254"/>
                  </a:lnTo>
                  <a:lnTo>
                    <a:pt x="3475979" y="854428"/>
                  </a:lnTo>
                  <a:lnTo>
                    <a:pt x="3451294" y="817213"/>
                  </a:lnTo>
                  <a:lnTo>
                    <a:pt x="3425693" y="780624"/>
                  </a:lnTo>
                  <a:lnTo>
                    <a:pt x="3399192" y="744675"/>
                  </a:lnTo>
                  <a:lnTo>
                    <a:pt x="3371806" y="709382"/>
                  </a:lnTo>
                  <a:lnTo>
                    <a:pt x="3343552" y="674760"/>
                  </a:lnTo>
                  <a:lnTo>
                    <a:pt x="3314444" y="640823"/>
                  </a:lnTo>
                  <a:lnTo>
                    <a:pt x="3284498" y="607585"/>
                  </a:lnTo>
                  <a:lnTo>
                    <a:pt x="3253729" y="575063"/>
                  </a:lnTo>
                  <a:lnTo>
                    <a:pt x="3222153" y="543271"/>
                  </a:lnTo>
                  <a:lnTo>
                    <a:pt x="3189785" y="512223"/>
                  </a:lnTo>
                  <a:lnTo>
                    <a:pt x="3156641" y="481934"/>
                  </a:lnTo>
                  <a:lnTo>
                    <a:pt x="3122736" y="452420"/>
                  </a:lnTo>
                  <a:lnTo>
                    <a:pt x="3088086" y="423695"/>
                  </a:lnTo>
                  <a:lnTo>
                    <a:pt x="3052706" y="395774"/>
                  </a:lnTo>
                  <a:lnTo>
                    <a:pt x="3016612" y="368672"/>
                  </a:lnTo>
                  <a:lnTo>
                    <a:pt x="2979819" y="342403"/>
                  </a:lnTo>
                  <a:lnTo>
                    <a:pt x="2942342" y="316983"/>
                  </a:lnTo>
                  <a:lnTo>
                    <a:pt x="2904197" y="292426"/>
                  </a:lnTo>
                  <a:lnTo>
                    <a:pt x="2865400" y="268747"/>
                  </a:lnTo>
                  <a:lnTo>
                    <a:pt x="2825966" y="245961"/>
                  </a:lnTo>
                  <a:lnTo>
                    <a:pt x="2785910" y="224083"/>
                  </a:lnTo>
                  <a:lnTo>
                    <a:pt x="2745248" y="203127"/>
                  </a:lnTo>
                  <a:lnTo>
                    <a:pt x="2703995" y="183109"/>
                  </a:lnTo>
                  <a:lnTo>
                    <a:pt x="2662168" y="164043"/>
                  </a:lnTo>
                  <a:lnTo>
                    <a:pt x="2619780" y="145945"/>
                  </a:lnTo>
                  <a:lnTo>
                    <a:pt x="2576848" y="128828"/>
                  </a:lnTo>
                  <a:lnTo>
                    <a:pt x="2533387" y="112708"/>
                  </a:lnTo>
                  <a:lnTo>
                    <a:pt x="2489414" y="97600"/>
                  </a:lnTo>
                  <a:lnTo>
                    <a:pt x="2444942" y="83518"/>
                  </a:lnTo>
                  <a:lnTo>
                    <a:pt x="2399987" y="70477"/>
                  </a:lnTo>
                  <a:lnTo>
                    <a:pt x="2354566" y="58493"/>
                  </a:lnTo>
                  <a:lnTo>
                    <a:pt x="2308694" y="47579"/>
                  </a:lnTo>
                  <a:lnTo>
                    <a:pt x="2262385" y="37752"/>
                  </a:lnTo>
                  <a:lnTo>
                    <a:pt x="2215656" y="29025"/>
                  </a:lnTo>
                  <a:lnTo>
                    <a:pt x="2168522" y="21413"/>
                  </a:lnTo>
                  <a:lnTo>
                    <a:pt x="2120998" y="14932"/>
                  </a:lnTo>
                  <a:lnTo>
                    <a:pt x="2073100" y="9596"/>
                  </a:lnTo>
                  <a:lnTo>
                    <a:pt x="2024843" y="5420"/>
                  </a:lnTo>
                  <a:lnTo>
                    <a:pt x="1976243" y="2418"/>
                  </a:lnTo>
                  <a:lnTo>
                    <a:pt x="1927315" y="607"/>
                  </a:lnTo>
                  <a:lnTo>
                    <a:pt x="1878076" y="0"/>
                  </a:lnTo>
                  <a:close/>
                </a:path>
              </a:pathLst>
            </a:custGeom>
            <a:solidFill>
              <a:srgbClr val="7E7E7E">
                <a:alpha val="1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9464" y="2530983"/>
              <a:ext cx="2939669" cy="2870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01514" y="2299462"/>
              <a:ext cx="643255" cy="937894"/>
            </a:xfrm>
            <a:custGeom>
              <a:avLst/>
              <a:gdLst/>
              <a:ahLst/>
              <a:cxnLst/>
              <a:rect l="l" t="t" r="r" b="b"/>
              <a:pathLst>
                <a:path w="643254" h="937894">
                  <a:moveTo>
                    <a:pt x="0" y="0"/>
                  </a:moveTo>
                  <a:lnTo>
                    <a:pt x="0" y="937387"/>
                  </a:lnTo>
                  <a:lnTo>
                    <a:pt x="642747" y="468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C8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17872" y="4758690"/>
              <a:ext cx="643255" cy="937894"/>
            </a:xfrm>
            <a:custGeom>
              <a:avLst/>
              <a:gdLst/>
              <a:ahLst/>
              <a:cxnLst/>
              <a:rect l="l" t="t" r="r" b="b"/>
              <a:pathLst>
                <a:path w="643254" h="937895">
                  <a:moveTo>
                    <a:pt x="642747" y="0"/>
                  </a:moveTo>
                  <a:lnTo>
                    <a:pt x="0" y="468756"/>
                  </a:lnTo>
                  <a:lnTo>
                    <a:pt x="642747" y="937513"/>
                  </a:lnTo>
                  <a:lnTo>
                    <a:pt x="642747" y="0"/>
                  </a:lnTo>
                  <a:close/>
                </a:path>
              </a:pathLst>
            </a:custGeom>
            <a:solidFill>
              <a:srgbClr val="CA1B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90849" y="2756725"/>
              <a:ext cx="732790" cy="739775"/>
            </a:xfrm>
            <a:custGeom>
              <a:avLst/>
              <a:gdLst/>
              <a:ahLst/>
              <a:cxnLst/>
              <a:rect l="l" t="t" r="r" b="b"/>
              <a:pathLst>
                <a:path w="732789" h="739775">
                  <a:moveTo>
                    <a:pt x="138938" y="668083"/>
                  </a:moveTo>
                  <a:lnTo>
                    <a:pt x="35941" y="622490"/>
                  </a:lnTo>
                  <a:lnTo>
                    <a:pt x="28829" y="638492"/>
                  </a:lnTo>
                  <a:lnTo>
                    <a:pt x="85344" y="663511"/>
                  </a:lnTo>
                  <a:lnTo>
                    <a:pt x="92722" y="667397"/>
                  </a:lnTo>
                  <a:lnTo>
                    <a:pt x="110744" y="695794"/>
                  </a:lnTo>
                  <a:lnTo>
                    <a:pt x="110172" y="701967"/>
                  </a:lnTo>
                  <a:lnTo>
                    <a:pt x="108204" y="708088"/>
                  </a:lnTo>
                  <a:lnTo>
                    <a:pt x="105537" y="714057"/>
                  </a:lnTo>
                  <a:lnTo>
                    <a:pt x="101473" y="718248"/>
                  </a:lnTo>
                  <a:lnTo>
                    <a:pt x="90043" y="723074"/>
                  </a:lnTo>
                  <a:lnTo>
                    <a:pt x="82423" y="722185"/>
                  </a:lnTo>
                  <a:lnTo>
                    <a:pt x="6604" y="688657"/>
                  </a:lnTo>
                  <a:lnTo>
                    <a:pt x="0" y="703770"/>
                  </a:lnTo>
                  <a:lnTo>
                    <a:pt x="59563" y="730059"/>
                  </a:lnTo>
                  <a:lnTo>
                    <a:pt x="93726" y="739203"/>
                  </a:lnTo>
                  <a:lnTo>
                    <a:pt x="99822" y="737425"/>
                  </a:lnTo>
                  <a:lnTo>
                    <a:pt x="112522" y="730186"/>
                  </a:lnTo>
                  <a:lnTo>
                    <a:pt x="117475" y="724471"/>
                  </a:lnTo>
                  <a:lnTo>
                    <a:pt x="120904" y="716851"/>
                  </a:lnTo>
                  <a:lnTo>
                    <a:pt x="123723" y="706716"/>
                  </a:lnTo>
                  <a:lnTo>
                    <a:pt x="123444" y="696277"/>
                  </a:lnTo>
                  <a:lnTo>
                    <a:pt x="120002" y="685571"/>
                  </a:lnTo>
                  <a:lnTo>
                    <a:pt x="113411" y="674560"/>
                  </a:lnTo>
                  <a:lnTo>
                    <a:pt x="132461" y="682942"/>
                  </a:lnTo>
                  <a:lnTo>
                    <a:pt x="138938" y="668083"/>
                  </a:lnTo>
                  <a:close/>
                </a:path>
                <a:path w="732789" h="739775">
                  <a:moveTo>
                    <a:pt x="161036" y="626427"/>
                  </a:moveTo>
                  <a:lnTo>
                    <a:pt x="61341" y="573849"/>
                  </a:lnTo>
                  <a:lnTo>
                    <a:pt x="53086" y="589343"/>
                  </a:lnTo>
                  <a:lnTo>
                    <a:pt x="152781" y="641921"/>
                  </a:lnTo>
                  <a:lnTo>
                    <a:pt x="161036" y="626427"/>
                  </a:lnTo>
                  <a:close/>
                </a:path>
                <a:path w="732789" h="739775">
                  <a:moveTo>
                    <a:pt x="196469" y="644207"/>
                  </a:moveTo>
                  <a:lnTo>
                    <a:pt x="179197" y="635063"/>
                  </a:lnTo>
                  <a:lnTo>
                    <a:pt x="170307" y="651827"/>
                  </a:lnTo>
                  <a:lnTo>
                    <a:pt x="187579" y="660971"/>
                  </a:lnTo>
                  <a:lnTo>
                    <a:pt x="196469" y="644207"/>
                  </a:lnTo>
                  <a:close/>
                </a:path>
                <a:path w="732789" h="739775">
                  <a:moveTo>
                    <a:pt x="246634" y="487489"/>
                  </a:moveTo>
                  <a:lnTo>
                    <a:pt x="133096" y="458787"/>
                  </a:lnTo>
                  <a:lnTo>
                    <a:pt x="119253" y="431609"/>
                  </a:lnTo>
                  <a:lnTo>
                    <a:pt x="120523" y="426783"/>
                  </a:lnTo>
                  <a:lnTo>
                    <a:pt x="125476" y="419417"/>
                  </a:lnTo>
                  <a:lnTo>
                    <a:pt x="128016" y="416496"/>
                  </a:lnTo>
                  <a:lnTo>
                    <a:pt x="131445" y="413194"/>
                  </a:lnTo>
                  <a:lnTo>
                    <a:pt x="120015" y="405701"/>
                  </a:lnTo>
                  <a:lnTo>
                    <a:pt x="105041" y="436181"/>
                  </a:lnTo>
                  <a:lnTo>
                    <a:pt x="108165" y="446849"/>
                  </a:lnTo>
                  <a:lnTo>
                    <a:pt x="114935" y="458152"/>
                  </a:lnTo>
                  <a:lnTo>
                    <a:pt x="194691" y="565594"/>
                  </a:lnTo>
                  <a:lnTo>
                    <a:pt x="202946" y="553275"/>
                  </a:lnTo>
                  <a:lnTo>
                    <a:pt x="149479" y="480631"/>
                  </a:lnTo>
                  <a:lnTo>
                    <a:pt x="236728" y="502348"/>
                  </a:lnTo>
                  <a:lnTo>
                    <a:pt x="246634" y="487489"/>
                  </a:lnTo>
                  <a:close/>
                </a:path>
                <a:path w="732789" h="739775">
                  <a:moveTo>
                    <a:pt x="297561" y="468058"/>
                  </a:moveTo>
                  <a:lnTo>
                    <a:pt x="275463" y="450278"/>
                  </a:lnTo>
                  <a:lnTo>
                    <a:pt x="287655" y="434403"/>
                  </a:lnTo>
                  <a:lnTo>
                    <a:pt x="276733" y="426021"/>
                  </a:lnTo>
                  <a:lnTo>
                    <a:pt x="264541" y="441896"/>
                  </a:lnTo>
                  <a:lnTo>
                    <a:pt x="210566" y="400748"/>
                  </a:lnTo>
                  <a:lnTo>
                    <a:pt x="197408" y="393369"/>
                  </a:lnTo>
                  <a:lnTo>
                    <a:pt x="160782" y="409765"/>
                  </a:lnTo>
                  <a:lnTo>
                    <a:pt x="154813" y="419671"/>
                  </a:lnTo>
                  <a:lnTo>
                    <a:pt x="165735" y="428053"/>
                  </a:lnTo>
                  <a:lnTo>
                    <a:pt x="168148" y="423481"/>
                  </a:lnTo>
                  <a:lnTo>
                    <a:pt x="170561" y="419671"/>
                  </a:lnTo>
                  <a:lnTo>
                    <a:pt x="173101" y="416369"/>
                  </a:lnTo>
                  <a:lnTo>
                    <a:pt x="178714" y="410781"/>
                  </a:lnTo>
                  <a:lnTo>
                    <a:pt x="184721" y="408279"/>
                  </a:lnTo>
                  <a:lnTo>
                    <a:pt x="191096" y="408876"/>
                  </a:lnTo>
                  <a:lnTo>
                    <a:pt x="197866" y="412559"/>
                  </a:lnTo>
                  <a:lnTo>
                    <a:pt x="254254" y="455485"/>
                  </a:lnTo>
                  <a:lnTo>
                    <a:pt x="239014" y="475551"/>
                  </a:lnTo>
                  <a:lnTo>
                    <a:pt x="249936" y="483933"/>
                  </a:lnTo>
                  <a:lnTo>
                    <a:pt x="265176" y="463867"/>
                  </a:lnTo>
                  <a:lnTo>
                    <a:pt x="288925" y="482028"/>
                  </a:lnTo>
                  <a:lnTo>
                    <a:pt x="297561" y="468058"/>
                  </a:lnTo>
                  <a:close/>
                </a:path>
                <a:path w="732789" h="739775">
                  <a:moveTo>
                    <a:pt x="307721" y="410781"/>
                  </a:moveTo>
                  <a:lnTo>
                    <a:pt x="221234" y="338391"/>
                  </a:lnTo>
                  <a:lnTo>
                    <a:pt x="210058" y="351726"/>
                  </a:lnTo>
                  <a:lnTo>
                    <a:pt x="296418" y="424243"/>
                  </a:lnTo>
                  <a:lnTo>
                    <a:pt x="307721" y="410781"/>
                  </a:lnTo>
                  <a:close/>
                </a:path>
                <a:path w="732789" h="739775">
                  <a:moveTo>
                    <a:pt x="338582" y="435546"/>
                  </a:moveTo>
                  <a:lnTo>
                    <a:pt x="323596" y="423100"/>
                  </a:lnTo>
                  <a:lnTo>
                    <a:pt x="311531" y="437578"/>
                  </a:lnTo>
                  <a:lnTo>
                    <a:pt x="326517" y="450024"/>
                  </a:lnTo>
                  <a:lnTo>
                    <a:pt x="338582" y="435546"/>
                  </a:lnTo>
                  <a:close/>
                </a:path>
                <a:path w="732789" h="739775">
                  <a:moveTo>
                    <a:pt x="355346" y="357568"/>
                  </a:moveTo>
                  <a:lnTo>
                    <a:pt x="272415" y="281114"/>
                  </a:lnTo>
                  <a:lnTo>
                    <a:pt x="260604" y="293941"/>
                  </a:lnTo>
                  <a:lnTo>
                    <a:pt x="304419" y="334454"/>
                  </a:lnTo>
                  <a:lnTo>
                    <a:pt x="309930" y="340779"/>
                  </a:lnTo>
                  <a:lnTo>
                    <a:pt x="314096" y="347332"/>
                  </a:lnTo>
                  <a:lnTo>
                    <a:pt x="316877" y="354164"/>
                  </a:lnTo>
                  <a:lnTo>
                    <a:pt x="318262" y="361251"/>
                  </a:lnTo>
                  <a:lnTo>
                    <a:pt x="318300" y="368236"/>
                  </a:lnTo>
                  <a:lnTo>
                    <a:pt x="316928" y="374713"/>
                  </a:lnTo>
                  <a:lnTo>
                    <a:pt x="314109" y="380720"/>
                  </a:lnTo>
                  <a:lnTo>
                    <a:pt x="309880" y="386270"/>
                  </a:lnTo>
                  <a:lnTo>
                    <a:pt x="307467" y="388937"/>
                  </a:lnTo>
                  <a:lnTo>
                    <a:pt x="319786" y="400240"/>
                  </a:lnTo>
                  <a:lnTo>
                    <a:pt x="332257" y="373989"/>
                  </a:lnTo>
                  <a:lnTo>
                    <a:pt x="331228" y="367436"/>
                  </a:lnTo>
                  <a:lnTo>
                    <a:pt x="328968" y="359752"/>
                  </a:lnTo>
                  <a:lnTo>
                    <a:pt x="325501" y="350964"/>
                  </a:lnTo>
                  <a:lnTo>
                    <a:pt x="344805" y="368871"/>
                  </a:lnTo>
                  <a:lnTo>
                    <a:pt x="355346" y="357568"/>
                  </a:lnTo>
                  <a:close/>
                </a:path>
                <a:path w="732789" h="739775">
                  <a:moveTo>
                    <a:pt x="440309" y="275272"/>
                  </a:moveTo>
                  <a:lnTo>
                    <a:pt x="391160" y="222567"/>
                  </a:lnTo>
                  <a:lnTo>
                    <a:pt x="361823" y="205676"/>
                  </a:lnTo>
                  <a:lnTo>
                    <a:pt x="354457" y="205676"/>
                  </a:lnTo>
                  <a:lnTo>
                    <a:pt x="323100" y="234594"/>
                  </a:lnTo>
                  <a:lnTo>
                    <a:pt x="322326" y="245859"/>
                  </a:lnTo>
                  <a:lnTo>
                    <a:pt x="324739" y="258381"/>
                  </a:lnTo>
                  <a:lnTo>
                    <a:pt x="310134" y="242633"/>
                  </a:lnTo>
                  <a:lnTo>
                    <a:pt x="298450" y="253428"/>
                  </a:lnTo>
                  <a:lnTo>
                    <a:pt x="375412" y="335851"/>
                  </a:lnTo>
                  <a:lnTo>
                    <a:pt x="388239" y="323913"/>
                  </a:lnTo>
                  <a:lnTo>
                    <a:pt x="340106" y="272351"/>
                  </a:lnTo>
                  <a:lnTo>
                    <a:pt x="336804" y="266509"/>
                  </a:lnTo>
                  <a:lnTo>
                    <a:pt x="333248" y="253682"/>
                  </a:lnTo>
                  <a:lnTo>
                    <a:pt x="332867" y="247840"/>
                  </a:lnTo>
                  <a:lnTo>
                    <a:pt x="335280" y="236918"/>
                  </a:lnTo>
                  <a:lnTo>
                    <a:pt x="337820" y="232219"/>
                  </a:lnTo>
                  <a:lnTo>
                    <a:pt x="346075" y="224599"/>
                  </a:lnTo>
                  <a:lnTo>
                    <a:pt x="351282" y="222567"/>
                  </a:lnTo>
                  <a:lnTo>
                    <a:pt x="363855" y="222440"/>
                  </a:lnTo>
                  <a:lnTo>
                    <a:pt x="370713" y="226377"/>
                  </a:lnTo>
                  <a:lnTo>
                    <a:pt x="427482" y="287210"/>
                  </a:lnTo>
                  <a:lnTo>
                    <a:pt x="440309" y="275272"/>
                  </a:lnTo>
                  <a:close/>
                </a:path>
                <a:path w="732789" h="739775">
                  <a:moveTo>
                    <a:pt x="507238" y="203771"/>
                  </a:moveTo>
                  <a:lnTo>
                    <a:pt x="490982" y="162115"/>
                  </a:lnTo>
                  <a:lnTo>
                    <a:pt x="455422" y="136715"/>
                  </a:lnTo>
                  <a:lnTo>
                    <a:pt x="445363" y="134962"/>
                  </a:lnTo>
                  <a:lnTo>
                    <a:pt x="435584" y="135763"/>
                  </a:lnTo>
                  <a:lnTo>
                    <a:pt x="402729" y="163728"/>
                  </a:lnTo>
                  <a:lnTo>
                    <a:pt x="400202" y="178930"/>
                  </a:lnTo>
                  <a:lnTo>
                    <a:pt x="401078" y="186867"/>
                  </a:lnTo>
                  <a:lnTo>
                    <a:pt x="403390" y="194983"/>
                  </a:lnTo>
                  <a:lnTo>
                    <a:pt x="407162" y="203263"/>
                  </a:lnTo>
                  <a:lnTo>
                    <a:pt x="421386" y="195770"/>
                  </a:lnTo>
                  <a:lnTo>
                    <a:pt x="416801" y="183680"/>
                  </a:lnTo>
                  <a:lnTo>
                    <a:pt x="416001" y="173126"/>
                  </a:lnTo>
                  <a:lnTo>
                    <a:pt x="443585" y="151130"/>
                  </a:lnTo>
                  <a:lnTo>
                    <a:pt x="450215" y="152590"/>
                  </a:lnTo>
                  <a:lnTo>
                    <a:pt x="482434" y="181965"/>
                  </a:lnTo>
                  <a:lnTo>
                    <a:pt x="490601" y="204279"/>
                  </a:lnTo>
                  <a:lnTo>
                    <a:pt x="490550" y="211175"/>
                  </a:lnTo>
                  <a:lnTo>
                    <a:pt x="462280" y="233286"/>
                  </a:lnTo>
                  <a:lnTo>
                    <a:pt x="452501" y="229920"/>
                  </a:lnTo>
                  <a:lnTo>
                    <a:pt x="442341" y="222440"/>
                  </a:lnTo>
                  <a:lnTo>
                    <a:pt x="431673" y="234505"/>
                  </a:lnTo>
                  <a:lnTo>
                    <a:pt x="467779" y="248475"/>
                  </a:lnTo>
                  <a:lnTo>
                    <a:pt x="475335" y="246926"/>
                  </a:lnTo>
                  <a:lnTo>
                    <a:pt x="506298" y="213969"/>
                  </a:lnTo>
                  <a:lnTo>
                    <a:pt x="507238" y="203771"/>
                  </a:lnTo>
                  <a:close/>
                </a:path>
                <a:path w="732789" h="739775">
                  <a:moveTo>
                    <a:pt x="600621" y="129603"/>
                  </a:moveTo>
                  <a:lnTo>
                    <a:pt x="598868" y="118465"/>
                  </a:lnTo>
                  <a:lnTo>
                    <a:pt x="598487" y="117411"/>
                  </a:lnTo>
                  <a:lnTo>
                    <a:pt x="594893" y="107518"/>
                  </a:lnTo>
                  <a:lnTo>
                    <a:pt x="594817" y="107302"/>
                  </a:lnTo>
                  <a:lnTo>
                    <a:pt x="588518" y="96075"/>
                  </a:lnTo>
                  <a:lnTo>
                    <a:pt x="584212" y="90487"/>
                  </a:lnTo>
                  <a:lnTo>
                    <a:pt x="584212" y="137629"/>
                  </a:lnTo>
                  <a:lnTo>
                    <a:pt x="583692" y="144081"/>
                  </a:lnTo>
                  <a:lnTo>
                    <a:pt x="582041" y="152590"/>
                  </a:lnTo>
                  <a:lnTo>
                    <a:pt x="577596" y="159321"/>
                  </a:lnTo>
                  <a:lnTo>
                    <a:pt x="570230" y="164147"/>
                  </a:lnTo>
                  <a:lnTo>
                    <a:pt x="564896" y="167703"/>
                  </a:lnTo>
                  <a:lnTo>
                    <a:pt x="559308" y="169227"/>
                  </a:lnTo>
                  <a:lnTo>
                    <a:pt x="553593" y="168973"/>
                  </a:lnTo>
                  <a:lnTo>
                    <a:pt x="547751" y="168592"/>
                  </a:lnTo>
                  <a:lnTo>
                    <a:pt x="526542" y="151447"/>
                  </a:lnTo>
                  <a:lnTo>
                    <a:pt x="578231" y="117411"/>
                  </a:lnTo>
                  <a:lnTo>
                    <a:pt x="581494" y="124294"/>
                  </a:lnTo>
                  <a:lnTo>
                    <a:pt x="583476" y="131038"/>
                  </a:lnTo>
                  <a:lnTo>
                    <a:pt x="584212" y="137629"/>
                  </a:lnTo>
                  <a:lnTo>
                    <a:pt x="584212" y="90487"/>
                  </a:lnTo>
                  <a:lnTo>
                    <a:pt x="542848" y="66687"/>
                  </a:lnTo>
                  <a:lnTo>
                    <a:pt x="532714" y="67271"/>
                  </a:lnTo>
                  <a:lnTo>
                    <a:pt x="496163" y="92849"/>
                  </a:lnTo>
                  <a:lnTo>
                    <a:pt x="490651" y="107302"/>
                  </a:lnTo>
                  <a:lnTo>
                    <a:pt x="490588" y="107518"/>
                  </a:lnTo>
                  <a:lnTo>
                    <a:pt x="489623" y="114960"/>
                  </a:lnTo>
                  <a:lnTo>
                    <a:pt x="489877" y="122326"/>
                  </a:lnTo>
                  <a:lnTo>
                    <a:pt x="491363" y="129603"/>
                  </a:lnTo>
                  <a:lnTo>
                    <a:pt x="506857" y="123380"/>
                  </a:lnTo>
                  <a:lnTo>
                    <a:pt x="505828" y="112407"/>
                  </a:lnTo>
                  <a:lnTo>
                    <a:pt x="507669" y="102895"/>
                  </a:lnTo>
                  <a:lnTo>
                    <a:pt x="512381" y="94830"/>
                  </a:lnTo>
                  <a:lnTo>
                    <a:pt x="519938" y="88201"/>
                  </a:lnTo>
                  <a:lnTo>
                    <a:pt x="526669" y="83756"/>
                  </a:lnTo>
                  <a:lnTo>
                    <a:pt x="534543" y="82105"/>
                  </a:lnTo>
                  <a:lnTo>
                    <a:pt x="543814" y="83121"/>
                  </a:lnTo>
                  <a:lnTo>
                    <a:pt x="550760" y="85153"/>
                  </a:lnTo>
                  <a:lnTo>
                    <a:pt x="557733" y="89662"/>
                  </a:lnTo>
                  <a:lnTo>
                    <a:pt x="564718" y="96659"/>
                  </a:lnTo>
                  <a:lnTo>
                    <a:pt x="571754" y="106108"/>
                  </a:lnTo>
                  <a:lnTo>
                    <a:pt x="503301" y="151193"/>
                  </a:lnTo>
                  <a:lnTo>
                    <a:pt x="512013" y="162560"/>
                  </a:lnTo>
                  <a:lnTo>
                    <a:pt x="521030" y="171450"/>
                  </a:lnTo>
                  <a:lnTo>
                    <a:pt x="530352" y="177876"/>
                  </a:lnTo>
                  <a:lnTo>
                    <a:pt x="540004" y="181800"/>
                  </a:lnTo>
                  <a:lnTo>
                    <a:pt x="549732" y="183375"/>
                  </a:lnTo>
                  <a:lnTo>
                    <a:pt x="559333" y="182753"/>
                  </a:lnTo>
                  <a:lnTo>
                    <a:pt x="568782" y="179946"/>
                  </a:lnTo>
                  <a:lnTo>
                    <a:pt x="578104" y="174942"/>
                  </a:lnTo>
                  <a:lnTo>
                    <a:pt x="585203" y="169227"/>
                  </a:lnTo>
                  <a:lnTo>
                    <a:pt x="586536" y="168160"/>
                  </a:lnTo>
                  <a:lnTo>
                    <a:pt x="592988" y="160185"/>
                  </a:lnTo>
                  <a:lnTo>
                    <a:pt x="597281" y="151447"/>
                  </a:lnTo>
                  <a:lnTo>
                    <a:pt x="597408" y="151193"/>
                  </a:lnTo>
                  <a:lnTo>
                    <a:pt x="597496" y="151015"/>
                  </a:lnTo>
                  <a:lnTo>
                    <a:pt x="600075" y="140652"/>
                  </a:lnTo>
                  <a:lnTo>
                    <a:pt x="600544" y="131038"/>
                  </a:lnTo>
                  <a:lnTo>
                    <a:pt x="600621" y="129603"/>
                  </a:lnTo>
                  <a:close/>
                </a:path>
                <a:path w="732789" h="739775">
                  <a:moveTo>
                    <a:pt x="732548" y="102870"/>
                  </a:moveTo>
                  <a:lnTo>
                    <a:pt x="707390" y="66865"/>
                  </a:lnTo>
                  <a:lnTo>
                    <a:pt x="689991" y="64706"/>
                  </a:lnTo>
                  <a:lnTo>
                    <a:pt x="683133" y="65595"/>
                  </a:lnTo>
                  <a:lnTo>
                    <a:pt x="638810" y="76898"/>
                  </a:lnTo>
                  <a:lnTo>
                    <a:pt x="632714" y="77025"/>
                  </a:lnTo>
                  <a:lnTo>
                    <a:pt x="620776" y="74358"/>
                  </a:lnTo>
                  <a:lnTo>
                    <a:pt x="616331" y="70929"/>
                  </a:lnTo>
                  <a:lnTo>
                    <a:pt x="609219" y="57594"/>
                  </a:lnTo>
                  <a:lnTo>
                    <a:pt x="608584" y="50101"/>
                  </a:lnTo>
                  <a:lnTo>
                    <a:pt x="611632" y="42735"/>
                  </a:lnTo>
                  <a:lnTo>
                    <a:pt x="646772" y="17373"/>
                  </a:lnTo>
                  <a:lnTo>
                    <a:pt x="660793" y="16497"/>
                  </a:lnTo>
                  <a:lnTo>
                    <a:pt x="673963" y="20472"/>
                  </a:lnTo>
                  <a:lnTo>
                    <a:pt x="686308" y="29273"/>
                  </a:lnTo>
                  <a:lnTo>
                    <a:pt x="699643" y="17716"/>
                  </a:lnTo>
                  <a:lnTo>
                    <a:pt x="682205" y="5524"/>
                  </a:lnTo>
                  <a:lnTo>
                    <a:pt x="663803" y="0"/>
                  </a:lnTo>
                  <a:lnTo>
                    <a:pt x="644436" y="1143"/>
                  </a:lnTo>
                  <a:lnTo>
                    <a:pt x="604723" y="23037"/>
                  </a:lnTo>
                  <a:lnTo>
                    <a:pt x="591070" y="58280"/>
                  </a:lnTo>
                  <a:lnTo>
                    <a:pt x="592721" y="67208"/>
                  </a:lnTo>
                  <a:lnTo>
                    <a:pt x="596392" y="76009"/>
                  </a:lnTo>
                  <a:lnTo>
                    <a:pt x="605561" y="87972"/>
                  </a:lnTo>
                  <a:lnTo>
                    <a:pt x="617639" y="95072"/>
                  </a:lnTo>
                  <a:lnTo>
                    <a:pt x="632663" y="97307"/>
                  </a:lnTo>
                  <a:lnTo>
                    <a:pt x="650621" y="94678"/>
                  </a:lnTo>
                  <a:lnTo>
                    <a:pt x="678942" y="87058"/>
                  </a:lnTo>
                  <a:lnTo>
                    <a:pt x="690194" y="85178"/>
                  </a:lnTo>
                  <a:lnTo>
                    <a:pt x="715518" y="109664"/>
                  </a:lnTo>
                  <a:lnTo>
                    <a:pt x="708152" y="123634"/>
                  </a:lnTo>
                  <a:lnTo>
                    <a:pt x="702691" y="129095"/>
                  </a:lnTo>
                  <a:lnTo>
                    <a:pt x="687832" y="136969"/>
                  </a:lnTo>
                  <a:lnTo>
                    <a:pt x="679831" y="138747"/>
                  </a:lnTo>
                  <a:lnTo>
                    <a:pt x="662432" y="137731"/>
                  </a:lnTo>
                  <a:lnTo>
                    <a:pt x="655066" y="133921"/>
                  </a:lnTo>
                  <a:lnTo>
                    <a:pt x="648970" y="127063"/>
                  </a:lnTo>
                  <a:lnTo>
                    <a:pt x="636143" y="139763"/>
                  </a:lnTo>
                  <a:lnTo>
                    <a:pt x="651256" y="150317"/>
                  </a:lnTo>
                  <a:lnTo>
                    <a:pt x="667283" y="155067"/>
                  </a:lnTo>
                  <a:lnTo>
                    <a:pt x="684212" y="154025"/>
                  </a:lnTo>
                  <a:lnTo>
                    <a:pt x="718832" y="134937"/>
                  </a:lnTo>
                  <a:lnTo>
                    <a:pt x="731913" y="111302"/>
                  </a:lnTo>
                  <a:lnTo>
                    <a:pt x="732548" y="102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4062" y="3561766"/>
              <a:ext cx="188640" cy="28620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9309" y="3921887"/>
              <a:ext cx="205359" cy="2588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39475" y="4202573"/>
              <a:ext cx="195280" cy="25555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8789" y="2726093"/>
              <a:ext cx="2453005" cy="2409190"/>
            </a:xfrm>
            <a:custGeom>
              <a:avLst/>
              <a:gdLst/>
              <a:ahLst/>
              <a:cxnLst/>
              <a:rect l="l" t="t" r="r" b="b"/>
              <a:pathLst>
                <a:path w="2453004" h="2409190">
                  <a:moveTo>
                    <a:pt x="164338" y="1835200"/>
                  </a:moveTo>
                  <a:lnTo>
                    <a:pt x="147218" y="1805381"/>
                  </a:lnTo>
                  <a:lnTo>
                    <a:pt x="147218" y="1833435"/>
                  </a:lnTo>
                  <a:lnTo>
                    <a:pt x="146583" y="1839556"/>
                  </a:lnTo>
                  <a:lnTo>
                    <a:pt x="119888" y="1869147"/>
                  </a:lnTo>
                  <a:lnTo>
                    <a:pt x="92417" y="1879206"/>
                  </a:lnTo>
                  <a:lnTo>
                    <a:pt x="85344" y="1878799"/>
                  </a:lnTo>
                  <a:lnTo>
                    <a:pt x="62357" y="1853526"/>
                  </a:lnTo>
                  <a:lnTo>
                    <a:pt x="64046" y="1845779"/>
                  </a:lnTo>
                  <a:lnTo>
                    <a:pt x="104648" y="1809711"/>
                  </a:lnTo>
                  <a:lnTo>
                    <a:pt x="112268" y="1807298"/>
                  </a:lnTo>
                  <a:lnTo>
                    <a:pt x="119888" y="1807298"/>
                  </a:lnTo>
                  <a:lnTo>
                    <a:pt x="147218" y="1833435"/>
                  </a:lnTo>
                  <a:lnTo>
                    <a:pt x="147218" y="1805381"/>
                  </a:lnTo>
                  <a:lnTo>
                    <a:pt x="143268" y="1802701"/>
                  </a:lnTo>
                  <a:lnTo>
                    <a:pt x="132435" y="1799539"/>
                  </a:lnTo>
                  <a:lnTo>
                    <a:pt x="119634" y="1799170"/>
                  </a:lnTo>
                  <a:lnTo>
                    <a:pt x="138557" y="1788248"/>
                  </a:lnTo>
                  <a:lnTo>
                    <a:pt x="130683" y="1774532"/>
                  </a:lnTo>
                  <a:lnTo>
                    <a:pt x="0" y="1849589"/>
                  </a:lnTo>
                  <a:lnTo>
                    <a:pt x="8636" y="1864829"/>
                  </a:lnTo>
                  <a:lnTo>
                    <a:pt x="56515" y="1837397"/>
                  </a:lnTo>
                  <a:lnTo>
                    <a:pt x="52158" y="1847545"/>
                  </a:lnTo>
                  <a:lnTo>
                    <a:pt x="50546" y="1857425"/>
                  </a:lnTo>
                  <a:lnTo>
                    <a:pt x="51689" y="1867027"/>
                  </a:lnTo>
                  <a:lnTo>
                    <a:pt x="55626" y="1876386"/>
                  </a:lnTo>
                  <a:lnTo>
                    <a:pt x="96126" y="1896732"/>
                  </a:lnTo>
                  <a:lnTo>
                    <a:pt x="106972" y="1895055"/>
                  </a:lnTo>
                  <a:lnTo>
                    <a:pt x="141338" y="1877745"/>
                  </a:lnTo>
                  <a:lnTo>
                    <a:pt x="163576" y="1844382"/>
                  </a:lnTo>
                  <a:lnTo>
                    <a:pt x="164338" y="1835200"/>
                  </a:lnTo>
                  <a:close/>
                </a:path>
                <a:path w="2453004" h="2409190">
                  <a:moveTo>
                    <a:pt x="200914" y="1889594"/>
                  </a:moveTo>
                  <a:lnTo>
                    <a:pt x="191135" y="1874989"/>
                  </a:lnTo>
                  <a:lnTo>
                    <a:pt x="97409" y="1937600"/>
                  </a:lnTo>
                  <a:lnTo>
                    <a:pt x="107188" y="1952205"/>
                  </a:lnTo>
                  <a:lnTo>
                    <a:pt x="200914" y="1889594"/>
                  </a:lnTo>
                  <a:close/>
                </a:path>
                <a:path w="2453004" h="2409190">
                  <a:moveTo>
                    <a:pt x="234188" y="1868004"/>
                  </a:moveTo>
                  <a:lnTo>
                    <a:pt x="223647" y="1852256"/>
                  </a:lnTo>
                  <a:lnTo>
                    <a:pt x="207391" y="1863178"/>
                  </a:lnTo>
                  <a:lnTo>
                    <a:pt x="217932" y="1878799"/>
                  </a:lnTo>
                  <a:lnTo>
                    <a:pt x="234188" y="1868004"/>
                  </a:lnTo>
                  <a:close/>
                </a:path>
                <a:path w="2453004" h="2409190">
                  <a:moveTo>
                    <a:pt x="259359" y="1979117"/>
                  </a:moveTo>
                  <a:lnTo>
                    <a:pt x="259003" y="1972017"/>
                  </a:lnTo>
                  <a:lnTo>
                    <a:pt x="258902" y="1969947"/>
                  </a:lnTo>
                  <a:lnTo>
                    <a:pt x="256171" y="1961261"/>
                  </a:lnTo>
                  <a:lnTo>
                    <a:pt x="251206" y="1953094"/>
                  </a:lnTo>
                  <a:lnTo>
                    <a:pt x="246113" y="1948141"/>
                  </a:lnTo>
                  <a:lnTo>
                    <a:pt x="243179" y="1945284"/>
                  </a:lnTo>
                  <a:lnTo>
                    <a:pt x="241795" y="1944598"/>
                  </a:lnTo>
                  <a:lnTo>
                    <a:pt x="241795" y="1976628"/>
                  </a:lnTo>
                  <a:lnTo>
                    <a:pt x="240411" y="1983193"/>
                  </a:lnTo>
                  <a:lnTo>
                    <a:pt x="209918" y="2016137"/>
                  </a:lnTo>
                  <a:lnTo>
                    <a:pt x="186436" y="2023706"/>
                  </a:lnTo>
                  <a:lnTo>
                    <a:pt x="178993" y="2023186"/>
                  </a:lnTo>
                  <a:lnTo>
                    <a:pt x="177634" y="2023186"/>
                  </a:lnTo>
                  <a:lnTo>
                    <a:pt x="170688" y="2019769"/>
                  </a:lnTo>
                  <a:lnTo>
                    <a:pt x="165989" y="2013673"/>
                  </a:lnTo>
                  <a:lnTo>
                    <a:pt x="161925" y="2008466"/>
                  </a:lnTo>
                  <a:lnTo>
                    <a:pt x="160274" y="2001735"/>
                  </a:lnTo>
                  <a:lnTo>
                    <a:pt x="160909" y="1993480"/>
                  </a:lnTo>
                  <a:lnTo>
                    <a:pt x="161544" y="1986495"/>
                  </a:lnTo>
                  <a:lnTo>
                    <a:pt x="196342" y="1952586"/>
                  </a:lnTo>
                  <a:lnTo>
                    <a:pt x="210947" y="1948141"/>
                  </a:lnTo>
                  <a:lnTo>
                    <a:pt x="218694" y="1949284"/>
                  </a:lnTo>
                  <a:lnTo>
                    <a:pt x="226314" y="1950300"/>
                  </a:lnTo>
                  <a:lnTo>
                    <a:pt x="241795" y="1976628"/>
                  </a:lnTo>
                  <a:lnTo>
                    <a:pt x="241795" y="1944598"/>
                  </a:lnTo>
                  <a:lnTo>
                    <a:pt x="233578" y="1940521"/>
                  </a:lnTo>
                  <a:lnTo>
                    <a:pt x="231101" y="1940140"/>
                  </a:lnTo>
                  <a:lnTo>
                    <a:pt x="222415" y="1938807"/>
                  </a:lnTo>
                  <a:lnTo>
                    <a:pt x="209677" y="1940140"/>
                  </a:lnTo>
                  <a:lnTo>
                    <a:pt x="227076" y="1926805"/>
                  </a:lnTo>
                  <a:lnTo>
                    <a:pt x="217424" y="1914232"/>
                  </a:lnTo>
                  <a:lnTo>
                    <a:pt x="97917" y="2006307"/>
                  </a:lnTo>
                  <a:lnTo>
                    <a:pt x="108585" y="2020150"/>
                  </a:lnTo>
                  <a:lnTo>
                    <a:pt x="152273" y="1986495"/>
                  </a:lnTo>
                  <a:lnTo>
                    <a:pt x="149313" y="1997202"/>
                  </a:lnTo>
                  <a:lnTo>
                    <a:pt x="149275" y="1998510"/>
                  </a:lnTo>
                  <a:lnTo>
                    <a:pt x="149161" y="2007666"/>
                  </a:lnTo>
                  <a:lnTo>
                    <a:pt x="151345" y="2016137"/>
                  </a:lnTo>
                  <a:lnTo>
                    <a:pt x="151460" y="2016594"/>
                  </a:lnTo>
                  <a:lnTo>
                    <a:pt x="189230" y="2041105"/>
                  </a:lnTo>
                  <a:lnTo>
                    <a:pt x="199529" y="2040064"/>
                  </a:lnTo>
                  <a:lnTo>
                    <a:pt x="210032" y="2036914"/>
                  </a:lnTo>
                  <a:lnTo>
                    <a:pt x="220713" y="2031682"/>
                  </a:lnTo>
                  <a:lnTo>
                    <a:pt x="231521" y="2024341"/>
                  </a:lnTo>
                  <a:lnTo>
                    <a:pt x="232244" y="2023706"/>
                  </a:lnTo>
                  <a:lnTo>
                    <a:pt x="240779" y="2016277"/>
                  </a:lnTo>
                  <a:lnTo>
                    <a:pt x="248196" y="2007666"/>
                  </a:lnTo>
                  <a:lnTo>
                    <a:pt x="253784" y="1998510"/>
                  </a:lnTo>
                  <a:lnTo>
                    <a:pt x="257556" y="1988781"/>
                  </a:lnTo>
                  <a:lnTo>
                    <a:pt x="259359" y="1979117"/>
                  </a:lnTo>
                  <a:close/>
                </a:path>
                <a:path w="2453004" h="2409190">
                  <a:moveTo>
                    <a:pt x="333756" y="2071077"/>
                  </a:moveTo>
                  <a:lnTo>
                    <a:pt x="320903" y="2034781"/>
                  </a:lnTo>
                  <a:lnTo>
                    <a:pt x="320802" y="2034628"/>
                  </a:lnTo>
                  <a:lnTo>
                    <a:pt x="320370" y="2034247"/>
                  </a:lnTo>
                  <a:lnTo>
                    <a:pt x="319532" y="2033511"/>
                  </a:lnTo>
                  <a:lnTo>
                    <a:pt x="319532" y="2065616"/>
                  </a:lnTo>
                  <a:lnTo>
                    <a:pt x="318643" y="2070823"/>
                  </a:lnTo>
                  <a:lnTo>
                    <a:pt x="316357" y="2075649"/>
                  </a:lnTo>
                  <a:lnTo>
                    <a:pt x="314071" y="2080348"/>
                  </a:lnTo>
                  <a:lnTo>
                    <a:pt x="310642" y="2084920"/>
                  </a:lnTo>
                  <a:lnTo>
                    <a:pt x="306070" y="2089365"/>
                  </a:lnTo>
                  <a:lnTo>
                    <a:pt x="271780" y="2052281"/>
                  </a:lnTo>
                  <a:lnTo>
                    <a:pt x="264033" y="2043899"/>
                  </a:lnTo>
                  <a:lnTo>
                    <a:pt x="270268" y="2039594"/>
                  </a:lnTo>
                  <a:lnTo>
                    <a:pt x="276580" y="2036559"/>
                  </a:lnTo>
                  <a:lnTo>
                    <a:pt x="282981" y="2034781"/>
                  </a:lnTo>
                  <a:lnTo>
                    <a:pt x="289433" y="2034247"/>
                  </a:lnTo>
                  <a:lnTo>
                    <a:pt x="298196" y="2034501"/>
                  </a:lnTo>
                  <a:lnTo>
                    <a:pt x="319532" y="2065616"/>
                  </a:lnTo>
                  <a:lnTo>
                    <a:pt x="319532" y="2033511"/>
                  </a:lnTo>
                  <a:lnTo>
                    <a:pt x="312750" y="2027491"/>
                  </a:lnTo>
                  <a:lnTo>
                    <a:pt x="303822" y="2022436"/>
                  </a:lnTo>
                  <a:lnTo>
                    <a:pt x="294030" y="2019490"/>
                  </a:lnTo>
                  <a:lnTo>
                    <a:pt x="283337" y="2018626"/>
                  </a:lnTo>
                  <a:lnTo>
                    <a:pt x="272351" y="2019947"/>
                  </a:lnTo>
                  <a:lnTo>
                    <a:pt x="232727" y="2046490"/>
                  </a:lnTo>
                  <a:lnTo>
                    <a:pt x="219811" y="2087270"/>
                  </a:lnTo>
                  <a:lnTo>
                    <a:pt x="222034" y="2097176"/>
                  </a:lnTo>
                  <a:lnTo>
                    <a:pt x="253314" y="2129015"/>
                  </a:lnTo>
                  <a:lnTo>
                    <a:pt x="268668" y="2132076"/>
                  </a:lnTo>
                  <a:lnTo>
                    <a:pt x="276123" y="2131809"/>
                  </a:lnTo>
                  <a:lnTo>
                    <a:pt x="283337" y="2130310"/>
                  </a:lnTo>
                  <a:lnTo>
                    <a:pt x="290322" y="2127593"/>
                  </a:lnTo>
                  <a:lnTo>
                    <a:pt x="283400" y="2116213"/>
                  </a:lnTo>
                  <a:lnTo>
                    <a:pt x="281686" y="2113369"/>
                  </a:lnTo>
                  <a:lnTo>
                    <a:pt x="271005" y="2116213"/>
                  </a:lnTo>
                  <a:lnTo>
                    <a:pt x="261302" y="2115959"/>
                  </a:lnTo>
                  <a:lnTo>
                    <a:pt x="252539" y="2112645"/>
                  </a:lnTo>
                  <a:lnTo>
                    <a:pt x="235839" y="2083523"/>
                  </a:lnTo>
                  <a:lnTo>
                    <a:pt x="236689" y="2076792"/>
                  </a:lnTo>
                  <a:lnTo>
                    <a:pt x="236740" y="2076361"/>
                  </a:lnTo>
                  <a:lnTo>
                    <a:pt x="240042" y="2068766"/>
                  </a:lnTo>
                  <a:lnTo>
                    <a:pt x="245745" y="2060740"/>
                  </a:lnTo>
                  <a:lnTo>
                    <a:pt x="253873" y="2052281"/>
                  </a:lnTo>
                  <a:lnTo>
                    <a:pt x="309626" y="2112353"/>
                  </a:lnTo>
                  <a:lnTo>
                    <a:pt x="319405" y="2101926"/>
                  </a:lnTo>
                  <a:lnTo>
                    <a:pt x="326682" y="2091575"/>
                  </a:lnTo>
                  <a:lnTo>
                    <a:pt x="327710" y="2089365"/>
                  </a:lnTo>
                  <a:lnTo>
                    <a:pt x="331457" y="2081301"/>
                  </a:lnTo>
                  <a:lnTo>
                    <a:pt x="333756" y="2071077"/>
                  </a:lnTo>
                  <a:close/>
                </a:path>
                <a:path w="2453004" h="2409190">
                  <a:moveTo>
                    <a:pt x="408432" y="2070823"/>
                  </a:moveTo>
                  <a:lnTo>
                    <a:pt x="395732" y="2058758"/>
                  </a:lnTo>
                  <a:lnTo>
                    <a:pt x="290830" y="2169249"/>
                  </a:lnTo>
                  <a:lnTo>
                    <a:pt x="303530" y="2181314"/>
                  </a:lnTo>
                  <a:lnTo>
                    <a:pt x="408432" y="2070823"/>
                  </a:lnTo>
                  <a:close/>
                </a:path>
                <a:path w="2453004" h="2409190">
                  <a:moveTo>
                    <a:pt x="417703" y="2132419"/>
                  </a:moveTo>
                  <a:lnTo>
                    <a:pt x="404495" y="2120862"/>
                  </a:lnTo>
                  <a:lnTo>
                    <a:pt x="330200" y="2205571"/>
                  </a:lnTo>
                  <a:lnTo>
                    <a:pt x="343408" y="2217128"/>
                  </a:lnTo>
                  <a:lnTo>
                    <a:pt x="417703" y="2132419"/>
                  </a:lnTo>
                  <a:close/>
                </a:path>
                <a:path w="2453004" h="2409190">
                  <a:moveTo>
                    <a:pt x="444246" y="2102954"/>
                  </a:moveTo>
                  <a:lnTo>
                    <a:pt x="430149" y="2090508"/>
                  </a:lnTo>
                  <a:lnTo>
                    <a:pt x="417195" y="2105240"/>
                  </a:lnTo>
                  <a:lnTo>
                    <a:pt x="431419" y="2117687"/>
                  </a:lnTo>
                  <a:lnTo>
                    <a:pt x="444246" y="2102954"/>
                  </a:lnTo>
                  <a:close/>
                </a:path>
                <a:path w="2453004" h="2409190">
                  <a:moveTo>
                    <a:pt x="498475" y="2213064"/>
                  </a:moveTo>
                  <a:lnTo>
                    <a:pt x="473925" y="2176157"/>
                  </a:lnTo>
                  <a:lnTo>
                    <a:pt x="463753" y="2173986"/>
                  </a:lnTo>
                  <a:lnTo>
                    <a:pt x="452539" y="2174824"/>
                  </a:lnTo>
                  <a:lnTo>
                    <a:pt x="440309" y="2178647"/>
                  </a:lnTo>
                  <a:lnTo>
                    <a:pt x="453009" y="2162137"/>
                  </a:lnTo>
                  <a:lnTo>
                    <a:pt x="440055" y="2152231"/>
                  </a:lnTo>
                  <a:lnTo>
                    <a:pt x="371348" y="2241639"/>
                  </a:lnTo>
                  <a:lnTo>
                    <a:pt x="385318" y="2252307"/>
                  </a:lnTo>
                  <a:lnTo>
                    <a:pt x="422910" y="2203285"/>
                  </a:lnTo>
                  <a:lnTo>
                    <a:pt x="428434" y="2197023"/>
                  </a:lnTo>
                  <a:lnTo>
                    <a:pt x="434352" y="2192134"/>
                  </a:lnTo>
                  <a:lnTo>
                    <a:pt x="440677" y="2188591"/>
                  </a:lnTo>
                  <a:lnTo>
                    <a:pt x="447421" y="2186394"/>
                  </a:lnTo>
                  <a:lnTo>
                    <a:pt x="454075" y="2185644"/>
                  </a:lnTo>
                  <a:lnTo>
                    <a:pt x="460349" y="2186241"/>
                  </a:lnTo>
                  <a:lnTo>
                    <a:pt x="481965" y="2212810"/>
                  </a:lnTo>
                  <a:lnTo>
                    <a:pt x="479298" y="2220049"/>
                  </a:lnTo>
                  <a:lnTo>
                    <a:pt x="428879" y="2285708"/>
                  </a:lnTo>
                  <a:lnTo>
                    <a:pt x="441833" y="2295741"/>
                  </a:lnTo>
                  <a:lnTo>
                    <a:pt x="481584" y="2244052"/>
                  </a:lnTo>
                  <a:lnTo>
                    <a:pt x="496951" y="2218652"/>
                  </a:lnTo>
                  <a:lnTo>
                    <a:pt x="498475" y="2213064"/>
                  </a:lnTo>
                  <a:close/>
                </a:path>
                <a:path w="2453004" h="2409190">
                  <a:moveTo>
                    <a:pt x="594385" y="2285555"/>
                  </a:moveTo>
                  <a:lnTo>
                    <a:pt x="594106" y="2278723"/>
                  </a:lnTo>
                  <a:lnTo>
                    <a:pt x="594055" y="2277199"/>
                  </a:lnTo>
                  <a:lnTo>
                    <a:pt x="593979" y="2275167"/>
                  </a:lnTo>
                  <a:lnTo>
                    <a:pt x="579247" y="2248636"/>
                  </a:lnTo>
                  <a:lnTo>
                    <a:pt x="579247" y="2278723"/>
                  </a:lnTo>
                  <a:lnTo>
                    <a:pt x="578358" y="2283930"/>
                  </a:lnTo>
                  <a:lnTo>
                    <a:pt x="577342" y="2289137"/>
                  </a:lnTo>
                  <a:lnTo>
                    <a:pt x="575183" y="2294471"/>
                  </a:lnTo>
                  <a:lnTo>
                    <a:pt x="571881" y="2299805"/>
                  </a:lnTo>
                  <a:lnTo>
                    <a:pt x="536194" y="2277199"/>
                  </a:lnTo>
                  <a:lnTo>
                    <a:pt x="519557" y="2266658"/>
                  </a:lnTo>
                  <a:lnTo>
                    <a:pt x="524510" y="2260879"/>
                  </a:lnTo>
                  <a:lnTo>
                    <a:pt x="529856" y="2256294"/>
                  </a:lnTo>
                  <a:lnTo>
                    <a:pt x="535609" y="2252929"/>
                  </a:lnTo>
                  <a:lnTo>
                    <a:pt x="541782" y="2250783"/>
                  </a:lnTo>
                  <a:lnTo>
                    <a:pt x="550164" y="2248751"/>
                  </a:lnTo>
                  <a:lnTo>
                    <a:pt x="558165" y="2250148"/>
                  </a:lnTo>
                  <a:lnTo>
                    <a:pt x="565531" y="2254847"/>
                  </a:lnTo>
                  <a:lnTo>
                    <a:pt x="570992" y="2258276"/>
                  </a:lnTo>
                  <a:lnTo>
                    <a:pt x="574675" y="2262721"/>
                  </a:lnTo>
                  <a:lnTo>
                    <a:pt x="576707" y="2268055"/>
                  </a:lnTo>
                  <a:lnTo>
                    <a:pt x="578739" y="2273516"/>
                  </a:lnTo>
                  <a:lnTo>
                    <a:pt x="579247" y="2278723"/>
                  </a:lnTo>
                  <a:lnTo>
                    <a:pt x="579247" y="2248636"/>
                  </a:lnTo>
                  <a:lnTo>
                    <a:pt x="572135" y="2243163"/>
                  </a:lnTo>
                  <a:lnTo>
                    <a:pt x="562533" y="2238286"/>
                  </a:lnTo>
                  <a:lnTo>
                    <a:pt x="552615" y="2235657"/>
                  </a:lnTo>
                  <a:lnTo>
                    <a:pt x="542391" y="2235289"/>
                  </a:lnTo>
                  <a:lnTo>
                    <a:pt x="531876" y="2237194"/>
                  </a:lnTo>
                  <a:lnTo>
                    <a:pt x="495935" y="2266023"/>
                  </a:lnTo>
                  <a:lnTo>
                    <a:pt x="484593" y="2298877"/>
                  </a:lnTo>
                  <a:lnTo>
                    <a:pt x="485076" y="2308555"/>
                  </a:lnTo>
                  <a:lnTo>
                    <a:pt x="508000" y="2343366"/>
                  </a:lnTo>
                  <a:lnTo>
                    <a:pt x="538861" y="2351748"/>
                  </a:lnTo>
                  <a:lnTo>
                    <a:pt x="546569" y="2350655"/>
                  </a:lnTo>
                  <a:lnTo>
                    <a:pt x="553707" y="2348484"/>
                  </a:lnTo>
                  <a:lnTo>
                    <a:pt x="560285" y="2345220"/>
                  </a:lnTo>
                  <a:lnTo>
                    <a:pt x="566293" y="2340826"/>
                  </a:lnTo>
                  <a:lnTo>
                    <a:pt x="562305" y="2336977"/>
                  </a:lnTo>
                  <a:lnTo>
                    <a:pt x="554355" y="2329269"/>
                  </a:lnTo>
                  <a:lnTo>
                    <a:pt x="544779" y="2334730"/>
                  </a:lnTo>
                  <a:lnTo>
                    <a:pt x="535330" y="2336977"/>
                  </a:lnTo>
                  <a:lnTo>
                    <a:pt x="526021" y="2336012"/>
                  </a:lnTo>
                  <a:lnTo>
                    <a:pt x="501484" y="2304961"/>
                  </a:lnTo>
                  <a:lnTo>
                    <a:pt x="502704" y="2296757"/>
                  </a:lnTo>
                  <a:lnTo>
                    <a:pt x="506196" y="2287524"/>
                  </a:lnTo>
                  <a:lnTo>
                    <a:pt x="511937" y="2277199"/>
                  </a:lnTo>
                  <a:lnTo>
                    <a:pt x="581152" y="2321141"/>
                  </a:lnTo>
                  <a:lnTo>
                    <a:pt x="587959" y="2308555"/>
                  </a:lnTo>
                  <a:lnTo>
                    <a:pt x="591210" y="2299805"/>
                  </a:lnTo>
                  <a:lnTo>
                    <a:pt x="592340" y="2296757"/>
                  </a:lnTo>
                  <a:lnTo>
                    <a:pt x="594385" y="2285555"/>
                  </a:lnTo>
                  <a:close/>
                </a:path>
                <a:path w="2453004" h="2409190">
                  <a:moveTo>
                    <a:pt x="686523" y="2326284"/>
                  </a:moveTo>
                  <a:lnTo>
                    <a:pt x="659257" y="2293709"/>
                  </a:lnTo>
                  <a:lnTo>
                    <a:pt x="635266" y="2287270"/>
                  </a:lnTo>
                  <a:lnTo>
                    <a:pt x="627888" y="2288121"/>
                  </a:lnTo>
                  <a:lnTo>
                    <a:pt x="602234" y="2318855"/>
                  </a:lnTo>
                  <a:lnTo>
                    <a:pt x="607060" y="2333206"/>
                  </a:lnTo>
                  <a:lnTo>
                    <a:pt x="612013" y="2339683"/>
                  </a:lnTo>
                  <a:lnTo>
                    <a:pt x="638429" y="2360638"/>
                  </a:lnTo>
                  <a:lnTo>
                    <a:pt x="644779" y="2366695"/>
                  </a:lnTo>
                  <a:lnTo>
                    <a:pt x="648436" y="2372677"/>
                  </a:lnTo>
                  <a:lnTo>
                    <a:pt x="649401" y="2378608"/>
                  </a:lnTo>
                  <a:lnTo>
                    <a:pt x="647700" y="2384514"/>
                  </a:lnTo>
                  <a:lnTo>
                    <a:pt x="644906" y="2389848"/>
                  </a:lnTo>
                  <a:lnTo>
                    <a:pt x="640588" y="2392642"/>
                  </a:lnTo>
                  <a:lnTo>
                    <a:pt x="628523" y="2393785"/>
                  </a:lnTo>
                  <a:lnTo>
                    <a:pt x="622300" y="2392388"/>
                  </a:lnTo>
                  <a:lnTo>
                    <a:pt x="615823" y="2388959"/>
                  </a:lnTo>
                  <a:lnTo>
                    <a:pt x="604621" y="2381605"/>
                  </a:lnTo>
                  <a:lnTo>
                    <a:pt x="597344" y="2373261"/>
                  </a:lnTo>
                  <a:lnTo>
                    <a:pt x="593953" y="2363940"/>
                  </a:lnTo>
                  <a:lnTo>
                    <a:pt x="594487" y="2353653"/>
                  </a:lnTo>
                  <a:lnTo>
                    <a:pt x="578104" y="2348954"/>
                  </a:lnTo>
                  <a:lnTo>
                    <a:pt x="591832" y="2390483"/>
                  </a:lnTo>
                  <a:lnTo>
                    <a:pt x="633501" y="2408593"/>
                  </a:lnTo>
                  <a:lnTo>
                    <a:pt x="641604" y="2408136"/>
                  </a:lnTo>
                  <a:lnTo>
                    <a:pt x="668426" y="2379954"/>
                  </a:lnTo>
                  <a:lnTo>
                    <a:pt x="667194" y="2368359"/>
                  </a:lnTo>
                  <a:lnTo>
                    <a:pt x="660908" y="2357094"/>
                  </a:lnTo>
                  <a:lnTo>
                    <a:pt x="649605" y="2346160"/>
                  </a:lnTo>
                  <a:lnTo>
                    <a:pt x="631952" y="2332444"/>
                  </a:lnTo>
                  <a:lnTo>
                    <a:pt x="626211" y="2326995"/>
                  </a:lnTo>
                  <a:lnTo>
                    <a:pt x="622935" y="2321509"/>
                  </a:lnTo>
                  <a:lnTo>
                    <a:pt x="622122" y="2315997"/>
                  </a:lnTo>
                  <a:lnTo>
                    <a:pt x="623824" y="2310473"/>
                  </a:lnTo>
                  <a:lnTo>
                    <a:pt x="626237" y="2305774"/>
                  </a:lnTo>
                  <a:lnTo>
                    <a:pt x="630174" y="2303234"/>
                  </a:lnTo>
                  <a:lnTo>
                    <a:pt x="640969" y="2302218"/>
                  </a:lnTo>
                  <a:lnTo>
                    <a:pt x="646938" y="2303615"/>
                  </a:lnTo>
                  <a:lnTo>
                    <a:pt x="670179" y="2335873"/>
                  </a:lnTo>
                  <a:lnTo>
                    <a:pt x="686054" y="2340191"/>
                  </a:lnTo>
                  <a:lnTo>
                    <a:pt x="686523" y="2326284"/>
                  </a:lnTo>
                  <a:close/>
                </a:path>
                <a:path w="2453004" h="2409190">
                  <a:moveTo>
                    <a:pt x="1945513" y="63588"/>
                  </a:moveTo>
                  <a:lnTo>
                    <a:pt x="1928152" y="16586"/>
                  </a:lnTo>
                  <a:lnTo>
                    <a:pt x="1892134" y="457"/>
                  </a:lnTo>
                  <a:lnTo>
                    <a:pt x="1882724" y="0"/>
                  </a:lnTo>
                  <a:lnTo>
                    <a:pt x="1873631" y="1231"/>
                  </a:lnTo>
                  <a:lnTo>
                    <a:pt x="1844548" y="29679"/>
                  </a:lnTo>
                  <a:lnTo>
                    <a:pt x="1843151" y="36664"/>
                  </a:lnTo>
                  <a:lnTo>
                    <a:pt x="1844548" y="50380"/>
                  </a:lnTo>
                  <a:lnTo>
                    <a:pt x="1846580" y="56222"/>
                  </a:lnTo>
                  <a:lnTo>
                    <a:pt x="1853184" y="65620"/>
                  </a:lnTo>
                  <a:lnTo>
                    <a:pt x="1858010" y="70573"/>
                  </a:lnTo>
                  <a:lnTo>
                    <a:pt x="1893697" y="99275"/>
                  </a:lnTo>
                  <a:lnTo>
                    <a:pt x="1897380" y="104101"/>
                  </a:lnTo>
                  <a:lnTo>
                    <a:pt x="1902460" y="115150"/>
                  </a:lnTo>
                  <a:lnTo>
                    <a:pt x="1902460" y="120865"/>
                  </a:lnTo>
                  <a:lnTo>
                    <a:pt x="1895983" y="134581"/>
                  </a:lnTo>
                  <a:lnTo>
                    <a:pt x="1890395" y="139407"/>
                  </a:lnTo>
                  <a:lnTo>
                    <a:pt x="1882648" y="141566"/>
                  </a:lnTo>
                  <a:lnTo>
                    <a:pt x="1876602" y="142430"/>
                  </a:lnTo>
                  <a:lnTo>
                    <a:pt x="1869909" y="141947"/>
                  </a:lnTo>
                  <a:lnTo>
                    <a:pt x="1832165" y="117856"/>
                  </a:lnTo>
                  <a:lnTo>
                    <a:pt x="1827149" y="89750"/>
                  </a:lnTo>
                  <a:lnTo>
                    <a:pt x="1809877" y="86067"/>
                  </a:lnTo>
                  <a:lnTo>
                    <a:pt x="1817192" y="125399"/>
                  </a:lnTo>
                  <a:lnTo>
                    <a:pt x="1848231" y="151853"/>
                  </a:lnTo>
                  <a:lnTo>
                    <a:pt x="1881517" y="159131"/>
                  </a:lnTo>
                  <a:lnTo>
                    <a:pt x="1891284" y="157314"/>
                  </a:lnTo>
                  <a:lnTo>
                    <a:pt x="1922500" y="119202"/>
                  </a:lnTo>
                  <a:lnTo>
                    <a:pt x="1920913" y="105244"/>
                  </a:lnTo>
                  <a:lnTo>
                    <a:pt x="1913686" y="91871"/>
                  </a:lnTo>
                  <a:lnTo>
                    <a:pt x="1900809" y="79082"/>
                  </a:lnTo>
                  <a:lnTo>
                    <a:pt x="1877822" y="61048"/>
                  </a:lnTo>
                  <a:lnTo>
                    <a:pt x="1869503" y="53174"/>
                  </a:lnTo>
                  <a:lnTo>
                    <a:pt x="1864588" y="45339"/>
                  </a:lnTo>
                  <a:lnTo>
                    <a:pt x="1863077" y="37553"/>
                  </a:lnTo>
                  <a:lnTo>
                    <a:pt x="1864995" y="29806"/>
                  </a:lnTo>
                  <a:lnTo>
                    <a:pt x="1868424" y="22567"/>
                  </a:lnTo>
                  <a:lnTo>
                    <a:pt x="1874012" y="18249"/>
                  </a:lnTo>
                  <a:lnTo>
                    <a:pt x="1889506" y="15709"/>
                  </a:lnTo>
                  <a:lnTo>
                    <a:pt x="1897126" y="16852"/>
                  </a:lnTo>
                  <a:lnTo>
                    <a:pt x="1926386" y="42265"/>
                  </a:lnTo>
                  <a:lnTo>
                    <a:pt x="1928533" y="54457"/>
                  </a:lnTo>
                  <a:lnTo>
                    <a:pt x="1927733" y="61048"/>
                  </a:lnTo>
                  <a:lnTo>
                    <a:pt x="1945513" y="63588"/>
                  </a:lnTo>
                  <a:close/>
                </a:path>
                <a:path w="2453004" h="2409190">
                  <a:moveTo>
                    <a:pt x="2039188" y="147281"/>
                  </a:moveTo>
                  <a:lnTo>
                    <a:pt x="2024227" y="111975"/>
                  </a:lnTo>
                  <a:lnTo>
                    <a:pt x="2023872" y="111671"/>
                  </a:lnTo>
                  <a:lnTo>
                    <a:pt x="2023872" y="140931"/>
                  </a:lnTo>
                  <a:lnTo>
                    <a:pt x="2022983" y="146138"/>
                  </a:lnTo>
                  <a:lnTo>
                    <a:pt x="2022221" y="151345"/>
                  </a:lnTo>
                  <a:lnTo>
                    <a:pt x="2020316" y="156806"/>
                  </a:lnTo>
                  <a:lnTo>
                    <a:pt x="2017141" y="162267"/>
                  </a:lnTo>
                  <a:lnTo>
                    <a:pt x="1982368" y="141820"/>
                  </a:lnTo>
                  <a:lnTo>
                    <a:pt x="1964016" y="131025"/>
                  </a:lnTo>
                  <a:lnTo>
                    <a:pt x="1963699" y="131025"/>
                  </a:lnTo>
                  <a:lnTo>
                    <a:pt x="1993773" y="111975"/>
                  </a:lnTo>
                  <a:lnTo>
                    <a:pt x="2001647" y="112991"/>
                  </a:lnTo>
                  <a:lnTo>
                    <a:pt x="2023872" y="140931"/>
                  </a:lnTo>
                  <a:lnTo>
                    <a:pt x="2023872" y="111671"/>
                  </a:lnTo>
                  <a:lnTo>
                    <a:pt x="2015490" y="105625"/>
                  </a:lnTo>
                  <a:lnTo>
                    <a:pt x="2005723" y="101066"/>
                  </a:lnTo>
                  <a:lnTo>
                    <a:pt x="1995703" y="98767"/>
                  </a:lnTo>
                  <a:lnTo>
                    <a:pt x="1985441" y="98767"/>
                  </a:lnTo>
                  <a:lnTo>
                    <a:pt x="1947379" y="120459"/>
                  </a:lnTo>
                  <a:lnTo>
                    <a:pt x="1929904" y="164363"/>
                  </a:lnTo>
                  <a:lnTo>
                    <a:pt x="1930908" y="175094"/>
                  </a:lnTo>
                  <a:lnTo>
                    <a:pt x="1954949" y="208013"/>
                  </a:lnTo>
                  <a:lnTo>
                    <a:pt x="1977961" y="215430"/>
                  </a:lnTo>
                  <a:lnTo>
                    <a:pt x="1985899" y="215226"/>
                  </a:lnTo>
                  <a:lnTo>
                    <a:pt x="2009965" y="200660"/>
                  </a:lnTo>
                  <a:lnTo>
                    <a:pt x="2000631" y="192366"/>
                  </a:lnTo>
                  <a:lnTo>
                    <a:pt x="1991271" y="198107"/>
                  </a:lnTo>
                  <a:lnTo>
                    <a:pt x="1981911" y="200660"/>
                  </a:lnTo>
                  <a:lnTo>
                    <a:pt x="1972564" y="200012"/>
                  </a:lnTo>
                  <a:lnTo>
                    <a:pt x="1947125" y="170472"/>
                  </a:lnTo>
                  <a:lnTo>
                    <a:pt x="1947011" y="169862"/>
                  </a:lnTo>
                  <a:lnTo>
                    <a:pt x="1947862" y="162267"/>
                  </a:lnTo>
                  <a:lnTo>
                    <a:pt x="1947938" y="161607"/>
                  </a:lnTo>
                  <a:lnTo>
                    <a:pt x="1951062" y="152247"/>
                  </a:lnTo>
                  <a:lnTo>
                    <a:pt x="1956435" y="141820"/>
                  </a:lnTo>
                  <a:lnTo>
                    <a:pt x="2027174" y="183222"/>
                  </a:lnTo>
                  <a:lnTo>
                    <a:pt x="2033524" y="170472"/>
                  </a:lnTo>
                  <a:lnTo>
                    <a:pt x="2036267" y="162267"/>
                  </a:lnTo>
                  <a:lnTo>
                    <a:pt x="2037537" y="158483"/>
                  </a:lnTo>
                  <a:lnTo>
                    <a:pt x="2039188" y="147281"/>
                  </a:lnTo>
                  <a:close/>
                </a:path>
                <a:path w="2453004" h="2409190">
                  <a:moveTo>
                    <a:pt x="2135149" y="205422"/>
                  </a:moveTo>
                  <a:lnTo>
                    <a:pt x="2116836" y="171665"/>
                  </a:lnTo>
                  <a:lnTo>
                    <a:pt x="2088400" y="163169"/>
                  </a:lnTo>
                  <a:lnTo>
                    <a:pt x="2078355" y="165188"/>
                  </a:lnTo>
                  <a:lnTo>
                    <a:pt x="2043049" y="192493"/>
                  </a:lnTo>
                  <a:lnTo>
                    <a:pt x="2028698" y="233895"/>
                  </a:lnTo>
                  <a:lnTo>
                    <a:pt x="2029879" y="243928"/>
                  </a:lnTo>
                  <a:lnTo>
                    <a:pt x="2062099" y="275399"/>
                  </a:lnTo>
                  <a:lnTo>
                    <a:pt x="2069566" y="276656"/>
                  </a:lnTo>
                  <a:lnTo>
                    <a:pt x="2077212" y="276440"/>
                  </a:lnTo>
                  <a:lnTo>
                    <a:pt x="2084641" y="257568"/>
                  </a:lnTo>
                  <a:lnTo>
                    <a:pt x="2074760" y="261315"/>
                  </a:lnTo>
                  <a:lnTo>
                    <a:pt x="2065299" y="261048"/>
                  </a:lnTo>
                  <a:lnTo>
                    <a:pt x="2056257" y="256755"/>
                  </a:lnTo>
                  <a:lnTo>
                    <a:pt x="2048637" y="251294"/>
                  </a:lnTo>
                  <a:lnTo>
                    <a:pt x="2044954" y="243801"/>
                  </a:lnTo>
                  <a:lnTo>
                    <a:pt x="2045462" y="234276"/>
                  </a:lnTo>
                  <a:lnTo>
                    <a:pt x="2064448" y="195072"/>
                  </a:lnTo>
                  <a:lnTo>
                    <a:pt x="2096579" y="178803"/>
                  </a:lnTo>
                  <a:lnTo>
                    <a:pt x="2102802" y="180403"/>
                  </a:lnTo>
                  <a:lnTo>
                    <a:pt x="2108835" y="183730"/>
                  </a:lnTo>
                  <a:lnTo>
                    <a:pt x="2116048" y="190995"/>
                  </a:lnTo>
                  <a:lnTo>
                    <a:pt x="2119414" y="199821"/>
                  </a:lnTo>
                  <a:lnTo>
                    <a:pt x="2118957" y="210185"/>
                  </a:lnTo>
                  <a:lnTo>
                    <a:pt x="2114677" y="222084"/>
                  </a:lnTo>
                  <a:lnTo>
                    <a:pt x="2129282" y="228815"/>
                  </a:lnTo>
                  <a:lnTo>
                    <a:pt x="2132533" y="220954"/>
                  </a:lnTo>
                  <a:lnTo>
                    <a:pt x="2134501" y="213169"/>
                  </a:lnTo>
                  <a:lnTo>
                    <a:pt x="2135149" y="205422"/>
                  </a:lnTo>
                  <a:close/>
                </a:path>
                <a:path w="2453004" h="2409190">
                  <a:moveTo>
                    <a:pt x="2241550" y="275805"/>
                  </a:moveTo>
                  <a:lnTo>
                    <a:pt x="2228215" y="264375"/>
                  </a:lnTo>
                  <a:lnTo>
                    <a:pt x="2182368" y="317969"/>
                  </a:lnTo>
                  <a:lnTo>
                    <a:pt x="2177034" y="321906"/>
                  </a:lnTo>
                  <a:lnTo>
                    <a:pt x="2164715" y="326986"/>
                  </a:lnTo>
                  <a:lnTo>
                    <a:pt x="2158873" y="327875"/>
                  </a:lnTo>
                  <a:lnTo>
                    <a:pt x="2147824" y="326859"/>
                  </a:lnTo>
                  <a:lnTo>
                    <a:pt x="2142871" y="324700"/>
                  </a:lnTo>
                  <a:lnTo>
                    <a:pt x="2134362" y="317461"/>
                  </a:lnTo>
                  <a:lnTo>
                    <a:pt x="2131822" y="312508"/>
                  </a:lnTo>
                  <a:lnTo>
                    <a:pt x="2130171" y="300062"/>
                  </a:lnTo>
                  <a:lnTo>
                    <a:pt x="2133346" y="292696"/>
                  </a:lnTo>
                  <a:lnTo>
                    <a:pt x="2187448" y="229450"/>
                  </a:lnTo>
                  <a:lnTo>
                    <a:pt x="2174113" y="218147"/>
                  </a:lnTo>
                  <a:lnTo>
                    <a:pt x="2127250" y="272884"/>
                  </a:lnTo>
                  <a:lnTo>
                    <a:pt x="2113788" y="303999"/>
                  </a:lnTo>
                  <a:lnTo>
                    <a:pt x="2114613" y="311289"/>
                  </a:lnTo>
                  <a:lnTo>
                    <a:pt x="2146884" y="339153"/>
                  </a:lnTo>
                  <a:lnTo>
                    <a:pt x="2158149" y="338658"/>
                  </a:lnTo>
                  <a:lnTo>
                    <a:pt x="2170303" y="334860"/>
                  </a:lnTo>
                  <a:lnTo>
                    <a:pt x="2156206" y="351243"/>
                  </a:lnTo>
                  <a:lnTo>
                    <a:pt x="2168271" y="361530"/>
                  </a:lnTo>
                  <a:lnTo>
                    <a:pt x="2241550" y="275805"/>
                  </a:lnTo>
                  <a:close/>
                </a:path>
                <a:path w="2453004" h="2409190">
                  <a:moveTo>
                    <a:pt x="2311527" y="340956"/>
                  </a:moveTo>
                  <a:lnTo>
                    <a:pt x="2285771" y="327380"/>
                  </a:lnTo>
                  <a:lnTo>
                    <a:pt x="2279180" y="328155"/>
                  </a:lnTo>
                  <a:lnTo>
                    <a:pt x="2271433" y="330098"/>
                  </a:lnTo>
                  <a:lnTo>
                    <a:pt x="2262505" y="333209"/>
                  </a:lnTo>
                  <a:lnTo>
                    <a:pt x="2281174" y="314667"/>
                  </a:lnTo>
                  <a:lnTo>
                    <a:pt x="2270252" y="303745"/>
                  </a:lnTo>
                  <a:lnTo>
                    <a:pt x="2190623" y="383501"/>
                  </a:lnTo>
                  <a:lnTo>
                    <a:pt x="2202942" y="395947"/>
                  </a:lnTo>
                  <a:lnTo>
                    <a:pt x="2245106" y="353656"/>
                  </a:lnTo>
                  <a:lnTo>
                    <a:pt x="2251672" y="348373"/>
                  </a:lnTo>
                  <a:lnTo>
                    <a:pt x="2258415" y="344487"/>
                  </a:lnTo>
                  <a:lnTo>
                    <a:pt x="2265337" y="341985"/>
                  </a:lnTo>
                  <a:lnTo>
                    <a:pt x="2272411" y="340829"/>
                  </a:lnTo>
                  <a:lnTo>
                    <a:pt x="2279383" y="341071"/>
                  </a:lnTo>
                  <a:lnTo>
                    <a:pt x="2285835" y="342722"/>
                  </a:lnTo>
                  <a:lnTo>
                    <a:pt x="2291765" y="345782"/>
                  </a:lnTo>
                  <a:lnTo>
                    <a:pt x="2297176" y="350227"/>
                  </a:lnTo>
                  <a:lnTo>
                    <a:pt x="2299716" y="352767"/>
                  </a:lnTo>
                  <a:lnTo>
                    <a:pt x="2311527" y="340956"/>
                  </a:lnTo>
                  <a:close/>
                </a:path>
                <a:path w="2453004" h="2409190">
                  <a:moveTo>
                    <a:pt x="2336292" y="372833"/>
                  </a:moveTo>
                  <a:lnTo>
                    <a:pt x="2324608" y="359879"/>
                  </a:lnTo>
                  <a:lnTo>
                    <a:pt x="2241042" y="435571"/>
                  </a:lnTo>
                  <a:lnTo>
                    <a:pt x="2252726" y="448525"/>
                  </a:lnTo>
                  <a:lnTo>
                    <a:pt x="2336292" y="372833"/>
                  </a:lnTo>
                  <a:close/>
                </a:path>
                <a:path w="2453004" h="2409190">
                  <a:moveTo>
                    <a:pt x="2366010" y="346671"/>
                  </a:moveTo>
                  <a:lnTo>
                    <a:pt x="2353437" y="332701"/>
                  </a:lnTo>
                  <a:lnTo>
                    <a:pt x="2338959" y="345782"/>
                  </a:lnTo>
                  <a:lnTo>
                    <a:pt x="2351532" y="359752"/>
                  </a:lnTo>
                  <a:lnTo>
                    <a:pt x="2366010" y="346671"/>
                  </a:lnTo>
                  <a:close/>
                </a:path>
                <a:path w="2453004" h="2409190">
                  <a:moveTo>
                    <a:pt x="2396490" y="397344"/>
                  </a:moveTo>
                  <a:lnTo>
                    <a:pt x="2384933" y="385660"/>
                  </a:lnTo>
                  <a:lnTo>
                    <a:pt x="2362454" y="403059"/>
                  </a:lnTo>
                  <a:lnTo>
                    <a:pt x="2349754" y="387565"/>
                  </a:lnTo>
                  <a:lnTo>
                    <a:pt x="2339213" y="396328"/>
                  </a:lnTo>
                  <a:lnTo>
                    <a:pt x="2351913" y="411822"/>
                  </a:lnTo>
                  <a:lnTo>
                    <a:pt x="2299335" y="454875"/>
                  </a:lnTo>
                  <a:lnTo>
                    <a:pt x="2289048" y="465963"/>
                  </a:lnTo>
                  <a:lnTo>
                    <a:pt x="2284666" y="477469"/>
                  </a:lnTo>
                  <a:lnTo>
                    <a:pt x="2286190" y="489445"/>
                  </a:lnTo>
                  <a:lnTo>
                    <a:pt x="2293620" y="501865"/>
                  </a:lnTo>
                  <a:lnTo>
                    <a:pt x="2300224" y="509231"/>
                  </a:lnTo>
                  <a:lnTo>
                    <a:pt x="2304796" y="513549"/>
                  </a:lnTo>
                  <a:lnTo>
                    <a:pt x="2315464" y="504659"/>
                  </a:lnTo>
                  <a:lnTo>
                    <a:pt x="2311654" y="501357"/>
                  </a:lnTo>
                  <a:lnTo>
                    <a:pt x="2308479" y="498055"/>
                  </a:lnTo>
                  <a:lnTo>
                    <a:pt x="2305939" y="495007"/>
                  </a:lnTo>
                  <a:lnTo>
                    <a:pt x="2301773" y="488175"/>
                  </a:lnTo>
                  <a:lnTo>
                    <a:pt x="2300706" y="481723"/>
                  </a:lnTo>
                  <a:lnTo>
                    <a:pt x="2302776" y="475640"/>
                  </a:lnTo>
                  <a:lnTo>
                    <a:pt x="2307971" y="469861"/>
                  </a:lnTo>
                  <a:lnTo>
                    <a:pt x="2362708" y="425030"/>
                  </a:lnTo>
                  <a:lnTo>
                    <a:pt x="2378710" y="444461"/>
                  </a:lnTo>
                  <a:lnTo>
                    <a:pt x="2389378" y="435825"/>
                  </a:lnTo>
                  <a:lnTo>
                    <a:pt x="2373376" y="416267"/>
                  </a:lnTo>
                  <a:lnTo>
                    <a:pt x="2396490" y="397344"/>
                  </a:lnTo>
                  <a:close/>
                </a:path>
                <a:path w="2453004" h="2409190">
                  <a:moveTo>
                    <a:pt x="2452624" y="522439"/>
                  </a:moveTo>
                  <a:lnTo>
                    <a:pt x="2443988" y="510501"/>
                  </a:lnTo>
                  <a:lnTo>
                    <a:pt x="2357120" y="534631"/>
                  </a:lnTo>
                  <a:lnTo>
                    <a:pt x="2408428" y="460717"/>
                  </a:lnTo>
                  <a:lnTo>
                    <a:pt x="2398141" y="446239"/>
                  </a:lnTo>
                  <a:lnTo>
                    <a:pt x="2330958" y="542251"/>
                  </a:lnTo>
                  <a:lnTo>
                    <a:pt x="2322499" y="544893"/>
                  </a:lnTo>
                  <a:lnTo>
                    <a:pt x="2315426" y="546531"/>
                  </a:lnTo>
                  <a:lnTo>
                    <a:pt x="2309736" y="547128"/>
                  </a:lnTo>
                  <a:lnTo>
                    <a:pt x="2305431" y="546696"/>
                  </a:lnTo>
                  <a:lnTo>
                    <a:pt x="2287778" y="527646"/>
                  </a:lnTo>
                  <a:lnTo>
                    <a:pt x="2276602" y="535647"/>
                  </a:lnTo>
                  <a:lnTo>
                    <a:pt x="2310942" y="561352"/>
                  </a:lnTo>
                  <a:lnTo>
                    <a:pt x="2323973" y="559015"/>
                  </a:lnTo>
                  <a:lnTo>
                    <a:pt x="2452624" y="5224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26724" y="3331440"/>
              <a:ext cx="204073" cy="16461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17130" y="3539236"/>
              <a:ext cx="166752" cy="31699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326227" y="3934206"/>
              <a:ext cx="897890" cy="1203325"/>
            </a:xfrm>
            <a:custGeom>
              <a:avLst/>
              <a:gdLst/>
              <a:ahLst/>
              <a:cxnLst/>
              <a:rect l="l" t="t" r="r" b="b"/>
              <a:pathLst>
                <a:path w="897889" h="1203325">
                  <a:moveTo>
                    <a:pt x="110578" y="1162659"/>
                  </a:moveTo>
                  <a:lnTo>
                    <a:pt x="84607" y="1131824"/>
                  </a:lnTo>
                  <a:lnTo>
                    <a:pt x="76352" y="1131697"/>
                  </a:lnTo>
                  <a:lnTo>
                    <a:pt x="43713" y="1139698"/>
                  </a:lnTo>
                  <a:lnTo>
                    <a:pt x="34963" y="1141018"/>
                  </a:lnTo>
                  <a:lnTo>
                    <a:pt x="27965" y="1140218"/>
                  </a:lnTo>
                  <a:lnTo>
                    <a:pt x="22669" y="1137310"/>
                  </a:lnTo>
                  <a:lnTo>
                    <a:pt x="19075" y="1132332"/>
                  </a:lnTo>
                  <a:lnTo>
                    <a:pt x="16662" y="1126871"/>
                  </a:lnTo>
                  <a:lnTo>
                    <a:pt x="17043" y="1121664"/>
                  </a:lnTo>
                  <a:lnTo>
                    <a:pt x="58864" y="1099540"/>
                  </a:lnTo>
                  <a:lnTo>
                    <a:pt x="68313" y="1102563"/>
                  </a:lnTo>
                  <a:lnTo>
                    <a:pt x="76098" y="1109218"/>
                  </a:lnTo>
                  <a:lnTo>
                    <a:pt x="89814" y="1099185"/>
                  </a:lnTo>
                  <a:lnTo>
                    <a:pt x="77927" y="1089063"/>
                  </a:lnTo>
                  <a:lnTo>
                    <a:pt x="64223" y="1084224"/>
                  </a:lnTo>
                  <a:lnTo>
                    <a:pt x="48691" y="1084630"/>
                  </a:lnTo>
                  <a:lnTo>
                    <a:pt x="8826" y="1106398"/>
                  </a:lnTo>
                  <a:lnTo>
                    <a:pt x="0" y="1127125"/>
                  </a:lnTo>
                  <a:lnTo>
                    <a:pt x="584" y="1134173"/>
                  </a:lnTo>
                  <a:lnTo>
                    <a:pt x="2946" y="1141222"/>
                  </a:lnTo>
                  <a:lnTo>
                    <a:pt x="9982" y="1151521"/>
                  </a:lnTo>
                  <a:lnTo>
                    <a:pt x="19875" y="1157630"/>
                  </a:lnTo>
                  <a:lnTo>
                    <a:pt x="32600" y="1159573"/>
                  </a:lnTo>
                  <a:lnTo>
                    <a:pt x="48158" y="1157351"/>
                  </a:lnTo>
                  <a:lnTo>
                    <a:pt x="69748" y="1151890"/>
                  </a:lnTo>
                  <a:lnTo>
                    <a:pt x="77647" y="1150696"/>
                  </a:lnTo>
                  <a:lnTo>
                    <a:pt x="84035" y="1151483"/>
                  </a:lnTo>
                  <a:lnTo>
                    <a:pt x="88887" y="1154214"/>
                  </a:lnTo>
                  <a:lnTo>
                    <a:pt x="92227" y="1158875"/>
                  </a:lnTo>
                  <a:lnTo>
                    <a:pt x="94513" y="1163701"/>
                  </a:lnTo>
                  <a:lnTo>
                    <a:pt x="94005" y="1168400"/>
                  </a:lnTo>
                  <a:lnTo>
                    <a:pt x="58864" y="1187691"/>
                  </a:lnTo>
                  <a:lnTo>
                    <a:pt x="50927" y="1185227"/>
                  </a:lnTo>
                  <a:lnTo>
                    <a:pt x="43713" y="1179957"/>
                  </a:lnTo>
                  <a:lnTo>
                    <a:pt x="30505" y="1189863"/>
                  </a:lnTo>
                  <a:lnTo>
                    <a:pt x="41236" y="1198753"/>
                  </a:lnTo>
                  <a:lnTo>
                    <a:pt x="53682" y="1202931"/>
                  </a:lnTo>
                  <a:lnTo>
                    <a:pt x="67830" y="1202423"/>
                  </a:lnTo>
                  <a:lnTo>
                    <a:pt x="103505" y="1182230"/>
                  </a:lnTo>
                  <a:lnTo>
                    <a:pt x="109715" y="1169250"/>
                  </a:lnTo>
                  <a:lnTo>
                    <a:pt x="110578" y="1162659"/>
                  </a:lnTo>
                  <a:close/>
                </a:path>
                <a:path w="897889" h="1203325">
                  <a:moveTo>
                    <a:pt x="209689" y="1102131"/>
                  </a:moveTo>
                  <a:lnTo>
                    <a:pt x="208711" y="1090930"/>
                  </a:lnTo>
                  <a:lnTo>
                    <a:pt x="208000" y="1088390"/>
                  </a:lnTo>
                  <a:lnTo>
                    <a:pt x="205574" y="1079842"/>
                  </a:lnTo>
                  <a:lnTo>
                    <a:pt x="205498" y="1079550"/>
                  </a:lnTo>
                  <a:lnTo>
                    <a:pt x="200050" y="1067943"/>
                  </a:lnTo>
                  <a:lnTo>
                    <a:pt x="193090" y="1057427"/>
                  </a:lnTo>
                  <a:lnTo>
                    <a:pt x="192786" y="1057097"/>
                  </a:lnTo>
                  <a:lnTo>
                    <a:pt x="192786" y="1108989"/>
                  </a:lnTo>
                  <a:lnTo>
                    <a:pt x="191795" y="1115441"/>
                  </a:lnTo>
                  <a:lnTo>
                    <a:pt x="165760" y="1138809"/>
                  </a:lnTo>
                  <a:lnTo>
                    <a:pt x="160045" y="1138047"/>
                  </a:lnTo>
                  <a:lnTo>
                    <a:pt x="154330" y="1137412"/>
                  </a:lnTo>
                  <a:lnTo>
                    <a:pt x="149377" y="1135253"/>
                  </a:lnTo>
                  <a:lnTo>
                    <a:pt x="141249" y="1128649"/>
                  </a:lnTo>
                  <a:lnTo>
                    <a:pt x="137566" y="1124331"/>
                  </a:lnTo>
                  <a:lnTo>
                    <a:pt x="134264" y="1118870"/>
                  </a:lnTo>
                  <a:lnTo>
                    <a:pt x="188239" y="1088390"/>
                  </a:lnTo>
                  <a:lnTo>
                    <a:pt x="191020" y="1095502"/>
                  </a:lnTo>
                  <a:lnTo>
                    <a:pt x="192481" y="1102131"/>
                  </a:lnTo>
                  <a:lnTo>
                    <a:pt x="192532" y="1102347"/>
                  </a:lnTo>
                  <a:lnTo>
                    <a:pt x="192786" y="1108989"/>
                  </a:lnTo>
                  <a:lnTo>
                    <a:pt x="192786" y="1057097"/>
                  </a:lnTo>
                  <a:lnTo>
                    <a:pt x="186385" y="1050163"/>
                  </a:lnTo>
                  <a:lnTo>
                    <a:pt x="185204" y="1048880"/>
                  </a:lnTo>
                  <a:lnTo>
                    <a:pt x="176377" y="1042327"/>
                  </a:lnTo>
                  <a:lnTo>
                    <a:pt x="166649" y="1037717"/>
                  </a:lnTo>
                  <a:lnTo>
                    <a:pt x="156451" y="1035342"/>
                  </a:lnTo>
                  <a:lnTo>
                    <a:pt x="145923" y="1035342"/>
                  </a:lnTo>
                  <a:lnTo>
                    <a:pt x="108026" y="1058278"/>
                  </a:lnTo>
                  <a:lnTo>
                    <a:pt x="99733" y="1087208"/>
                  </a:lnTo>
                  <a:lnTo>
                    <a:pt x="100736" y="1094613"/>
                  </a:lnTo>
                  <a:lnTo>
                    <a:pt x="116611" y="1089533"/>
                  </a:lnTo>
                  <a:lnTo>
                    <a:pt x="116395" y="1079842"/>
                  </a:lnTo>
                  <a:lnTo>
                    <a:pt x="116370" y="1078471"/>
                  </a:lnTo>
                  <a:lnTo>
                    <a:pt x="147091" y="1050163"/>
                  </a:lnTo>
                  <a:lnTo>
                    <a:pt x="156235" y="1051814"/>
                  </a:lnTo>
                  <a:lnTo>
                    <a:pt x="163017" y="1054366"/>
                  </a:lnTo>
                  <a:lnTo>
                    <a:pt x="169659" y="1059357"/>
                  </a:lnTo>
                  <a:lnTo>
                    <a:pt x="176161" y="1066800"/>
                  </a:lnTo>
                  <a:lnTo>
                    <a:pt x="182524" y="1076706"/>
                  </a:lnTo>
                  <a:lnTo>
                    <a:pt x="111150" y="1116838"/>
                  </a:lnTo>
                  <a:lnTo>
                    <a:pt x="118897" y="1128649"/>
                  </a:lnTo>
                  <a:lnTo>
                    <a:pt x="155384" y="1152271"/>
                  </a:lnTo>
                  <a:lnTo>
                    <a:pt x="164807" y="1152271"/>
                  </a:lnTo>
                  <a:lnTo>
                    <a:pt x="174421" y="1150137"/>
                  </a:lnTo>
                  <a:lnTo>
                    <a:pt x="184048" y="1145794"/>
                  </a:lnTo>
                  <a:lnTo>
                    <a:pt x="192925" y="1139685"/>
                  </a:lnTo>
                  <a:lnTo>
                    <a:pt x="193738" y="1138809"/>
                  </a:lnTo>
                  <a:lnTo>
                    <a:pt x="199948" y="1132192"/>
                  </a:lnTo>
                  <a:lnTo>
                    <a:pt x="205117" y="1123353"/>
                  </a:lnTo>
                  <a:lnTo>
                    <a:pt x="208432" y="1113155"/>
                  </a:lnTo>
                  <a:lnTo>
                    <a:pt x="209664" y="1102347"/>
                  </a:lnTo>
                  <a:lnTo>
                    <a:pt x="209689" y="1102131"/>
                  </a:lnTo>
                  <a:close/>
                </a:path>
                <a:path w="897889" h="1203325">
                  <a:moveTo>
                    <a:pt x="328066" y="1049401"/>
                  </a:moveTo>
                  <a:lnTo>
                    <a:pt x="263804" y="956818"/>
                  </a:lnTo>
                  <a:lnTo>
                    <a:pt x="249453" y="966851"/>
                  </a:lnTo>
                  <a:lnTo>
                    <a:pt x="284632" y="1017651"/>
                  </a:lnTo>
                  <a:lnTo>
                    <a:pt x="288937" y="1024801"/>
                  </a:lnTo>
                  <a:lnTo>
                    <a:pt x="291807" y="1031913"/>
                  </a:lnTo>
                  <a:lnTo>
                    <a:pt x="293230" y="1038987"/>
                  </a:lnTo>
                  <a:lnTo>
                    <a:pt x="293268" y="1045972"/>
                  </a:lnTo>
                  <a:lnTo>
                    <a:pt x="292379" y="1055370"/>
                  </a:lnTo>
                  <a:lnTo>
                    <a:pt x="288188" y="1062609"/>
                  </a:lnTo>
                  <a:lnTo>
                    <a:pt x="275615" y="1071372"/>
                  </a:lnTo>
                  <a:lnTo>
                    <a:pt x="269900" y="1072769"/>
                  </a:lnTo>
                  <a:lnTo>
                    <a:pt x="257581" y="1070991"/>
                  </a:lnTo>
                  <a:lnTo>
                    <a:pt x="251485" y="1066165"/>
                  </a:lnTo>
                  <a:lnTo>
                    <a:pt x="204241" y="998093"/>
                  </a:lnTo>
                  <a:lnTo>
                    <a:pt x="190779" y="1007491"/>
                  </a:lnTo>
                  <a:lnTo>
                    <a:pt x="227990" y="1061085"/>
                  </a:lnTo>
                  <a:lnTo>
                    <a:pt x="258470" y="1088263"/>
                  </a:lnTo>
                  <a:lnTo>
                    <a:pt x="273202" y="1088644"/>
                  </a:lnTo>
                  <a:lnTo>
                    <a:pt x="280314" y="1086358"/>
                  </a:lnTo>
                  <a:lnTo>
                    <a:pt x="302742" y="1054442"/>
                  </a:lnTo>
                  <a:lnTo>
                    <a:pt x="302793" y="1041654"/>
                  </a:lnTo>
                  <a:lnTo>
                    <a:pt x="314731" y="1058799"/>
                  </a:lnTo>
                  <a:lnTo>
                    <a:pt x="328066" y="1049401"/>
                  </a:lnTo>
                  <a:close/>
                </a:path>
                <a:path w="897889" h="1203325">
                  <a:moveTo>
                    <a:pt x="372262" y="1014222"/>
                  </a:moveTo>
                  <a:lnTo>
                    <a:pt x="301777" y="926211"/>
                  </a:lnTo>
                  <a:lnTo>
                    <a:pt x="288188" y="937133"/>
                  </a:lnTo>
                  <a:lnTo>
                    <a:pt x="358546" y="1025144"/>
                  </a:lnTo>
                  <a:lnTo>
                    <a:pt x="372262" y="1014222"/>
                  </a:lnTo>
                  <a:close/>
                </a:path>
                <a:path w="897889" h="1203325">
                  <a:moveTo>
                    <a:pt x="397662" y="1044702"/>
                  </a:moveTo>
                  <a:lnTo>
                    <a:pt x="385470" y="1029462"/>
                  </a:lnTo>
                  <a:lnTo>
                    <a:pt x="370738" y="1041146"/>
                  </a:lnTo>
                  <a:lnTo>
                    <a:pt x="382930" y="1056513"/>
                  </a:lnTo>
                  <a:lnTo>
                    <a:pt x="397662" y="1044702"/>
                  </a:lnTo>
                  <a:close/>
                </a:path>
                <a:path w="897889" h="1203325">
                  <a:moveTo>
                    <a:pt x="439953" y="1008888"/>
                  </a:moveTo>
                  <a:lnTo>
                    <a:pt x="340004" y="893826"/>
                  </a:lnTo>
                  <a:lnTo>
                    <a:pt x="326796" y="905383"/>
                  </a:lnTo>
                  <a:lnTo>
                    <a:pt x="426745" y="1020318"/>
                  </a:lnTo>
                  <a:lnTo>
                    <a:pt x="439953" y="1008888"/>
                  </a:lnTo>
                  <a:close/>
                </a:path>
                <a:path w="897889" h="1203325">
                  <a:moveTo>
                    <a:pt x="489483" y="888365"/>
                  </a:moveTo>
                  <a:lnTo>
                    <a:pt x="474116" y="852690"/>
                  </a:lnTo>
                  <a:lnTo>
                    <a:pt x="474116" y="903732"/>
                  </a:lnTo>
                  <a:lnTo>
                    <a:pt x="471068" y="911225"/>
                  </a:lnTo>
                  <a:lnTo>
                    <a:pt x="464845" y="917321"/>
                  </a:lnTo>
                  <a:lnTo>
                    <a:pt x="460273" y="921893"/>
                  </a:lnTo>
                  <a:lnTo>
                    <a:pt x="455193" y="924560"/>
                  </a:lnTo>
                  <a:lnTo>
                    <a:pt x="448525" y="925449"/>
                  </a:lnTo>
                  <a:lnTo>
                    <a:pt x="448652" y="925449"/>
                  </a:lnTo>
                  <a:lnTo>
                    <a:pt x="443763" y="926211"/>
                  </a:lnTo>
                  <a:lnTo>
                    <a:pt x="419506" y="913638"/>
                  </a:lnTo>
                  <a:lnTo>
                    <a:pt x="463448" y="869950"/>
                  </a:lnTo>
                  <a:lnTo>
                    <a:pt x="474040" y="899160"/>
                  </a:lnTo>
                  <a:lnTo>
                    <a:pt x="474116" y="903732"/>
                  </a:lnTo>
                  <a:lnTo>
                    <a:pt x="474116" y="852690"/>
                  </a:lnTo>
                  <a:lnTo>
                    <a:pt x="469290" y="847090"/>
                  </a:lnTo>
                  <a:lnTo>
                    <a:pt x="429158" y="826897"/>
                  </a:lnTo>
                  <a:lnTo>
                    <a:pt x="418642" y="827265"/>
                  </a:lnTo>
                  <a:lnTo>
                    <a:pt x="385533" y="848169"/>
                  </a:lnTo>
                  <a:lnTo>
                    <a:pt x="375577" y="877443"/>
                  </a:lnTo>
                  <a:lnTo>
                    <a:pt x="375551" y="877722"/>
                  </a:lnTo>
                  <a:lnTo>
                    <a:pt x="376097" y="885177"/>
                  </a:lnTo>
                  <a:lnTo>
                    <a:pt x="377837" y="892340"/>
                  </a:lnTo>
                  <a:lnTo>
                    <a:pt x="380771" y="899160"/>
                  </a:lnTo>
                  <a:lnTo>
                    <a:pt x="394614" y="890016"/>
                  </a:lnTo>
                  <a:lnTo>
                    <a:pt x="391464" y="879475"/>
                  </a:lnTo>
                  <a:lnTo>
                    <a:pt x="391388" y="869759"/>
                  </a:lnTo>
                  <a:lnTo>
                    <a:pt x="422808" y="843280"/>
                  </a:lnTo>
                  <a:lnTo>
                    <a:pt x="430022" y="843851"/>
                  </a:lnTo>
                  <a:lnTo>
                    <a:pt x="437756" y="846874"/>
                  </a:lnTo>
                  <a:lnTo>
                    <a:pt x="446024" y="852322"/>
                  </a:lnTo>
                  <a:lnTo>
                    <a:pt x="454812" y="860171"/>
                  </a:lnTo>
                  <a:lnTo>
                    <a:pt x="396646" y="917956"/>
                  </a:lnTo>
                  <a:lnTo>
                    <a:pt x="407428" y="927392"/>
                  </a:lnTo>
                  <a:lnTo>
                    <a:pt x="418045" y="934326"/>
                  </a:lnTo>
                  <a:lnTo>
                    <a:pt x="428459" y="938771"/>
                  </a:lnTo>
                  <a:lnTo>
                    <a:pt x="438683" y="940689"/>
                  </a:lnTo>
                  <a:lnTo>
                    <a:pt x="448576" y="940295"/>
                  </a:lnTo>
                  <a:lnTo>
                    <a:pt x="457898" y="937780"/>
                  </a:lnTo>
                  <a:lnTo>
                    <a:pt x="466623" y="933157"/>
                  </a:lnTo>
                  <a:lnTo>
                    <a:pt x="474751" y="926465"/>
                  </a:lnTo>
                  <a:lnTo>
                    <a:pt x="474954" y="926211"/>
                  </a:lnTo>
                  <a:lnTo>
                    <a:pt x="481596" y="918159"/>
                  </a:lnTo>
                  <a:lnTo>
                    <a:pt x="486346" y="909040"/>
                  </a:lnTo>
                  <a:lnTo>
                    <a:pt x="488962" y="899160"/>
                  </a:lnTo>
                  <a:lnTo>
                    <a:pt x="489292" y="892340"/>
                  </a:lnTo>
                  <a:lnTo>
                    <a:pt x="489394" y="890016"/>
                  </a:lnTo>
                  <a:lnTo>
                    <a:pt x="489483" y="888365"/>
                  </a:lnTo>
                  <a:close/>
                </a:path>
                <a:path w="897889" h="1203325">
                  <a:moveTo>
                    <a:pt x="586892" y="796163"/>
                  </a:moveTo>
                  <a:lnTo>
                    <a:pt x="584746" y="794385"/>
                  </a:lnTo>
                  <a:lnTo>
                    <a:pt x="553618" y="768578"/>
                  </a:lnTo>
                  <a:lnTo>
                    <a:pt x="553618" y="812927"/>
                  </a:lnTo>
                  <a:lnTo>
                    <a:pt x="551815" y="819023"/>
                  </a:lnTo>
                  <a:lnTo>
                    <a:pt x="551713" y="819404"/>
                  </a:lnTo>
                  <a:lnTo>
                    <a:pt x="547268" y="824865"/>
                  </a:lnTo>
                  <a:lnTo>
                    <a:pt x="541680" y="831596"/>
                  </a:lnTo>
                  <a:lnTo>
                    <a:pt x="534187" y="834644"/>
                  </a:lnTo>
                  <a:lnTo>
                    <a:pt x="524789" y="833882"/>
                  </a:lnTo>
                  <a:lnTo>
                    <a:pt x="485927" y="811288"/>
                  </a:lnTo>
                  <a:lnTo>
                    <a:pt x="471957" y="781177"/>
                  </a:lnTo>
                  <a:lnTo>
                    <a:pt x="473735" y="773811"/>
                  </a:lnTo>
                  <a:lnTo>
                    <a:pt x="482752" y="762889"/>
                  </a:lnTo>
                  <a:lnTo>
                    <a:pt x="488975" y="759714"/>
                  </a:lnTo>
                  <a:lnTo>
                    <a:pt x="505358" y="757428"/>
                  </a:lnTo>
                  <a:lnTo>
                    <a:pt x="513105" y="759206"/>
                  </a:lnTo>
                  <a:lnTo>
                    <a:pt x="544855" y="784098"/>
                  </a:lnTo>
                  <a:lnTo>
                    <a:pt x="553618" y="812927"/>
                  </a:lnTo>
                  <a:lnTo>
                    <a:pt x="553618" y="768578"/>
                  </a:lnTo>
                  <a:lnTo>
                    <a:pt x="540181" y="757428"/>
                  </a:lnTo>
                  <a:lnTo>
                    <a:pt x="529463" y="748538"/>
                  </a:lnTo>
                  <a:lnTo>
                    <a:pt x="470814" y="699897"/>
                  </a:lnTo>
                  <a:lnTo>
                    <a:pt x="459638" y="713359"/>
                  </a:lnTo>
                  <a:lnTo>
                    <a:pt x="502056" y="748538"/>
                  </a:lnTo>
                  <a:lnTo>
                    <a:pt x="491032" y="748042"/>
                  </a:lnTo>
                  <a:lnTo>
                    <a:pt x="456857" y="777773"/>
                  </a:lnTo>
                  <a:lnTo>
                    <a:pt x="455841" y="786853"/>
                  </a:lnTo>
                  <a:lnTo>
                    <a:pt x="456920" y="796163"/>
                  </a:lnTo>
                  <a:lnTo>
                    <a:pt x="482625" y="834263"/>
                  </a:lnTo>
                  <a:lnTo>
                    <a:pt x="523011" y="851789"/>
                  </a:lnTo>
                  <a:lnTo>
                    <a:pt x="532879" y="851408"/>
                  </a:lnTo>
                  <a:lnTo>
                    <a:pt x="541756" y="848944"/>
                  </a:lnTo>
                  <a:lnTo>
                    <a:pt x="549592" y="844359"/>
                  </a:lnTo>
                  <a:lnTo>
                    <a:pt x="556412" y="837692"/>
                  </a:lnTo>
                  <a:lnTo>
                    <a:pt x="558304" y="834644"/>
                  </a:lnTo>
                  <a:lnTo>
                    <a:pt x="562343" y="828205"/>
                  </a:lnTo>
                  <a:lnTo>
                    <a:pt x="564896" y="817803"/>
                  </a:lnTo>
                  <a:lnTo>
                    <a:pt x="564108" y="806538"/>
                  </a:lnTo>
                  <a:lnTo>
                    <a:pt x="559968" y="794385"/>
                  </a:lnTo>
                  <a:lnTo>
                    <a:pt x="576732" y="808355"/>
                  </a:lnTo>
                  <a:lnTo>
                    <a:pt x="586892" y="796163"/>
                  </a:lnTo>
                  <a:close/>
                </a:path>
                <a:path w="897889" h="1203325">
                  <a:moveTo>
                    <a:pt x="620039" y="750316"/>
                  </a:moveTo>
                  <a:lnTo>
                    <a:pt x="528472" y="684530"/>
                  </a:lnTo>
                  <a:lnTo>
                    <a:pt x="518312" y="698754"/>
                  </a:lnTo>
                  <a:lnTo>
                    <a:pt x="609879" y="764540"/>
                  </a:lnTo>
                  <a:lnTo>
                    <a:pt x="620039" y="750316"/>
                  </a:lnTo>
                  <a:close/>
                </a:path>
                <a:path w="897889" h="1203325">
                  <a:moveTo>
                    <a:pt x="652805" y="772795"/>
                  </a:moveTo>
                  <a:lnTo>
                    <a:pt x="636930" y="761365"/>
                  </a:lnTo>
                  <a:lnTo>
                    <a:pt x="625881" y="776732"/>
                  </a:lnTo>
                  <a:lnTo>
                    <a:pt x="641756" y="788035"/>
                  </a:lnTo>
                  <a:lnTo>
                    <a:pt x="652805" y="772795"/>
                  </a:lnTo>
                  <a:close/>
                </a:path>
                <a:path w="897889" h="1203325">
                  <a:moveTo>
                    <a:pt x="688975" y="643826"/>
                  </a:moveTo>
                  <a:lnTo>
                    <a:pt x="658266" y="624941"/>
                  </a:lnTo>
                  <a:lnTo>
                    <a:pt x="658266" y="664972"/>
                  </a:lnTo>
                  <a:lnTo>
                    <a:pt x="657377" y="671830"/>
                  </a:lnTo>
                  <a:lnTo>
                    <a:pt x="653694" y="677799"/>
                  </a:lnTo>
                  <a:lnTo>
                    <a:pt x="648995" y="685292"/>
                  </a:lnTo>
                  <a:lnTo>
                    <a:pt x="642010" y="689356"/>
                  </a:lnTo>
                  <a:lnTo>
                    <a:pt x="632612" y="689864"/>
                  </a:lnTo>
                  <a:lnTo>
                    <a:pt x="625373" y="689508"/>
                  </a:lnTo>
                  <a:lnTo>
                    <a:pt x="583742" y="666559"/>
                  </a:lnTo>
                  <a:lnTo>
                    <a:pt x="572922" y="645160"/>
                  </a:lnTo>
                  <a:lnTo>
                    <a:pt x="573684" y="637667"/>
                  </a:lnTo>
                  <a:lnTo>
                    <a:pt x="577621" y="631063"/>
                  </a:lnTo>
                  <a:lnTo>
                    <a:pt x="581177" y="625475"/>
                  </a:lnTo>
                  <a:lnTo>
                    <a:pt x="586892" y="621538"/>
                  </a:lnTo>
                  <a:lnTo>
                    <a:pt x="602767" y="616966"/>
                  </a:lnTo>
                  <a:lnTo>
                    <a:pt x="610641" y="617474"/>
                  </a:lnTo>
                  <a:lnTo>
                    <a:pt x="645566" y="637667"/>
                  </a:lnTo>
                  <a:lnTo>
                    <a:pt x="658266" y="664972"/>
                  </a:lnTo>
                  <a:lnTo>
                    <a:pt x="658266" y="624941"/>
                  </a:lnTo>
                  <a:lnTo>
                    <a:pt x="645312" y="616966"/>
                  </a:lnTo>
                  <a:lnTo>
                    <a:pt x="560476" y="564769"/>
                  </a:lnTo>
                  <a:lnTo>
                    <a:pt x="551205" y="579628"/>
                  </a:lnTo>
                  <a:lnTo>
                    <a:pt x="598195" y="608584"/>
                  </a:lnTo>
                  <a:lnTo>
                    <a:pt x="587159" y="609638"/>
                  </a:lnTo>
                  <a:lnTo>
                    <a:pt x="557618" y="643255"/>
                  </a:lnTo>
                  <a:lnTo>
                    <a:pt x="557568" y="645795"/>
                  </a:lnTo>
                  <a:lnTo>
                    <a:pt x="557707" y="649859"/>
                  </a:lnTo>
                  <a:lnTo>
                    <a:pt x="580250" y="688670"/>
                  </a:lnTo>
                  <a:lnTo>
                    <a:pt x="623557" y="707898"/>
                  </a:lnTo>
                  <a:lnTo>
                    <a:pt x="633501" y="707898"/>
                  </a:lnTo>
                  <a:lnTo>
                    <a:pt x="643166" y="706094"/>
                  </a:lnTo>
                  <a:lnTo>
                    <a:pt x="651573" y="702373"/>
                  </a:lnTo>
                  <a:lnTo>
                    <a:pt x="658736" y="696760"/>
                  </a:lnTo>
                  <a:lnTo>
                    <a:pt x="664108" y="689864"/>
                  </a:lnTo>
                  <a:lnTo>
                    <a:pt x="664400" y="689508"/>
                  </a:lnTo>
                  <a:lnTo>
                    <a:pt x="664514" y="689356"/>
                  </a:lnTo>
                  <a:lnTo>
                    <a:pt x="664857" y="688670"/>
                  </a:lnTo>
                  <a:lnTo>
                    <a:pt x="669086" y="678942"/>
                  </a:lnTo>
                  <a:lnTo>
                    <a:pt x="670140" y="668274"/>
                  </a:lnTo>
                  <a:lnTo>
                    <a:pt x="667804" y="657479"/>
                  </a:lnTo>
                  <a:lnTo>
                    <a:pt x="667753" y="657225"/>
                  </a:lnTo>
                  <a:lnTo>
                    <a:pt x="661949" y="645795"/>
                  </a:lnTo>
                  <a:lnTo>
                    <a:pt x="680478" y="657352"/>
                  </a:lnTo>
                  <a:lnTo>
                    <a:pt x="687616" y="645795"/>
                  </a:lnTo>
                  <a:lnTo>
                    <a:pt x="688822" y="643826"/>
                  </a:lnTo>
                  <a:lnTo>
                    <a:pt x="688975" y="643826"/>
                  </a:lnTo>
                  <a:close/>
                </a:path>
                <a:path w="897889" h="1203325">
                  <a:moveTo>
                    <a:pt x="814730" y="468630"/>
                  </a:moveTo>
                  <a:lnTo>
                    <a:pt x="792759" y="459511"/>
                  </a:lnTo>
                  <a:lnTo>
                    <a:pt x="792759" y="480060"/>
                  </a:lnTo>
                  <a:lnTo>
                    <a:pt x="780821" y="508635"/>
                  </a:lnTo>
                  <a:lnTo>
                    <a:pt x="749706" y="536702"/>
                  </a:lnTo>
                  <a:lnTo>
                    <a:pt x="739127" y="538086"/>
                  </a:lnTo>
                  <a:lnTo>
                    <a:pt x="728586" y="537832"/>
                  </a:lnTo>
                  <a:lnTo>
                    <a:pt x="685673" y="519836"/>
                  </a:lnTo>
                  <a:lnTo>
                    <a:pt x="665467" y="484149"/>
                  </a:lnTo>
                  <a:lnTo>
                    <a:pt x="666394" y="473608"/>
                  </a:lnTo>
                  <a:lnTo>
                    <a:pt x="669823" y="462534"/>
                  </a:lnTo>
                  <a:lnTo>
                    <a:pt x="681634" y="433959"/>
                  </a:lnTo>
                  <a:lnTo>
                    <a:pt x="792759" y="480060"/>
                  </a:lnTo>
                  <a:lnTo>
                    <a:pt x="792759" y="459511"/>
                  </a:lnTo>
                  <a:lnTo>
                    <a:pt x="731215" y="433959"/>
                  </a:lnTo>
                  <a:lnTo>
                    <a:pt x="674014" y="410210"/>
                  </a:lnTo>
                  <a:lnTo>
                    <a:pt x="652043" y="463169"/>
                  </a:lnTo>
                  <a:lnTo>
                    <a:pt x="648398" y="475564"/>
                  </a:lnTo>
                  <a:lnTo>
                    <a:pt x="647750" y="487934"/>
                  </a:lnTo>
                  <a:lnTo>
                    <a:pt x="650113" y="500316"/>
                  </a:lnTo>
                  <a:lnTo>
                    <a:pt x="673201" y="534289"/>
                  </a:lnTo>
                  <a:lnTo>
                    <a:pt x="713574" y="554596"/>
                  </a:lnTo>
                  <a:lnTo>
                    <a:pt x="727862" y="556856"/>
                  </a:lnTo>
                  <a:lnTo>
                    <a:pt x="741857" y="556552"/>
                  </a:lnTo>
                  <a:lnTo>
                    <a:pt x="779068" y="540169"/>
                  </a:lnTo>
                  <a:lnTo>
                    <a:pt x="795172" y="515747"/>
                  </a:lnTo>
                  <a:lnTo>
                    <a:pt x="814730" y="468630"/>
                  </a:lnTo>
                  <a:close/>
                </a:path>
                <a:path w="897889" h="1203325">
                  <a:moveTo>
                    <a:pt x="848271" y="368706"/>
                  </a:moveTo>
                  <a:lnTo>
                    <a:pt x="828814" y="321754"/>
                  </a:lnTo>
                  <a:lnTo>
                    <a:pt x="788187" y="300101"/>
                  </a:lnTo>
                  <a:lnTo>
                    <a:pt x="756856" y="295503"/>
                  </a:lnTo>
                  <a:lnTo>
                    <a:pt x="742302" y="296710"/>
                  </a:lnTo>
                  <a:lnTo>
                    <a:pt x="706272" y="314325"/>
                  </a:lnTo>
                  <a:lnTo>
                    <a:pt x="691134" y="357695"/>
                  </a:lnTo>
                  <a:lnTo>
                    <a:pt x="695845" y="375754"/>
                  </a:lnTo>
                  <a:lnTo>
                    <a:pt x="707707" y="391744"/>
                  </a:lnTo>
                  <a:lnTo>
                    <a:pt x="726719" y="405638"/>
                  </a:lnTo>
                  <a:lnTo>
                    <a:pt x="735228" y="390017"/>
                  </a:lnTo>
                  <a:lnTo>
                    <a:pt x="720788" y="379691"/>
                  </a:lnTo>
                  <a:lnTo>
                    <a:pt x="711619" y="368300"/>
                  </a:lnTo>
                  <a:lnTo>
                    <a:pt x="707694" y="355879"/>
                  </a:lnTo>
                  <a:lnTo>
                    <a:pt x="709066" y="342392"/>
                  </a:lnTo>
                  <a:lnTo>
                    <a:pt x="712520" y="334086"/>
                  </a:lnTo>
                  <a:lnTo>
                    <a:pt x="754799" y="315188"/>
                  </a:lnTo>
                  <a:lnTo>
                    <a:pt x="766876" y="316407"/>
                  </a:lnTo>
                  <a:lnTo>
                    <a:pt x="805243" y="329463"/>
                  </a:lnTo>
                  <a:lnTo>
                    <a:pt x="831062" y="359321"/>
                  </a:lnTo>
                  <a:lnTo>
                    <a:pt x="831811" y="368249"/>
                  </a:lnTo>
                  <a:lnTo>
                    <a:pt x="830224" y="377698"/>
                  </a:lnTo>
                  <a:lnTo>
                    <a:pt x="824598" y="389178"/>
                  </a:lnTo>
                  <a:lnTo>
                    <a:pt x="815200" y="397319"/>
                  </a:lnTo>
                  <a:lnTo>
                    <a:pt x="802030" y="402132"/>
                  </a:lnTo>
                  <a:lnTo>
                    <a:pt x="785139" y="403606"/>
                  </a:lnTo>
                  <a:lnTo>
                    <a:pt x="783615" y="421767"/>
                  </a:lnTo>
                  <a:lnTo>
                    <a:pt x="806424" y="419938"/>
                  </a:lnTo>
                  <a:lnTo>
                    <a:pt x="824395" y="412737"/>
                  </a:lnTo>
                  <a:lnTo>
                    <a:pt x="837526" y="400177"/>
                  </a:lnTo>
                  <a:lnTo>
                    <a:pt x="845845" y="382270"/>
                  </a:lnTo>
                  <a:lnTo>
                    <a:pt x="848271" y="368706"/>
                  </a:lnTo>
                  <a:close/>
                </a:path>
                <a:path w="897889" h="1203325">
                  <a:moveTo>
                    <a:pt x="868832" y="278765"/>
                  </a:moveTo>
                  <a:lnTo>
                    <a:pt x="697636" y="154559"/>
                  </a:lnTo>
                  <a:lnTo>
                    <a:pt x="694969" y="169291"/>
                  </a:lnTo>
                  <a:lnTo>
                    <a:pt x="866165" y="293497"/>
                  </a:lnTo>
                  <a:lnTo>
                    <a:pt x="868832" y="278765"/>
                  </a:lnTo>
                  <a:close/>
                </a:path>
                <a:path w="897889" h="1203325">
                  <a:moveTo>
                    <a:pt x="888009" y="152908"/>
                  </a:moveTo>
                  <a:lnTo>
                    <a:pt x="736498" y="136144"/>
                  </a:lnTo>
                  <a:lnTo>
                    <a:pt x="734466" y="155067"/>
                  </a:lnTo>
                  <a:lnTo>
                    <a:pt x="885850" y="171831"/>
                  </a:lnTo>
                  <a:lnTo>
                    <a:pt x="888009" y="152908"/>
                  </a:lnTo>
                  <a:close/>
                </a:path>
                <a:path w="897889" h="1203325">
                  <a:moveTo>
                    <a:pt x="897407" y="65786"/>
                  </a:moveTo>
                  <a:lnTo>
                    <a:pt x="886612" y="28625"/>
                  </a:lnTo>
                  <a:lnTo>
                    <a:pt x="853160" y="5334"/>
                  </a:lnTo>
                  <a:lnTo>
                    <a:pt x="821588" y="0"/>
                  </a:lnTo>
                  <a:lnTo>
                    <a:pt x="805180" y="558"/>
                  </a:lnTo>
                  <a:lnTo>
                    <a:pt x="763676" y="14732"/>
                  </a:lnTo>
                  <a:lnTo>
                    <a:pt x="740803" y="45669"/>
                  </a:lnTo>
                  <a:lnTo>
                    <a:pt x="738911" y="59309"/>
                  </a:lnTo>
                  <a:lnTo>
                    <a:pt x="741451" y="79438"/>
                  </a:lnTo>
                  <a:lnTo>
                    <a:pt x="750417" y="95808"/>
                  </a:lnTo>
                  <a:lnTo>
                    <a:pt x="765784" y="108445"/>
                  </a:lnTo>
                  <a:lnTo>
                    <a:pt x="787552" y="117348"/>
                  </a:lnTo>
                  <a:lnTo>
                    <a:pt x="791997" y="100076"/>
                  </a:lnTo>
                  <a:lnTo>
                    <a:pt x="775487" y="93586"/>
                  </a:lnTo>
                  <a:lnTo>
                    <a:pt x="763841" y="84759"/>
                  </a:lnTo>
                  <a:lnTo>
                    <a:pt x="757034" y="73634"/>
                  </a:lnTo>
                  <a:lnTo>
                    <a:pt x="755040" y="60198"/>
                  </a:lnTo>
                  <a:lnTo>
                    <a:pt x="756373" y="51346"/>
                  </a:lnTo>
                  <a:lnTo>
                    <a:pt x="792886" y="22758"/>
                  </a:lnTo>
                  <a:lnTo>
                    <a:pt x="818159" y="20701"/>
                  </a:lnTo>
                  <a:lnTo>
                    <a:pt x="832586" y="21844"/>
                  </a:lnTo>
                  <a:lnTo>
                    <a:pt x="872490" y="39636"/>
                  </a:lnTo>
                  <a:lnTo>
                    <a:pt x="881278" y="65151"/>
                  </a:lnTo>
                  <a:lnTo>
                    <a:pt x="878573" y="77635"/>
                  </a:lnTo>
                  <a:lnTo>
                    <a:pt x="871435" y="87795"/>
                  </a:lnTo>
                  <a:lnTo>
                    <a:pt x="859802" y="95631"/>
                  </a:lnTo>
                  <a:lnTo>
                    <a:pt x="843686" y="101092"/>
                  </a:lnTo>
                  <a:lnTo>
                    <a:pt x="846734" y="119253"/>
                  </a:lnTo>
                  <a:lnTo>
                    <a:pt x="868400" y="111925"/>
                  </a:lnTo>
                  <a:lnTo>
                    <a:pt x="884072" y="100571"/>
                  </a:lnTo>
                  <a:lnTo>
                    <a:pt x="893737" y="85204"/>
                  </a:lnTo>
                  <a:lnTo>
                    <a:pt x="897407" y="657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24478" y="3308350"/>
            <a:ext cx="197485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DevSecOps</a:t>
            </a:r>
            <a:r>
              <a:rPr sz="2000" spc="-7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000" spc="-5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met</a:t>
            </a:r>
            <a:r>
              <a:rPr sz="2000" spc="-7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la </a:t>
            </a:r>
            <a:r>
              <a:rPr sz="2000" spc="-2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focale</a:t>
            </a:r>
            <a:r>
              <a:rPr sz="20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sur</a:t>
            </a:r>
            <a:r>
              <a:rPr sz="20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000" spc="-2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deux </a:t>
            </a:r>
            <a:r>
              <a:rPr sz="20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aspects</a:t>
            </a:r>
            <a:r>
              <a:rPr sz="2000" spc="-4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0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dans</a:t>
            </a:r>
            <a:r>
              <a:rPr sz="20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0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la </a:t>
            </a:r>
            <a:r>
              <a:rPr sz="20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sécurité</a:t>
            </a:r>
            <a:r>
              <a:rPr sz="2000" spc="-1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0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CI/CD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45881" y="1511554"/>
            <a:ext cx="25660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Security</a:t>
            </a:r>
            <a:r>
              <a:rPr sz="2200" spc="8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of</a:t>
            </a:r>
            <a:r>
              <a:rPr sz="2200" spc="8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the</a:t>
            </a:r>
            <a:r>
              <a:rPr sz="2200" spc="8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CI/CD </a:t>
            </a:r>
            <a:r>
              <a:rPr sz="22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pipelines</a:t>
            </a:r>
            <a:endParaRPr sz="2200">
              <a:latin typeface="Franklin Gothic Medium"/>
              <a:cs typeface="Franklin Gothic Mediu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59343" y="2282444"/>
            <a:ext cx="251396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7180" algn="l"/>
              </a:tabLst>
            </a:pPr>
            <a:r>
              <a:rPr sz="18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Comment</a:t>
            </a:r>
            <a:r>
              <a:rPr sz="1800" spc="-4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protéger</a:t>
            </a:r>
            <a:r>
              <a:rPr sz="18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nos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pipelines</a:t>
            </a:r>
            <a:r>
              <a:rPr sz="1800" spc="-7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(accès, vulnérabilités,</a:t>
            </a:r>
            <a:r>
              <a:rPr sz="1800" spc="-7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config, etc.)</a:t>
            </a:r>
            <a:endParaRPr sz="1800">
              <a:latin typeface="Franklin Gothic Medium"/>
              <a:cs typeface="Franklin Gothic Medium"/>
            </a:endParaRPr>
          </a:p>
          <a:p>
            <a:pPr marL="297180" marR="128270" indent="-285115">
              <a:lnSpc>
                <a:spcPct val="100000"/>
              </a:lnSpc>
              <a:buFont typeface="Wingdings"/>
              <a:buChar char=""/>
              <a:tabLst>
                <a:tab pos="297180" algn="l"/>
              </a:tabLst>
            </a:pPr>
            <a:r>
              <a:rPr sz="18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Comment</a:t>
            </a:r>
            <a:r>
              <a:rPr sz="1800" spc="-3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se</a:t>
            </a:r>
            <a:r>
              <a:rPr sz="1800" spc="-1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protéger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contre</a:t>
            </a:r>
            <a:r>
              <a:rPr sz="18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les</a:t>
            </a:r>
            <a:r>
              <a:rPr sz="1800" spc="-3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attaques </a:t>
            </a:r>
            <a:r>
              <a:rPr sz="180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supply</a:t>
            </a:r>
            <a:r>
              <a:rPr sz="1800" spc="-9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chains.</a:t>
            </a:r>
            <a:endParaRPr sz="1800">
              <a:latin typeface="Franklin Gothic Medium"/>
              <a:cs typeface="Franklin Gothic Medium"/>
            </a:endParaRPr>
          </a:p>
          <a:p>
            <a:pPr marL="297180" marR="76835" indent="-285115">
              <a:lnSpc>
                <a:spcPct val="100000"/>
              </a:lnSpc>
              <a:buFont typeface="Wingdings"/>
              <a:buChar char=""/>
              <a:tabLst>
                <a:tab pos="297180" algn="l"/>
              </a:tabLst>
            </a:pPr>
            <a:r>
              <a:rPr sz="18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Comment</a:t>
            </a:r>
            <a:r>
              <a:rPr sz="1800" spc="-4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protéger</a:t>
            </a:r>
            <a:r>
              <a:rPr sz="1800" spc="-4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les </a:t>
            </a:r>
            <a:r>
              <a:rPr sz="1800" spc="-10" dirty="0">
                <a:solidFill>
                  <a:srgbClr val="282E39"/>
                </a:solidFill>
                <a:latin typeface="Franklin Gothic Medium"/>
                <a:cs typeface="Franklin Gothic Medium"/>
              </a:rPr>
              <a:t>secretdans</a:t>
            </a: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 les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57031" y="4783365"/>
            <a:ext cx="923925" cy="25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0"/>
              </a:lnSpc>
            </a:pPr>
            <a:r>
              <a:rPr sz="1800" spc="-25" dirty="0">
                <a:solidFill>
                  <a:srgbClr val="282E39"/>
                </a:solidFill>
                <a:latin typeface="Franklin Gothic Medium"/>
                <a:cs typeface="Franklin Gothic Medium"/>
              </a:rPr>
              <a:t>pipelines.</a:t>
            </a:r>
            <a:endParaRPr sz="1800">
              <a:latin typeface="Franklin Gothic Medium"/>
              <a:cs typeface="Franklin Gothic Medium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35750" y="4781575"/>
            <a:ext cx="4044442" cy="1872614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66140" y="13690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14"/>
              </a:lnSpc>
            </a:pPr>
            <a:fld id="{81D60167-4931-47E6-BA6A-407CBD079E47}" type="slidenum">
              <a:rPr sz="1600" spc="-25" dirty="0"/>
              <a:t>121</a:t>
            </a:fld>
            <a:endParaRPr sz="160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Qu'est-</a:t>
            </a:r>
            <a:r>
              <a:rPr dirty="0"/>
              <a:t>ce</a:t>
            </a:r>
            <a:r>
              <a:rPr spc="5" dirty="0"/>
              <a:t> </a:t>
            </a:r>
            <a:r>
              <a:rPr dirty="0"/>
              <a:t>que</a:t>
            </a:r>
            <a:r>
              <a:rPr spc="-20" dirty="0"/>
              <a:t> </a:t>
            </a:r>
            <a:r>
              <a:rPr dirty="0"/>
              <a:t>FinOps</a:t>
            </a:r>
            <a:r>
              <a:rPr spc="-5" dirty="0"/>
              <a:t> </a:t>
            </a:r>
            <a:r>
              <a:rPr spc="-50" dirty="0"/>
              <a:t>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14"/>
              </a:lnSpc>
            </a:pPr>
            <a:fld id="{81D60167-4931-47E6-BA6A-407CBD079E47}" type="slidenum">
              <a:rPr sz="1600" spc="-25" dirty="0"/>
              <a:t>122</a:t>
            </a:fld>
            <a:endParaRPr sz="1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«</a:t>
            </a:r>
            <a:r>
              <a:rPr spc="-25" dirty="0"/>
              <a:t> </a:t>
            </a:r>
            <a:r>
              <a:rPr dirty="0"/>
              <a:t>FinOps</a:t>
            </a:r>
            <a:r>
              <a:rPr spc="-30" dirty="0"/>
              <a:t> </a:t>
            </a:r>
            <a:r>
              <a:rPr dirty="0"/>
              <a:t>est</a:t>
            </a:r>
            <a:r>
              <a:rPr spc="-20" dirty="0"/>
              <a:t> </a:t>
            </a:r>
            <a:r>
              <a:rPr dirty="0"/>
              <a:t>un</a:t>
            </a:r>
            <a:r>
              <a:rPr spc="-15" dirty="0"/>
              <a:t> </a:t>
            </a:r>
            <a:r>
              <a:rPr dirty="0"/>
              <a:t>cadre</a:t>
            </a:r>
            <a:r>
              <a:rPr spc="-25" dirty="0"/>
              <a:t> </a:t>
            </a:r>
            <a:r>
              <a:rPr dirty="0"/>
              <a:t>opérationnel</a:t>
            </a:r>
            <a:r>
              <a:rPr spc="-20" dirty="0"/>
              <a:t> </a:t>
            </a:r>
            <a:r>
              <a:rPr dirty="0"/>
              <a:t>et</a:t>
            </a:r>
            <a:r>
              <a:rPr spc="-25" dirty="0"/>
              <a:t> </a:t>
            </a:r>
            <a:r>
              <a:rPr dirty="0"/>
              <a:t>une</a:t>
            </a:r>
            <a:r>
              <a:rPr spc="-20" dirty="0"/>
              <a:t> </a:t>
            </a:r>
            <a:r>
              <a:rPr dirty="0"/>
              <a:t>pratique</a:t>
            </a:r>
            <a:r>
              <a:rPr spc="-20" dirty="0"/>
              <a:t> </a:t>
            </a:r>
            <a:r>
              <a:rPr dirty="0"/>
              <a:t>culturelle</a:t>
            </a:r>
            <a:r>
              <a:rPr spc="-20" dirty="0"/>
              <a:t> </a:t>
            </a:r>
            <a:r>
              <a:rPr dirty="0"/>
              <a:t>qui</a:t>
            </a:r>
            <a:r>
              <a:rPr spc="-25" dirty="0"/>
              <a:t> </a:t>
            </a:r>
            <a:r>
              <a:rPr spc="-10" dirty="0"/>
              <a:t>maximise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valeur</a:t>
            </a:r>
            <a:r>
              <a:rPr spc="-35" dirty="0"/>
              <a:t> </a:t>
            </a:r>
            <a:r>
              <a:rPr dirty="0"/>
              <a:t>commerciale</a:t>
            </a:r>
            <a:r>
              <a:rPr spc="-15" dirty="0"/>
              <a:t> </a:t>
            </a:r>
            <a:r>
              <a:rPr dirty="0"/>
              <a:t>du</a:t>
            </a:r>
            <a:r>
              <a:rPr spc="-25" dirty="0"/>
              <a:t> </a:t>
            </a:r>
            <a:r>
              <a:rPr dirty="0"/>
              <a:t>cloud,</a:t>
            </a:r>
            <a:r>
              <a:rPr spc="-10" dirty="0"/>
              <a:t> </a:t>
            </a:r>
            <a:r>
              <a:rPr dirty="0"/>
              <a:t>permet</a:t>
            </a:r>
            <a:r>
              <a:rPr spc="-15" dirty="0"/>
              <a:t> </a:t>
            </a:r>
            <a:r>
              <a:rPr dirty="0"/>
              <a:t>une</a:t>
            </a:r>
            <a:r>
              <a:rPr spc="-10" dirty="0"/>
              <a:t> </a:t>
            </a:r>
            <a:r>
              <a:rPr dirty="0"/>
              <a:t>prise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décision</a:t>
            </a:r>
            <a:r>
              <a:rPr spc="-15" dirty="0"/>
              <a:t> </a:t>
            </a:r>
            <a:r>
              <a:rPr dirty="0"/>
              <a:t>rapide</a:t>
            </a:r>
            <a:r>
              <a:rPr spc="-30" dirty="0"/>
              <a:t> </a:t>
            </a:r>
            <a:r>
              <a:rPr spc="-10" dirty="0"/>
              <a:t>basée </a:t>
            </a:r>
            <a:r>
              <a:rPr dirty="0"/>
              <a:t>sur</a:t>
            </a:r>
            <a:r>
              <a:rPr spc="-30" dirty="0"/>
              <a:t> </a:t>
            </a:r>
            <a:r>
              <a:rPr dirty="0"/>
              <a:t>les</a:t>
            </a:r>
            <a:r>
              <a:rPr spc="-30" dirty="0"/>
              <a:t> </a:t>
            </a:r>
            <a:r>
              <a:rPr dirty="0"/>
              <a:t>données</a:t>
            </a:r>
            <a:r>
              <a:rPr spc="-30" dirty="0"/>
              <a:t> </a:t>
            </a:r>
            <a:r>
              <a:rPr dirty="0"/>
              <a:t>et</a:t>
            </a:r>
            <a:r>
              <a:rPr spc="-15" dirty="0"/>
              <a:t> </a:t>
            </a:r>
            <a:r>
              <a:rPr dirty="0"/>
              <a:t>crée</a:t>
            </a:r>
            <a:r>
              <a:rPr spc="-30" dirty="0"/>
              <a:t> </a:t>
            </a:r>
            <a:r>
              <a:rPr dirty="0"/>
              <a:t>une</a:t>
            </a:r>
            <a:r>
              <a:rPr spc="-15" dirty="0"/>
              <a:t> </a:t>
            </a:r>
            <a:r>
              <a:rPr dirty="0"/>
              <a:t>responsabilité</a:t>
            </a:r>
            <a:r>
              <a:rPr spc="-35" dirty="0"/>
              <a:t> </a:t>
            </a:r>
            <a:r>
              <a:rPr dirty="0"/>
              <a:t>financière</a:t>
            </a:r>
            <a:r>
              <a:rPr spc="-40" dirty="0"/>
              <a:t> </a:t>
            </a:r>
            <a:r>
              <a:rPr dirty="0"/>
              <a:t>grâce</a:t>
            </a:r>
            <a:r>
              <a:rPr spc="-20" dirty="0"/>
              <a:t> </a:t>
            </a:r>
            <a:r>
              <a:rPr dirty="0"/>
              <a:t>à</a:t>
            </a:r>
            <a:r>
              <a:rPr spc="-30" dirty="0"/>
              <a:t> </a:t>
            </a:r>
            <a:r>
              <a:rPr dirty="0"/>
              <a:t>la</a:t>
            </a:r>
            <a:r>
              <a:rPr spc="-30" dirty="0"/>
              <a:t> </a:t>
            </a:r>
            <a:r>
              <a:rPr spc="-10" dirty="0"/>
              <a:t>collaboration </a:t>
            </a:r>
            <a:r>
              <a:rPr dirty="0"/>
              <a:t>entre</a:t>
            </a:r>
            <a:r>
              <a:rPr spc="-55" dirty="0"/>
              <a:t> </a:t>
            </a:r>
            <a:r>
              <a:rPr dirty="0"/>
              <a:t>les</a:t>
            </a:r>
            <a:r>
              <a:rPr spc="-55" dirty="0"/>
              <a:t> </a:t>
            </a:r>
            <a:r>
              <a:rPr dirty="0"/>
              <a:t>équipes</a:t>
            </a:r>
            <a:r>
              <a:rPr spc="-60" dirty="0"/>
              <a:t> </a:t>
            </a:r>
            <a:r>
              <a:rPr dirty="0"/>
              <a:t>d'ingénierie,</a:t>
            </a:r>
            <a:r>
              <a:rPr spc="-4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finance</a:t>
            </a:r>
            <a:r>
              <a:rPr spc="-70" dirty="0"/>
              <a:t> </a:t>
            </a:r>
            <a:r>
              <a:rPr dirty="0"/>
              <a:t>et</a:t>
            </a:r>
            <a:r>
              <a:rPr spc="-50" dirty="0"/>
              <a:t> </a:t>
            </a:r>
            <a:r>
              <a:rPr dirty="0"/>
              <a:t>d'entreprise.</a:t>
            </a:r>
            <a:r>
              <a:rPr spc="-5" dirty="0"/>
              <a:t> </a:t>
            </a:r>
            <a:r>
              <a:rPr spc="-50" dirty="0"/>
              <a:t>»</a:t>
            </a: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pc="-50" dirty="0"/>
          </a:p>
          <a:p>
            <a:pPr marL="104139" marR="725170">
              <a:lnSpc>
                <a:spcPct val="100000"/>
              </a:lnSpc>
            </a:pPr>
            <a:r>
              <a:rPr dirty="0"/>
              <a:t>À</a:t>
            </a:r>
            <a:r>
              <a:rPr spc="-35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dirty="0"/>
              <a:t>base,</a:t>
            </a:r>
            <a:r>
              <a:rPr spc="-30" dirty="0"/>
              <a:t> </a:t>
            </a:r>
            <a:r>
              <a:rPr dirty="0"/>
              <a:t>FinOps</a:t>
            </a:r>
            <a:r>
              <a:rPr spc="-30" dirty="0"/>
              <a:t> </a:t>
            </a:r>
            <a:r>
              <a:rPr dirty="0"/>
              <a:t>est</a:t>
            </a:r>
            <a:r>
              <a:rPr spc="-30" dirty="0"/>
              <a:t> </a:t>
            </a:r>
            <a:r>
              <a:rPr dirty="0"/>
              <a:t>une</a:t>
            </a:r>
            <a:r>
              <a:rPr spc="-25" dirty="0"/>
              <a:t> </a:t>
            </a:r>
            <a:r>
              <a:rPr dirty="0"/>
              <a:t>pratique</a:t>
            </a:r>
            <a:r>
              <a:rPr spc="-30" dirty="0"/>
              <a:t> </a:t>
            </a:r>
            <a:r>
              <a:rPr dirty="0"/>
              <a:t>culturelle.</a:t>
            </a:r>
            <a:r>
              <a:rPr spc="-40" dirty="0"/>
              <a:t> </a:t>
            </a:r>
            <a:r>
              <a:rPr dirty="0"/>
              <a:t>C'est</a:t>
            </a:r>
            <a:r>
              <a:rPr spc="-20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dirty="0"/>
              <a:t>façon</a:t>
            </a:r>
            <a:r>
              <a:rPr spc="-30" dirty="0"/>
              <a:t> </a:t>
            </a:r>
            <a:r>
              <a:rPr dirty="0"/>
              <a:t>dont</a:t>
            </a:r>
            <a:r>
              <a:rPr spc="-20" dirty="0"/>
              <a:t> </a:t>
            </a:r>
            <a:r>
              <a:rPr spc="-25" dirty="0"/>
              <a:t>les </a:t>
            </a:r>
            <a:r>
              <a:rPr dirty="0"/>
              <a:t>équipes</a:t>
            </a:r>
            <a:r>
              <a:rPr spc="-50" dirty="0"/>
              <a:t> </a:t>
            </a:r>
            <a:r>
              <a:rPr dirty="0"/>
              <a:t>gèrent</a:t>
            </a:r>
            <a:r>
              <a:rPr spc="-35" dirty="0"/>
              <a:t> </a:t>
            </a:r>
            <a:r>
              <a:rPr dirty="0"/>
              <a:t>leurs</a:t>
            </a:r>
            <a:r>
              <a:rPr spc="-45" dirty="0"/>
              <a:t> </a:t>
            </a:r>
            <a:r>
              <a:rPr dirty="0"/>
              <a:t>coûts</a:t>
            </a:r>
            <a:r>
              <a:rPr spc="-50" dirty="0"/>
              <a:t> </a:t>
            </a:r>
            <a:r>
              <a:rPr dirty="0"/>
              <a:t>cloud,</a:t>
            </a:r>
            <a:r>
              <a:rPr spc="-50" dirty="0"/>
              <a:t> </a:t>
            </a:r>
            <a:r>
              <a:rPr dirty="0"/>
              <a:t>où</a:t>
            </a:r>
            <a:r>
              <a:rPr spc="-35" dirty="0"/>
              <a:t> </a:t>
            </a:r>
            <a:r>
              <a:rPr dirty="0"/>
              <a:t>chacun</a:t>
            </a:r>
            <a:r>
              <a:rPr spc="-45" dirty="0"/>
              <a:t> </a:t>
            </a:r>
            <a:r>
              <a:rPr dirty="0"/>
              <a:t>prend</a:t>
            </a:r>
            <a:r>
              <a:rPr spc="-50" dirty="0"/>
              <a:t> </a:t>
            </a:r>
            <a:r>
              <a:rPr dirty="0"/>
              <a:t>en</a:t>
            </a:r>
            <a:r>
              <a:rPr spc="-40" dirty="0"/>
              <a:t> </a:t>
            </a:r>
            <a:r>
              <a:rPr dirty="0"/>
              <a:t>charge</a:t>
            </a:r>
            <a:r>
              <a:rPr spc="-50" dirty="0"/>
              <a:t> </a:t>
            </a:r>
            <a:r>
              <a:rPr spc="-25" dirty="0"/>
              <a:t>son </a:t>
            </a:r>
            <a:r>
              <a:rPr dirty="0"/>
              <a:t>utilisation</a:t>
            </a:r>
            <a:r>
              <a:rPr spc="-35" dirty="0"/>
              <a:t> </a:t>
            </a:r>
            <a:r>
              <a:rPr dirty="0"/>
              <a:t>du</a:t>
            </a:r>
            <a:r>
              <a:rPr spc="-30" dirty="0"/>
              <a:t> </a:t>
            </a:r>
            <a:r>
              <a:rPr dirty="0"/>
              <a:t>cloud</a:t>
            </a:r>
            <a:r>
              <a:rPr spc="-40" dirty="0"/>
              <a:t> </a:t>
            </a:r>
            <a:r>
              <a:rPr dirty="0"/>
              <a:t>avec</a:t>
            </a:r>
            <a:r>
              <a:rPr spc="-35" dirty="0"/>
              <a:t> </a:t>
            </a:r>
            <a:r>
              <a:rPr dirty="0"/>
              <a:t>le</a:t>
            </a:r>
            <a:r>
              <a:rPr spc="-25" dirty="0"/>
              <a:t> </a:t>
            </a:r>
            <a:r>
              <a:rPr dirty="0"/>
              <a:t>soutien</a:t>
            </a:r>
            <a:r>
              <a:rPr spc="-35" dirty="0"/>
              <a:t> </a:t>
            </a:r>
            <a:r>
              <a:rPr dirty="0"/>
              <a:t>d'un</a:t>
            </a:r>
            <a:r>
              <a:rPr spc="-30" dirty="0"/>
              <a:t> </a:t>
            </a:r>
            <a:r>
              <a:rPr dirty="0"/>
              <a:t>groupe</a:t>
            </a:r>
            <a:r>
              <a:rPr spc="-25" dirty="0"/>
              <a:t> </a:t>
            </a:r>
            <a:r>
              <a:rPr dirty="0"/>
              <a:t>central</a:t>
            </a:r>
            <a:r>
              <a:rPr spc="-3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bonnes </a:t>
            </a:r>
            <a:r>
              <a:rPr dirty="0"/>
              <a:t>pratiques.</a:t>
            </a:r>
            <a:r>
              <a:rPr spc="-25" dirty="0"/>
              <a:t> </a:t>
            </a:r>
            <a:r>
              <a:rPr dirty="0"/>
              <a:t>Des</a:t>
            </a:r>
            <a:r>
              <a:rPr spc="-20" dirty="0"/>
              <a:t> </a:t>
            </a:r>
            <a:r>
              <a:rPr dirty="0"/>
              <a:t>équipes</a:t>
            </a:r>
            <a:r>
              <a:rPr spc="-20" dirty="0"/>
              <a:t> </a:t>
            </a:r>
            <a:r>
              <a:rPr spc="-10" dirty="0"/>
              <a:t>interfonctionnelles</a:t>
            </a:r>
            <a:r>
              <a:rPr spc="-20" dirty="0"/>
              <a:t> </a:t>
            </a:r>
            <a:r>
              <a:rPr dirty="0"/>
              <a:t>dans</a:t>
            </a:r>
            <a:r>
              <a:rPr spc="-20" dirty="0"/>
              <a:t> </a:t>
            </a:r>
            <a:r>
              <a:rPr dirty="0"/>
              <a:t>les</a:t>
            </a:r>
            <a:r>
              <a:rPr spc="-15" dirty="0"/>
              <a:t> </a:t>
            </a:r>
            <a:r>
              <a:rPr dirty="0"/>
              <a:t>domaines</a:t>
            </a:r>
            <a:r>
              <a:rPr spc="-20" dirty="0"/>
              <a:t> </a:t>
            </a:r>
            <a:r>
              <a:rPr spc="-25" dirty="0"/>
              <a:t>de </a:t>
            </a:r>
            <a:r>
              <a:rPr dirty="0"/>
              <a:t>l'ingénierie,</a:t>
            </a:r>
            <a:r>
              <a:rPr spc="-45" dirty="0"/>
              <a:t> </a:t>
            </a:r>
            <a:r>
              <a:rPr dirty="0"/>
              <a:t>des</a:t>
            </a:r>
            <a:r>
              <a:rPr spc="-40" dirty="0"/>
              <a:t> </a:t>
            </a:r>
            <a:r>
              <a:rPr dirty="0"/>
              <a:t>finances,</a:t>
            </a:r>
            <a:r>
              <a:rPr spc="-60" dirty="0"/>
              <a:t> </a:t>
            </a:r>
            <a:r>
              <a:rPr dirty="0"/>
              <a:t>des</a:t>
            </a:r>
            <a:r>
              <a:rPr spc="-40" dirty="0"/>
              <a:t> </a:t>
            </a:r>
            <a:r>
              <a:rPr dirty="0"/>
              <a:t>produits,</a:t>
            </a:r>
            <a:r>
              <a:rPr spc="-45" dirty="0"/>
              <a:t> </a:t>
            </a:r>
            <a:r>
              <a:rPr dirty="0"/>
              <a:t>etc.</a:t>
            </a:r>
            <a:r>
              <a:rPr spc="-55" dirty="0"/>
              <a:t> </a:t>
            </a:r>
            <a:r>
              <a:rPr dirty="0"/>
              <a:t>travaillent</a:t>
            </a:r>
            <a:r>
              <a:rPr spc="-50" dirty="0"/>
              <a:t> </a:t>
            </a:r>
            <a:r>
              <a:rPr dirty="0"/>
              <a:t>ensemble</a:t>
            </a:r>
            <a:r>
              <a:rPr spc="-45" dirty="0"/>
              <a:t> </a:t>
            </a:r>
            <a:r>
              <a:rPr spc="-20" dirty="0"/>
              <a:t>pour </a:t>
            </a:r>
            <a:r>
              <a:rPr dirty="0"/>
              <a:t>permettre</a:t>
            </a:r>
            <a:r>
              <a:rPr spc="-30" dirty="0"/>
              <a:t> </a:t>
            </a:r>
            <a:r>
              <a:rPr dirty="0"/>
              <a:t>une</a:t>
            </a:r>
            <a:r>
              <a:rPr spc="-25" dirty="0"/>
              <a:t> </a:t>
            </a:r>
            <a:r>
              <a:rPr dirty="0"/>
              <a:t>livraison</a:t>
            </a:r>
            <a:r>
              <a:rPr spc="-70" dirty="0"/>
              <a:t> </a:t>
            </a:r>
            <a:r>
              <a:rPr dirty="0"/>
              <a:t>plus</a:t>
            </a:r>
            <a:r>
              <a:rPr spc="-35" dirty="0"/>
              <a:t> </a:t>
            </a:r>
            <a:r>
              <a:rPr dirty="0"/>
              <a:t>rapide</a:t>
            </a:r>
            <a:r>
              <a:rPr spc="-35" dirty="0"/>
              <a:t> </a:t>
            </a:r>
            <a:r>
              <a:rPr dirty="0"/>
              <a:t>des</a:t>
            </a:r>
            <a:r>
              <a:rPr spc="-30" dirty="0"/>
              <a:t> </a:t>
            </a:r>
            <a:r>
              <a:rPr dirty="0"/>
              <a:t>produits,</a:t>
            </a:r>
            <a:r>
              <a:rPr spc="-35" dirty="0"/>
              <a:t> </a:t>
            </a:r>
            <a:r>
              <a:rPr dirty="0"/>
              <a:t>tout</a:t>
            </a:r>
            <a:r>
              <a:rPr spc="-25" dirty="0"/>
              <a:t> </a:t>
            </a:r>
            <a:r>
              <a:rPr dirty="0"/>
              <a:t>en</a:t>
            </a:r>
            <a:r>
              <a:rPr spc="-30" dirty="0"/>
              <a:t> </a:t>
            </a:r>
            <a:r>
              <a:rPr dirty="0"/>
              <a:t>obtenant</a:t>
            </a:r>
            <a:r>
              <a:rPr spc="-30" dirty="0"/>
              <a:t> </a:t>
            </a:r>
            <a:r>
              <a:rPr spc="-25" dirty="0"/>
              <a:t>un </a:t>
            </a:r>
            <a:r>
              <a:rPr dirty="0"/>
              <a:t>meilleur</a:t>
            </a:r>
            <a:r>
              <a:rPr spc="-45" dirty="0"/>
              <a:t> </a:t>
            </a:r>
            <a:r>
              <a:rPr dirty="0"/>
              <a:t>contrôle</a:t>
            </a:r>
            <a:r>
              <a:rPr spc="-10" dirty="0"/>
              <a:t> </a:t>
            </a:r>
            <a:r>
              <a:rPr dirty="0"/>
              <a:t>financier</a:t>
            </a:r>
            <a:r>
              <a:rPr spc="-20" dirty="0"/>
              <a:t> </a:t>
            </a:r>
            <a:r>
              <a:rPr dirty="0"/>
              <a:t>et</a:t>
            </a:r>
            <a:r>
              <a:rPr spc="-15" dirty="0"/>
              <a:t> </a:t>
            </a:r>
            <a:r>
              <a:rPr dirty="0"/>
              <a:t>une</a:t>
            </a:r>
            <a:r>
              <a:rPr spc="-20" dirty="0"/>
              <a:t> </a:t>
            </a:r>
            <a:r>
              <a:rPr dirty="0"/>
              <a:t>meilleure</a:t>
            </a:r>
            <a:r>
              <a:rPr spc="-15" dirty="0"/>
              <a:t> </a:t>
            </a:r>
            <a:r>
              <a:rPr spc="-10" dirty="0"/>
              <a:t>prévisibilité.</a:t>
            </a:r>
          </a:p>
          <a:p>
            <a:pPr marL="104139">
              <a:lnSpc>
                <a:spcPct val="100000"/>
              </a:lnSpc>
              <a:spcBef>
                <a:spcPts val="2670"/>
              </a:spcBef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https://www.finops.org/introduction/what-is-finops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140" y="13690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164052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836" y="72644"/>
            <a:ext cx="83680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0075" algn="l"/>
                <a:tab pos="3234055" algn="l"/>
                <a:tab pos="5200015" algn="l"/>
                <a:tab pos="5934710" algn="l"/>
              </a:tabLst>
            </a:pPr>
            <a:r>
              <a:rPr sz="3600" b="1" spc="-75" baseline="1157" dirty="0">
                <a:latin typeface="Calibri"/>
                <a:cs typeface="Calibri"/>
              </a:rPr>
              <a:t>3</a:t>
            </a:r>
            <a:r>
              <a:rPr sz="3600" b="1" baseline="1157" dirty="0">
                <a:latin typeface="Calibri"/>
                <a:cs typeface="Calibri"/>
              </a:rPr>
              <a:t>	</a:t>
            </a:r>
            <a:r>
              <a:rPr sz="3200" spc="190" dirty="0"/>
              <a:t>Amélioration</a:t>
            </a:r>
            <a:r>
              <a:rPr sz="3200" dirty="0"/>
              <a:t>	</a:t>
            </a:r>
            <a:r>
              <a:rPr sz="3200" spc="185" dirty="0"/>
              <a:t>continue:</a:t>
            </a:r>
            <a:r>
              <a:rPr sz="3200" dirty="0"/>
              <a:t>	</a:t>
            </a:r>
            <a:r>
              <a:rPr sz="3200" spc="125" dirty="0"/>
              <a:t>Les</a:t>
            </a:r>
            <a:r>
              <a:rPr sz="3200" dirty="0"/>
              <a:t>	outils</a:t>
            </a:r>
            <a:r>
              <a:rPr sz="3200" spc="175" dirty="0"/>
              <a:t> </a:t>
            </a:r>
            <a:r>
              <a:rPr sz="3200" dirty="0"/>
              <a:t>du</a:t>
            </a:r>
            <a:r>
              <a:rPr sz="3200" spc="275" dirty="0"/>
              <a:t> </a:t>
            </a:r>
            <a:r>
              <a:rPr sz="3200" spc="50" dirty="0"/>
              <a:t>Lean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9935" y="1312717"/>
            <a:ext cx="10535920" cy="1177290"/>
            <a:chOff x="99935" y="1312717"/>
            <a:chExt cx="10535920" cy="1177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935" y="1312717"/>
              <a:ext cx="10535506" cy="11771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3238" y="1325956"/>
              <a:ext cx="10455275" cy="1096645"/>
            </a:xfrm>
            <a:custGeom>
              <a:avLst/>
              <a:gdLst/>
              <a:ahLst/>
              <a:cxnLst/>
              <a:rect l="l" t="t" r="r" b="b"/>
              <a:pathLst>
                <a:path w="10455275" h="1096645">
                  <a:moveTo>
                    <a:pt x="10455021" y="0"/>
                  </a:moveTo>
                  <a:lnTo>
                    <a:pt x="0" y="0"/>
                  </a:lnTo>
                  <a:lnTo>
                    <a:pt x="0" y="1096568"/>
                  </a:lnTo>
                  <a:lnTo>
                    <a:pt x="10455021" y="1096568"/>
                  </a:lnTo>
                  <a:lnTo>
                    <a:pt x="10455021" y="0"/>
                  </a:lnTo>
                  <a:close/>
                </a:path>
              </a:pathLst>
            </a:custGeom>
            <a:solidFill>
              <a:srgbClr val="DAED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9966" y="760552"/>
            <a:ext cx="10105390" cy="5286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7914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Value</a:t>
            </a:r>
            <a:r>
              <a:rPr sz="2000" spc="19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Stream</a:t>
            </a:r>
            <a:r>
              <a:rPr sz="2000" spc="30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Mapping</a:t>
            </a:r>
            <a:r>
              <a:rPr sz="2000" spc="18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27079"/>
                </a:solidFill>
                <a:latin typeface="Calibri"/>
                <a:cs typeface="Calibri"/>
              </a:rPr>
              <a:t>(VSM)</a:t>
            </a:r>
            <a:endParaRPr sz="2000">
              <a:latin typeface="Calibri"/>
              <a:cs typeface="Calibri"/>
            </a:endParaRPr>
          </a:p>
          <a:p>
            <a:pPr marL="12065" marR="5080" indent="1270" algn="ctr">
              <a:lnSpc>
                <a:spcPts val="2590"/>
              </a:lnSpc>
              <a:spcBef>
                <a:spcPts val="2285"/>
              </a:spcBef>
            </a:pPr>
            <a:r>
              <a:rPr sz="2200" spc="-10" dirty="0">
                <a:latin typeface="Calibri"/>
                <a:cs typeface="Calibri"/>
              </a:rPr>
              <a:t>Value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stream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mapping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outil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décrit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flux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d’informations,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matériaux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et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travail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silos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fonctionnels,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mettant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l'accent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quantification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l'élimination</a:t>
            </a:r>
            <a:endParaRPr sz="2200">
              <a:latin typeface="Calibri"/>
              <a:cs typeface="Calibri"/>
            </a:endParaRPr>
          </a:p>
          <a:p>
            <a:pPr marR="263525" algn="ctr">
              <a:lnSpc>
                <a:spcPts val="2430"/>
              </a:lnSpc>
            </a:pPr>
            <a:r>
              <a:rPr sz="2200" dirty="0">
                <a:latin typeface="Calibri"/>
                <a:cs typeface="Calibri"/>
              </a:rPr>
              <a:t>du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gaspillage,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compris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temps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qualité.</a:t>
            </a:r>
            <a:endParaRPr sz="2200">
              <a:latin typeface="Calibri"/>
              <a:cs typeface="Calibri"/>
            </a:endParaRPr>
          </a:p>
          <a:p>
            <a:pPr marL="706120" marR="1264920" indent="-375285">
              <a:lnSpc>
                <a:spcPct val="100000"/>
              </a:lnSpc>
              <a:spcBef>
                <a:spcPts val="148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706120" algn="l"/>
              </a:tabLst>
            </a:pPr>
            <a:r>
              <a:rPr sz="2300" spc="50" dirty="0">
                <a:latin typeface="Calibri"/>
                <a:cs typeface="Calibri"/>
              </a:rPr>
              <a:t>Une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chaîne</a:t>
            </a:r>
            <a:r>
              <a:rPr sz="2300" spc="2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3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valeur</a:t>
            </a:r>
            <a:r>
              <a:rPr sz="2300" spc="23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est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</a:t>
            </a:r>
            <a:r>
              <a:rPr sz="2300" spc="225" dirty="0">
                <a:latin typeface="Calibri"/>
                <a:cs typeface="Calibri"/>
              </a:rPr>
              <a:t> </a:t>
            </a:r>
            <a:r>
              <a:rPr sz="2300" spc="85" dirty="0">
                <a:latin typeface="Calibri"/>
                <a:cs typeface="Calibri"/>
              </a:rPr>
              <a:t>séquence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d'activités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spc="75" dirty="0">
                <a:latin typeface="Calibri"/>
                <a:cs typeface="Calibri"/>
              </a:rPr>
              <a:t>requises</a:t>
            </a:r>
            <a:r>
              <a:rPr sz="2300" spc="27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pour </a:t>
            </a:r>
            <a:r>
              <a:rPr sz="2300" spc="65" dirty="0">
                <a:latin typeface="Calibri"/>
                <a:cs typeface="Calibri"/>
              </a:rPr>
              <a:t>concevoir,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produire</a:t>
            </a:r>
            <a:r>
              <a:rPr sz="2300" spc="1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et</a:t>
            </a:r>
            <a:r>
              <a:rPr sz="2300" spc="20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livrer</a:t>
            </a:r>
            <a:r>
              <a:rPr sz="2300" spc="2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</a:t>
            </a:r>
            <a:r>
              <a:rPr sz="2300" spc="2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produit</a:t>
            </a:r>
            <a:r>
              <a:rPr sz="2300" spc="20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ou</a:t>
            </a:r>
            <a:r>
              <a:rPr sz="2300" spc="29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</a:t>
            </a:r>
            <a:r>
              <a:rPr sz="2300" spc="275" dirty="0">
                <a:latin typeface="Calibri"/>
                <a:cs typeface="Calibri"/>
              </a:rPr>
              <a:t> </a:t>
            </a:r>
            <a:r>
              <a:rPr sz="2300" spc="75" dirty="0">
                <a:latin typeface="Calibri"/>
                <a:cs typeface="Calibri"/>
              </a:rPr>
              <a:t>service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spc="50" dirty="0">
                <a:latin typeface="Calibri"/>
                <a:cs typeface="Calibri"/>
              </a:rPr>
              <a:t>spécifique</a:t>
            </a:r>
            <a:endParaRPr sz="2300">
              <a:latin typeface="Calibri"/>
              <a:cs typeface="Calibri"/>
            </a:endParaRPr>
          </a:p>
          <a:p>
            <a:pPr marL="705485" indent="-374650">
              <a:lnSpc>
                <a:spcPct val="100000"/>
              </a:lnSpc>
              <a:spcBef>
                <a:spcPts val="110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705485" algn="l"/>
              </a:tabLst>
            </a:pPr>
            <a:r>
              <a:rPr sz="2300" spc="130" dirty="0">
                <a:latin typeface="Calibri"/>
                <a:cs typeface="Calibri"/>
              </a:rPr>
              <a:t>Les</a:t>
            </a:r>
            <a:r>
              <a:rPr sz="2300" spc="525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chaînes</a:t>
            </a:r>
            <a:r>
              <a:rPr sz="2300" spc="4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4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valeur</a:t>
            </a:r>
            <a:r>
              <a:rPr sz="2300" spc="3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couvrent</a:t>
            </a:r>
            <a:r>
              <a:rPr sz="2300" spc="3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généralement</a:t>
            </a:r>
            <a:r>
              <a:rPr sz="2300" spc="385" dirty="0">
                <a:latin typeface="Calibri"/>
                <a:cs typeface="Calibri"/>
              </a:rPr>
              <a:t> </a:t>
            </a:r>
            <a:r>
              <a:rPr sz="2300" spc="65" dirty="0">
                <a:latin typeface="Calibri"/>
                <a:cs typeface="Calibri"/>
              </a:rPr>
              <a:t>plusieurs</a:t>
            </a:r>
            <a:r>
              <a:rPr sz="2300" spc="365" dirty="0">
                <a:latin typeface="Calibri"/>
                <a:cs typeface="Calibri"/>
              </a:rPr>
              <a:t> </a:t>
            </a:r>
            <a:r>
              <a:rPr sz="2300" spc="95" dirty="0">
                <a:latin typeface="Calibri"/>
                <a:cs typeface="Calibri"/>
              </a:rPr>
              <a:t>processus</a:t>
            </a:r>
            <a:endParaRPr sz="2300">
              <a:latin typeface="Calibri"/>
              <a:cs typeface="Calibri"/>
            </a:endParaRPr>
          </a:p>
          <a:p>
            <a:pPr marL="705485" indent="-374650">
              <a:lnSpc>
                <a:spcPct val="100000"/>
              </a:lnSpc>
              <a:spcBef>
                <a:spcPts val="1055"/>
              </a:spcBef>
              <a:buClr>
                <a:srgbClr val="127079"/>
              </a:buClr>
              <a:buSzPct val="104347"/>
              <a:buFont typeface="Arial MT"/>
              <a:buChar char="●"/>
              <a:tabLst>
                <a:tab pos="705485" algn="l"/>
              </a:tabLst>
            </a:pPr>
            <a:r>
              <a:rPr sz="2300" spc="105" dirty="0">
                <a:latin typeface="Calibri"/>
                <a:cs typeface="Calibri"/>
              </a:rPr>
              <a:t>La</a:t>
            </a:r>
            <a:r>
              <a:rPr sz="2300" spc="395" dirty="0">
                <a:latin typeface="Calibri"/>
                <a:cs typeface="Calibri"/>
              </a:rPr>
              <a:t> </a:t>
            </a:r>
            <a:r>
              <a:rPr sz="2300" spc="55" dirty="0">
                <a:latin typeface="Calibri"/>
                <a:cs typeface="Calibri"/>
              </a:rPr>
              <a:t>cartographie</a:t>
            </a:r>
            <a:r>
              <a:rPr sz="2300" spc="285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des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spc="90" dirty="0">
                <a:latin typeface="Calibri"/>
                <a:cs typeface="Calibri"/>
              </a:rPr>
              <a:t>chaînes</a:t>
            </a:r>
            <a:r>
              <a:rPr sz="2300" spc="3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3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valeur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permet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spc="70" dirty="0">
                <a:latin typeface="Calibri"/>
                <a:cs typeface="Calibri"/>
              </a:rPr>
              <a:t>aux</a:t>
            </a:r>
            <a:r>
              <a:rPr sz="2300" spc="300" dirty="0">
                <a:latin typeface="Calibri"/>
                <a:cs typeface="Calibri"/>
              </a:rPr>
              <a:t> </a:t>
            </a:r>
            <a:r>
              <a:rPr sz="2300" spc="60" dirty="0">
                <a:latin typeface="Calibri"/>
                <a:cs typeface="Calibri"/>
              </a:rPr>
              <a:t>équipes</a:t>
            </a:r>
            <a:endParaRPr sz="2300">
              <a:latin typeface="Calibri"/>
              <a:cs typeface="Calibri"/>
            </a:endParaRPr>
          </a:p>
          <a:p>
            <a:pPr marL="706120">
              <a:lnSpc>
                <a:spcPts val="2750"/>
              </a:lnSpc>
              <a:spcBef>
                <a:spcPts val="60"/>
              </a:spcBef>
            </a:pPr>
            <a:r>
              <a:rPr sz="2300" spc="45" dirty="0">
                <a:latin typeface="Calibri"/>
                <a:cs typeface="Calibri"/>
              </a:rPr>
              <a:t>fonctionnelles</a:t>
            </a:r>
            <a:r>
              <a:rPr sz="2300" spc="340" dirty="0">
                <a:latin typeface="Calibri"/>
                <a:cs typeface="Calibri"/>
              </a:rPr>
              <a:t> </a:t>
            </a:r>
            <a:r>
              <a:rPr sz="2300" spc="75" dirty="0">
                <a:latin typeface="Calibri"/>
                <a:cs typeface="Calibri"/>
              </a:rPr>
              <a:t>transverses</a:t>
            </a:r>
            <a:r>
              <a:rPr sz="2300" spc="2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</a:t>
            </a:r>
            <a:r>
              <a:rPr sz="2300" spc="280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:</a:t>
            </a:r>
            <a:endParaRPr sz="2300">
              <a:latin typeface="Calibri"/>
              <a:cs typeface="Calibri"/>
            </a:endParaRPr>
          </a:p>
          <a:p>
            <a:pPr marL="1016000" lvl="1" indent="-267335">
              <a:lnSpc>
                <a:spcPts val="2405"/>
              </a:lnSpc>
              <a:buFont typeface="Arial MT"/>
              <a:buChar char="–"/>
              <a:tabLst>
                <a:tab pos="1016000" algn="l"/>
              </a:tabLst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voir</a:t>
            </a:r>
            <a:r>
              <a:rPr sz="2100" spc="1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tout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chaîne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valeur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point</a:t>
            </a:r>
            <a:r>
              <a:rPr sz="2100" spc="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vue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du</a:t>
            </a:r>
            <a:r>
              <a:rPr sz="2100" spc="1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travail</a:t>
            </a:r>
            <a:r>
              <a:rPr sz="2100" spc="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60" dirty="0">
                <a:solidFill>
                  <a:srgbClr val="252D37"/>
                </a:solidFill>
                <a:latin typeface="Calibri"/>
                <a:cs typeface="Calibri"/>
              </a:rPr>
              <a:t>des</a:t>
            </a:r>
            <a:r>
              <a:rPr sz="2100" spc="1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252D37"/>
                </a:solidFill>
                <a:latin typeface="Calibri"/>
                <a:cs typeface="Calibri"/>
              </a:rPr>
              <a:t>flux</a:t>
            </a:r>
            <a:endParaRPr sz="2100">
              <a:latin typeface="Calibri"/>
              <a:cs typeface="Calibri"/>
            </a:endParaRPr>
          </a:p>
          <a:p>
            <a:pPr marL="1015365">
              <a:lnSpc>
                <a:spcPts val="2305"/>
              </a:lnSpc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d'informations</a:t>
            </a:r>
            <a:r>
              <a:rPr sz="2100" spc="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1016000" lvl="1" indent="-267335">
              <a:lnSpc>
                <a:spcPts val="2300"/>
              </a:lnSpc>
              <a:buFont typeface="Arial MT"/>
              <a:buChar char="–"/>
              <a:tabLst>
                <a:tab pos="1016000" algn="l"/>
              </a:tabLst>
            </a:pP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identifier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1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zones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gaspillage</a:t>
            </a:r>
            <a:r>
              <a:rPr sz="2100" spc="10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70" dirty="0">
                <a:solidFill>
                  <a:srgbClr val="252D37"/>
                </a:solidFill>
                <a:latin typeface="Calibri"/>
                <a:cs typeface="Calibri"/>
              </a:rPr>
              <a:t>sans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valeur</a:t>
            </a:r>
            <a:r>
              <a:rPr sz="2100" spc="9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qui</a:t>
            </a:r>
            <a:r>
              <a:rPr sz="2100" spc="8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pourraient</a:t>
            </a:r>
            <a:r>
              <a:rPr sz="2100" spc="10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être</a:t>
            </a:r>
            <a:r>
              <a:rPr sz="2100" spc="9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éliminées</a:t>
            </a:r>
            <a:r>
              <a:rPr sz="2100" spc="12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30" dirty="0">
                <a:solidFill>
                  <a:srgbClr val="252D37"/>
                </a:solidFill>
                <a:latin typeface="Calibri"/>
                <a:cs typeface="Calibri"/>
              </a:rPr>
              <a:t>dans</a:t>
            </a:r>
            <a:endParaRPr sz="2100">
              <a:latin typeface="Calibri"/>
              <a:cs typeface="Calibri"/>
            </a:endParaRPr>
          </a:p>
          <a:p>
            <a:pPr marL="1015365">
              <a:lnSpc>
                <a:spcPts val="2250"/>
              </a:lnSpc>
            </a:pP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</a:t>
            </a:r>
            <a:r>
              <a:rPr sz="2100" spc="15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but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d'améliorer</a:t>
            </a:r>
            <a:r>
              <a:rPr sz="2100" spc="18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la</a:t>
            </a:r>
            <a:r>
              <a:rPr sz="2100" spc="1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chaîne</a:t>
            </a:r>
            <a:r>
              <a:rPr sz="2100" spc="1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de</a:t>
            </a:r>
            <a:r>
              <a:rPr sz="2100" spc="204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générer</a:t>
            </a:r>
            <a:r>
              <a:rPr sz="2100" spc="17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une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plus</a:t>
            </a:r>
            <a:r>
              <a:rPr sz="2100" spc="13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grande</a:t>
            </a:r>
            <a:r>
              <a:rPr sz="2100" spc="14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valeur</a:t>
            </a:r>
            <a:r>
              <a:rPr sz="2100" spc="1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252D37"/>
                </a:solidFill>
                <a:latin typeface="Calibri"/>
                <a:cs typeface="Calibri"/>
              </a:rPr>
              <a:t>;</a:t>
            </a:r>
            <a:endParaRPr sz="2100">
              <a:latin typeface="Calibri"/>
              <a:cs typeface="Calibri"/>
            </a:endParaRPr>
          </a:p>
          <a:p>
            <a:pPr marL="1016000" lvl="1" indent="-267335">
              <a:lnSpc>
                <a:spcPts val="2365"/>
              </a:lnSpc>
              <a:buFont typeface="Arial MT"/>
              <a:buChar char="–"/>
              <a:tabLst>
                <a:tab pos="1016000" algn="l"/>
              </a:tabLst>
            </a:pPr>
            <a:r>
              <a:rPr sz="2100" spc="-25" dirty="0">
                <a:solidFill>
                  <a:srgbClr val="252D37"/>
                </a:solidFill>
                <a:latin typeface="Calibri"/>
                <a:cs typeface="Calibri"/>
              </a:rPr>
              <a:t>identifier,</a:t>
            </a:r>
            <a:r>
              <a:rPr sz="2100" spc="1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hiérarchiser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et</a:t>
            </a:r>
            <a:r>
              <a:rPr sz="2100" spc="3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mesurer</a:t>
            </a:r>
            <a:r>
              <a:rPr sz="2100" spc="55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252D37"/>
                </a:solidFill>
                <a:latin typeface="Calibri"/>
                <a:cs typeface="Calibri"/>
              </a:rPr>
              <a:t>les</a:t>
            </a:r>
            <a:r>
              <a:rPr sz="2100" spc="40" dirty="0">
                <a:solidFill>
                  <a:srgbClr val="252D37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252D37"/>
                </a:solidFill>
                <a:latin typeface="Calibri"/>
                <a:cs typeface="Calibri"/>
              </a:rPr>
              <a:t>améliorations.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31694" y="5899175"/>
            <a:ext cx="5053330" cy="1104900"/>
            <a:chOff x="2631694" y="5899175"/>
            <a:chExt cx="5053330" cy="11049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1694" y="5899175"/>
              <a:ext cx="5053203" cy="11043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71699" y="5916168"/>
              <a:ext cx="4973320" cy="1024890"/>
            </a:xfrm>
            <a:custGeom>
              <a:avLst/>
              <a:gdLst/>
              <a:ahLst/>
              <a:cxnLst/>
              <a:rect l="l" t="t" r="r" b="b"/>
              <a:pathLst>
                <a:path w="4973320" h="1024890">
                  <a:moveTo>
                    <a:pt x="4461002" y="0"/>
                  </a:moveTo>
                  <a:lnTo>
                    <a:pt x="4461002" y="256032"/>
                  </a:lnTo>
                  <a:lnTo>
                    <a:pt x="0" y="256032"/>
                  </a:lnTo>
                  <a:lnTo>
                    <a:pt x="0" y="768248"/>
                  </a:lnTo>
                  <a:lnTo>
                    <a:pt x="4461002" y="768248"/>
                  </a:lnTo>
                  <a:lnTo>
                    <a:pt x="4461002" y="1024331"/>
                  </a:lnTo>
                  <a:lnTo>
                    <a:pt x="4973193" y="512178"/>
                  </a:lnTo>
                  <a:lnTo>
                    <a:pt x="4461002" y="0"/>
                  </a:lnTo>
                  <a:close/>
                </a:path>
              </a:pathLst>
            </a:custGeom>
            <a:solidFill>
              <a:srgbClr val="FFA6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07307" y="6236919"/>
            <a:ext cx="185420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65" dirty="0">
                <a:solidFill>
                  <a:srgbClr val="FFFFFF"/>
                </a:solidFill>
                <a:latin typeface="Arial MT"/>
                <a:cs typeface="Arial MT"/>
              </a:rPr>
              <a:t>Chaîne</a:t>
            </a:r>
            <a:r>
              <a:rPr sz="21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1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Arial MT"/>
                <a:cs typeface="Arial MT"/>
              </a:rPr>
              <a:t>valeur</a:t>
            </a:r>
            <a:endParaRPr sz="2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04548" y="6101176"/>
            <a:ext cx="1235075" cy="730250"/>
            <a:chOff x="1304548" y="6101176"/>
            <a:chExt cx="1235075" cy="73025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4548" y="6101176"/>
              <a:ext cx="1234862" cy="73001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35658" y="6109208"/>
              <a:ext cx="1172845" cy="668020"/>
            </a:xfrm>
            <a:custGeom>
              <a:avLst/>
              <a:gdLst/>
              <a:ahLst/>
              <a:cxnLst/>
              <a:rect l="l" t="t" r="r" b="b"/>
              <a:pathLst>
                <a:path w="1172845" h="668020">
                  <a:moveTo>
                    <a:pt x="1061339" y="0"/>
                  </a:moveTo>
                  <a:lnTo>
                    <a:pt x="111252" y="0"/>
                  </a:lnTo>
                  <a:lnTo>
                    <a:pt x="67944" y="8763"/>
                  </a:lnTo>
                  <a:lnTo>
                    <a:pt x="32512" y="32512"/>
                  </a:lnTo>
                  <a:lnTo>
                    <a:pt x="8635" y="67945"/>
                  </a:lnTo>
                  <a:lnTo>
                    <a:pt x="0" y="111252"/>
                  </a:lnTo>
                  <a:lnTo>
                    <a:pt x="0" y="556653"/>
                  </a:lnTo>
                  <a:lnTo>
                    <a:pt x="8635" y="599998"/>
                  </a:lnTo>
                  <a:lnTo>
                    <a:pt x="32512" y="635381"/>
                  </a:lnTo>
                  <a:lnTo>
                    <a:pt x="67944" y="659244"/>
                  </a:lnTo>
                  <a:lnTo>
                    <a:pt x="111252" y="667994"/>
                  </a:lnTo>
                  <a:lnTo>
                    <a:pt x="1061339" y="667994"/>
                  </a:lnTo>
                  <a:lnTo>
                    <a:pt x="1104773" y="659244"/>
                  </a:lnTo>
                  <a:lnTo>
                    <a:pt x="1140079" y="635381"/>
                  </a:lnTo>
                  <a:lnTo>
                    <a:pt x="1163955" y="599998"/>
                  </a:lnTo>
                  <a:lnTo>
                    <a:pt x="1172717" y="556653"/>
                  </a:lnTo>
                  <a:lnTo>
                    <a:pt x="1172717" y="111252"/>
                  </a:lnTo>
                  <a:lnTo>
                    <a:pt x="1164209" y="68707"/>
                  </a:lnTo>
                  <a:lnTo>
                    <a:pt x="1140079" y="32512"/>
                  </a:lnTo>
                  <a:lnTo>
                    <a:pt x="1104011" y="8382"/>
                  </a:lnTo>
                  <a:lnTo>
                    <a:pt x="1061339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35658" y="6109208"/>
              <a:ext cx="1172845" cy="668020"/>
            </a:xfrm>
            <a:custGeom>
              <a:avLst/>
              <a:gdLst/>
              <a:ahLst/>
              <a:cxnLst/>
              <a:rect l="l" t="t" r="r" b="b"/>
              <a:pathLst>
                <a:path w="1172845" h="668020">
                  <a:moveTo>
                    <a:pt x="0" y="111252"/>
                  </a:moveTo>
                  <a:lnTo>
                    <a:pt x="8635" y="67945"/>
                  </a:lnTo>
                  <a:lnTo>
                    <a:pt x="32512" y="32512"/>
                  </a:lnTo>
                  <a:lnTo>
                    <a:pt x="67944" y="8763"/>
                  </a:lnTo>
                  <a:lnTo>
                    <a:pt x="111252" y="0"/>
                  </a:lnTo>
                  <a:lnTo>
                    <a:pt x="1061339" y="0"/>
                  </a:lnTo>
                  <a:lnTo>
                    <a:pt x="1104011" y="8382"/>
                  </a:lnTo>
                  <a:lnTo>
                    <a:pt x="1140079" y="32512"/>
                  </a:lnTo>
                  <a:lnTo>
                    <a:pt x="1164209" y="68707"/>
                  </a:lnTo>
                  <a:lnTo>
                    <a:pt x="1172717" y="111252"/>
                  </a:lnTo>
                  <a:lnTo>
                    <a:pt x="1172717" y="556653"/>
                  </a:lnTo>
                  <a:lnTo>
                    <a:pt x="1163955" y="599998"/>
                  </a:lnTo>
                  <a:lnTo>
                    <a:pt x="1140079" y="635381"/>
                  </a:lnTo>
                  <a:lnTo>
                    <a:pt x="1104773" y="659244"/>
                  </a:lnTo>
                  <a:lnTo>
                    <a:pt x="1061339" y="667994"/>
                  </a:lnTo>
                  <a:lnTo>
                    <a:pt x="111252" y="667994"/>
                  </a:lnTo>
                  <a:lnTo>
                    <a:pt x="67944" y="659244"/>
                  </a:lnTo>
                  <a:lnTo>
                    <a:pt x="32512" y="635381"/>
                  </a:lnTo>
                  <a:lnTo>
                    <a:pt x="8635" y="599998"/>
                  </a:lnTo>
                  <a:lnTo>
                    <a:pt x="0" y="556653"/>
                  </a:lnTo>
                  <a:lnTo>
                    <a:pt x="0" y="111252"/>
                  </a:lnTo>
                  <a:close/>
                </a:path>
              </a:pathLst>
            </a:custGeom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12824" y="6159805"/>
            <a:ext cx="822960" cy="5187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98120" marR="5080" indent="-186055">
              <a:lnSpc>
                <a:spcPct val="102499"/>
              </a:lnSpc>
              <a:spcBef>
                <a:spcPts val="45"/>
              </a:spcBef>
            </a:pPr>
            <a:r>
              <a:rPr sz="1600" spc="-105" dirty="0">
                <a:solidFill>
                  <a:srgbClr val="FFFFFF"/>
                </a:solidFill>
                <a:latin typeface="Arial MT"/>
                <a:cs typeface="Arial MT"/>
              </a:rPr>
              <a:t>Demande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client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717795" y="6101176"/>
            <a:ext cx="2021839" cy="730250"/>
            <a:chOff x="7717795" y="6101176"/>
            <a:chExt cx="2021839" cy="73025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7795" y="6101176"/>
              <a:ext cx="2021701" cy="7300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48777" y="6109208"/>
              <a:ext cx="1959610" cy="668020"/>
            </a:xfrm>
            <a:custGeom>
              <a:avLst/>
              <a:gdLst/>
              <a:ahLst/>
              <a:cxnLst/>
              <a:rect l="l" t="t" r="r" b="b"/>
              <a:pathLst>
                <a:path w="1959609" h="668020">
                  <a:moveTo>
                    <a:pt x="1848230" y="0"/>
                  </a:moveTo>
                  <a:lnTo>
                    <a:pt x="111378" y="0"/>
                  </a:lnTo>
                  <a:lnTo>
                    <a:pt x="67945" y="8763"/>
                  </a:lnTo>
                  <a:lnTo>
                    <a:pt x="32639" y="32512"/>
                  </a:lnTo>
                  <a:lnTo>
                    <a:pt x="8763" y="67945"/>
                  </a:lnTo>
                  <a:lnTo>
                    <a:pt x="0" y="111252"/>
                  </a:lnTo>
                  <a:lnTo>
                    <a:pt x="0" y="556653"/>
                  </a:lnTo>
                  <a:lnTo>
                    <a:pt x="8763" y="599998"/>
                  </a:lnTo>
                  <a:lnTo>
                    <a:pt x="32639" y="635381"/>
                  </a:lnTo>
                  <a:lnTo>
                    <a:pt x="67945" y="659244"/>
                  </a:lnTo>
                  <a:lnTo>
                    <a:pt x="111378" y="667994"/>
                  </a:lnTo>
                  <a:lnTo>
                    <a:pt x="1848230" y="667994"/>
                  </a:lnTo>
                  <a:lnTo>
                    <a:pt x="1891538" y="659244"/>
                  </a:lnTo>
                  <a:lnTo>
                    <a:pt x="1926971" y="635381"/>
                  </a:lnTo>
                  <a:lnTo>
                    <a:pt x="1950847" y="599998"/>
                  </a:lnTo>
                  <a:lnTo>
                    <a:pt x="1959610" y="556653"/>
                  </a:lnTo>
                  <a:lnTo>
                    <a:pt x="1959610" y="111252"/>
                  </a:lnTo>
                  <a:lnTo>
                    <a:pt x="1951101" y="68707"/>
                  </a:lnTo>
                  <a:lnTo>
                    <a:pt x="1926971" y="32512"/>
                  </a:lnTo>
                  <a:lnTo>
                    <a:pt x="1890902" y="8382"/>
                  </a:lnTo>
                  <a:lnTo>
                    <a:pt x="184823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48777" y="6109208"/>
              <a:ext cx="1959610" cy="668020"/>
            </a:xfrm>
            <a:custGeom>
              <a:avLst/>
              <a:gdLst/>
              <a:ahLst/>
              <a:cxnLst/>
              <a:rect l="l" t="t" r="r" b="b"/>
              <a:pathLst>
                <a:path w="1959609" h="668020">
                  <a:moveTo>
                    <a:pt x="0" y="111252"/>
                  </a:moveTo>
                  <a:lnTo>
                    <a:pt x="8763" y="67945"/>
                  </a:lnTo>
                  <a:lnTo>
                    <a:pt x="32639" y="32512"/>
                  </a:lnTo>
                  <a:lnTo>
                    <a:pt x="67945" y="8763"/>
                  </a:lnTo>
                  <a:lnTo>
                    <a:pt x="111378" y="0"/>
                  </a:lnTo>
                  <a:lnTo>
                    <a:pt x="1848230" y="0"/>
                  </a:lnTo>
                  <a:lnTo>
                    <a:pt x="1890902" y="8382"/>
                  </a:lnTo>
                  <a:lnTo>
                    <a:pt x="1926971" y="32512"/>
                  </a:lnTo>
                  <a:lnTo>
                    <a:pt x="1951101" y="68707"/>
                  </a:lnTo>
                  <a:lnTo>
                    <a:pt x="1959610" y="111252"/>
                  </a:lnTo>
                  <a:lnTo>
                    <a:pt x="1959610" y="556653"/>
                  </a:lnTo>
                  <a:lnTo>
                    <a:pt x="1950847" y="599998"/>
                  </a:lnTo>
                  <a:lnTo>
                    <a:pt x="1926971" y="635381"/>
                  </a:lnTo>
                  <a:lnTo>
                    <a:pt x="1891538" y="659244"/>
                  </a:lnTo>
                  <a:lnTo>
                    <a:pt x="1848230" y="667994"/>
                  </a:lnTo>
                  <a:lnTo>
                    <a:pt x="111378" y="667994"/>
                  </a:lnTo>
                  <a:lnTo>
                    <a:pt x="67945" y="659244"/>
                  </a:lnTo>
                  <a:lnTo>
                    <a:pt x="32639" y="635381"/>
                  </a:lnTo>
                  <a:lnTo>
                    <a:pt x="8763" y="599998"/>
                  </a:lnTo>
                  <a:lnTo>
                    <a:pt x="0" y="556653"/>
                  </a:lnTo>
                  <a:lnTo>
                    <a:pt x="0" y="111252"/>
                  </a:lnTo>
                  <a:close/>
                </a:path>
              </a:pathLst>
            </a:custGeom>
            <a:ln w="9523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932801" y="6123228"/>
            <a:ext cx="1587500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3340" marR="5080" indent="-41275">
              <a:lnSpc>
                <a:spcPct val="101099"/>
              </a:lnSpc>
              <a:spcBef>
                <a:spcPts val="75"/>
              </a:spcBef>
            </a:pPr>
            <a:r>
              <a:rPr sz="1800" spc="-100" dirty="0">
                <a:solidFill>
                  <a:srgbClr val="FFFFFF"/>
                </a:solidFill>
                <a:latin typeface="Arial MT"/>
                <a:cs typeface="Arial MT"/>
              </a:rPr>
              <a:t>Produit</a:t>
            </a:r>
            <a:r>
              <a:rPr sz="1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 MT"/>
                <a:cs typeface="Arial MT"/>
              </a:rPr>
              <a:t>valeur </a:t>
            </a:r>
            <a:r>
              <a:rPr sz="1800" spc="-95" dirty="0">
                <a:solidFill>
                  <a:srgbClr val="FFFFFF"/>
                </a:solidFill>
                <a:latin typeface="Arial MT"/>
                <a:cs typeface="Arial MT"/>
              </a:rPr>
              <a:t>ou</a:t>
            </a:r>
            <a:r>
              <a:rPr sz="1800" spc="-114" dirty="0">
                <a:solidFill>
                  <a:srgbClr val="FFFFFF"/>
                </a:solidFill>
                <a:latin typeface="Arial MT"/>
                <a:cs typeface="Arial MT"/>
              </a:rPr>
              <a:t> service</a:t>
            </a:r>
            <a:r>
              <a:rPr sz="1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fourni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62223" y="6804736"/>
            <a:ext cx="1282700" cy="481330"/>
            <a:chOff x="3062223" y="6804736"/>
            <a:chExt cx="1282700" cy="48133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2223" y="6804736"/>
              <a:ext cx="1282446" cy="48082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102228" y="6821741"/>
              <a:ext cx="1202690" cy="401320"/>
            </a:xfrm>
            <a:custGeom>
              <a:avLst/>
              <a:gdLst/>
              <a:ahLst/>
              <a:cxnLst/>
              <a:rect l="l" t="t" r="r" b="b"/>
              <a:pathLst>
                <a:path w="1202689" h="401320">
                  <a:moveTo>
                    <a:pt x="1002030" y="0"/>
                  </a:moveTo>
                  <a:lnTo>
                    <a:pt x="1002030" y="100203"/>
                  </a:lnTo>
                  <a:lnTo>
                    <a:pt x="0" y="100203"/>
                  </a:lnTo>
                  <a:lnTo>
                    <a:pt x="0" y="300621"/>
                  </a:lnTo>
                  <a:lnTo>
                    <a:pt x="1002030" y="300621"/>
                  </a:lnTo>
                  <a:lnTo>
                    <a:pt x="1002030" y="400824"/>
                  </a:lnTo>
                  <a:lnTo>
                    <a:pt x="1202435" y="200406"/>
                  </a:lnTo>
                  <a:lnTo>
                    <a:pt x="100203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316985" y="6892849"/>
            <a:ext cx="6972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40" dirty="0">
                <a:solidFill>
                  <a:srgbClr val="FFFFFF"/>
                </a:solidFill>
                <a:latin typeface="Arial MT"/>
                <a:cs typeface="Arial MT"/>
              </a:rPr>
              <a:t>Processus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368546" y="6804736"/>
            <a:ext cx="1282700" cy="481330"/>
            <a:chOff x="4368546" y="6804736"/>
            <a:chExt cx="1282700" cy="481330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68546" y="6804736"/>
              <a:ext cx="1282446" cy="48082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408551" y="6821741"/>
              <a:ext cx="1202690" cy="401320"/>
            </a:xfrm>
            <a:custGeom>
              <a:avLst/>
              <a:gdLst/>
              <a:ahLst/>
              <a:cxnLst/>
              <a:rect l="l" t="t" r="r" b="b"/>
              <a:pathLst>
                <a:path w="1202689" h="401320">
                  <a:moveTo>
                    <a:pt x="1002029" y="0"/>
                  </a:moveTo>
                  <a:lnTo>
                    <a:pt x="1002029" y="100203"/>
                  </a:lnTo>
                  <a:lnTo>
                    <a:pt x="0" y="100203"/>
                  </a:lnTo>
                  <a:lnTo>
                    <a:pt x="0" y="300621"/>
                  </a:lnTo>
                  <a:lnTo>
                    <a:pt x="1002029" y="300621"/>
                  </a:lnTo>
                  <a:lnTo>
                    <a:pt x="1002029" y="400824"/>
                  </a:lnTo>
                  <a:lnTo>
                    <a:pt x="1202563" y="200406"/>
                  </a:lnTo>
                  <a:lnTo>
                    <a:pt x="100202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623308" y="6892849"/>
            <a:ext cx="6972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40" dirty="0">
                <a:solidFill>
                  <a:srgbClr val="FFFFFF"/>
                </a:solidFill>
                <a:latin typeface="Arial MT"/>
                <a:cs typeface="Arial MT"/>
              </a:rPr>
              <a:t>Processus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689853" y="6819582"/>
            <a:ext cx="1282700" cy="481330"/>
            <a:chOff x="5689853" y="6819582"/>
            <a:chExt cx="1282700" cy="481330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9853" y="6819582"/>
              <a:ext cx="1282446" cy="48082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729858" y="6836588"/>
              <a:ext cx="1202690" cy="401320"/>
            </a:xfrm>
            <a:custGeom>
              <a:avLst/>
              <a:gdLst/>
              <a:ahLst/>
              <a:cxnLst/>
              <a:rect l="l" t="t" r="r" b="b"/>
              <a:pathLst>
                <a:path w="1202690" h="401320">
                  <a:moveTo>
                    <a:pt x="1002030" y="0"/>
                  </a:moveTo>
                  <a:lnTo>
                    <a:pt x="1002030" y="100202"/>
                  </a:lnTo>
                  <a:lnTo>
                    <a:pt x="0" y="100202"/>
                  </a:lnTo>
                  <a:lnTo>
                    <a:pt x="0" y="300621"/>
                  </a:lnTo>
                  <a:lnTo>
                    <a:pt x="1002030" y="300621"/>
                  </a:lnTo>
                  <a:lnTo>
                    <a:pt x="1002030" y="400824"/>
                  </a:lnTo>
                  <a:lnTo>
                    <a:pt x="1202436" y="200405"/>
                  </a:lnTo>
                  <a:lnTo>
                    <a:pt x="100203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944870" y="6907784"/>
            <a:ext cx="6972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40" dirty="0">
                <a:solidFill>
                  <a:srgbClr val="FFFFFF"/>
                </a:solidFill>
                <a:latin typeface="Arial MT"/>
                <a:cs typeface="Arial MT"/>
              </a:rPr>
              <a:t>Processus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123</a:t>
            </a:fld>
            <a:endParaRPr spc="-25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602" y="2282698"/>
            <a:ext cx="7688072" cy="20143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56233" y="760552"/>
            <a:ext cx="42951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Value</a:t>
            </a:r>
            <a:r>
              <a:rPr sz="2000" spc="14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Stream</a:t>
            </a:r>
            <a:r>
              <a:rPr sz="2000" spc="23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Mapping</a:t>
            </a:r>
            <a:r>
              <a:rPr sz="2000" spc="13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(VSM)</a:t>
            </a:r>
            <a:r>
              <a:rPr sz="2000" spc="1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-</a:t>
            </a:r>
            <a:r>
              <a:rPr sz="2000" spc="275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27079"/>
                </a:solidFill>
                <a:latin typeface="Calibri"/>
                <a:cs typeface="Calibri"/>
              </a:rPr>
              <a:t>Exemple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8243" y="2437892"/>
            <a:ext cx="1786889" cy="828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50"/>
              </a:lnSpc>
              <a:spcBef>
                <a:spcPts val="105"/>
              </a:spcBef>
            </a:pPr>
            <a:r>
              <a:rPr sz="1050" spc="65" dirty="0">
                <a:solidFill>
                  <a:srgbClr val="464646"/>
                </a:solidFill>
                <a:latin typeface="Calibri"/>
                <a:cs typeface="Calibri"/>
              </a:rPr>
              <a:t>Source</a:t>
            </a:r>
            <a:r>
              <a:rPr sz="1050" spc="9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spc="-50" dirty="0">
                <a:solidFill>
                  <a:srgbClr val="464646"/>
                </a:solidFill>
                <a:latin typeface="Calibri"/>
                <a:cs typeface="Calibri"/>
              </a:rPr>
              <a:t>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250"/>
              </a:lnSpc>
            </a:pPr>
            <a:r>
              <a:rPr sz="1050" spc="55" dirty="0">
                <a:solidFill>
                  <a:srgbClr val="464646"/>
                </a:solidFill>
                <a:latin typeface="Calibri"/>
                <a:cs typeface="Calibri"/>
              </a:rPr>
              <a:t>Jez</a:t>
            </a:r>
            <a:r>
              <a:rPr sz="1050" spc="7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spc="55" dirty="0">
                <a:solidFill>
                  <a:srgbClr val="464646"/>
                </a:solidFill>
                <a:latin typeface="Calibri"/>
                <a:cs typeface="Calibri"/>
              </a:rPr>
              <a:t>Humble</a:t>
            </a:r>
            <a:r>
              <a:rPr sz="1050" spc="8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spc="55" dirty="0">
                <a:solidFill>
                  <a:srgbClr val="464646"/>
                </a:solidFill>
                <a:latin typeface="Calibri"/>
                <a:cs typeface="Calibri"/>
              </a:rPr>
              <a:t>-</a:t>
            </a:r>
            <a:r>
              <a:rPr sz="1050" i="1" spc="50" dirty="0">
                <a:solidFill>
                  <a:srgbClr val="464646"/>
                </a:solidFill>
                <a:latin typeface="Calibri"/>
                <a:cs typeface="Calibri"/>
              </a:rPr>
              <a:t>Continuous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050" i="1" spc="50" dirty="0">
                <a:solidFill>
                  <a:srgbClr val="464646"/>
                </a:solidFill>
                <a:latin typeface="Calibri"/>
                <a:cs typeface="Calibri"/>
              </a:rPr>
              <a:t>Delivery:</a:t>
            </a:r>
            <a:r>
              <a:rPr sz="1050" i="1" spc="2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i="1" spc="50" dirty="0">
                <a:solidFill>
                  <a:srgbClr val="464646"/>
                </a:solidFill>
                <a:latin typeface="Calibri"/>
                <a:cs typeface="Calibri"/>
              </a:rPr>
              <a:t>Reliable </a:t>
            </a:r>
            <a:r>
              <a:rPr sz="1050" i="1" spc="40" dirty="0">
                <a:solidFill>
                  <a:srgbClr val="464646"/>
                </a:solidFill>
                <a:latin typeface="Calibri"/>
                <a:cs typeface="Calibri"/>
              </a:rPr>
              <a:t>Software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1000"/>
              </a:lnSpc>
              <a:spcBef>
                <a:spcPts val="5"/>
              </a:spcBef>
            </a:pPr>
            <a:r>
              <a:rPr sz="1050" i="1" spc="75" dirty="0">
                <a:solidFill>
                  <a:srgbClr val="464646"/>
                </a:solidFill>
                <a:latin typeface="Calibri"/>
                <a:cs typeface="Calibri"/>
              </a:rPr>
              <a:t>Releases</a:t>
            </a:r>
            <a:r>
              <a:rPr sz="1050" i="1" spc="15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i="1" spc="45" dirty="0">
                <a:solidFill>
                  <a:srgbClr val="464646"/>
                </a:solidFill>
                <a:latin typeface="Calibri"/>
                <a:cs typeface="Calibri"/>
              </a:rPr>
              <a:t>through</a:t>
            </a:r>
            <a:r>
              <a:rPr sz="1050" i="1" spc="18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464646"/>
                </a:solidFill>
                <a:latin typeface="Calibri"/>
                <a:cs typeface="Calibri"/>
              </a:rPr>
              <a:t>Build,</a:t>
            </a:r>
            <a:r>
              <a:rPr sz="1050" i="1" spc="12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464646"/>
                </a:solidFill>
                <a:latin typeface="Calibri"/>
                <a:cs typeface="Calibri"/>
              </a:rPr>
              <a:t>Test, </a:t>
            </a:r>
            <a:r>
              <a:rPr sz="1050" i="1" dirty="0">
                <a:solidFill>
                  <a:srgbClr val="464646"/>
                </a:solidFill>
                <a:latin typeface="Calibri"/>
                <a:cs typeface="Calibri"/>
              </a:rPr>
              <a:t>and</a:t>
            </a:r>
            <a:r>
              <a:rPr sz="1050" i="1" spc="114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i="1" spc="70" dirty="0">
                <a:solidFill>
                  <a:srgbClr val="464646"/>
                </a:solidFill>
                <a:latin typeface="Calibri"/>
                <a:cs typeface="Calibri"/>
              </a:rPr>
              <a:t>Deployment</a:t>
            </a:r>
            <a:r>
              <a:rPr sz="1050" i="1" spc="1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i="1" spc="40" dirty="0">
                <a:solidFill>
                  <a:srgbClr val="464646"/>
                </a:solidFill>
                <a:latin typeface="Calibri"/>
                <a:cs typeface="Calibri"/>
              </a:rPr>
              <a:t>Automation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806" y="4381500"/>
            <a:ext cx="6876033" cy="16282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624696" y="4573651"/>
            <a:ext cx="10623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65" dirty="0">
                <a:solidFill>
                  <a:srgbClr val="464646"/>
                </a:solidFill>
                <a:latin typeface="Calibri"/>
                <a:cs typeface="Calibri"/>
              </a:rPr>
              <a:t>Source</a:t>
            </a:r>
            <a:r>
              <a:rPr sz="1050" spc="8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464646"/>
                </a:solidFill>
                <a:latin typeface="Calibri"/>
                <a:cs typeface="Calibri"/>
              </a:rPr>
              <a:t>:</a:t>
            </a:r>
            <a:r>
              <a:rPr sz="1050" spc="-7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spc="55" dirty="0">
                <a:solidFill>
                  <a:srgbClr val="464646"/>
                </a:solidFill>
                <a:latin typeface="Calibri"/>
                <a:cs typeface="Calibri"/>
              </a:rPr>
              <a:t>Ranger4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124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6925" y="72644"/>
            <a:ext cx="83369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8960" algn="l"/>
                <a:tab pos="3202940" algn="l"/>
                <a:tab pos="5158105" algn="l"/>
                <a:tab pos="5903595" algn="l"/>
              </a:tabLst>
            </a:pPr>
            <a:r>
              <a:rPr sz="3600" b="1" spc="-75" baseline="1157" dirty="0">
                <a:latin typeface="Calibri"/>
                <a:cs typeface="Calibri"/>
              </a:rPr>
              <a:t>3</a:t>
            </a:r>
            <a:r>
              <a:rPr sz="3600" b="1" baseline="1157" dirty="0">
                <a:latin typeface="Calibri"/>
                <a:cs typeface="Calibri"/>
              </a:rPr>
              <a:t>	</a:t>
            </a:r>
            <a:r>
              <a:rPr sz="3200" spc="190" dirty="0"/>
              <a:t>Amélioration</a:t>
            </a:r>
            <a:r>
              <a:rPr sz="3200" dirty="0"/>
              <a:t>	</a:t>
            </a:r>
            <a:r>
              <a:rPr sz="3200" spc="185" dirty="0"/>
              <a:t>continue:</a:t>
            </a:r>
            <a:r>
              <a:rPr sz="3200" dirty="0"/>
              <a:t>	</a:t>
            </a:r>
            <a:r>
              <a:rPr sz="3200" spc="125" dirty="0"/>
              <a:t>Les</a:t>
            </a:r>
            <a:r>
              <a:rPr sz="3200" dirty="0"/>
              <a:t>	outils</a:t>
            </a:r>
            <a:r>
              <a:rPr sz="3200" spc="175" dirty="0"/>
              <a:t> </a:t>
            </a:r>
            <a:r>
              <a:rPr sz="3200" dirty="0"/>
              <a:t>du</a:t>
            </a:r>
            <a:r>
              <a:rPr sz="3200" spc="275" dirty="0"/>
              <a:t> </a:t>
            </a:r>
            <a:r>
              <a:rPr sz="3200" spc="50" dirty="0"/>
              <a:t>Lean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029" y="9118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3987" y="255397"/>
                </a:lnTo>
                <a:lnTo>
                  <a:pt x="15544" y="208533"/>
                </a:lnTo>
                <a:lnTo>
                  <a:pt x="34023" y="164719"/>
                </a:lnTo>
                <a:lnTo>
                  <a:pt x="58813" y="124840"/>
                </a:lnTo>
                <a:lnTo>
                  <a:pt x="89268" y="89280"/>
                </a:lnTo>
                <a:lnTo>
                  <a:pt x="124790" y="58800"/>
                </a:lnTo>
                <a:lnTo>
                  <a:pt x="164731" y="34035"/>
                </a:lnTo>
                <a:lnTo>
                  <a:pt x="208457" y="15494"/>
                </a:lnTo>
                <a:lnTo>
                  <a:pt x="255358" y="4063"/>
                </a:lnTo>
                <a:lnTo>
                  <a:pt x="304800" y="0"/>
                </a:lnTo>
                <a:lnTo>
                  <a:pt x="352767" y="3809"/>
                </a:lnTo>
                <a:lnTo>
                  <a:pt x="399122" y="14985"/>
                </a:lnTo>
                <a:lnTo>
                  <a:pt x="443052" y="33147"/>
                </a:lnTo>
                <a:lnTo>
                  <a:pt x="483717" y="58038"/>
                </a:lnTo>
                <a:lnTo>
                  <a:pt x="520331" y="89280"/>
                </a:lnTo>
                <a:lnTo>
                  <a:pt x="551561" y="125856"/>
                </a:lnTo>
                <a:lnTo>
                  <a:pt x="576440" y="166624"/>
                </a:lnTo>
                <a:lnTo>
                  <a:pt x="594639" y="210438"/>
                </a:lnTo>
                <a:lnTo>
                  <a:pt x="605802" y="256794"/>
                </a:lnTo>
                <a:lnTo>
                  <a:pt x="609600" y="304800"/>
                </a:lnTo>
                <a:lnTo>
                  <a:pt x="605612" y="354202"/>
                </a:lnTo>
                <a:lnTo>
                  <a:pt x="594067" y="401192"/>
                </a:lnTo>
                <a:lnTo>
                  <a:pt x="575576" y="444880"/>
                </a:lnTo>
                <a:lnTo>
                  <a:pt x="550786" y="484758"/>
                </a:lnTo>
                <a:lnTo>
                  <a:pt x="520331" y="520319"/>
                </a:lnTo>
                <a:lnTo>
                  <a:pt x="484809" y="550799"/>
                </a:lnTo>
                <a:lnTo>
                  <a:pt x="444868" y="575563"/>
                </a:lnTo>
                <a:lnTo>
                  <a:pt x="401142" y="594105"/>
                </a:lnTo>
                <a:lnTo>
                  <a:pt x="354241" y="605662"/>
                </a:lnTo>
                <a:lnTo>
                  <a:pt x="304800" y="609600"/>
                </a:lnTo>
                <a:lnTo>
                  <a:pt x="255358" y="605662"/>
                </a:lnTo>
                <a:lnTo>
                  <a:pt x="208457" y="594105"/>
                </a:lnTo>
                <a:lnTo>
                  <a:pt x="164731" y="575563"/>
                </a:lnTo>
                <a:lnTo>
                  <a:pt x="124790" y="550799"/>
                </a:lnTo>
                <a:lnTo>
                  <a:pt x="89268" y="520319"/>
                </a:lnTo>
                <a:lnTo>
                  <a:pt x="58813" y="484758"/>
                </a:lnTo>
                <a:lnTo>
                  <a:pt x="34023" y="444880"/>
                </a:lnTo>
                <a:lnTo>
                  <a:pt x="15544" y="401192"/>
                </a:lnTo>
                <a:lnTo>
                  <a:pt x="3987" y="354202"/>
                </a:lnTo>
                <a:lnTo>
                  <a:pt x="0" y="304800"/>
                </a:lnTo>
                <a:close/>
              </a:path>
            </a:pathLst>
          </a:custGeom>
          <a:ln w="28573">
            <a:solidFill>
              <a:srgbClr val="1640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5836" y="72644"/>
            <a:ext cx="8368030" cy="101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0075" algn="l"/>
                <a:tab pos="3234055" algn="l"/>
                <a:tab pos="5189220" algn="l"/>
                <a:tab pos="5934710" algn="l"/>
              </a:tabLst>
            </a:pPr>
            <a:r>
              <a:rPr sz="3600" b="1" spc="-75" baseline="1157" dirty="0">
                <a:solidFill>
                  <a:srgbClr val="164052"/>
                </a:solidFill>
                <a:latin typeface="Calibri"/>
                <a:cs typeface="Calibri"/>
              </a:rPr>
              <a:t>3</a:t>
            </a:r>
            <a:r>
              <a:rPr sz="3600" b="1" baseline="1157" dirty="0">
                <a:solidFill>
                  <a:srgbClr val="164052"/>
                </a:solidFill>
                <a:latin typeface="Calibri"/>
                <a:cs typeface="Calibri"/>
              </a:rPr>
              <a:t>	</a:t>
            </a:r>
            <a:r>
              <a:rPr sz="3200" spc="190" dirty="0">
                <a:solidFill>
                  <a:srgbClr val="164052"/>
                </a:solidFill>
                <a:latin typeface="Calibri"/>
                <a:cs typeface="Calibri"/>
              </a:rPr>
              <a:t>Amélioration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	</a:t>
            </a:r>
            <a:r>
              <a:rPr sz="3200" spc="185" dirty="0">
                <a:solidFill>
                  <a:srgbClr val="164052"/>
                </a:solidFill>
                <a:latin typeface="Calibri"/>
                <a:cs typeface="Calibri"/>
              </a:rPr>
              <a:t>continue: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	</a:t>
            </a:r>
            <a:r>
              <a:rPr sz="3200" spc="125" dirty="0">
                <a:solidFill>
                  <a:srgbClr val="164052"/>
                </a:solidFill>
                <a:latin typeface="Calibri"/>
                <a:cs typeface="Calibri"/>
              </a:rPr>
              <a:t>Les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	outils</a:t>
            </a:r>
            <a:r>
              <a:rPr sz="3200" spc="1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164052"/>
                </a:solidFill>
                <a:latin typeface="Calibri"/>
                <a:cs typeface="Calibri"/>
              </a:rPr>
              <a:t>du</a:t>
            </a:r>
            <a:r>
              <a:rPr sz="3200" spc="275" dirty="0">
                <a:solidFill>
                  <a:srgbClr val="164052"/>
                </a:solidFill>
                <a:latin typeface="Calibri"/>
                <a:cs typeface="Calibri"/>
              </a:rPr>
              <a:t> </a:t>
            </a:r>
            <a:r>
              <a:rPr sz="3200" spc="50" dirty="0">
                <a:solidFill>
                  <a:srgbClr val="164052"/>
                </a:solidFill>
                <a:latin typeface="Calibri"/>
                <a:cs typeface="Calibri"/>
              </a:rPr>
              <a:t>Lean</a:t>
            </a:r>
            <a:endParaRPr sz="3200">
              <a:latin typeface="Calibri"/>
              <a:cs typeface="Calibri"/>
            </a:endParaRPr>
          </a:p>
          <a:p>
            <a:pPr marL="603885">
              <a:lnSpc>
                <a:spcPct val="100000"/>
              </a:lnSpc>
              <a:spcBef>
                <a:spcPts val="1580"/>
              </a:spcBef>
            </a:pPr>
            <a:r>
              <a:rPr sz="2000" dirty="0">
                <a:solidFill>
                  <a:srgbClr val="127079"/>
                </a:solidFill>
                <a:latin typeface="Calibri"/>
                <a:cs typeface="Calibri"/>
              </a:rPr>
              <a:t>Improvement</a:t>
            </a:r>
            <a:r>
              <a:rPr sz="2000" spc="140" dirty="0">
                <a:solidFill>
                  <a:srgbClr val="12707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27079"/>
                </a:solidFill>
                <a:latin typeface="Calibri"/>
                <a:cs typeface="Calibri"/>
              </a:rPr>
              <a:t>Kata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615" y="1348470"/>
            <a:ext cx="10262623" cy="8391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4182" y="1362113"/>
            <a:ext cx="10181590" cy="758190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14604" rIns="0" bIns="0" rtlCol="0">
            <a:spAutoFit/>
          </a:bodyPr>
          <a:lstStyle/>
          <a:p>
            <a:pPr marR="48260" algn="ctr">
              <a:lnSpc>
                <a:spcPts val="2620"/>
              </a:lnSpc>
              <a:spcBef>
                <a:spcPts val="114"/>
              </a:spcBef>
            </a:pPr>
            <a:r>
              <a:rPr sz="2200" dirty="0">
                <a:latin typeface="Calibri"/>
                <a:cs typeface="Calibri"/>
              </a:rPr>
              <a:t>Un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kata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manière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structurée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penser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d'agir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vous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pratiquez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jusqu'à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ce</a:t>
            </a:r>
            <a:endParaRPr sz="2200">
              <a:latin typeface="Calibri"/>
              <a:cs typeface="Calibri"/>
            </a:endParaRPr>
          </a:p>
          <a:p>
            <a:pPr marR="24130" algn="ctr">
              <a:lnSpc>
                <a:spcPts val="2620"/>
              </a:lnSpc>
            </a:pPr>
            <a:r>
              <a:rPr sz="2200" spc="-20" dirty="0">
                <a:latin typeface="Calibri"/>
                <a:cs typeface="Calibri"/>
              </a:rPr>
              <a:t>qu’elle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devienne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habitude.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7427" y="2577465"/>
            <a:ext cx="464184" cy="647700"/>
          </a:xfrm>
          <a:prstGeom prst="rect">
            <a:avLst/>
          </a:prstGeom>
          <a:solidFill>
            <a:srgbClr val="FBE9D7"/>
          </a:solidFill>
          <a:ln w="25398">
            <a:solidFill>
              <a:srgbClr val="E26C0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50"/>
              </a:spcBef>
            </a:pPr>
            <a:r>
              <a:rPr sz="3500" spc="-50" dirty="0">
                <a:solidFill>
                  <a:srgbClr val="E26C09"/>
                </a:solidFill>
                <a:latin typeface="Arial MT"/>
                <a:cs typeface="Arial MT"/>
              </a:rPr>
              <a:t>1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6600" y="2577465"/>
            <a:ext cx="464184" cy="647700"/>
          </a:xfrm>
          <a:prstGeom prst="rect">
            <a:avLst/>
          </a:prstGeom>
          <a:solidFill>
            <a:srgbClr val="FBE9D7"/>
          </a:solidFill>
          <a:ln w="25398">
            <a:solidFill>
              <a:srgbClr val="E26C0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50"/>
              </a:spcBef>
            </a:pPr>
            <a:r>
              <a:rPr sz="3500" spc="-50" dirty="0">
                <a:solidFill>
                  <a:srgbClr val="E26C09"/>
                </a:solidFill>
                <a:latin typeface="Arial MT"/>
                <a:cs typeface="Arial MT"/>
              </a:rPr>
              <a:t>4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1680" y="2577465"/>
            <a:ext cx="464184" cy="647700"/>
          </a:xfrm>
          <a:prstGeom prst="rect">
            <a:avLst/>
          </a:prstGeom>
          <a:solidFill>
            <a:srgbClr val="FBE9D7"/>
          </a:solidFill>
          <a:ln w="25398">
            <a:solidFill>
              <a:srgbClr val="E26C0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50"/>
              </a:spcBef>
            </a:pPr>
            <a:r>
              <a:rPr sz="3500" spc="-50" dirty="0">
                <a:solidFill>
                  <a:srgbClr val="E26C09"/>
                </a:solidFill>
                <a:latin typeface="Arial MT"/>
                <a:cs typeface="Arial MT"/>
              </a:rPr>
              <a:t>3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1519" y="2577465"/>
            <a:ext cx="464184" cy="647700"/>
          </a:xfrm>
          <a:prstGeom prst="rect">
            <a:avLst/>
          </a:prstGeom>
          <a:solidFill>
            <a:srgbClr val="FBE9D7"/>
          </a:solidFill>
          <a:ln w="25398">
            <a:solidFill>
              <a:srgbClr val="E26C0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50"/>
              </a:spcBef>
            </a:pPr>
            <a:r>
              <a:rPr sz="3500" spc="-50" dirty="0">
                <a:solidFill>
                  <a:srgbClr val="E26C09"/>
                </a:solidFill>
                <a:latin typeface="Arial MT"/>
                <a:cs typeface="Arial MT"/>
              </a:rPr>
              <a:t>2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27618" y="2545842"/>
            <a:ext cx="1400810" cy="88773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0"/>
              </a:spcBef>
            </a:pPr>
            <a:r>
              <a:rPr sz="1400" b="1" spc="-10" dirty="0">
                <a:solidFill>
                  <a:srgbClr val="F69546"/>
                </a:solidFill>
                <a:latin typeface="Calibri"/>
                <a:cs typeface="Calibri"/>
              </a:rPr>
              <a:t>Comprendre</a:t>
            </a:r>
            <a:r>
              <a:rPr sz="1400" b="1" spc="-50" dirty="0">
                <a:solidFill>
                  <a:srgbClr val="F69546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69546"/>
                </a:solidFill>
                <a:latin typeface="Calibri"/>
                <a:cs typeface="Calibri"/>
              </a:rPr>
              <a:t>la </a:t>
            </a:r>
            <a:r>
              <a:rPr sz="1400" b="1" spc="-10" dirty="0">
                <a:solidFill>
                  <a:srgbClr val="F69546"/>
                </a:solidFill>
                <a:latin typeface="Calibri"/>
                <a:cs typeface="Calibri"/>
              </a:rPr>
              <a:t>vision</a:t>
            </a:r>
            <a:r>
              <a:rPr sz="1400" b="1" spc="-35" dirty="0">
                <a:solidFill>
                  <a:srgbClr val="F69546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69546"/>
                </a:solidFill>
                <a:latin typeface="Calibri"/>
                <a:cs typeface="Calibri"/>
              </a:rPr>
              <a:t>ou l’orientation</a:t>
            </a:r>
            <a:r>
              <a:rPr sz="1400" b="1" spc="5" dirty="0">
                <a:solidFill>
                  <a:srgbClr val="F6954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69546"/>
                </a:solidFill>
                <a:latin typeface="Calibri"/>
                <a:cs typeface="Calibri"/>
              </a:rPr>
              <a:t>à</a:t>
            </a:r>
            <a:r>
              <a:rPr sz="1400" b="1" spc="10" dirty="0">
                <a:solidFill>
                  <a:srgbClr val="F69546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69546"/>
                </a:solidFill>
                <a:latin typeface="Calibri"/>
                <a:cs typeface="Calibri"/>
              </a:rPr>
              <a:t>long </a:t>
            </a:r>
            <a:r>
              <a:rPr sz="1400" b="1" spc="-10" dirty="0">
                <a:solidFill>
                  <a:srgbClr val="F69546"/>
                </a:solidFill>
                <a:latin typeface="Calibri"/>
                <a:cs typeface="Calibri"/>
              </a:rPr>
              <a:t>terme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0826" y="2655824"/>
            <a:ext cx="788035" cy="45593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80"/>
              </a:spcBef>
            </a:pPr>
            <a:r>
              <a:rPr sz="1400" b="1" spc="-10" dirty="0">
                <a:solidFill>
                  <a:srgbClr val="F69546"/>
                </a:solidFill>
                <a:latin typeface="Arial"/>
                <a:cs typeface="Arial"/>
              </a:rPr>
              <a:t>Analyser l’existant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92546" y="2563749"/>
            <a:ext cx="1085850" cy="67246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80"/>
              </a:spcBef>
            </a:pPr>
            <a:r>
              <a:rPr sz="1400" b="1" spc="-10" dirty="0">
                <a:solidFill>
                  <a:srgbClr val="F69546"/>
                </a:solidFill>
                <a:latin typeface="Calibri"/>
                <a:cs typeface="Calibri"/>
              </a:rPr>
              <a:t>Définir</a:t>
            </a:r>
            <a:r>
              <a:rPr sz="1400" b="1" spc="-45" dirty="0">
                <a:solidFill>
                  <a:srgbClr val="F69546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69546"/>
                </a:solidFill>
                <a:latin typeface="Calibri"/>
                <a:cs typeface="Calibri"/>
              </a:rPr>
              <a:t>un </a:t>
            </a:r>
            <a:r>
              <a:rPr sz="1400" b="1" spc="-10" dirty="0">
                <a:solidFill>
                  <a:srgbClr val="F69546"/>
                </a:solidFill>
                <a:latin typeface="Calibri"/>
                <a:cs typeface="Calibri"/>
              </a:rPr>
              <a:t>objectif </a:t>
            </a:r>
            <a:r>
              <a:rPr sz="1400" b="1" spc="-30" dirty="0">
                <a:solidFill>
                  <a:srgbClr val="F69546"/>
                </a:solidFill>
                <a:latin typeface="Calibri"/>
                <a:cs typeface="Calibri"/>
              </a:rPr>
              <a:t>d’amélioration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58259" y="2535097"/>
            <a:ext cx="1355725" cy="6991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400" b="1" dirty="0">
                <a:solidFill>
                  <a:srgbClr val="F69546"/>
                </a:solidFill>
                <a:latin typeface="Arial"/>
                <a:cs typeface="Arial"/>
              </a:rPr>
              <a:t>PDCA</a:t>
            </a:r>
            <a:r>
              <a:rPr sz="1400" b="1" spc="-90" dirty="0">
                <a:solidFill>
                  <a:srgbClr val="F69546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69546"/>
                </a:solidFill>
                <a:latin typeface="Arial"/>
                <a:cs typeface="Arial"/>
              </a:rPr>
              <a:t>/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b="1" spc="-10" dirty="0">
                <a:solidFill>
                  <a:srgbClr val="F69546"/>
                </a:solidFill>
                <a:latin typeface="Calibri"/>
                <a:cs typeface="Calibri"/>
              </a:rPr>
              <a:t>expérimenter</a:t>
            </a:r>
            <a:r>
              <a:rPr sz="1400" b="1" spc="-70" dirty="0">
                <a:solidFill>
                  <a:srgbClr val="F69546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69546"/>
                </a:solidFill>
                <a:latin typeface="Calibri"/>
                <a:cs typeface="Calibri"/>
              </a:rPr>
              <a:t>vers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b="1" spc="-10" dirty="0">
                <a:solidFill>
                  <a:srgbClr val="F69546"/>
                </a:solidFill>
                <a:latin typeface="Calibri"/>
                <a:cs typeface="Calibri"/>
              </a:rPr>
              <a:t>l’objectif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23339" y="3838067"/>
            <a:ext cx="8010525" cy="1101090"/>
            <a:chOff x="1323339" y="3838067"/>
            <a:chExt cx="8010525" cy="1101090"/>
          </a:xfrm>
        </p:grpSpPr>
        <p:sp>
          <p:nvSpPr>
            <p:cNvPr id="15" name="object 15"/>
            <p:cNvSpPr/>
            <p:nvPr/>
          </p:nvSpPr>
          <p:spPr>
            <a:xfrm>
              <a:off x="1336039" y="4176268"/>
              <a:ext cx="6499225" cy="409575"/>
            </a:xfrm>
            <a:custGeom>
              <a:avLst/>
              <a:gdLst/>
              <a:ahLst/>
              <a:cxnLst/>
              <a:rect l="l" t="t" r="r" b="b"/>
              <a:pathLst>
                <a:path w="6499225" h="409575">
                  <a:moveTo>
                    <a:pt x="6294374" y="0"/>
                  </a:moveTo>
                  <a:lnTo>
                    <a:pt x="6294374" y="102362"/>
                  </a:lnTo>
                  <a:lnTo>
                    <a:pt x="0" y="102362"/>
                  </a:lnTo>
                  <a:lnTo>
                    <a:pt x="0" y="307086"/>
                  </a:lnTo>
                  <a:lnTo>
                    <a:pt x="6294374" y="307086"/>
                  </a:lnTo>
                  <a:lnTo>
                    <a:pt x="6294374" y="409448"/>
                  </a:lnTo>
                  <a:lnTo>
                    <a:pt x="6499098" y="204724"/>
                  </a:lnTo>
                  <a:lnTo>
                    <a:pt x="6294374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36039" y="4176268"/>
              <a:ext cx="6499225" cy="409575"/>
            </a:xfrm>
            <a:custGeom>
              <a:avLst/>
              <a:gdLst/>
              <a:ahLst/>
              <a:cxnLst/>
              <a:rect l="l" t="t" r="r" b="b"/>
              <a:pathLst>
                <a:path w="6499225" h="409575">
                  <a:moveTo>
                    <a:pt x="0" y="102362"/>
                  </a:moveTo>
                  <a:lnTo>
                    <a:pt x="6294374" y="102362"/>
                  </a:lnTo>
                  <a:lnTo>
                    <a:pt x="6294374" y="0"/>
                  </a:lnTo>
                  <a:lnTo>
                    <a:pt x="6499098" y="204724"/>
                  </a:lnTo>
                  <a:lnTo>
                    <a:pt x="6294374" y="409448"/>
                  </a:lnTo>
                  <a:lnTo>
                    <a:pt x="6294374" y="307086"/>
                  </a:lnTo>
                  <a:lnTo>
                    <a:pt x="0" y="307086"/>
                  </a:lnTo>
                  <a:lnTo>
                    <a:pt x="0" y="102362"/>
                  </a:lnTo>
                  <a:close/>
                </a:path>
              </a:pathLst>
            </a:custGeom>
            <a:ln w="25398">
              <a:solidFill>
                <a:srgbClr val="D7D7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79714" y="3850767"/>
              <a:ext cx="1441450" cy="1045210"/>
            </a:xfrm>
            <a:custGeom>
              <a:avLst/>
              <a:gdLst/>
              <a:ahLst/>
              <a:cxnLst/>
              <a:rect l="l" t="t" r="r" b="b"/>
              <a:pathLst>
                <a:path w="1441450" h="1045210">
                  <a:moveTo>
                    <a:pt x="720470" y="0"/>
                  </a:moveTo>
                  <a:lnTo>
                    <a:pt x="664209" y="1524"/>
                  </a:lnTo>
                  <a:lnTo>
                    <a:pt x="609091" y="6096"/>
                  </a:lnTo>
                  <a:lnTo>
                    <a:pt x="555243" y="13715"/>
                  </a:lnTo>
                  <a:lnTo>
                    <a:pt x="503046" y="24129"/>
                  </a:lnTo>
                  <a:lnTo>
                    <a:pt x="452374" y="37337"/>
                  </a:lnTo>
                  <a:lnTo>
                    <a:pt x="403605" y="53086"/>
                  </a:lnTo>
                  <a:lnTo>
                    <a:pt x="356869" y="71247"/>
                  </a:lnTo>
                  <a:lnTo>
                    <a:pt x="312165" y="91821"/>
                  </a:lnTo>
                  <a:lnTo>
                    <a:pt x="269875" y="114680"/>
                  </a:lnTo>
                  <a:lnTo>
                    <a:pt x="229996" y="139700"/>
                  </a:lnTo>
                  <a:lnTo>
                    <a:pt x="192785" y="166750"/>
                  </a:lnTo>
                  <a:lnTo>
                    <a:pt x="158241" y="195707"/>
                  </a:lnTo>
                  <a:lnTo>
                    <a:pt x="126745" y="226313"/>
                  </a:lnTo>
                  <a:lnTo>
                    <a:pt x="98298" y="258699"/>
                  </a:lnTo>
                  <a:lnTo>
                    <a:pt x="73151" y="292608"/>
                  </a:lnTo>
                  <a:lnTo>
                    <a:pt x="51561" y="328040"/>
                  </a:lnTo>
                  <a:lnTo>
                    <a:pt x="33400" y="364744"/>
                  </a:lnTo>
                  <a:lnTo>
                    <a:pt x="19050" y="402589"/>
                  </a:lnTo>
                  <a:lnTo>
                    <a:pt x="8508" y="441705"/>
                  </a:lnTo>
                  <a:lnTo>
                    <a:pt x="2158" y="481583"/>
                  </a:lnTo>
                  <a:lnTo>
                    <a:pt x="0" y="522477"/>
                  </a:lnTo>
                  <a:lnTo>
                    <a:pt x="2158" y="563244"/>
                  </a:lnTo>
                  <a:lnTo>
                    <a:pt x="8508" y="603250"/>
                  </a:lnTo>
                  <a:lnTo>
                    <a:pt x="19050" y="642238"/>
                  </a:lnTo>
                  <a:lnTo>
                    <a:pt x="33400" y="680212"/>
                  </a:lnTo>
                  <a:lnTo>
                    <a:pt x="51561" y="716914"/>
                  </a:lnTo>
                  <a:lnTo>
                    <a:pt x="73151" y="752220"/>
                  </a:lnTo>
                  <a:lnTo>
                    <a:pt x="98298" y="786130"/>
                  </a:lnTo>
                  <a:lnTo>
                    <a:pt x="126745" y="818514"/>
                  </a:lnTo>
                  <a:lnTo>
                    <a:pt x="158241" y="849249"/>
                  </a:lnTo>
                  <a:lnTo>
                    <a:pt x="192785" y="878205"/>
                  </a:lnTo>
                  <a:lnTo>
                    <a:pt x="229996" y="905129"/>
                  </a:lnTo>
                  <a:lnTo>
                    <a:pt x="269875" y="930148"/>
                  </a:lnTo>
                  <a:lnTo>
                    <a:pt x="312165" y="953007"/>
                  </a:lnTo>
                  <a:lnTo>
                    <a:pt x="356869" y="973582"/>
                  </a:lnTo>
                  <a:lnTo>
                    <a:pt x="403605" y="991869"/>
                  </a:lnTo>
                  <a:lnTo>
                    <a:pt x="452374" y="1007618"/>
                  </a:lnTo>
                  <a:lnTo>
                    <a:pt x="503046" y="1020699"/>
                  </a:lnTo>
                  <a:lnTo>
                    <a:pt x="555243" y="1031113"/>
                  </a:lnTo>
                  <a:lnTo>
                    <a:pt x="609091" y="1038732"/>
                  </a:lnTo>
                  <a:lnTo>
                    <a:pt x="664209" y="1043432"/>
                  </a:lnTo>
                  <a:lnTo>
                    <a:pt x="720470" y="1044956"/>
                  </a:lnTo>
                  <a:lnTo>
                    <a:pt x="776858" y="1043432"/>
                  </a:lnTo>
                  <a:lnTo>
                    <a:pt x="831976" y="1038732"/>
                  </a:lnTo>
                  <a:lnTo>
                    <a:pt x="885698" y="1031113"/>
                  </a:lnTo>
                  <a:lnTo>
                    <a:pt x="938021" y="1020699"/>
                  </a:lnTo>
                  <a:lnTo>
                    <a:pt x="988567" y="1007618"/>
                  </a:lnTo>
                  <a:lnTo>
                    <a:pt x="1037335" y="991869"/>
                  </a:lnTo>
                  <a:lnTo>
                    <a:pt x="1084199" y="973582"/>
                  </a:lnTo>
                  <a:lnTo>
                    <a:pt x="1128776" y="953007"/>
                  </a:lnTo>
                  <a:lnTo>
                    <a:pt x="1171193" y="930148"/>
                  </a:lnTo>
                  <a:lnTo>
                    <a:pt x="1211071" y="905129"/>
                  </a:lnTo>
                  <a:lnTo>
                    <a:pt x="1248282" y="878205"/>
                  </a:lnTo>
                  <a:lnTo>
                    <a:pt x="1282700" y="849249"/>
                  </a:lnTo>
                  <a:lnTo>
                    <a:pt x="1314195" y="818514"/>
                  </a:lnTo>
                  <a:lnTo>
                    <a:pt x="1342643" y="786130"/>
                  </a:lnTo>
                  <a:lnTo>
                    <a:pt x="1367789" y="752220"/>
                  </a:lnTo>
                  <a:lnTo>
                    <a:pt x="1389506" y="716914"/>
                  </a:lnTo>
                  <a:lnTo>
                    <a:pt x="1407667" y="680212"/>
                  </a:lnTo>
                  <a:lnTo>
                    <a:pt x="1422018" y="642238"/>
                  </a:lnTo>
                  <a:lnTo>
                    <a:pt x="1432432" y="603250"/>
                  </a:lnTo>
                  <a:lnTo>
                    <a:pt x="1438909" y="563244"/>
                  </a:lnTo>
                  <a:lnTo>
                    <a:pt x="1441068" y="522477"/>
                  </a:lnTo>
                  <a:lnTo>
                    <a:pt x="1438909" y="481583"/>
                  </a:lnTo>
                  <a:lnTo>
                    <a:pt x="1432432" y="441705"/>
                  </a:lnTo>
                  <a:lnTo>
                    <a:pt x="1422018" y="402589"/>
                  </a:lnTo>
                  <a:lnTo>
                    <a:pt x="1407667" y="364744"/>
                  </a:lnTo>
                  <a:lnTo>
                    <a:pt x="1389506" y="328040"/>
                  </a:lnTo>
                  <a:lnTo>
                    <a:pt x="1367789" y="292608"/>
                  </a:lnTo>
                  <a:lnTo>
                    <a:pt x="1342643" y="258699"/>
                  </a:lnTo>
                  <a:lnTo>
                    <a:pt x="1314195" y="226313"/>
                  </a:lnTo>
                  <a:lnTo>
                    <a:pt x="1282700" y="195707"/>
                  </a:lnTo>
                  <a:lnTo>
                    <a:pt x="1248282" y="166750"/>
                  </a:lnTo>
                  <a:lnTo>
                    <a:pt x="1211071" y="139700"/>
                  </a:lnTo>
                  <a:lnTo>
                    <a:pt x="1171193" y="114680"/>
                  </a:lnTo>
                  <a:lnTo>
                    <a:pt x="1128776" y="91821"/>
                  </a:lnTo>
                  <a:lnTo>
                    <a:pt x="1084199" y="71247"/>
                  </a:lnTo>
                  <a:lnTo>
                    <a:pt x="1037335" y="53086"/>
                  </a:lnTo>
                  <a:lnTo>
                    <a:pt x="988567" y="37337"/>
                  </a:lnTo>
                  <a:lnTo>
                    <a:pt x="938021" y="24129"/>
                  </a:lnTo>
                  <a:lnTo>
                    <a:pt x="885698" y="13715"/>
                  </a:lnTo>
                  <a:lnTo>
                    <a:pt x="831976" y="6096"/>
                  </a:lnTo>
                  <a:lnTo>
                    <a:pt x="776858" y="1524"/>
                  </a:lnTo>
                  <a:lnTo>
                    <a:pt x="7204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79714" y="3850767"/>
              <a:ext cx="1441450" cy="1045210"/>
            </a:xfrm>
            <a:custGeom>
              <a:avLst/>
              <a:gdLst/>
              <a:ahLst/>
              <a:cxnLst/>
              <a:rect l="l" t="t" r="r" b="b"/>
              <a:pathLst>
                <a:path w="1441450" h="1045210">
                  <a:moveTo>
                    <a:pt x="0" y="522477"/>
                  </a:moveTo>
                  <a:lnTo>
                    <a:pt x="2158" y="481583"/>
                  </a:lnTo>
                  <a:lnTo>
                    <a:pt x="8508" y="441705"/>
                  </a:lnTo>
                  <a:lnTo>
                    <a:pt x="19050" y="402589"/>
                  </a:lnTo>
                  <a:lnTo>
                    <a:pt x="33400" y="364744"/>
                  </a:lnTo>
                  <a:lnTo>
                    <a:pt x="51561" y="328040"/>
                  </a:lnTo>
                  <a:lnTo>
                    <a:pt x="73151" y="292608"/>
                  </a:lnTo>
                  <a:lnTo>
                    <a:pt x="98298" y="258699"/>
                  </a:lnTo>
                  <a:lnTo>
                    <a:pt x="126745" y="226313"/>
                  </a:lnTo>
                  <a:lnTo>
                    <a:pt x="158241" y="195707"/>
                  </a:lnTo>
                  <a:lnTo>
                    <a:pt x="192785" y="166750"/>
                  </a:lnTo>
                  <a:lnTo>
                    <a:pt x="229996" y="139700"/>
                  </a:lnTo>
                  <a:lnTo>
                    <a:pt x="269875" y="114680"/>
                  </a:lnTo>
                  <a:lnTo>
                    <a:pt x="312165" y="91821"/>
                  </a:lnTo>
                  <a:lnTo>
                    <a:pt x="356869" y="71247"/>
                  </a:lnTo>
                  <a:lnTo>
                    <a:pt x="403605" y="53086"/>
                  </a:lnTo>
                  <a:lnTo>
                    <a:pt x="452374" y="37337"/>
                  </a:lnTo>
                  <a:lnTo>
                    <a:pt x="503046" y="24129"/>
                  </a:lnTo>
                  <a:lnTo>
                    <a:pt x="555243" y="13715"/>
                  </a:lnTo>
                  <a:lnTo>
                    <a:pt x="609091" y="6096"/>
                  </a:lnTo>
                  <a:lnTo>
                    <a:pt x="664209" y="1524"/>
                  </a:lnTo>
                  <a:lnTo>
                    <a:pt x="720470" y="0"/>
                  </a:lnTo>
                  <a:lnTo>
                    <a:pt x="776858" y="1524"/>
                  </a:lnTo>
                  <a:lnTo>
                    <a:pt x="831976" y="6096"/>
                  </a:lnTo>
                  <a:lnTo>
                    <a:pt x="885698" y="13715"/>
                  </a:lnTo>
                  <a:lnTo>
                    <a:pt x="938021" y="24129"/>
                  </a:lnTo>
                  <a:lnTo>
                    <a:pt x="988567" y="37337"/>
                  </a:lnTo>
                  <a:lnTo>
                    <a:pt x="1037335" y="53086"/>
                  </a:lnTo>
                  <a:lnTo>
                    <a:pt x="1084199" y="71247"/>
                  </a:lnTo>
                  <a:lnTo>
                    <a:pt x="1128776" y="91821"/>
                  </a:lnTo>
                  <a:lnTo>
                    <a:pt x="1171193" y="114680"/>
                  </a:lnTo>
                  <a:lnTo>
                    <a:pt x="1211071" y="139700"/>
                  </a:lnTo>
                  <a:lnTo>
                    <a:pt x="1248282" y="166750"/>
                  </a:lnTo>
                  <a:lnTo>
                    <a:pt x="1282700" y="195707"/>
                  </a:lnTo>
                  <a:lnTo>
                    <a:pt x="1314195" y="226313"/>
                  </a:lnTo>
                  <a:lnTo>
                    <a:pt x="1342643" y="258699"/>
                  </a:lnTo>
                  <a:lnTo>
                    <a:pt x="1367789" y="292608"/>
                  </a:lnTo>
                  <a:lnTo>
                    <a:pt x="1389506" y="328040"/>
                  </a:lnTo>
                  <a:lnTo>
                    <a:pt x="1407667" y="364744"/>
                  </a:lnTo>
                  <a:lnTo>
                    <a:pt x="1422018" y="402589"/>
                  </a:lnTo>
                  <a:lnTo>
                    <a:pt x="1432432" y="441705"/>
                  </a:lnTo>
                  <a:lnTo>
                    <a:pt x="1438909" y="481583"/>
                  </a:lnTo>
                  <a:lnTo>
                    <a:pt x="1441068" y="522477"/>
                  </a:lnTo>
                  <a:lnTo>
                    <a:pt x="1438909" y="563244"/>
                  </a:lnTo>
                  <a:lnTo>
                    <a:pt x="1432432" y="603250"/>
                  </a:lnTo>
                  <a:lnTo>
                    <a:pt x="1422018" y="642238"/>
                  </a:lnTo>
                  <a:lnTo>
                    <a:pt x="1407667" y="680212"/>
                  </a:lnTo>
                  <a:lnTo>
                    <a:pt x="1389506" y="716914"/>
                  </a:lnTo>
                  <a:lnTo>
                    <a:pt x="1367789" y="752220"/>
                  </a:lnTo>
                  <a:lnTo>
                    <a:pt x="1342643" y="786130"/>
                  </a:lnTo>
                  <a:lnTo>
                    <a:pt x="1314195" y="818514"/>
                  </a:lnTo>
                  <a:lnTo>
                    <a:pt x="1282700" y="849249"/>
                  </a:lnTo>
                  <a:lnTo>
                    <a:pt x="1248282" y="878205"/>
                  </a:lnTo>
                  <a:lnTo>
                    <a:pt x="1211071" y="905129"/>
                  </a:lnTo>
                  <a:lnTo>
                    <a:pt x="1171193" y="930148"/>
                  </a:lnTo>
                  <a:lnTo>
                    <a:pt x="1128776" y="953007"/>
                  </a:lnTo>
                  <a:lnTo>
                    <a:pt x="1084199" y="973582"/>
                  </a:lnTo>
                  <a:lnTo>
                    <a:pt x="1037335" y="991869"/>
                  </a:lnTo>
                  <a:lnTo>
                    <a:pt x="988567" y="1007618"/>
                  </a:lnTo>
                  <a:lnTo>
                    <a:pt x="938021" y="1020699"/>
                  </a:lnTo>
                  <a:lnTo>
                    <a:pt x="885698" y="1031113"/>
                  </a:lnTo>
                  <a:lnTo>
                    <a:pt x="831976" y="1038732"/>
                  </a:lnTo>
                  <a:lnTo>
                    <a:pt x="776858" y="1043432"/>
                  </a:lnTo>
                  <a:lnTo>
                    <a:pt x="720470" y="1044956"/>
                  </a:lnTo>
                  <a:lnTo>
                    <a:pt x="664209" y="1043432"/>
                  </a:lnTo>
                  <a:lnTo>
                    <a:pt x="609091" y="1038732"/>
                  </a:lnTo>
                  <a:lnTo>
                    <a:pt x="555243" y="1031113"/>
                  </a:lnTo>
                  <a:lnTo>
                    <a:pt x="503046" y="1020699"/>
                  </a:lnTo>
                  <a:lnTo>
                    <a:pt x="452374" y="1007618"/>
                  </a:lnTo>
                  <a:lnTo>
                    <a:pt x="403605" y="991869"/>
                  </a:lnTo>
                  <a:lnTo>
                    <a:pt x="356869" y="973582"/>
                  </a:lnTo>
                  <a:lnTo>
                    <a:pt x="312165" y="953007"/>
                  </a:lnTo>
                  <a:lnTo>
                    <a:pt x="269875" y="930148"/>
                  </a:lnTo>
                  <a:lnTo>
                    <a:pt x="229996" y="905129"/>
                  </a:lnTo>
                  <a:lnTo>
                    <a:pt x="192785" y="878205"/>
                  </a:lnTo>
                  <a:lnTo>
                    <a:pt x="158241" y="849249"/>
                  </a:lnTo>
                  <a:lnTo>
                    <a:pt x="126745" y="818514"/>
                  </a:lnTo>
                  <a:lnTo>
                    <a:pt x="98298" y="786130"/>
                  </a:lnTo>
                  <a:lnTo>
                    <a:pt x="73151" y="752220"/>
                  </a:lnTo>
                  <a:lnTo>
                    <a:pt x="51561" y="716914"/>
                  </a:lnTo>
                  <a:lnTo>
                    <a:pt x="33400" y="680212"/>
                  </a:lnTo>
                  <a:lnTo>
                    <a:pt x="19050" y="642238"/>
                  </a:lnTo>
                  <a:lnTo>
                    <a:pt x="8508" y="603250"/>
                  </a:lnTo>
                  <a:lnTo>
                    <a:pt x="2158" y="563244"/>
                  </a:lnTo>
                  <a:lnTo>
                    <a:pt x="0" y="522477"/>
                  </a:lnTo>
                  <a:close/>
                </a:path>
              </a:pathLst>
            </a:custGeom>
            <a:ln w="25398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54620" y="4131056"/>
              <a:ext cx="186055" cy="425450"/>
            </a:xfrm>
            <a:custGeom>
              <a:avLst/>
              <a:gdLst/>
              <a:ahLst/>
              <a:cxnLst/>
              <a:rect l="l" t="t" r="r" b="b"/>
              <a:pathLst>
                <a:path w="186054" h="425450">
                  <a:moveTo>
                    <a:pt x="186054" y="0"/>
                  </a:moveTo>
                  <a:lnTo>
                    <a:pt x="0" y="424942"/>
                  </a:lnTo>
                </a:path>
              </a:pathLst>
            </a:custGeom>
            <a:ln w="126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01767" y="3881120"/>
              <a:ext cx="1441450" cy="1045210"/>
            </a:xfrm>
            <a:custGeom>
              <a:avLst/>
              <a:gdLst/>
              <a:ahLst/>
              <a:cxnLst/>
              <a:rect l="l" t="t" r="r" b="b"/>
              <a:pathLst>
                <a:path w="1441450" h="1045210">
                  <a:moveTo>
                    <a:pt x="720598" y="0"/>
                  </a:moveTo>
                  <a:lnTo>
                    <a:pt x="664210" y="1524"/>
                  </a:lnTo>
                  <a:lnTo>
                    <a:pt x="609092" y="6223"/>
                  </a:lnTo>
                  <a:lnTo>
                    <a:pt x="555371" y="13716"/>
                  </a:lnTo>
                  <a:lnTo>
                    <a:pt x="503047" y="24130"/>
                  </a:lnTo>
                  <a:lnTo>
                    <a:pt x="452500" y="37337"/>
                  </a:lnTo>
                  <a:lnTo>
                    <a:pt x="403733" y="53086"/>
                  </a:lnTo>
                  <a:lnTo>
                    <a:pt x="356870" y="71247"/>
                  </a:lnTo>
                  <a:lnTo>
                    <a:pt x="312293" y="91948"/>
                  </a:lnTo>
                  <a:lnTo>
                    <a:pt x="269875" y="114681"/>
                  </a:lnTo>
                  <a:lnTo>
                    <a:pt x="229997" y="139700"/>
                  </a:lnTo>
                  <a:lnTo>
                    <a:pt x="192786" y="166750"/>
                  </a:lnTo>
                  <a:lnTo>
                    <a:pt x="158369" y="195707"/>
                  </a:lnTo>
                  <a:lnTo>
                    <a:pt x="126746" y="226313"/>
                  </a:lnTo>
                  <a:lnTo>
                    <a:pt x="98425" y="258699"/>
                  </a:lnTo>
                  <a:lnTo>
                    <a:pt x="73279" y="292608"/>
                  </a:lnTo>
                  <a:lnTo>
                    <a:pt x="51562" y="328041"/>
                  </a:lnTo>
                  <a:lnTo>
                    <a:pt x="33400" y="364744"/>
                  </a:lnTo>
                  <a:lnTo>
                    <a:pt x="19050" y="402589"/>
                  </a:lnTo>
                  <a:lnTo>
                    <a:pt x="8636" y="441706"/>
                  </a:lnTo>
                  <a:lnTo>
                    <a:pt x="2159" y="481584"/>
                  </a:lnTo>
                  <a:lnTo>
                    <a:pt x="0" y="522478"/>
                  </a:lnTo>
                  <a:lnTo>
                    <a:pt x="2159" y="563245"/>
                  </a:lnTo>
                  <a:lnTo>
                    <a:pt x="8636" y="603250"/>
                  </a:lnTo>
                  <a:lnTo>
                    <a:pt x="19050" y="642239"/>
                  </a:lnTo>
                  <a:lnTo>
                    <a:pt x="33400" y="680212"/>
                  </a:lnTo>
                  <a:lnTo>
                    <a:pt x="51562" y="716915"/>
                  </a:lnTo>
                  <a:lnTo>
                    <a:pt x="73279" y="752221"/>
                  </a:lnTo>
                  <a:lnTo>
                    <a:pt x="98425" y="786130"/>
                  </a:lnTo>
                  <a:lnTo>
                    <a:pt x="126746" y="818515"/>
                  </a:lnTo>
                  <a:lnTo>
                    <a:pt x="158369" y="849249"/>
                  </a:lnTo>
                  <a:lnTo>
                    <a:pt x="192786" y="878205"/>
                  </a:lnTo>
                  <a:lnTo>
                    <a:pt x="229997" y="905129"/>
                  </a:lnTo>
                  <a:lnTo>
                    <a:pt x="269875" y="930148"/>
                  </a:lnTo>
                  <a:lnTo>
                    <a:pt x="312293" y="953008"/>
                  </a:lnTo>
                  <a:lnTo>
                    <a:pt x="356870" y="973582"/>
                  </a:lnTo>
                  <a:lnTo>
                    <a:pt x="403733" y="991870"/>
                  </a:lnTo>
                  <a:lnTo>
                    <a:pt x="452500" y="1007618"/>
                  </a:lnTo>
                  <a:lnTo>
                    <a:pt x="503047" y="1020699"/>
                  </a:lnTo>
                  <a:lnTo>
                    <a:pt x="555371" y="1031113"/>
                  </a:lnTo>
                  <a:lnTo>
                    <a:pt x="609092" y="1038733"/>
                  </a:lnTo>
                  <a:lnTo>
                    <a:pt x="664210" y="1043432"/>
                  </a:lnTo>
                  <a:lnTo>
                    <a:pt x="720598" y="1044956"/>
                  </a:lnTo>
                  <a:lnTo>
                    <a:pt x="776859" y="1043432"/>
                  </a:lnTo>
                  <a:lnTo>
                    <a:pt x="831977" y="1038733"/>
                  </a:lnTo>
                  <a:lnTo>
                    <a:pt x="885698" y="1031113"/>
                  </a:lnTo>
                  <a:lnTo>
                    <a:pt x="938022" y="1020699"/>
                  </a:lnTo>
                  <a:lnTo>
                    <a:pt x="988695" y="1007618"/>
                  </a:lnTo>
                  <a:lnTo>
                    <a:pt x="1037463" y="991870"/>
                  </a:lnTo>
                  <a:lnTo>
                    <a:pt x="1084199" y="973582"/>
                  </a:lnTo>
                  <a:lnTo>
                    <a:pt x="1128903" y="953008"/>
                  </a:lnTo>
                  <a:lnTo>
                    <a:pt x="1171193" y="930148"/>
                  </a:lnTo>
                  <a:lnTo>
                    <a:pt x="1211072" y="905129"/>
                  </a:lnTo>
                  <a:lnTo>
                    <a:pt x="1248283" y="878205"/>
                  </a:lnTo>
                  <a:lnTo>
                    <a:pt x="1282827" y="849249"/>
                  </a:lnTo>
                  <a:lnTo>
                    <a:pt x="1314323" y="818515"/>
                  </a:lnTo>
                  <a:lnTo>
                    <a:pt x="1342643" y="786130"/>
                  </a:lnTo>
                  <a:lnTo>
                    <a:pt x="1367789" y="752221"/>
                  </a:lnTo>
                  <a:lnTo>
                    <a:pt x="1389507" y="716915"/>
                  </a:lnTo>
                  <a:lnTo>
                    <a:pt x="1407667" y="680212"/>
                  </a:lnTo>
                  <a:lnTo>
                    <a:pt x="1422018" y="642239"/>
                  </a:lnTo>
                  <a:lnTo>
                    <a:pt x="1432560" y="603250"/>
                  </a:lnTo>
                  <a:lnTo>
                    <a:pt x="1438910" y="563245"/>
                  </a:lnTo>
                  <a:lnTo>
                    <a:pt x="1441068" y="522478"/>
                  </a:lnTo>
                  <a:lnTo>
                    <a:pt x="1438910" y="481584"/>
                  </a:lnTo>
                  <a:lnTo>
                    <a:pt x="1432560" y="441706"/>
                  </a:lnTo>
                  <a:lnTo>
                    <a:pt x="1422018" y="402589"/>
                  </a:lnTo>
                  <a:lnTo>
                    <a:pt x="1407667" y="364744"/>
                  </a:lnTo>
                  <a:lnTo>
                    <a:pt x="1389507" y="328041"/>
                  </a:lnTo>
                  <a:lnTo>
                    <a:pt x="1367789" y="292608"/>
                  </a:lnTo>
                  <a:lnTo>
                    <a:pt x="1342643" y="258699"/>
                  </a:lnTo>
                  <a:lnTo>
                    <a:pt x="1314323" y="226313"/>
                  </a:lnTo>
                  <a:lnTo>
                    <a:pt x="1282827" y="195707"/>
                  </a:lnTo>
                  <a:lnTo>
                    <a:pt x="1248283" y="166750"/>
                  </a:lnTo>
                  <a:lnTo>
                    <a:pt x="1211072" y="139700"/>
                  </a:lnTo>
                  <a:lnTo>
                    <a:pt x="1171193" y="114681"/>
                  </a:lnTo>
                  <a:lnTo>
                    <a:pt x="1128903" y="91948"/>
                  </a:lnTo>
                  <a:lnTo>
                    <a:pt x="1084199" y="71247"/>
                  </a:lnTo>
                  <a:lnTo>
                    <a:pt x="1037463" y="53086"/>
                  </a:lnTo>
                  <a:lnTo>
                    <a:pt x="988695" y="37337"/>
                  </a:lnTo>
                  <a:lnTo>
                    <a:pt x="938022" y="24130"/>
                  </a:lnTo>
                  <a:lnTo>
                    <a:pt x="885698" y="13716"/>
                  </a:lnTo>
                  <a:lnTo>
                    <a:pt x="831977" y="6223"/>
                  </a:lnTo>
                  <a:lnTo>
                    <a:pt x="776859" y="1524"/>
                  </a:lnTo>
                  <a:lnTo>
                    <a:pt x="720598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01767" y="3881120"/>
              <a:ext cx="1441450" cy="1045210"/>
            </a:xfrm>
            <a:custGeom>
              <a:avLst/>
              <a:gdLst/>
              <a:ahLst/>
              <a:cxnLst/>
              <a:rect l="l" t="t" r="r" b="b"/>
              <a:pathLst>
                <a:path w="1441450" h="1045210">
                  <a:moveTo>
                    <a:pt x="0" y="522478"/>
                  </a:moveTo>
                  <a:lnTo>
                    <a:pt x="2159" y="481584"/>
                  </a:lnTo>
                  <a:lnTo>
                    <a:pt x="8636" y="441706"/>
                  </a:lnTo>
                  <a:lnTo>
                    <a:pt x="19050" y="402589"/>
                  </a:lnTo>
                  <a:lnTo>
                    <a:pt x="33400" y="364744"/>
                  </a:lnTo>
                  <a:lnTo>
                    <a:pt x="51562" y="328041"/>
                  </a:lnTo>
                  <a:lnTo>
                    <a:pt x="73279" y="292608"/>
                  </a:lnTo>
                  <a:lnTo>
                    <a:pt x="98425" y="258699"/>
                  </a:lnTo>
                  <a:lnTo>
                    <a:pt x="126746" y="226313"/>
                  </a:lnTo>
                  <a:lnTo>
                    <a:pt x="158369" y="195707"/>
                  </a:lnTo>
                  <a:lnTo>
                    <a:pt x="192786" y="166750"/>
                  </a:lnTo>
                  <a:lnTo>
                    <a:pt x="229997" y="139700"/>
                  </a:lnTo>
                  <a:lnTo>
                    <a:pt x="269875" y="114681"/>
                  </a:lnTo>
                  <a:lnTo>
                    <a:pt x="312293" y="91948"/>
                  </a:lnTo>
                  <a:lnTo>
                    <a:pt x="356870" y="71247"/>
                  </a:lnTo>
                  <a:lnTo>
                    <a:pt x="403733" y="53086"/>
                  </a:lnTo>
                  <a:lnTo>
                    <a:pt x="452500" y="37337"/>
                  </a:lnTo>
                  <a:lnTo>
                    <a:pt x="503047" y="24130"/>
                  </a:lnTo>
                  <a:lnTo>
                    <a:pt x="555371" y="13716"/>
                  </a:lnTo>
                  <a:lnTo>
                    <a:pt x="609092" y="6223"/>
                  </a:lnTo>
                  <a:lnTo>
                    <a:pt x="664210" y="1524"/>
                  </a:lnTo>
                  <a:lnTo>
                    <a:pt x="720598" y="0"/>
                  </a:lnTo>
                  <a:lnTo>
                    <a:pt x="776859" y="1524"/>
                  </a:lnTo>
                  <a:lnTo>
                    <a:pt x="831977" y="6223"/>
                  </a:lnTo>
                  <a:lnTo>
                    <a:pt x="885698" y="13716"/>
                  </a:lnTo>
                  <a:lnTo>
                    <a:pt x="938022" y="24130"/>
                  </a:lnTo>
                  <a:lnTo>
                    <a:pt x="988695" y="37337"/>
                  </a:lnTo>
                  <a:lnTo>
                    <a:pt x="1037463" y="53086"/>
                  </a:lnTo>
                  <a:lnTo>
                    <a:pt x="1084199" y="71247"/>
                  </a:lnTo>
                  <a:lnTo>
                    <a:pt x="1128903" y="91948"/>
                  </a:lnTo>
                  <a:lnTo>
                    <a:pt x="1171193" y="114681"/>
                  </a:lnTo>
                  <a:lnTo>
                    <a:pt x="1211072" y="139700"/>
                  </a:lnTo>
                  <a:lnTo>
                    <a:pt x="1248283" y="166750"/>
                  </a:lnTo>
                  <a:lnTo>
                    <a:pt x="1282827" y="195707"/>
                  </a:lnTo>
                  <a:lnTo>
                    <a:pt x="1314323" y="226313"/>
                  </a:lnTo>
                  <a:lnTo>
                    <a:pt x="1342643" y="258699"/>
                  </a:lnTo>
                  <a:lnTo>
                    <a:pt x="1367789" y="292608"/>
                  </a:lnTo>
                  <a:lnTo>
                    <a:pt x="1389507" y="328041"/>
                  </a:lnTo>
                  <a:lnTo>
                    <a:pt x="1407667" y="364744"/>
                  </a:lnTo>
                  <a:lnTo>
                    <a:pt x="1422018" y="402589"/>
                  </a:lnTo>
                  <a:lnTo>
                    <a:pt x="1432560" y="441706"/>
                  </a:lnTo>
                  <a:lnTo>
                    <a:pt x="1438910" y="481584"/>
                  </a:lnTo>
                  <a:lnTo>
                    <a:pt x="1441068" y="522478"/>
                  </a:lnTo>
                  <a:lnTo>
                    <a:pt x="1438910" y="563245"/>
                  </a:lnTo>
                  <a:lnTo>
                    <a:pt x="1432560" y="603250"/>
                  </a:lnTo>
                  <a:lnTo>
                    <a:pt x="1422018" y="642239"/>
                  </a:lnTo>
                  <a:lnTo>
                    <a:pt x="1407667" y="680212"/>
                  </a:lnTo>
                  <a:lnTo>
                    <a:pt x="1389507" y="716915"/>
                  </a:lnTo>
                  <a:lnTo>
                    <a:pt x="1367789" y="752221"/>
                  </a:lnTo>
                  <a:lnTo>
                    <a:pt x="1342643" y="786130"/>
                  </a:lnTo>
                  <a:lnTo>
                    <a:pt x="1314323" y="818515"/>
                  </a:lnTo>
                  <a:lnTo>
                    <a:pt x="1282827" y="849249"/>
                  </a:lnTo>
                  <a:lnTo>
                    <a:pt x="1248283" y="878205"/>
                  </a:lnTo>
                  <a:lnTo>
                    <a:pt x="1211072" y="905129"/>
                  </a:lnTo>
                  <a:lnTo>
                    <a:pt x="1171193" y="930148"/>
                  </a:lnTo>
                  <a:lnTo>
                    <a:pt x="1128903" y="953008"/>
                  </a:lnTo>
                  <a:lnTo>
                    <a:pt x="1084199" y="973582"/>
                  </a:lnTo>
                  <a:lnTo>
                    <a:pt x="1037463" y="991870"/>
                  </a:lnTo>
                  <a:lnTo>
                    <a:pt x="988695" y="1007618"/>
                  </a:lnTo>
                  <a:lnTo>
                    <a:pt x="938022" y="1020699"/>
                  </a:lnTo>
                  <a:lnTo>
                    <a:pt x="885698" y="1031113"/>
                  </a:lnTo>
                  <a:lnTo>
                    <a:pt x="831977" y="1038733"/>
                  </a:lnTo>
                  <a:lnTo>
                    <a:pt x="776859" y="1043432"/>
                  </a:lnTo>
                  <a:lnTo>
                    <a:pt x="720598" y="1044956"/>
                  </a:lnTo>
                  <a:lnTo>
                    <a:pt x="664210" y="1043432"/>
                  </a:lnTo>
                  <a:lnTo>
                    <a:pt x="609092" y="1038733"/>
                  </a:lnTo>
                  <a:lnTo>
                    <a:pt x="555371" y="1031113"/>
                  </a:lnTo>
                  <a:lnTo>
                    <a:pt x="503047" y="1020699"/>
                  </a:lnTo>
                  <a:lnTo>
                    <a:pt x="452500" y="1007618"/>
                  </a:lnTo>
                  <a:lnTo>
                    <a:pt x="403733" y="991870"/>
                  </a:lnTo>
                  <a:lnTo>
                    <a:pt x="356870" y="973582"/>
                  </a:lnTo>
                  <a:lnTo>
                    <a:pt x="312293" y="953008"/>
                  </a:lnTo>
                  <a:lnTo>
                    <a:pt x="269875" y="930148"/>
                  </a:lnTo>
                  <a:lnTo>
                    <a:pt x="229997" y="905129"/>
                  </a:lnTo>
                  <a:lnTo>
                    <a:pt x="192786" y="878205"/>
                  </a:lnTo>
                  <a:lnTo>
                    <a:pt x="158369" y="849249"/>
                  </a:lnTo>
                  <a:lnTo>
                    <a:pt x="126746" y="818515"/>
                  </a:lnTo>
                  <a:lnTo>
                    <a:pt x="98425" y="786130"/>
                  </a:lnTo>
                  <a:lnTo>
                    <a:pt x="73279" y="752221"/>
                  </a:lnTo>
                  <a:lnTo>
                    <a:pt x="51562" y="716915"/>
                  </a:lnTo>
                  <a:lnTo>
                    <a:pt x="33400" y="680212"/>
                  </a:lnTo>
                  <a:lnTo>
                    <a:pt x="19050" y="642239"/>
                  </a:lnTo>
                  <a:lnTo>
                    <a:pt x="8636" y="603250"/>
                  </a:lnTo>
                  <a:lnTo>
                    <a:pt x="2159" y="563245"/>
                  </a:lnTo>
                  <a:lnTo>
                    <a:pt x="0" y="522478"/>
                  </a:lnTo>
                  <a:close/>
                </a:path>
              </a:pathLst>
            </a:custGeom>
            <a:ln w="25398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137652" y="4099687"/>
            <a:ext cx="932815" cy="50101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80645">
              <a:lnSpc>
                <a:spcPct val="101299"/>
              </a:lnSpc>
              <a:spcBef>
                <a:spcPts val="70"/>
              </a:spcBef>
            </a:pPr>
            <a:r>
              <a:rPr sz="1550" b="1" dirty="0">
                <a:latin typeface="Calibri"/>
                <a:cs typeface="Calibri"/>
              </a:rPr>
              <a:t>Vision</a:t>
            </a:r>
            <a:r>
              <a:rPr sz="1550" b="1" spc="20" dirty="0">
                <a:latin typeface="Calibri"/>
                <a:cs typeface="Calibri"/>
              </a:rPr>
              <a:t> </a:t>
            </a:r>
            <a:r>
              <a:rPr sz="1550" b="1" spc="-25" dirty="0">
                <a:latin typeface="Calibri"/>
                <a:cs typeface="Calibri"/>
              </a:rPr>
              <a:t>ou </a:t>
            </a:r>
            <a:r>
              <a:rPr sz="1550" b="1" spc="-20" dirty="0">
                <a:latin typeface="Calibri"/>
                <a:cs typeface="Calibri"/>
              </a:rPr>
              <a:t>orientation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12638" y="4068317"/>
            <a:ext cx="1216025" cy="50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"/>
              </a:spcBef>
            </a:pPr>
            <a:r>
              <a:rPr sz="1550" b="1" spc="-10" dirty="0">
                <a:latin typeface="Calibri"/>
                <a:cs typeface="Calibri"/>
              </a:rPr>
              <a:t>Objectif</a:t>
            </a:r>
            <a:endParaRPr sz="15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550" b="1" spc="-10" dirty="0">
                <a:latin typeface="Calibri"/>
                <a:cs typeface="Calibri"/>
              </a:rPr>
              <a:t>d’amélioration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77136" y="3838067"/>
            <a:ext cx="1466850" cy="1070610"/>
            <a:chOff x="1477136" y="3838067"/>
            <a:chExt cx="1466850" cy="1070610"/>
          </a:xfrm>
        </p:grpSpPr>
        <p:sp>
          <p:nvSpPr>
            <p:cNvPr id="25" name="object 25"/>
            <p:cNvSpPr/>
            <p:nvPr/>
          </p:nvSpPr>
          <p:spPr>
            <a:xfrm>
              <a:off x="1489836" y="3850767"/>
              <a:ext cx="1441450" cy="1045210"/>
            </a:xfrm>
            <a:custGeom>
              <a:avLst/>
              <a:gdLst/>
              <a:ahLst/>
              <a:cxnLst/>
              <a:rect l="l" t="t" r="r" b="b"/>
              <a:pathLst>
                <a:path w="1441450" h="1045210">
                  <a:moveTo>
                    <a:pt x="720470" y="0"/>
                  </a:moveTo>
                  <a:lnTo>
                    <a:pt x="664210" y="1524"/>
                  </a:lnTo>
                  <a:lnTo>
                    <a:pt x="609092" y="6096"/>
                  </a:lnTo>
                  <a:lnTo>
                    <a:pt x="555370" y="13715"/>
                  </a:lnTo>
                  <a:lnTo>
                    <a:pt x="503046" y="24129"/>
                  </a:lnTo>
                  <a:lnTo>
                    <a:pt x="452500" y="37337"/>
                  </a:lnTo>
                  <a:lnTo>
                    <a:pt x="403606" y="53086"/>
                  </a:lnTo>
                  <a:lnTo>
                    <a:pt x="356869" y="71247"/>
                  </a:lnTo>
                  <a:lnTo>
                    <a:pt x="312165" y="91821"/>
                  </a:lnTo>
                  <a:lnTo>
                    <a:pt x="269875" y="114680"/>
                  </a:lnTo>
                  <a:lnTo>
                    <a:pt x="229996" y="139700"/>
                  </a:lnTo>
                  <a:lnTo>
                    <a:pt x="192786" y="166750"/>
                  </a:lnTo>
                  <a:lnTo>
                    <a:pt x="158242" y="195707"/>
                  </a:lnTo>
                  <a:lnTo>
                    <a:pt x="126746" y="226313"/>
                  </a:lnTo>
                  <a:lnTo>
                    <a:pt x="98425" y="258699"/>
                  </a:lnTo>
                  <a:lnTo>
                    <a:pt x="73278" y="292608"/>
                  </a:lnTo>
                  <a:lnTo>
                    <a:pt x="51562" y="328040"/>
                  </a:lnTo>
                  <a:lnTo>
                    <a:pt x="33400" y="364744"/>
                  </a:lnTo>
                  <a:lnTo>
                    <a:pt x="19050" y="402589"/>
                  </a:lnTo>
                  <a:lnTo>
                    <a:pt x="8509" y="441705"/>
                  </a:lnTo>
                  <a:lnTo>
                    <a:pt x="2159" y="481583"/>
                  </a:lnTo>
                  <a:lnTo>
                    <a:pt x="0" y="522477"/>
                  </a:lnTo>
                  <a:lnTo>
                    <a:pt x="2159" y="563244"/>
                  </a:lnTo>
                  <a:lnTo>
                    <a:pt x="8509" y="603250"/>
                  </a:lnTo>
                  <a:lnTo>
                    <a:pt x="19050" y="642238"/>
                  </a:lnTo>
                  <a:lnTo>
                    <a:pt x="33400" y="680212"/>
                  </a:lnTo>
                  <a:lnTo>
                    <a:pt x="51562" y="716914"/>
                  </a:lnTo>
                  <a:lnTo>
                    <a:pt x="73278" y="752220"/>
                  </a:lnTo>
                  <a:lnTo>
                    <a:pt x="98425" y="786130"/>
                  </a:lnTo>
                  <a:lnTo>
                    <a:pt x="126746" y="818514"/>
                  </a:lnTo>
                  <a:lnTo>
                    <a:pt x="158242" y="849249"/>
                  </a:lnTo>
                  <a:lnTo>
                    <a:pt x="192786" y="878205"/>
                  </a:lnTo>
                  <a:lnTo>
                    <a:pt x="229996" y="905129"/>
                  </a:lnTo>
                  <a:lnTo>
                    <a:pt x="269875" y="930148"/>
                  </a:lnTo>
                  <a:lnTo>
                    <a:pt x="312165" y="953007"/>
                  </a:lnTo>
                  <a:lnTo>
                    <a:pt x="356869" y="973582"/>
                  </a:lnTo>
                  <a:lnTo>
                    <a:pt x="403606" y="991869"/>
                  </a:lnTo>
                  <a:lnTo>
                    <a:pt x="452500" y="1007618"/>
                  </a:lnTo>
                  <a:lnTo>
                    <a:pt x="503046" y="1020699"/>
                  </a:lnTo>
                  <a:lnTo>
                    <a:pt x="555370" y="1031113"/>
                  </a:lnTo>
                  <a:lnTo>
                    <a:pt x="609092" y="1038732"/>
                  </a:lnTo>
                  <a:lnTo>
                    <a:pt x="664210" y="1043432"/>
                  </a:lnTo>
                  <a:lnTo>
                    <a:pt x="720470" y="1044956"/>
                  </a:lnTo>
                  <a:lnTo>
                    <a:pt x="776858" y="1043432"/>
                  </a:lnTo>
                  <a:lnTo>
                    <a:pt x="831976" y="1038732"/>
                  </a:lnTo>
                  <a:lnTo>
                    <a:pt x="885698" y="1031113"/>
                  </a:lnTo>
                  <a:lnTo>
                    <a:pt x="938021" y="1020699"/>
                  </a:lnTo>
                  <a:lnTo>
                    <a:pt x="988568" y="1007618"/>
                  </a:lnTo>
                  <a:lnTo>
                    <a:pt x="1037463" y="991869"/>
                  </a:lnTo>
                  <a:lnTo>
                    <a:pt x="1084199" y="973582"/>
                  </a:lnTo>
                  <a:lnTo>
                    <a:pt x="1128902" y="953007"/>
                  </a:lnTo>
                  <a:lnTo>
                    <a:pt x="1171194" y="930148"/>
                  </a:lnTo>
                  <a:lnTo>
                    <a:pt x="1211071" y="905129"/>
                  </a:lnTo>
                  <a:lnTo>
                    <a:pt x="1248283" y="878205"/>
                  </a:lnTo>
                  <a:lnTo>
                    <a:pt x="1282827" y="849249"/>
                  </a:lnTo>
                  <a:lnTo>
                    <a:pt x="1314323" y="818514"/>
                  </a:lnTo>
                  <a:lnTo>
                    <a:pt x="1342644" y="786130"/>
                  </a:lnTo>
                  <a:lnTo>
                    <a:pt x="1367789" y="752220"/>
                  </a:lnTo>
                  <a:lnTo>
                    <a:pt x="1389507" y="716914"/>
                  </a:lnTo>
                  <a:lnTo>
                    <a:pt x="1407668" y="680212"/>
                  </a:lnTo>
                  <a:lnTo>
                    <a:pt x="1422019" y="642238"/>
                  </a:lnTo>
                  <a:lnTo>
                    <a:pt x="1432433" y="603250"/>
                  </a:lnTo>
                  <a:lnTo>
                    <a:pt x="1438910" y="563244"/>
                  </a:lnTo>
                  <a:lnTo>
                    <a:pt x="1441069" y="522477"/>
                  </a:lnTo>
                  <a:lnTo>
                    <a:pt x="1438910" y="481583"/>
                  </a:lnTo>
                  <a:lnTo>
                    <a:pt x="1432433" y="441705"/>
                  </a:lnTo>
                  <a:lnTo>
                    <a:pt x="1422019" y="402589"/>
                  </a:lnTo>
                  <a:lnTo>
                    <a:pt x="1407668" y="364744"/>
                  </a:lnTo>
                  <a:lnTo>
                    <a:pt x="1389507" y="328040"/>
                  </a:lnTo>
                  <a:lnTo>
                    <a:pt x="1367789" y="292608"/>
                  </a:lnTo>
                  <a:lnTo>
                    <a:pt x="1342644" y="258699"/>
                  </a:lnTo>
                  <a:lnTo>
                    <a:pt x="1314323" y="226313"/>
                  </a:lnTo>
                  <a:lnTo>
                    <a:pt x="1282827" y="195707"/>
                  </a:lnTo>
                  <a:lnTo>
                    <a:pt x="1248283" y="166750"/>
                  </a:lnTo>
                  <a:lnTo>
                    <a:pt x="1211071" y="139700"/>
                  </a:lnTo>
                  <a:lnTo>
                    <a:pt x="1171194" y="114680"/>
                  </a:lnTo>
                  <a:lnTo>
                    <a:pt x="1128902" y="91821"/>
                  </a:lnTo>
                  <a:lnTo>
                    <a:pt x="1084199" y="71247"/>
                  </a:lnTo>
                  <a:lnTo>
                    <a:pt x="1037463" y="53086"/>
                  </a:lnTo>
                  <a:lnTo>
                    <a:pt x="988568" y="37337"/>
                  </a:lnTo>
                  <a:lnTo>
                    <a:pt x="938021" y="24129"/>
                  </a:lnTo>
                  <a:lnTo>
                    <a:pt x="885698" y="13715"/>
                  </a:lnTo>
                  <a:lnTo>
                    <a:pt x="831976" y="6096"/>
                  </a:lnTo>
                  <a:lnTo>
                    <a:pt x="776858" y="1524"/>
                  </a:lnTo>
                  <a:lnTo>
                    <a:pt x="72047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89836" y="3850767"/>
              <a:ext cx="1441450" cy="1045210"/>
            </a:xfrm>
            <a:custGeom>
              <a:avLst/>
              <a:gdLst/>
              <a:ahLst/>
              <a:cxnLst/>
              <a:rect l="l" t="t" r="r" b="b"/>
              <a:pathLst>
                <a:path w="1441450" h="1045210">
                  <a:moveTo>
                    <a:pt x="0" y="522477"/>
                  </a:moveTo>
                  <a:lnTo>
                    <a:pt x="2159" y="481583"/>
                  </a:lnTo>
                  <a:lnTo>
                    <a:pt x="8509" y="441705"/>
                  </a:lnTo>
                  <a:lnTo>
                    <a:pt x="19050" y="402589"/>
                  </a:lnTo>
                  <a:lnTo>
                    <a:pt x="33400" y="364744"/>
                  </a:lnTo>
                  <a:lnTo>
                    <a:pt x="51562" y="328040"/>
                  </a:lnTo>
                  <a:lnTo>
                    <a:pt x="73278" y="292608"/>
                  </a:lnTo>
                  <a:lnTo>
                    <a:pt x="98425" y="258699"/>
                  </a:lnTo>
                  <a:lnTo>
                    <a:pt x="126746" y="226313"/>
                  </a:lnTo>
                  <a:lnTo>
                    <a:pt x="158242" y="195707"/>
                  </a:lnTo>
                  <a:lnTo>
                    <a:pt x="192786" y="166750"/>
                  </a:lnTo>
                  <a:lnTo>
                    <a:pt x="229996" y="139700"/>
                  </a:lnTo>
                  <a:lnTo>
                    <a:pt x="269875" y="114680"/>
                  </a:lnTo>
                  <a:lnTo>
                    <a:pt x="312165" y="91821"/>
                  </a:lnTo>
                  <a:lnTo>
                    <a:pt x="356869" y="71247"/>
                  </a:lnTo>
                  <a:lnTo>
                    <a:pt x="403606" y="53086"/>
                  </a:lnTo>
                  <a:lnTo>
                    <a:pt x="452500" y="37337"/>
                  </a:lnTo>
                  <a:lnTo>
                    <a:pt x="503046" y="24129"/>
                  </a:lnTo>
                  <a:lnTo>
                    <a:pt x="555370" y="13715"/>
                  </a:lnTo>
                  <a:lnTo>
                    <a:pt x="609092" y="6096"/>
                  </a:lnTo>
                  <a:lnTo>
                    <a:pt x="664210" y="1524"/>
                  </a:lnTo>
                  <a:lnTo>
                    <a:pt x="720470" y="0"/>
                  </a:lnTo>
                  <a:lnTo>
                    <a:pt x="776858" y="1524"/>
                  </a:lnTo>
                  <a:lnTo>
                    <a:pt x="831976" y="6096"/>
                  </a:lnTo>
                  <a:lnTo>
                    <a:pt x="885698" y="13715"/>
                  </a:lnTo>
                  <a:lnTo>
                    <a:pt x="938021" y="24129"/>
                  </a:lnTo>
                  <a:lnTo>
                    <a:pt x="988568" y="37337"/>
                  </a:lnTo>
                  <a:lnTo>
                    <a:pt x="1037463" y="53086"/>
                  </a:lnTo>
                  <a:lnTo>
                    <a:pt x="1084199" y="71247"/>
                  </a:lnTo>
                  <a:lnTo>
                    <a:pt x="1128902" y="91821"/>
                  </a:lnTo>
                  <a:lnTo>
                    <a:pt x="1171194" y="114680"/>
                  </a:lnTo>
                  <a:lnTo>
                    <a:pt x="1211071" y="139700"/>
                  </a:lnTo>
                  <a:lnTo>
                    <a:pt x="1248283" y="166750"/>
                  </a:lnTo>
                  <a:lnTo>
                    <a:pt x="1282827" y="195707"/>
                  </a:lnTo>
                  <a:lnTo>
                    <a:pt x="1314323" y="226313"/>
                  </a:lnTo>
                  <a:lnTo>
                    <a:pt x="1342644" y="258699"/>
                  </a:lnTo>
                  <a:lnTo>
                    <a:pt x="1367789" y="292608"/>
                  </a:lnTo>
                  <a:lnTo>
                    <a:pt x="1389507" y="328040"/>
                  </a:lnTo>
                  <a:lnTo>
                    <a:pt x="1407668" y="364744"/>
                  </a:lnTo>
                  <a:lnTo>
                    <a:pt x="1422019" y="402589"/>
                  </a:lnTo>
                  <a:lnTo>
                    <a:pt x="1432433" y="441705"/>
                  </a:lnTo>
                  <a:lnTo>
                    <a:pt x="1438910" y="481583"/>
                  </a:lnTo>
                  <a:lnTo>
                    <a:pt x="1441069" y="522477"/>
                  </a:lnTo>
                  <a:lnTo>
                    <a:pt x="1438910" y="563244"/>
                  </a:lnTo>
                  <a:lnTo>
                    <a:pt x="1432433" y="603250"/>
                  </a:lnTo>
                  <a:lnTo>
                    <a:pt x="1422019" y="642238"/>
                  </a:lnTo>
                  <a:lnTo>
                    <a:pt x="1407668" y="680212"/>
                  </a:lnTo>
                  <a:lnTo>
                    <a:pt x="1389507" y="716914"/>
                  </a:lnTo>
                  <a:lnTo>
                    <a:pt x="1367789" y="752220"/>
                  </a:lnTo>
                  <a:lnTo>
                    <a:pt x="1342644" y="786130"/>
                  </a:lnTo>
                  <a:lnTo>
                    <a:pt x="1314323" y="818514"/>
                  </a:lnTo>
                  <a:lnTo>
                    <a:pt x="1282827" y="849249"/>
                  </a:lnTo>
                  <a:lnTo>
                    <a:pt x="1248283" y="878205"/>
                  </a:lnTo>
                  <a:lnTo>
                    <a:pt x="1211071" y="905129"/>
                  </a:lnTo>
                  <a:lnTo>
                    <a:pt x="1171194" y="930148"/>
                  </a:lnTo>
                  <a:lnTo>
                    <a:pt x="1128902" y="953007"/>
                  </a:lnTo>
                  <a:lnTo>
                    <a:pt x="1084199" y="973582"/>
                  </a:lnTo>
                  <a:lnTo>
                    <a:pt x="1037463" y="991869"/>
                  </a:lnTo>
                  <a:lnTo>
                    <a:pt x="988568" y="1007618"/>
                  </a:lnTo>
                  <a:lnTo>
                    <a:pt x="938021" y="1020699"/>
                  </a:lnTo>
                  <a:lnTo>
                    <a:pt x="885698" y="1031113"/>
                  </a:lnTo>
                  <a:lnTo>
                    <a:pt x="831976" y="1038732"/>
                  </a:lnTo>
                  <a:lnTo>
                    <a:pt x="776858" y="1043432"/>
                  </a:lnTo>
                  <a:lnTo>
                    <a:pt x="720470" y="1044956"/>
                  </a:lnTo>
                  <a:lnTo>
                    <a:pt x="664210" y="1043432"/>
                  </a:lnTo>
                  <a:lnTo>
                    <a:pt x="609092" y="1038732"/>
                  </a:lnTo>
                  <a:lnTo>
                    <a:pt x="555370" y="1031113"/>
                  </a:lnTo>
                  <a:lnTo>
                    <a:pt x="503046" y="1020699"/>
                  </a:lnTo>
                  <a:lnTo>
                    <a:pt x="452500" y="1007618"/>
                  </a:lnTo>
                  <a:lnTo>
                    <a:pt x="403606" y="991869"/>
                  </a:lnTo>
                  <a:lnTo>
                    <a:pt x="356869" y="973582"/>
                  </a:lnTo>
                  <a:lnTo>
                    <a:pt x="312165" y="953007"/>
                  </a:lnTo>
                  <a:lnTo>
                    <a:pt x="269875" y="930148"/>
                  </a:lnTo>
                  <a:lnTo>
                    <a:pt x="229996" y="905129"/>
                  </a:lnTo>
                  <a:lnTo>
                    <a:pt x="192786" y="878205"/>
                  </a:lnTo>
                  <a:lnTo>
                    <a:pt x="158242" y="849249"/>
                  </a:lnTo>
                  <a:lnTo>
                    <a:pt x="126746" y="818514"/>
                  </a:lnTo>
                  <a:lnTo>
                    <a:pt x="98425" y="786130"/>
                  </a:lnTo>
                  <a:lnTo>
                    <a:pt x="73278" y="752220"/>
                  </a:lnTo>
                  <a:lnTo>
                    <a:pt x="51562" y="716914"/>
                  </a:lnTo>
                  <a:lnTo>
                    <a:pt x="33400" y="680212"/>
                  </a:lnTo>
                  <a:lnTo>
                    <a:pt x="19050" y="642238"/>
                  </a:lnTo>
                  <a:lnTo>
                    <a:pt x="8509" y="603250"/>
                  </a:lnTo>
                  <a:lnTo>
                    <a:pt x="2159" y="563244"/>
                  </a:lnTo>
                  <a:lnTo>
                    <a:pt x="0" y="522477"/>
                  </a:lnTo>
                  <a:close/>
                </a:path>
              </a:pathLst>
            </a:custGeom>
            <a:ln w="25398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77314" y="4207510"/>
            <a:ext cx="66675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spc="-10" dirty="0">
                <a:latin typeface="Calibri"/>
                <a:cs typeface="Calibri"/>
              </a:rPr>
              <a:t>Existant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760342" y="3434880"/>
            <a:ext cx="3624579" cy="1120775"/>
            <a:chOff x="3760342" y="3434880"/>
            <a:chExt cx="3624579" cy="1120775"/>
          </a:xfrm>
        </p:grpSpPr>
        <p:sp>
          <p:nvSpPr>
            <p:cNvPr id="29" name="object 29"/>
            <p:cNvSpPr/>
            <p:nvPr/>
          </p:nvSpPr>
          <p:spPr>
            <a:xfrm>
              <a:off x="7192009" y="4123944"/>
              <a:ext cx="186690" cy="425450"/>
            </a:xfrm>
            <a:custGeom>
              <a:avLst/>
              <a:gdLst/>
              <a:ahLst/>
              <a:cxnLst/>
              <a:rect l="l" t="t" r="r" b="b"/>
              <a:pathLst>
                <a:path w="186690" h="425450">
                  <a:moveTo>
                    <a:pt x="186182" y="0"/>
                  </a:moveTo>
                  <a:lnTo>
                    <a:pt x="0" y="424942"/>
                  </a:lnTo>
                </a:path>
              </a:pathLst>
            </a:custGeom>
            <a:ln w="126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0342" y="3434880"/>
              <a:ext cx="837107" cy="79256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800347" y="3451860"/>
              <a:ext cx="757555" cy="713105"/>
            </a:xfrm>
            <a:custGeom>
              <a:avLst/>
              <a:gdLst/>
              <a:ahLst/>
              <a:cxnLst/>
              <a:rect l="l" t="t" r="r" b="b"/>
              <a:pathLst>
                <a:path w="757554" h="713104">
                  <a:moveTo>
                    <a:pt x="378587" y="0"/>
                  </a:moveTo>
                  <a:lnTo>
                    <a:pt x="331088" y="2794"/>
                  </a:lnTo>
                  <a:lnTo>
                    <a:pt x="285368" y="10922"/>
                  </a:lnTo>
                  <a:lnTo>
                    <a:pt x="241807" y="24003"/>
                  </a:lnTo>
                  <a:lnTo>
                    <a:pt x="200660" y="41783"/>
                  </a:lnTo>
                  <a:lnTo>
                    <a:pt x="162305" y="63881"/>
                  </a:lnTo>
                  <a:lnTo>
                    <a:pt x="127253" y="89916"/>
                  </a:lnTo>
                  <a:lnTo>
                    <a:pt x="95630" y="119634"/>
                  </a:lnTo>
                  <a:lnTo>
                    <a:pt x="67817" y="152781"/>
                  </a:lnTo>
                  <a:lnTo>
                    <a:pt x="44450" y="188849"/>
                  </a:lnTo>
                  <a:lnTo>
                    <a:pt x="25526" y="227584"/>
                  </a:lnTo>
                  <a:lnTo>
                    <a:pt x="11556" y="268605"/>
                  </a:lnTo>
                  <a:lnTo>
                    <a:pt x="3048" y="311658"/>
                  </a:lnTo>
                  <a:lnTo>
                    <a:pt x="0" y="356235"/>
                  </a:lnTo>
                  <a:lnTo>
                    <a:pt x="3048" y="400939"/>
                  </a:lnTo>
                  <a:lnTo>
                    <a:pt x="11556" y="443992"/>
                  </a:lnTo>
                  <a:lnTo>
                    <a:pt x="25526" y="485013"/>
                  </a:lnTo>
                  <a:lnTo>
                    <a:pt x="44450" y="523748"/>
                  </a:lnTo>
                  <a:lnTo>
                    <a:pt x="67817" y="559816"/>
                  </a:lnTo>
                  <a:lnTo>
                    <a:pt x="95630" y="592963"/>
                  </a:lnTo>
                  <a:lnTo>
                    <a:pt x="127253" y="622681"/>
                  </a:lnTo>
                  <a:lnTo>
                    <a:pt x="162305" y="648716"/>
                  </a:lnTo>
                  <a:lnTo>
                    <a:pt x="200660" y="670814"/>
                  </a:lnTo>
                  <a:lnTo>
                    <a:pt x="241807" y="688594"/>
                  </a:lnTo>
                  <a:lnTo>
                    <a:pt x="285368" y="701675"/>
                  </a:lnTo>
                  <a:lnTo>
                    <a:pt x="331088" y="709803"/>
                  </a:lnTo>
                  <a:lnTo>
                    <a:pt x="378587" y="712597"/>
                  </a:lnTo>
                  <a:lnTo>
                    <a:pt x="426085" y="709803"/>
                  </a:lnTo>
                  <a:lnTo>
                    <a:pt x="471804" y="701675"/>
                  </a:lnTo>
                  <a:lnTo>
                    <a:pt x="515492" y="688594"/>
                  </a:lnTo>
                  <a:lnTo>
                    <a:pt x="556513" y="670814"/>
                  </a:lnTo>
                  <a:lnTo>
                    <a:pt x="594867" y="648716"/>
                  </a:lnTo>
                  <a:lnTo>
                    <a:pt x="630047" y="622681"/>
                  </a:lnTo>
                  <a:lnTo>
                    <a:pt x="661669" y="592963"/>
                  </a:lnTo>
                  <a:lnTo>
                    <a:pt x="689355" y="559816"/>
                  </a:lnTo>
                  <a:lnTo>
                    <a:pt x="712851" y="523748"/>
                  </a:lnTo>
                  <a:lnTo>
                    <a:pt x="731647" y="485013"/>
                  </a:lnTo>
                  <a:lnTo>
                    <a:pt x="745616" y="443992"/>
                  </a:lnTo>
                  <a:lnTo>
                    <a:pt x="754252" y="400939"/>
                  </a:lnTo>
                  <a:lnTo>
                    <a:pt x="757174" y="356235"/>
                  </a:lnTo>
                  <a:lnTo>
                    <a:pt x="753872" y="309499"/>
                  </a:lnTo>
                  <a:lnTo>
                    <a:pt x="744219" y="263779"/>
                  </a:lnTo>
                  <a:lnTo>
                    <a:pt x="728344" y="219964"/>
                  </a:lnTo>
                  <a:lnTo>
                    <a:pt x="706627" y="178435"/>
                  </a:lnTo>
                  <a:lnTo>
                    <a:pt x="679196" y="139700"/>
                  </a:lnTo>
                  <a:lnTo>
                    <a:pt x="646302" y="104394"/>
                  </a:lnTo>
                  <a:lnTo>
                    <a:pt x="608838" y="73406"/>
                  </a:lnTo>
                  <a:lnTo>
                    <a:pt x="567689" y="47625"/>
                  </a:lnTo>
                  <a:lnTo>
                    <a:pt x="523493" y="27178"/>
                  </a:lnTo>
                  <a:lnTo>
                    <a:pt x="476885" y="12192"/>
                  </a:lnTo>
                  <a:lnTo>
                    <a:pt x="428371" y="3048"/>
                  </a:lnTo>
                  <a:lnTo>
                    <a:pt x="378587" y="0"/>
                  </a:lnTo>
                  <a:close/>
                </a:path>
              </a:pathLst>
            </a:custGeom>
            <a:solidFill>
              <a:srgbClr val="7D13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863085" y="3476625"/>
            <a:ext cx="683895" cy="974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0" algn="ctr">
              <a:lnSpc>
                <a:spcPct val="100000"/>
              </a:lnSpc>
              <a:spcBef>
                <a:spcPts val="105"/>
              </a:spcBef>
            </a:pPr>
            <a:r>
              <a:rPr sz="3750" spc="-50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endParaRPr sz="37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465"/>
              </a:spcBef>
            </a:pPr>
            <a:r>
              <a:rPr sz="1250" spc="-35" dirty="0">
                <a:solidFill>
                  <a:srgbClr val="7E7E7E"/>
                </a:solidFill>
                <a:latin typeface="Arial MT"/>
                <a:cs typeface="Arial MT"/>
              </a:rPr>
              <a:t>Obstacles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790060" y="4058323"/>
            <a:ext cx="1564640" cy="1445895"/>
            <a:chOff x="3790060" y="4058323"/>
            <a:chExt cx="1564640" cy="1445895"/>
          </a:xfrm>
        </p:grpSpPr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7516" y="4058323"/>
              <a:ext cx="837107" cy="79256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557521" y="4075430"/>
              <a:ext cx="757555" cy="712470"/>
            </a:xfrm>
            <a:custGeom>
              <a:avLst/>
              <a:gdLst/>
              <a:ahLst/>
              <a:cxnLst/>
              <a:rect l="l" t="t" r="r" b="b"/>
              <a:pathLst>
                <a:path w="757554" h="712470">
                  <a:moveTo>
                    <a:pt x="378587" y="0"/>
                  </a:moveTo>
                  <a:lnTo>
                    <a:pt x="331088" y="2666"/>
                  </a:lnTo>
                  <a:lnTo>
                    <a:pt x="285368" y="10795"/>
                  </a:lnTo>
                  <a:lnTo>
                    <a:pt x="241680" y="23875"/>
                  </a:lnTo>
                  <a:lnTo>
                    <a:pt x="200532" y="41656"/>
                  </a:lnTo>
                  <a:lnTo>
                    <a:pt x="162305" y="63753"/>
                  </a:lnTo>
                  <a:lnTo>
                    <a:pt x="127126" y="89915"/>
                  </a:lnTo>
                  <a:lnTo>
                    <a:pt x="95503" y="119634"/>
                  </a:lnTo>
                  <a:lnTo>
                    <a:pt x="67817" y="152653"/>
                  </a:lnTo>
                  <a:lnTo>
                    <a:pt x="44323" y="188722"/>
                  </a:lnTo>
                  <a:lnTo>
                    <a:pt x="25526" y="227457"/>
                  </a:lnTo>
                  <a:lnTo>
                    <a:pt x="11556" y="268478"/>
                  </a:lnTo>
                  <a:lnTo>
                    <a:pt x="2920" y="311531"/>
                  </a:lnTo>
                  <a:lnTo>
                    <a:pt x="0" y="356235"/>
                  </a:lnTo>
                  <a:lnTo>
                    <a:pt x="2920" y="400938"/>
                  </a:lnTo>
                  <a:lnTo>
                    <a:pt x="11556" y="443992"/>
                  </a:lnTo>
                  <a:lnTo>
                    <a:pt x="25526" y="485013"/>
                  </a:lnTo>
                  <a:lnTo>
                    <a:pt x="44323" y="523748"/>
                  </a:lnTo>
                  <a:lnTo>
                    <a:pt x="67817" y="559816"/>
                  </a:lnTo>
                  <a:lnTo>
                    <a:pt x="95503" y="592836"/>
                  </a:lnTo>
                  <a:lnTo>
                    <a:pt x="127126" y="622554"/>
                  </a:lnTo>
                  <a:lnTo>
                    <a:pt x="162305" y="648716"/>
                  </a:lnTo>
                  <a:lnTo>
                    <a:pt x="200532" y="670813"/>
                  </a:lnTo>
                  <a:lnTo>
                    <a:pt x="241680" y="688594"/>
                  </a:lnTo>
                  <a:lnTo>
                    <a:pt x="285368" y="701675"/>
                  </a:lnTo>
                  <a:lnTo>
                    <a:pt x="331088" y="709803"/>
                  </a:lnTo>
                  <a:lnTo>
                    <a:pt x="378587" y="712469"/>
                  </a:lnTo>
                  <a:lnTo>
                    <a:pt x="426085" y="709803"/>
                  </a:lnTo>
                  <a:lnTo>
                    <a:pt x="471804" y="701675"/>
                  </a:lnTo>
                  <a:lnTo>
                    <a:pt x="515365" y="688594"/>
                  </a:lnTo>
                  <a:lnTo>
                    <a:pt x="556513" y="670813"/>
                  </a:lnTo>
                  <a:lnTo>
                    <a:pt x="594867" y="648716"/>
                  </a:lnTo>
                  <a:lnTo>
                    <a:pt x="629919" y="622554"/>
                  </a:lnTo>
                  <a:lnTo>
                    <a:pt x="661542" y="592836"/>
                  </a:lnTo>
                  <a:lnTo>
                    <a:pt x="689228" y="559816"/>
                  </a:lnTo>
                  <a:lnTo>
                    <a:pt x="712724" y="523748"/>
                  </a:lnTo>
                  <a:lnTo>
                    <a:pt x="731647" y="485013"/>
                  </a:lnTo>
                  <a:lnTo>
                    <a:pt x="745489" y="443992"/>
                  </a:lnTo>
                  <a:lnTo>
                    <a:pt x="754126" y="400938"/>
                  </a:lnTo>
                  <a:lnTo>
                    <a:pt x="757047" y="356235"/>
                  </a:lnTo>
                  <a:lnTo>
                    <a:pt x="753872" y="309372"/>
                  </a:lnTo>
                  <a:lnTo>
                    <a:pt x="744092" y="263779"/>
                  </a:lnTo>
                  <a:lnTo>
                    <a:pt x="728344" y="219837"/>
                  </a:lnTo>
                  <a:lnTo>
                    <a:pt x="706501" y="178308"/>
                  </a:lnTo>
                  <a:lnTo>
                    <a:pt x="679068" y="139573"/>
                  </a:lnTo>
                  <a:lnTo>
                    <a:pt x="646176" y="104266"/>
                  </a:lnTo>
                  <a:lnTo>
                    <a:pt x="608711" y="73406"/>
                  </a:lnTo>
                  <a:lnTo>
                    <a:pt x="567563" y="47498"/>
                  </a:lnTo>
                  <a:lnTo>
                    <a:pt x="523366" y="27050"/>
                  </a:lnTo>
                  <a:lnTo>
                    <a:pt x="476757" y="12191"/>
                  </a:lnTo>
                  <a:lnTo>
                    <a:pt x="428370" y="3048"/>
                  </a:lnTo>
                  <a:lnTo>
                    <a:pt x="378587" y="0"/>
                  </a:lnTo>
                  <a:close/>
                </a:path>
              </a:pathLst>
            </a:custGeom>
            <a:solidFill>
              <a:srgbClr val="7D13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0060" y="4711611"/>
              <a:ext cx="837107" cy="79256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830065" y="4728591"/>
              <a:ext cx="757555" cy="713105"/>
            </a:xfrm>
            <a:custGeom>
              <a:avLst/>
              <a:gdLst/>
              <a:ahLst/>
              <a:cxnLst/>
              <a:rect l="l" t="t" r="r" b="b"/>
              <a:pathLst>
                <a:path w="757554" h="713104">
                  <a:moveTo>
                    <a:pt x="378587" y="0"/>
                  </a:moveTo>
                  <a:lnTo>
                    <a:pt x="331088" y="2793"/>
                  </a:lnTo>
                  <a:lnTo>
                    <a:pt x="285369" y="10794"/>
                  </a:lnTo>
                  <a:lnTo>
                    <a:pt x="241808" y="24002"/>
                  </a:lnTo>
                  <a:lnTo>
                    <a:pt x="200660" y="41656"/>
                  </a:lnTo>
                  <a:lnTo>
                    <a:pt x="162306" y="63753"/>
                  </a:lnTo>
                  <a:lnTo>
                    <a:pt x="127126" y="89915"/>
                  </a:lnTo>
                  <a:lnTo>
                    <a:pt x="95631" y="119633"/>
                  </a:lnTo>
                  <a:lnTo>
                    <a:pt x="67818" y="152653"/>
                  </a:lnTo>
                  <a:lnTo>
                    <a:pt x="44323" y="188721"/>
                  </a:lnTo>
                  <a:lnTo>
                    <a:pt x="25526" y="227456"/>
                  </a:lnTo>
                  <a:lnTo>
                    <a:pt x="11557" y="268477"/>
                  </a:lnTo>
                  <a:lnTo>
                    <a:pt x="2921" y="311531"/>
                  </a:lnTo>
                  <a:lnTo>
                    <a:pt x="0" y="356234"/>
                  </a:lnTo>
                  <a:lnTo>
                    <a:pt x="2921" y="400938"/>
                  </a:lnTo>
                  <a:lnTo>
                    <a:pt x="11557" y="443992"/>
                  </a:lnTo>
                  <a:lnTo>
                    <a:pt x="25526" y="485013"/>
                  </a:lnTo>
                  <a:lnTo>
                    <a:pt x="44323" y="523748"/>
                  </a:lnTo>
                  <a:lnTo>
                    <a:pt x="67818" y="559815"/>
                  </a:lnTo>
                  <a:lnTo>
                    <a:pt x="95631" y="592836"/>
                  </a:lnTo>
                  <a:lnTo>
                    <a:pt x="127126" y="622681"/>
                  </a:lnTo>
                  <a:lnTo>
                    <a:pt x="162306" y="648715"/>
                  </a:lnTo>
                  <a:lnTo>
                    <a:pt x="200660" y="670813"/>
                  </a:lnTo>
                  <a:lnTo>
                    <a:pt x="241808" y="688594"/>
                  </a:lnTo>
                  <a:lnTo>
                    <a:pt x="285369" y="701675"/>
                  </a:lnTo>
                  <a:lnTo>
                    <a:pt x="331088" y="709802"/>
                  </a:lnTo>
                  <a:lnTo>
                    <a:pt x="378587" y="712596"/>
                  </a:lnTo>
                  <a:lnTo>
                    <a:pt x="426085" y="709802"/>
                  </a:lnTo>
                  <a:lnTo>
                    <a:pt x="471805" y="701675"/>
                  </a:lnTo>
                  <a:lnTo>
                    <a:pt x="515366" y="688594"/>
                  </a:lnTo>
                  <a:lnTo>
                    <a:pt x="556513" y="670813"/>
                  </a:lnTo>
                  <a:lnTo>
                    <a:pt x="594868" y="648715"/>
                  </a:lnTo>
                  <a:lnTo>
                    <a:pt x="630047" y="622681"/>
                  </a:lnTo>
                  <a:lnTo>
                    <a:pt x="661543" y="592836"/>
                  </a:lnTo>
                  <a:lnTo>
                    <a:pt x="689356" y="559815"/>
                  </a:lnTo>
                  <a:lnTo>
                    <a:pt x="712851" y="523748"/>
                  </a:lnTo>
                  <a:lnTo>
                    <a:pt x="731647" y="485013"/>
                  </a:lnTo>
                  <a:lnTo>
                    <a:pt x="745617" y="443992"/>
                  </a:lnTo>
                  <a:lnTo>
                    <a:pt x="754253" y="400938"/>
                  </a:lnTo>
                  <a:lnTo>
                    <a:pt x="757174" y="356234"/>
                  </a:lnTo>
                  <a:lnTo>
                    <a:pt x="753872" y="309371"/>
                  </a:lnTo>
                  <a:lnTo>
                    <a:pt x="744220" y="263778"/>
                  </a:lnTo>
                  <a:lnTo>
                    <a:pt x="728345" y="219963"/>
                  </a:lnTo>
                  <a:lnTo>
                    <a:pt x="706501" y="178307"/>
                  </a:lnTo>
                  <a:lnTo>
                    <a:pt x="679069" y="139573"/>
                  </a:lnTo>
                  <a:lnTo>
                    <a:pt x="646303" y="104267"/>
                  </a:lnTo>
                  <a:lnTo>
                    <a:pt x="608711" y="73406"/>
                  </a:lnTo>
                  <a:lnTo>
                    <a:pt x="567563" y="47625"/>
                  </a:lnTo>
                  <a:lnTo>
                    <a:pt x="523494" y="27050"/>
                  </a:lnTo>
                  <a:lnTo>
                    <a:pt x="476885" y="12192"/>
                  </a:lnTo>
                  <a:lnTo>
                    <a:pt x="428371" y="3048"/>
                  </a:lnTo>
                  <a:lnTo>
                    <a:pt x="378587" y="0"/>
                  </a:lnTo>
                  <a:close/>
                </a:path>
              </a:pathLst>
            </a:custGeom>
            <a:solidFill>
              <a:srgbClr val="7D13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060316" y="4753483"/>
            <a:ext cx="37020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50" spc="-5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67447" y="5546433"/>
            <a:ext cx="8935085" cy="1462405"/>
          </a:xfrm>
          <a:prstGeom prst="rect">
            <a:avLst/>
          </a:prstGeom>
          <a:solidFill>
            <a:srgbClr val="DAEDF3"/>
          </a:solidFill>
        </p:spPr>
        <p:txBody>
          <a:bodyPr vert="horz" wrap="square" lIns="0" tIns="27940" rIns="0" bIns="0" rtlCol="0">
            <a:spAutoFit/>
          </a:bodyPr>
          <a:lstStyle/>
          <a:p>
            <a:pPr marL="303530" marR="226695" algn="ctr">
              <a:lnSpc>
                <a:spcPct val="98700"/>
              </a:lnSpc>
              <a:spcBef>
                <a:spcPts val="220"/>
              </a:spcBef>
            </a:pP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L’Improvement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Kata</a:t>
            </a:r>
            <a:r>
              <a:rPr sz="22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est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2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processus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quatre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étapes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qui</a:t>
            </a:r>
            <a:r>
              <a:rPr sz="22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met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l’accent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sur l’apprentissage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l’amélioration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du</a:t>
            </a:r>
            <a:r>
              <a:rPr sz="2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travail.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Il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prend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compte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vision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ou l’orientation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à</a:t>
            </a:r>
            <a:r>
              <a:rPr sz="2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long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terme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l’organisation</a:t>
            </a:r>
            <a:r>
              <a:rPr sz="2200" spc="-10" dirty="0">
                <a:solidFill>
                  <a:srgbClr val="404040"/>
                </a:solidFill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 marL="9525" algn="ctr">
              <a:lnSpc>
                <a:spcPts val="2485"/>
              </a:lnSpc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Plan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&gt;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&gt;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Check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&gt;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Act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(PDCA)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47873" y="4058323"/>
            <a:ext cx="837565" cy="793115"/>
            <a:chOff x="3047873" y="4058323"/>
            <a:chExt cx="837565" cy="793115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873" y="4058323"/>
              <a:ext cx="837107" cy="79256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087878" y="4075430"/>
              <a:ext cx="757555" cy="712470"/>
            </a:xfrm>
            <a:custGeom>
              <a:avLst/>
              <a:gdLst/>
              <a:ahLst/>
              <a:cxnLst/>
              <a:rect l="l" t="t" r="r" b="b"/>
              <a:pathLst>
                <a:path w="757554" h="712470">
                  <a:moveTo>
                    <a:pt x="378460" y="0"/>
                  </a:moveTo>
                  <a:lnTo>
                    <a:pt x="330962" y="2666"/>
                  </a:lnTo>
                  <a:lnTo>
                    <a:pt x="285242" y="10795"/>
                  </a:lnTo>
                  <a:lnTo>
                    <a:pt x="241681" y="23875"/>
                  </a:lnTo>
                  <a:lnTo>
                    <a:pt x="200533" y="41656"/>
                  </a:lnTo>
                  <a:lnTo>
                    <a:pt x="162179" y="63753"/>
                  </a:lnTo>
                  <a:lnTo>
                    <a:pt x="127127" y="89915"/>
                  </a:lnTo>
                  <a:lnTo>
                    <a:pt x="95504" y="119634"/>
                  </a:lnTo>
                  <a:lnTo>
                    <a:pt x="67818" y="152653"/>
                  </a:lnTo>
                  <a:lnTo>
                    <a:pt x="44323" y="188722"/>
                  </a:lnTo>
                  <a:lnTo>
                    <a:pt x="25400" y="227457"/>
                  </a:lnTo>
                  <a:lnTo>
                    <a:pt x="11557" y="268478"/>
                  </a:lnTo>
                  <a:lnTo>
                    <a:pt x="2921" y="311531"/>
                  </a:lnTo>
                  <a:lnTo>
                    <a:pt x="0" y="356235"/>
                  </a:lnTo>
                  <a:lnTo>
                    <a:pt x="2921" y="400938"/>
                  </a:lnTo>
                  <a:lnTo>
                    <a:pt x="11557" y="443992"/>
                  </a:lnTo>
                  <a:lnTo>
                    <a:pt x="25400" y="485013"/>
                  </a:lnTo>
                  <a:lnTo>
                    <a:pt x="44323" y="523748"/>
                  </a:lnTo>
                  <a:lnTo>
                    <a:pt x="67818" y="559816"/>
                  </a:lnTo>
                  <a:lnTo>
                    <a:pt x="95504" y="592836"/>
                  </a:lnTo>
                  <a:lnTo>
                    <a:pt x="127127" y="622554"/>
                  </a:lnTo>
                  <a:lnTo>
                    <a:pt x="162179" y="648716"/>
                  </a:lnTo>
                  <a:lnTo>
                    <a:pt x="200533" y="670813"/>
                  </a:lnTo>
                  <a:lnTo>
                    <a:pt x="241681" y="688594"/>
                  </a:lnTo>
                  <a:lnTo>
                    <a:pt x="285242" y="701675"/>
                  </a:lnTo>
                  <a:lnTo>
                    <a:pt x="330962" y="709803"/>
                  </a:lnTo>
                  <a:lnTo>
                    <a:pt x="378460" y="712469"/>
                  </a:lnTo>
                  <a:lnTo>
                    <a:pt x="425958" y="709803"/>
                  </a:lnTo>
                  <a:lnTo>
                    <a:pt x="471677" y="701675"/>
                  </a:lnTo>
                  <a:lnTo>
                    <a:pt x="515366" y="688594"/>
                  </a:lnTo>
                  <a:lnTo>
                    <a:pt x="556513" y="670813"/>
                  </a:lnTo>
                  <a:lnTo>
                    <a:pt x="594741" y="648716"/>
                  </a:lnTo>
                  <a:lnTo>
                    <a:pt x="629920" y="622554"/>
                  </a:lnTo>
                  <a:lnTo>
                    <a:pt x="661543" y="592836"/>
                  </a:lnTo>
                  <a:lnTo>
                    <a:pt x="689229" y="559816"/>
                  </a:lnTo>
                  <a:lnTo>
                    <a:pt x="712724" y="523748"/>
                  </a:lnTo>
                  <a:lnTo>
                    <a:pt x="731520" y="485013"/>
                  </a:lnTo>
                  <a:lnTo>
                    <a:pt x="745489" y="443992"/>
                  </a:lnTo>
                  <a:lnTo>
                    <a:pt x="754126" y="400938"/>
                  </a:lnTo>
                  <a:lnTo>
                    <a:pt x="757047" y="356235"/>
                  </a:lnTo>
                  <a:lnTo>
                    <a:pt x="753745" y="309372"/>
                  </a:lnTo>
                  <a:lnTo>
                    <a:pt x="744093" y="263779"/>
                  </a:lnTo>
                  <a:lnTo>
                    <a:pt x="728218" y="219837"/>
                  </a:lnTo>
                  <a:lnTo>
                    <a:pt x="706501" y="178308"/>
                  </a:lnTo>
                  <a:lnTo>
                    <a:pt x="679069" y="139573"/>
                  </a:lnTo>
                  <a:lnTo>
                    <a:pt x="646176" y="104266"/>
                  </a:lnTo>
                  <a:lnTo>
                    <a:pt x="608711" y="73406"/>
                  </a:lnTo>
                  <a:lnTo>
                    <a:pt x="567563" y="47498"/>
                  </a:lnTo>
                  <a:lnTo>
                    <a:pt x="523367" y="27050"/>
                  </a:lnTo>
                  <a:lnTo>
                    <a:pt x="476758" y="12191"/>
                  </a:lnTo>
                  <a:lnTo>
                    <a:pt x="428244" y="3048"/>
                  </a:lnTo>
                  <a:lnTo>
                    <a:pt x="378460" y="0"/>
                  </a:lnTo>
                  <a:close/>
                </a:path>
              </a:pathLst>
            </a:custGeom>
            <a:solidFill>
              <a:srgbClr val="7D13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310254" y="4100322"/>
            <a:ext cx="1840864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83360" algn="l"/>
              </a:tabLst>
            </a:pPr>
            <a:r>
              <a:rPr sz="375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7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750" spc="-50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375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632072" y="3956329"/>
            <a:ext cx="1076960" cy="1008380"/>
            <a:chOff x="3632072" y="3956329"/>
            <a:chExt cx="1076960" cy="1008380"/>
          </a:xfrm>
        </p:grpSpPr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1405" y="3956329"/>
              <a:ext cx="272338" cy="28077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410" y="3973335"/>
              <a:ext cx="192341" cy="20077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35601" y="4607992"/>
              <a:ext cx="273164" cy="27541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75606" y="4624997"/>
              <a:ext cx="193166" cy="19541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64457" y="4671885"/>
              <a:ext cx="305155" cy="29279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04462" y="4688903"/>
              <a:ext cx="225158" cy="21278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32072" y="3976268"/>
              <a:ext cx="284581" cy="28318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72077" y="3993274"/>
              <a:ext cx="204584" cy="203187"/>
            </a:xfrm>
            <a:prstGeom prst="rect">
              <a:avLst/>
            </a:prstGeom>
          </p:spPr>
        </p:pic>
      </p:grp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0807" rIns="0" bIns="0" rtlCol="0">
            <a:spAutoFit/>
          </a:bodyPr>
          <a:lstStyle/>
          <a:p>
            <a:pPr marL="125730">
              <a:lnSpc>
                <a:spcPts val="1240"/>
              </a:lnSpc>
            </a:pPr>
            <a:fld id="{81D60167-4931-47E6-BA6A-407CBD079E47}" type="slidenum">
              <a:rPr spc="-25" dirty="0"/>
              <a:t>125</a:t>
            </a:fld>
            <a:endParaRPr spc="-25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3350" y="2025650"/>
            <a:ext cx="5201538" cy="294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9253</TotalTime>
  <Words>8915</Words>
  <Application>Microsoft Office PowerPoint</Application>
  <PresentationFormat>Personnalisé</PresentationFormat>
  <Paragraphs>1338</Paragraphs>
  <Slides>126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126</vt:i4>
      </vt:variant>
    </vt:vector>
  </HeadingPairs>
  <TitlesOfParts>
    <vt:vector size="140" baseType="lpstr">
      <vt:lpstr>Arial</vt:lpstr>
      <vt:lpstr>Arial Black</vt:lpstr>
      <vt:lpstr>Arial MT</vt:lpstr>
      <vt:lpstr>Bahnschrift</vt:lpstr>
      <vt:lpstr>Calibri</vt:lpstr>
      <vt:lpstr>Consolas</vt:lpstr>
      <vt:lpstr>Courier New</vt:lpstr>
      <vt:lpstr>Franklin Gothic Medium</vt:lpstr>
      <vt:lpstr>Microsoft Sans Serif</vt:lpstr>
      <vt:lpstr>Segoe UI Light</vt:lpstr>
      <vt:lpstr>Symbol</vt:lpstr>
      <vt:lpstr>Times New Roman</vt:lpstr>
      <vt:lpstr>Wingdings</vt:lpstr>
      <vt:lpstr>Office Theme</vt:lpstr>
      <vt:lpstr>DEVOPS</vt:lpstr>
      <vt:lpstr>Jour 1</vt:lpstr>
      <vt:lpstr>Jour 1</vt:lpstr>
      <vt:lpstr>Module 5 : Automatisation du provisioning des environnements</vt:lpstr>
      <vt:lpstr>Présentation PowerPoint</vt:lpstr>
      <vt:lpstr>Module 9 : Bilan et conclusion</vt:lpstr>
      <vt:lpstr>Objectifs pédagogiques</vt:lpstr>
      <vt:lpstr>// A //</vt:lpstr>
      <vt:lpstr>Définir DevOps</vt:lpstr>
      <vt:lpstr>Définir DevOps</vt:lpstr>
      <vt:lpstr>Définir DevOps</vt:lpstr>
      <vt:lpstr>Définir DevOps</vt:lpstr>
      <vt:lpstr>Définir DevOps</vt:lpstr>
      <vt:lpstr>Définir DevOps</vt:lpstr>
      <vt:lpstr>Définir DevOps</vt:lpstr>
      <vt:lpstr>Définir DevOps</vt:lpstr>
      <vt:lpstr>Définir DevOps</vt:lpstr>
      <vt:lpstr>Définir DevOps</vt:lpstr>
      <vt:lpstr>Définir DevOps</vt:lpstr>
      <vt:lpstr>Pourquoi DevOps est-il important ?</vt:lpstr>
      <vt:lpstr>Pourquoi DevOps est-il important ?</vt:lpstr>
      <vt:lpstr>Pourquoi DevOps est-il important ?</vt:lpstr>
      <vt:lpstr>Du point de vue IT</vt:lpstr>
      <vt:lpstr>Du point de vue IT</vt:lpstr>
      <vt:lpstr>Du point de vue IT</vt:lpstr>
      <vt:lpstr>Du point de vue IT</vt:lpstr>
      <vt:lpstr>Du point de vue IT</vt:lpstr>
      <vt:lpstr>Les Principes fondamentaux de DevOps</vt:lpstr>
      <vt:lpstr>Les Principes fondamentaux de DevOps</vt:lpstr>
      <vt:lpstr>Les Principes fondamentaux de DevOps</vt:lpstr>
      <vt:lpstr>Les Principes fondamentaux de DevOps</vt:lpstr>
      <vt:lpstr>Les Principes fondamentaux de DevOps</vt:lpstr>
      <vt:lpstr>Les Principes fondamentaux de DevOps</vt:lpstr>
      <vt:lpstr>Les Principes fondamentaux de DevOps</vt:lpstr>
      <vt:lpstr>Les Principes fondamentaux de DevOps</vt:lpstr>
      <vt:lpstr>Les Principes fondamentaux de DevOps</vt:lpstr>
      <vt:lpstr>Les Principes fondamentaux de DevOps</vt:lpstr>
      <vt:lpstr>Les Principes fondamentaux de DevOps</vt:lpstr>
      <vt:lpstr>Quelques définitions</vt:lpstr>
      <vt:lpstr>Questions</vt:lpstr>
      <vt:lpstr>Standardisation des livrables</vt:lpstr>
      <vt:lpstr>L’automatisation</vt:lpstr>
      <vt:lpstr>Standardisation des livrables</vt:lpstr>
      <vt:lpstr>Standardisation des livrables</vt:lpstr>
      <vt:lpstr>Architecture</vt:lpstr>
      <vt:lpstr>Architecture</vt:lpstr>
      <vt:lpstr>Architecture</vt:lpstr>
      <vt:lpstr>Mise en œuvre d’une usine logicielle et de l’intégration continue</vt:lpstr>
      <vt:lpstr>Mise en œuvre d’une usine logicielle et de l’intégration continue Toolchains</vt:lpstr>
      <vt:lpstr>Mise en œuvre d’une usine logicielle et de l’intégration continue</vt:lpstr>
      <vt:lpstr>Mise en œuvre d’une usine logicielle et de l’intégration continue Toolchains (Exemple : gouvernement américain - GSA)</vt:lpstr>
      <vt:lpstr>DevOps toolchains</vt:lpstr>
      <vt:lpstr>Standardisation du provisioning</vt:lpstr>
      <vt:lpstr>// C //</vt:lpstr>
      <vt:lpstr>Le Cloud Computing</vt:lpstr>
      <vt:lpstr>Les caractéristiques principales du cloud:</vt:lpstr>
      <vt:lpstr>Les apports des infrastructures Cloud Les modèles de services Cloud</vt:lpstr>
      <vt:lpstr>Les apports des infrastructures Cloud Les modèles de services Cloud</vt:lpstr>
      <vt:lpstr>Les apports des infrastructures Cloud Les modèles de déploiement</vt:lpstr>
      <vt:lpstr>Les apports des infrastructures Cloud Les modèles de déploiement</vt:lpstr>
      <vt:lpstr>Les apports des infrastructures Cloud Les modèles de déploiement</vt:lpstr>
      <vt:lpstr>Les avantages de la virtualisation hardware</vt:lpstr>
      <vt:lpstr>Les nouveaux outils de virtualisation</vt:lpstr>
      <vt:lpstr>// D //</vt:lpstr>
      <vt:lpstr>La virtualisation</vt:lpstr>
      <vt:lpstr>Les différents types de vitualisation.</vt:lpstr>
      <vt:lpstr>Hyperviseur de type 2</vt:lpstr>
      <vt:lpstr>Hyperviseur de type 1</vt:lpstr>
      <vt:lpstr>Isolateur</vt:lpstr>
      <vt:lpstr>gestion des environnements de développement avec Vagrant</vt:lpstr>
      <vt:lpstr>gestion des environnements de développement avec Vagrant</vt:lpstr>
      <vt:lpstr>gestion des environnements de développement avec Vagrant</vt:lpstr>
      <vt:lpstr>gestion des environnements de développement avec Vagrant</vt:lpstr>
      <vt:lpstr>Présentation PowerPoint</vt:lpstr>
      <vt:lpstr>Introduction à la conteneurisation avec Docker</vt:lpstr>
      <vt:lpstr>Introduction à la conteneurisation avec Docker</vt:lpstr>
      <vt:lpstr>Introduction à la conteneurisation avec Docker Retour sur les technologies de virtualisation</vt:lpstr>
      <vt:lpstr>Introduction à la conteneurisation avec Docker Retour sur les technologies de virtualisation</vt:lpstr>
      <vt:lpstr>Introduction à la conteneurisation avec Docker</vt:lpstr>
      <vt:lpstr>Introduction à la conteneurisation avec Docker Visualiser l’architecture Docker : daemon, client, images, services…</vt:lpstr>
      <vt:lpstr>Introduction à la conteneurisation avec Docker Découverte du Docker Hub et Docker Store : télécharger et stocker des images</vt:lpstr>
      <vt:lpstr>Création d'images Docker Gérer les conteneurs : lancement, arrêt, débogage…</vt:lpstr>
      <vt:lpstr>Mise en pratique Docker</vt:lpstr>
      <vt:lpstr>Présentation PowerPoint</vt:lpstr>
      <vt:lpstr>Définir un processus commun et répétable</vt:lpstr>
      <vt:lpstr>livraison continue avec Docker Dockerfile</vt:lpstr>
      <vt:lpstr>Automatisation de provisioning Puppet</vt:lpstr>
      <vt:lpstr>Présentation PowerPoint</vt:lpstr>
      <vt:lpstr>Automatisation de provisioning</vt:lpstr>
      <vt:lpstr>Automatisation de provisioning Salt</vt:lpstr>
      <vt:lpstr>Mise en pratique:</vt:lpstr>
      <vt:lpstr>Automatisation des Déploiements Applicatifs</vt:lpstr>
      <vt:lpstr>Automatisation des Déploiements Applicatifs</vt:lpstr>
      <vt:lpstr>Automatisation des Déploiements Applicatifs</vt:lpstr>
      <vt:lpstr>Automatisation des Déploiements Applicatifs</vt:lpstr>
      <vt:lpstr>Mise en œuvre via Ansible</vt:lpstr>
      <vt:lpstr>Gérer les évolutions de la base de données avec Liquibase</vt:lpstr>
      <vt:lpstr>Mise en pratique: Ansible</vt:lpstr>
      <vt:lpstr>// G //</vt:lpstr>
      <vt:lpstr>ELK c’est quoi?</vt:lpstr>
      <vt:lpstr>Contexte</vt:lpstr>
      <vt:lpstr>Options de déploiement</vt:lpstr>
      <vt:lpstr>Options de déploiement</vt:lpstr>
      <vt:lpstr>Définition du Plan de Monitoring</vt:lpstr>
      <vt:lpstr>Définition du Plan de Monitoring</vt:lpstr>
      <vt:lpstr>Définition du Plan de Monitoring</vt:lpstr>
      <vt:lpstr>Définition du Plan de Monitoring</vt:lpstr>
      <vt:lpstr>Démo</vt:lpstr>
      <vt:lpstr>Les types d'organisations possibles</vt:lpstr>
      <vt:lpstr>Les types d'organisations possibles</vt:lpstr>
      <vt:lpstr>Les types d'organisations possibles</vt:lpstr>
      <vt:lpstr>Les types d'organisations possibles</vt:lpstr>
      <vt:lpstr>Les types d'organisations possibles</vt:lpstr>
      <vt:lpstr>Prise en compte des user stories de production</vt:lpstr>
      <vt:lpstr>Le changement de culture</vt:lpstr>
      <vt:lpstr>Le changement de culture</vt:lpstr>
      <vt:lpstr>Collaboration Dev/Ops Prise en compte des user stories de production</vt:lpstr>
      <vt:lpstr>Outils de communication issus de la démarche ChatOps</vt:lpstr>
      <vt:lpstr>Qu’est-ce que le DevSecOps?</vt:lpstr>
      <vt:lpstr>Qu’est ce que le DevSecOps?</vt:lpstr>
      <vt:lpstr>Qu’est ce que le DevSecOps?</vt:lpstr>
      <vt:lpstr>Qu'est-ce que FinOps ?</vt:lpstr>
      <vt:lpstr>3 Amélioration continue: Les outils du Lean</vt:lpstr>
      <vt:lpstr>3 Amélioration continue: Les outils du Lean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Brahim ALIANI</dc:creator>
  <cp:lastModifiedBy>BETTAIEB Mohamed Ali SOFRECOM</cp:lastModifiedBy>
  <cp:revision>5</cp:revision>
  <dcterms:created xsi:type="dcterms:W3CDTF">2025-01-22T11:43:43Z</dcterms:created>
  <dcterms:modified xsi:type="dcterms:W3CDTF">2026-09-05T14:38:59Z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2025-01-22T00:00:00Z</vt:filetime>
  </property>
  <property fmtid="{D5CDD505-2E9C-101B-9397-08002B2CF9AE}" pid="5" name="MSIP_Label_07222825-62ea-40f3-96b5-5375c07996e2_ContentBits">
    <vt:lpwstr>0</vt:lpwstr>
  </property>
  <property fmtid="{D5CDD505-2E9C-101B-9397-08002B2CF9AE}" pid="6" name="MSIP_Label_07222825-62ea-40f3-96b5-5375c07996e2_Enabled">
    <vt:lpwstr>true</vt:lpwstr>
  </property>
  <property fmtid="{D5CDD505-2E9C-101B-9397-08002B2CF9AE}" pid="7" name="MSIP_Label_07222825-62ea-40f3-96b5-5375c07996e2_Method">
    <vt:lpwstr>Privileged</vt:lpwstr>
  </property>
  <property fmtid="{D5CDD505-2E9C-101B-9397-08002B2CF9AE}" pid="8" name="MSIP_Label_07222825-62ea-40f3-96b5-5375c07996e2_SiteId">
    <vt:lpwstr>90c7a20a-f34b-40bf-bc48-b9253b6f5d20</vt:lpwstr>
  </property>
  <property fmtid="{D5CDD505-2E9C-101B-9397-08002B2CF9AE}" pid="9" name="Producer">
    <vt:lpwstr>Microsoft® PowerPoint® for Microsoft 365</vt:lpwstr>
  </property>
</Properties>
</file>